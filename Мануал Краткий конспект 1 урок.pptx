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0" r:id="rId1"/>
  </p:sldMasterIdLst>
  <p:notesMasterIdLst>
    <p:notesMasterId r:id="rId61"/>
  </p:notesMasterIdLst>
  <p:sldIdLst>
    <p:sldId id="256" r:id="rId2"/>
    <p:sldId id="257" r:id="rId3"/>
    <p:sldId id="269" r:id="rId4"/>
    <p:sldId id="271" r:id="rId5"/>
    <p:sldId id="272" r:id="rId6"/>
    <p:sldId id="270" r:id="rId7"/>
    <p:sldId id="273" r:id="rId8"/>
    <p:sldId id="274" r:id="rId9"/>
    <p:sldId id="275" r:id="rId10"/>
    <p:sldId id="258" r:id="rId11"/>
    <p:sldId id="317" r:id="rId12"/>
    <p:sldId id="334" r:id="rId13"/>
    <p:sldId id="352" r:id="rId14"/>
    <p:sldId id="330" r:id="rId15"/>
    <p:sldId id="491" r:id="rId16"/>
    <p:sldId id="517" r:id="rId17"/>
    <p:sldId id="494" r:id="rId18"/>
    <p:sldId id="496" r:id="rId19"/>
    <p:sldId id="498" r:id="rId20"/>
    <p:sldId id="389" r:id="rId21"/>
    <p:sldId id="390" r:id="rId22"/>
    <p:sldId id="511" r:id="rId23"/>
    <p:sldId id="504" r:id="rId24"/>
    <p:sldId id="509" r:id="rId25"/>
    <p:sldId id="516" r:id="rId26"/>
    <p:sldId id="473" r:id="rId27"/>
    <p:sldId id="564" r:id="rId28"/>
    <p:sldId id="565" r:id="rId29"/>
    <p:sldId id="280" r:id="rId30"/>
    <p:sldId id="281" r:id="rId31"/>
    <p:sldId id="628" r:id="rId32"/>
    <p:sldId id="630" r:id="rId33"/>
    <p:sldId id="284" r:id="rId34"/>
    <p:sldId id="285" r:id="rId35"/>
    <p:sldId id="283" r:id="rId36"/>
    <p:sldId id="287" r:id="rId37"/>
    <p:sldId id="288" r:id="rId38"/>
    <p:sldId id="474" r:id="rId39"/>
    <p:sldId id="580" r:id="rId40"/>
    <p:sldId id="525" r:id="rId41"/>
    <p:sldId id="587" r:id="rId42"/>
    <p:sldId id="597" r:id="rId43"/>
    <p:sldId id="600" r:id="rId44"/>
    <p:sldId id="529" r:id="rId45"/>
    <p:sldId id="570" r:id="rId46"/>
    <p:sldId id="571" r:id="rId47"/>
    <p:sldId id="572" r:id="rId48"/>
    <p:sldId id="573" r:id="rId49"/>
    <p:sldId id="575" r:id="rId50"/>
    <p:sldId id="544" r:id="rId51"/>
    <p:sldId id="562" r:id="rId52"/>
    <p:sldId id="549" r:id="rId53"/>
    <p:sldId id="556" r:id="rId54"/>
    <p:sldId id="559" r:id="rId55"/>
    <p:sldId id="475" r:id="rId56"/>
    <p:sldId id="607" r:id="rId57"/>
    <p:sldId id="610" r:id="rId58"/>
    <p:sldId id="593" r:id="rId59"/>
    <p:sldId id="268" r:id="rId6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374" autoAdjust="0"/>
  </p:normalViewPr>
  <p:slideViewPr>
    <p:cSldViewPr snapToGrid="0">
      <p:cViewPr varScale="1">
        <p:scale>
          <a:sx n="163" d="100"/>
          <a:sy n="163" d="100"/>
        </p:scale>
        <p:origin x="174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90C04-8740-462D-8244-D8B532B38C5E}" type="datetimeFigureOut">
              <a:rPr lang="ru-RU" smtClean="0"/>
              <a:pPr/>
              <a:t>13.01.2021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16DDAF-DA16-43B6-872D-9D0837E130E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021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4da9ddb959_1_1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4da9ddb959_1_1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1056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4da9ddb959_1_1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4da9ddb959_1_1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43646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16DDAF-DA16-43B6-872D-9D0837E130E5}" type="slidenum">
              <a:rPr lang="ru-RU" smtClean="0"/>
              <a:pPr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2833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8B4DCDF6-1DCA-4D83-B093-F8DB5CC40DFA}" type="datetimeFigureOut">
              <a:rPr lang="ru-RU" smtClean="0"/>
              <a:pPr/>
              <a:t>13.01.2021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28675ABF-A39A-43F4-8EEB-B890C0FC9EE6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3014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CDF6-1DCA-4D83-B093-F8DB5CC40DFA}" type="datetimeFigureOut">
              <a:rPr lang="ru-RU" smtClean="0"/>
              <a:pPr/>
              <a:t>13.01.2021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75ABF-A39A-43F4-8EEB-B890C0FC9EE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8082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CDF6-1DCA-4D83-B093-F8DB5CC40DFA}" type="datetimeFigureOut">
              <a:rPr lang="ru-RU" smtClean="0"/>
              <a:pPr/>
              <a:t>13.01.2021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75ABF-A39A-43F4-8EEB-B890C0FC9EE6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2230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CDF6-1DCA-4D83-B093-F8DB5CC40DFA}" type="datetimeFigureOut">
              <a:rPr lang="ru-RU" smtClean="0"/>
              <a:pPr/>
              <a:t>13.01.2021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75ABF-A39A-43F4-8EEB-B890C0FC9EE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3103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CDF6-1DCA-4D83-B093-F8DB5CC40DFA}" type="datetimeFigureOut">
              <a:rPr lang="ru-RU" smtClean="0"/>
              <a:pPr/>
              <a:t>13.01.2021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75ABF-A39A-43F4-8EEB-B890C0FC9EE6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0711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CDF6-1DCA-4D83-B093-F8DB5CC40DFA}" type="datetimeFigureOut">
              <a:rPr lang="ru-RU" smtClean="0"/>
              <a:pPr/>
              <a:t>13.01.2021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75ABF-A39A-43F4-8EEB-B890C0FC9EE6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8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CDF6-1DCA-4D83-B093-F8DB5CC40DFA}" type="datetimeFigureOut">
              <a:rPr lang="ru-RU" smtClean="0"/>
              <a:pPr/>
              <a:t>13.01.2021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75ABF-A39A-43F4-8EEB-B890C0FC9EE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8056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CDF6-1DCA-4D83-B093-F8DB5CC40DFA}" type="datetimeFigureOut">
              <a:rPr lang="ru-RU" smtClean="0"/>
              <a:pPr/>
              <a:t>13.01.2021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75ABF-A39A-43F4-8EEB-B890C0FC9EE6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2192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CDF6-1DCA-4D83-B093-F8DB5CC40DFA}" type="datetimeFigureOut">
              <a:rPr lang="ru-RU" smtClean="0"/>
              <a:pPr/>
              <a:t>13.01.2021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75ABF-A39A-43F4-8EEB-B890C0FC9EE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9622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CDF6-1DCA-4D83-B093-F8DB5CC40DFA}" type="datetimeFigureOut">
              <a:rPr lang="ru-RU" smtClean="0"/>
              <a:pPr/>
              <a:t>13.01.2021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75ABF-A39A-43F4-8EEB-B890C0FC9EE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3083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CDF6-1DCA-4D83-B093-F8DB5CC40DFA}" type="datetimeFigureOut">
              <a:rPr lang="ru-RU" smtClean="0"/>
              <a:pPr/>
              <a:t>13.01.2021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75ABF-A39A-43F4-8EEB-B890C0FC9EE6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50493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CDF6-1DCA-4D83-B093-F8DB5CC40DFA}" type="datetimeFigureOut">
              <a:rPr lang="ru-RU" smtClean="0"/>
              <a:pPr/>
              <a:t>13.01.2021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75ABF-A39A-43F4-8EEB-B890C0FC9EE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39581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CDF6-1DCA-4D83-B093-F8DB5CC40DFA}" type="datetimeFigureOut">
              <a:rPr lang="ru-RU" smtClean="0"/>
              <a:pPr/>
              <a:t>13.01.2021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75ABF-A39A-43F4-8EEB-B890C0FC9EE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51805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CDF6-1DCA-4D83-B093-F8DB5CC40DFA}" type="datetimeFigureOut">
              <a:rPr lang="ru-RU" smtClean="0"/>
              <a:pPr/>
              <a:t>13.01.2021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75ABF-A39A-43F4-8EEB-B890C0FC9EE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87522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CDF6-1DCA-4D83-B093-F8DB5CC40DFA}" type="datetimeFigureOut">
              <a:rPr lang="ru-RU" smtClean="0"/>
              <a:pPr/>
              <a:t>13.01.2021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75ABF-A39A-43F4-8EEB-B890C0FC9EE6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6260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CDF6-1DCA-4D83-B093-F8DB5CC40DFA}" type="datetimeFigureOut">
              <a:rPr lang="ru-RU" smtClean="0"/>
              <a:pPr/>
              <a:t>13.01.2021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75ABF-A39A-43F4-8EEB-B890C0FC9EE6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85293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DCDF6-1DCA-4D83-B093-F8DB5CC40DFA}" type="datetimeFigureOut">
              <a:rPr lang="ru-RU" smtClean="0"/>
              <a:pPr/>
              <a:t>13.01.2021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75ABF-A39A-43F4-8EEB-B890C0FC9EE6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743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B4DCDF6-1DCA-4D83-B093-F8DB5CC40DFA}" type="datetimeFigureOut">
              <a:rPr lang="ru-RU" smtClean="0"/>
              <a:pPr/>
              <a:t>13.01.2021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8675ABF-A39A-43F4-8EEB-B890C0FC9EE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5638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26110-4708-489C-BF64-20AB9CBD12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1 Урок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91CB25-6EB1-4DD8-9A2F-8432BB5979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Цели и задачи тестирования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751060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8A351-45DB-4F87-974E-0291E651F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 занятие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A850E-F796-40BB-B8DC-B6E3DC79B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4884" y="2623351"/>
            <a:ext cx="9601196" cy="4036290"/>
          </a:xfrm>
        </p:spPr>
        <p:txBody>
          <a:bodyPr>
            <a:noAutofit/>
          </a:bodyPr>
          <a:lstStyle/>
          <a:p>
            <a:pPr marL="342900" lvl="0" indent="-342900" fontAlgn="base">
              <a:buFont typeface="+mj-lt"/>
              <a:buAutoNum type="arabicPeriod"/>
            </a:pPr>
            <a:r>
              <a:rPr lang="ru-RU" sz="1550" dirty="0"/>
              <a:t>Понятия QA, QC, Tester. В чем отличия? </a:t>
            </a:r>
          </a:p>
          <a:p>
            <a:pPr marL="342900" lvl="0" indent="-342900" fontAlgn="base">
              <a:buFont typeface="+mj-lt"/>
              <a:buAutoNum type="arabicPeriod"/>
            </a:pPr>
            <a:r>
              <a:rPr lang="ru-RU" sz="1550" dirty="0"/>
              <a:t>Почему тестировщики высоко ценятся? </a:t>
            </a:r>
          </a:p>
          <a:p>
            <a:pPr marL="342900" lvl="0" indent="-342900" fontAlgn="base">
              <a:buFont typeface="+mj-lt"/>
              <a:buAutoNum type="arabicPeriod"/>
            </a:pPr>
            <a:r>
              <a:rPr lang="ru-RU" sz="1550" dirty="0"/>
              <a:t>Какова цель тестирования? </a:t>
            </a:r>
          </a:p>
          <a:p>
            <a:pPr marL="342900" lvl="0" indent="-342900" fontAlgn="base">
              <a:buFont typeface="+mj-lt"/>
              <a:buAutoNum type="arabicPeriod"/>
            </a:pPr>
            <a:r>
              <a:rPr lang="ru-RU" sz="1550" dirty="0"/>
              <a:t>Что такое баг и что такое фича? </a:t>
            </a:r>
          </a:p>
          <a:p>
            <a:pPr marL="342900" lvl="0" indent="-342900" fontAlgn="base">
              <a:buFont typeface="+mj-lt"/>
              <a:buAutoNum type="arabicPeriod"/>
            </a:pPr>
            <a:r>
              <a:rPr lang="ru-RU" sz="1550" dirty="0"/>
              <a:t>Основные принципы тестирования</a:t>
            </a:r>
          </a:p>
          <a:p>
            <a:pPr marL="342900" lvl="0" indent="-342900" fontAlgn="base">
              <a:buFont typeface="+mj-lt"/>
              <a:buAutoNum type="arabicPeriod"/>
            </a:pPr>
            <a:r>
              <a:rPr lang="ru-RU" sz="1550" dirty="0"/>
              <a:t>Подходы к тестированию</a:t>
            </a:r>
          </a:p>
          <a:p>
            <a:pPr marL="342900" lvl="0" indent="-342900" fontAlgn="base">
              <a:buFont typeface="+mj-lt"/>
              <a:buAutoNum type="arabicPeriod"/>
            </a:pPr>
            <a:r>
              <a:rPr lang="ru-RU" sz="1550" dirty="0"/>
              <a:t>Тестирование документации</a:t>
            </a:r>
          </a:p>
          <a:p>
            <a:pPr marL="342900" lvl="0" indent="-342900" fontAlgn="base">
              <a:buFont typeface="+mj-lt"/>
              <a:buAutoNum type="arabicPeriod"/>
            </a:pPr>
            <a:r>
              <a:rPr lang="ru-RU" sz="1550" dirty="0"/>
              <a:t>Особенности тестирования разных продуктов</a:t>
            </a:r>
          </a:p>
          <a:p>
            <a:pPr marL="342900" lvl="0" indent="-342900" fontAlgn="base">
              <a:buFont typeface="+mj-lt"/>
              <a:buAutoNum type="arabicPeriod"/>
            </a:pPr>
            <a:r>
              <a:rPr lang="ru-RU" sz="1550" dirty="0"/>
              <a:t>Терминология и инструменты тестировщика</a:t>
            </a:r>
          </a:p>
          <a:p>
            <a:pPr marL="342900" lvl="0" indent="-342900" fontAlgn="base">
              <a:buFont typeface="+mj-lt"/>
              <a:buAutoNum type="arabicPeriod"/>
            </a:pPr>
            <a:endParaRPr lang="ru-RU" sz="1550" dirty="0"/>
          </a:p>
        </p:txBody>
      </p:sp>
    </p:spTree>
    <p:extLst>
      <p:ext uri="{BB962C8B-B14F-4D97-AF65-F5344CB8AC3E}">
        <p14:creationId xmlns:p14="http://schemas.microsoft.com/office/powerpoint/2010/main" val="3466696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632B4-2DF8-43C7-B617-F96D14040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 занятие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8EB4A-FD33-4AAA-ABFB-D601C8EAF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846" y="2556932"/>
            <a:ext cx="10617693" cy="372845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Типы тестирования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Функциональное тестирование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Тестирование </a:t>
            </a:r>
            <a:r>
              <a:rPr lang="en-US" dirty="0"/>
              <a:t>UI</a:t>
            </a:r>
            <a:endParaRPr lang="ru-RU" dirty="0"/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Тестирование локализации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Кроссбраузерное тестирование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Тестирование безопасности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Тестирование производительности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141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632B4-2DF8-43C7-B617-F96D14040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3 занятие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8EB4A-FD33-4AAA-ABFB-D601C8EAF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846" y="2556932"/>
            <a:ext cx="10617693" cy="372845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Атрибуты баг-репорта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Оформление баг-репорта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Разбор основных ошибок в баг-репортах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Приоритет</a:t>
            </a:r>
            <a:r>
              <a:rPr lang="en-US" dirty="0"/>
              <a:t> vs</a:t>
            </a:r>
            <a:r>
              <a:rPr lang="ru-RU" dirty="0"/>
              <a:t> Важность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Жизненный цикл бага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Техники тест-дизайна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9296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632B4-2DF8-43C7-B617-F96D14040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4 занятие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8EB4A-FD33-4AAA-ABFB-D601C8EAF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846" y="2556932"/>
            <a:ext cx="10617693" cy="372845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Для чего нужна тестовая документация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Артефакты тестовой документации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Учимся составлять тест-план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Описание тест-кейсов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Для чего нужен чек-лист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Отчеты о тестировании</a:t>
            </a:r>
          </a:p>
        </p:txBody>
      </p:sp>
    </p:spTree>
    <p:extLst>
      <p:ext uri="{BB962C8B-B14F-4D97-AF65-F5344CB8AC3E}">
        <p14:creationId xmlns:p14="http://schemas.microsoft.com/office/powerpoint/2010/main" val="640924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632B4-2DF8-43C7-B617-F96D14040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5 занятие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8EB4A-FD33-4AAA-ABFB-D601C8EAF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846" y="2556932"/>
            <a:ext cx="10617693" cy="372845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Модели разработки ПО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Этапы разработки 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Требования к продукту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Анализ требований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Тестирование требований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Уровни тестирования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Приемочное тестирование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1257262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632B4-2DF8-43C7-B617-F96D14040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6 занятие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8EB4A-FD33-4AAA-ABFB-D601C8EAF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846" y="2556932"/>
            <a:ext cx="10617693" cy="372845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Для чего нужны системы управления базами данных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Типы баз данных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MySQL</a:t>
            </a:r>
            <a:endParaRPr lang="ru-RU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Backend </a:t>
            </a:r>
            <a:r>
              <a:rPr lang="ru-RU" dirty="0"/>
              <a:t>и </a:t>
            </a:r>
            <a:r>
              <a:rPr lang="en-US" dirty="0"/>
              <a:t>Frontend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Примеры использования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Пишем простые запросы в </a:t>
            </a:r>
            <a:r>
              <a:rPr lang="en-US" dirty="0"/>
              <a:t>SQL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37727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632B4-2DF8-43C7-B617-F96D14040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7 занятие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8EB4A-FD33-4AAA-ABFB-D601C8EAF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846" y="2556932"/>
            <a:ext cx="10617693" cy="372845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Знакомство с структурой клиент-серверных приложений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Протокол </a:t>
            </a:r>
            <a:r>
              <a:rPr lang="en-US" dirty="0"/>
              <a:t>HTTP</a:t>
            </a:r>
            <a:r>
              <a:rPr lang="ru-RU" dirty="0"/>
              <a:t>. Структура запроса / ответа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Виды ошибок в браузере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Работа с </a:t>
            </a:r>
            <a:r>
              <a:rPr lang="en-US" dirty="0"/>
              <a:t>HTML, CSS</a:t>
            </a:r>
            <a:endParaRPr lang="ru-RU" dirty="0"/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Взаимодействие с </a:t>
            </a:r>
            <a:r>
              <a:rPr lang="en-US" dirty="0"/>
              <a:t>cookies</a:t>
            </a:r>
            <a:endParaRPr lang="ru-RU" dirty="0"/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Обзор </a:t>
            </a:r>
            <a:r>
              <a:rPr lang="en-US" dirty="0"/>
              <a:t>Chrome Dev Tools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4658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632B4-2DF8-43C7-B617-F96D14040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8 занятие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8EB4A-FD33-4AAA-ABFB-D601C8EAF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846" y="2556932"/>
            <a:ext cx="10617693" cy="3728458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Финальный тест 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Составляем резюме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Ищем вакансию. Обзор типов компаний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Сопроводительное письмо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Подготовка к собеседованию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Как вести себя на собеседовании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Разбор основных вопросов на собеседовании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Подведение итогов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Вручение сертификатов</a:t>
            </a:r>
          </a:p>
        </p:txBody>
      </p:sp>
    </p:spTree>
    <p:extLst>
      <p:ext uri="{BB962C8B-B14F-4D97-AF65-F5344CB8AC3E}">
        <p14:creationId xmlns:p14="http://schemas.microsoft.com/office/powerpoint/2010/main" val="4221693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8CBDF-DCFF-4834-AFB7-5B5B486BA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Разница между </a:t>
            </a:r>
            <a:r>
              <a:rPr lang="en-US" dirty="0"/>
              <a:t>QA, QC, Tester</a:t>
            </a:r>
            <a:endParaRPr lang="ru-RU" dirty="0"/>
          </a:p>
        </p:txBody>
      </p:sp>
      <p:pic>
        <p:nvPicPr>
          <p:cNvPr id="1026" name="Picture 2" descr="qa_qc2">
            <a:extLst>
              <a:ext uri="{FF2B5EF4-FFF2-40B4-BE49-F238E27FC236}">
                <a16:creationId xmlns:a16="http://schemas.microsoft.com/office/drawing/2014/main" id="{68376F1A-3496-4A3D-BE54-6C00B7FB6A9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652" y="2420757"/>
            <a:ext cx="6764785" cy="3846878"/>
          </a:xfrm>
          <a:prstGeom prst="rect">
            <a:avLst/>
          </a:prstGeom>
          <a:solidFill>
            <a:srgbClr val="0070C0"/>
          </a:solidFill>
        </p:spPr>
      </p:pic>
    </p:spTree>
    <p:extLst>
      <p:ext uri="{BB962C8B-B14F-4D97-AF65-F5344CB8AC3E}">
        <p14:creationId xmlns:p14="http://schemas.microsoft.com/office/powerpoint/2010/main" val="857853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00FF9E-E313-4F5A-812E-83DE10A4CABA}"/>
              </a:ext>
            </a:extLst>
          </p:cNvPr>
          <p:cNvSpPr/>
          <p:nvPr/>
        </p:nvSpPr>
        <p:spPr>
          <a:xfrm>
            <a:off x="1233989" y="1418981"/>
            <a:ext cx="1287264" cy="73064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AA439B-1C24-401B-B314-289B4FE1BE8B}"/>
              </a:ext>
            </a:extLst>
          </p:cNvPr>
          <p:cNvSpPr txBox="1"/>
          <p:nvPr/>
        </p:nvSpPr>
        <p:spPr>
          <a:xfrm>
            <a:off x="1473687" y="1582790"/>
            <a:ext cx="1145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Tester</a:t>
            </a:r>
            <a:endParaRPr lang="ru-R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68ACFB-A0AD-4153-BBEA-4950840B26DD}"/>
              </a:ext>
            </a:extLst>
          </p:cNvPr>
          <p:cNvSpPr/>
          <p:nvPr/>
        </p:nvSpPr>
        <p:spPr>
          <a:xfrm>
            <a:off x="2768345" y="1418981"/>
            <a:ext cx="1287264" cy="73064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8C19B4-7DFF-43FD-BCF9-129BE3CEBD38}"/>
              </a:ext>
            </a:extLst>
          </p:cNvPr>
          <p:cNvSpPr txBox="1"/>
          <p:nvPr/>
        </p:nvSpPr>
        <p:spPr>
          <a:xfrm>
            <a:off x="3008043" y="1582790"/>
            <a:ext cx="1145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Tester</a:t>
            </a:r>
            <a:endParaRPr lang="ru-RU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32C4B5-99B7-45B3-A2BF-5590F6896CD3}"/>
              </a:ext>
            </a:extLst>
          </p:cNvPr>
          <p:cNvSpPr/>
          <p:nvPr/>
        </p:nvSpPr>
        <p:spPr>
          <a:xfrm>
            <a:off x="4305667" y="1418981"/>
            <a:ext cx="1287264" cy="73064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A0778C-4E59-4D86-9497-CE4D6999750D}"/>
              </a:ext>
            </a:extLst>
          </p:cNvPr>
          <p:cNvSpPr txBox="1"/>
          <p:nvPr/>
        </p:nvSpPr>
        <p:spPr>
          <a:xfrm>
            <a:off x="4545365" y="1582790"/>
            <a:ext cx="1145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Tester</a:t>
            </a:r>
            <a:endParaRPr lang="ru-RU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09D0ECD-56C6-46C9-B20E-E930B6DECEA0}"/>
              </a:ext>
            </a:extLst>
          </p:cNvPr>
          <p:cNvSpPr/>
          <p:nvPr/>
        </p:nvSpPr>
        <p:spPr>
          <a:xfrm>
            <a:off x="1015013" y="828713"/>
            <a:ext cx="4793942" cy="4172504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47A84D-7947-41ED-AB9C-B8B5727BDEAC}"/>
              </a:ext>
            </a:extLst>
          </p:cNvPr>
          <p:cNvSpPr txBox="1"/>
          <p:nvPr/>
        </p:nvSpPr>
        <p:spPr>
          <a:xfrm>
            <a:off x="2521253" y="5030939"/>
            <a:ext cx="3974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TEST TEAM 1</a:t>
            </a:r>
            <a:endParaRPr lang="ru-RU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49EFD4-B75E-45D8-B420-F1C767C196C4}"/>
              </a:ext>
            </a:extLst>
          </p:cNvPr>
          <p:cNvSpPr/>
          <p:nvPr/>
        </p:nvSpPr>
        <p:spPr>
          <a:xfrm>
            <a:off x="2719518" y="3210099"/>
            <a:ext cx="1287264" cy="73064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D7DFA7-E3C2-4A7E-8711-6C474E0265D8}"/>
              </a:ext>
            </a:extLst>
          </p:cNvPr>
          <p:cNvSpPr txBox="1"/>
          <p:nvPr/>
        </p:nvSpPr>
        <p:spPr>
          <a:xfrm>
            <a:off x="2768345" y="3390754"/>
            <a:ext cx="1384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Team Lead</a:t>
            </a:r>
            <a:endParaRPr lang="ru-RU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019311A-CE6B-4C7F-8BC8-8BBFEC0E23D9}"/>
              </a:ext>
            </a:extLst>
          </p:cNvPr>
          <p:cNvSpPr/>
          <p:nvPr/>
        </p:nvSpPr>
        <p:spPr>
          <a:xfrm>
            <a:off x="1131159" y="1299229"/>
            <a:ext cx="4561636" cy="109195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410492-D983-4444-9A77-0DA86940A8E4}"/>
              </a:ext>
            </a:extLst>
          </p:cNvPr>
          <p:cNvSpPr txBox="1"/>
          <p:nvPr/>
        </p:nvSpPr>
        <p:spPr>
          <a:xfrm>
            <a:off x="2719518" y="2391183"/>
            <a:ext cx="3974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TESTING</a:t>
            </a:r>
            <a:endParaRPr lang="ru-RU" b="1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22BDFB4-78F6-4BB0-A2C3-F8BD55FFD58A}"/>
              </a:ext>
            </a:extLst>
          </p:cNvPr>
          <p:cNvSpPr/>
          <p:nvPr/>
        </p:nvSpPr>
        <p:spPr>
          <a:xfrm>
            <a:off x="2469460" y="3061361"/>
            <a:ext cx="1787380" cy="109195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C88D960-7A81-4356-A347-E251FDE4F364}"/>
              </a:ext>
            </a:extLst>
          </p:cNvPr>
          <p:cNvSpPr txBox="1"/>
          <p:nvPr/>
        </p:nvSpPr>
        <p:spPr>
          <a:xfrm>
            <a:off x="3045780" y="4149304"/>
            <a:ext cx="3974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QC</a:t>
            </a:r>
            <a:endParaRPr lang="ru-RU" b="1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84FEE3C-104F-4731-BDF7-02AAFF62BA5B}"/>
              </a:ext>
            </a:extLst>
          </p:cNvPr>
          <p:cNvSpPr/>
          <p:nvPr/>
        </p:nvSpPr>
        <p:spPr>
          <a:xfrm>
            <a:off x="6606470" y="1418981"/>
            <a:ext cx="1287264" cy="73064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924428B-4B18-433D-B31D-B254117B67F0}"/>
              </a:ext>
            </a:extLst>
          </p:cNvPr>
          <p:cNvSpPr txBox="1"/>
          <p:nvPr/>
        </p:nvSpPr>
        <p:spPr>
          <a:xfrm>
            <a:off x="6846168" y="1582790"/>
            <a:ext cx="1145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Tester</a:t>
            </a:r>
            <a:endParaRPr lang="ru-RU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181A999-CDE3-4BBF-9EAA-1ADAD17DED69}"/>
              </a:ext>
            </a:extLst>
          </p:cNvPr>
          <p:cNvSpPr/>
          <p:nvPr/>
        </p:nvSpPr>
        <p:spPr>
          <a:xfrm>
            <a:off x="8140826" y="1418981"/>
            <a:ext cx="1287264" cy="73064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E123DA0-BE81-4C38-81C9-AC5A06ABE4DD}"/>
              </a:ext>
            </a:extLst>
          </p:cNvPr>
          <p:cNvSpPr txBox="1"/>
          <p:nvPr/>
        </p:nvSpPr>
        <p:spPr>
          <a:xfrm>
            <a:off x="8380524" y="1582790"/>
            <a:ext cx="1145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Tester</a:t>
            </a:r>
            <a:endParaRPr lang="ru-RU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FCC999D-02F2-40C7-9727-5DA92D583823}"/>
              </a:ext>
            </a:extLst>
          </p:cNvPr>
          <p:cNvSpPr/>
          <p:nvPr/>
        </p:nvSpPr>
        <p:spPr>
          <a:xfrm>
            <a:off x="9678148" y="1418981"/>
            <a:ext cx="1287264" cy="73064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BB7E38B-8264-4813-B975-8B5545D588F3}"/>
              </a:ext>
            </a:extLst>
          </p:cNvPr>
          <p:cNvSpPr txBox="1"/>
          <p:nvPr/>
        </p:nvSpPr>
        <p:spPr>
          <a:xfrm>
            <a:off x="9917846" y="1582790"/>
            <a:ext cx="1145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Tester</a:t>
            </a:r>
            <a:endParaRPr lang="ru-RU" dirty="0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8AB02BC4-45A6-4854-BA48-88601D425210}"/>
              </a:ext>
            </a:extLst>
          </p:cNvPr>
          <p:cNvSpPr/>
          <p:nvPr/>
        </p:nvSpPr>
        <p:spPr>
          <a:xfrm>
            <a:off x="6387494" y="828713"/>
            <a:ext cx="4793942" cy="4172504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CB2E3C8-BD11-4E12-ABED-EC96CF88DE29}"/>
              </a:ext>
            </a:extLst>
          </p:cNvPr>
          <p:cNvSpPr txBox="1"/>
          <p:nvPr/>
        </p:nvSpPr>
        <p:spPr>
          <a:xfrm>
            <a:off x="7893734" y="5030939"/>
            <a:ext cx="3974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TEST TEAM 2</a:t>
            </a:r>
            <a:endParaRPr lang="ru-RU" b="1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29047FE-6794-4C30-8302-C6F548199F73}"/>
              </a:ext>
            </a:extLst>
          </p:cNvPr>
          <p:cNvSpPr/>
          <p:nvPr/>
        </p:nvSpPr>
        <p:spPr>
          <a:xfrm>
            <a:off x="8091999" y="3210099"/>
            <a:ext cx="1287264" cy="73064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72D6E55-5BB2-44C5-8A5E-ECB6441B78DD}"/>
              </a:ext>
            </a:extLst>
          </p:cNvPr>
          <p:cNvSpPr txBox="1"/>
          <p:nvPr/>
        </p:nvSpPr>
        <p:spPr>
          <a:xfrm>
            <a:off x="8140826" y="3390754"/>
            <a:ext cx="1384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Team Lead</a:t>
            </a:r>
            <a:endParaRPr lang="ru-RU" dirty="0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405C0C87-9851-4E38-9C23-13B0AC48A7E9}"/>
              </a:ext>
            </a:extLst>
          </p:cNvPr>
          <p:cNvSpPr/>
          <p:nvPr/>
        </p:nvSpPr>
        <p:spPr>
          <a:xfrm>
            <a:off x="6503640" y="1299229"/>
            <a:ext cx="4561636" cy="109195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96B3EB4-1F3A-4614-B080-75509F17C32C}"/>
              </a:ext>
            </a:extLst>
          </p:cNvPr>
          <p:cNvSpPr txBox="1"/>
          <p:nvPr/>
        </p:nvSpPr>
        <p:spPr>
          <a:xfrm>
            <a:off x="8091999" y="2391183"/>
            <a:ext cx="3974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TESTING</a:t>
            </a:r>
            <a:endParaRPr lang="ru-RU" b="1" dirty="0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4DADD55-7A96-4738-BF5A-9532ED235F95}"/>
              </a:ext>
            </a:extLst>
          </p:cNvPr>
          <p:cNvSpPr/>
          <p:nvPr/>
        </p:nvSpPr>
        <p:spPr>
          <a:xfrm>
            <a:off x="7841941" y="3061361"/>
            <a:ext cx="1787380" cy="109195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A400F50-805E-4DE9-A1A5-DECE81271804}"/>
              </a:ext>
            </a:extLst>
          </p:cNvPr>
          <p:cNvSpPr txBox="1"/>
          <p:nvPr/>
        </p:nvSpPr>
        <p:spPr>
          <a:xfrm>
            <a:off x="8449337" y="4154957"/>
            <a:ext cx="3974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QC</a:t>
            </a:r>
            <a:endParaRPr lang="ru-RU" b="1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EDCCFD7-D312-4566-A05F-E983976213E4}"/>
              </a:ext>
            </a:extLst>
          </p:cNvPr>
          <p:cNvSpPr/>
          <p:nvPr/>
        </p:nvSpPr>
        <p:spPr>
          <a:xfrm>
            <a:off x="5452368" y="5073698"/>
            <a:ext cx="1287264" cy="73064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2525FA-EEE6-47D3-8C2F-C444B672B369}"/>
              </a:ext>
            </a:extLst>
          </p:cNvPr>
          <p:cNvSpPr txBox="1"/>
          <p:nvPr/>
        </p:nvSpPr>
        <p:spPr>
          <a:xfrm>
            <a:off x="5635097" y="5128069"/>
            <a:ext cx="13849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Project   Manager</a:t>
            </a:r>
            <a:endParaRPr lang="ru-RU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46DD1DE-BC13-4B9B-A22B-713F26B72898}"/>
              </a:ext>
            </a:extLst>
          </p:cNvPr>
          <p:cNvSpPr/>
          <p:nvPr/>
        </p:nvSpPr>
        <p:spPr>
          <a:xfrm>
            <a:off x="790113" y="674703"/>
            <a:ext cx="10617693" cy="5553340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FEAEBD6-1C8E-4F99-B2B4-86CBA0B605C7}"/>
              </a:ext>
            </a:extLst>
          </p:cNvPr>
          <p:cNvSpPr txBox="1"/>
          <p:nvPr/>
        </p:nvSpPr>
        <p:spPr>
          <a:xfrm>
            <a:off x="5808955" y="5888433"/>
            <a:ext cx="3974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QA</a:t>
            </a:r>
            <a:endParaRPr lang="ru-RU" b="1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90CCFB3-03A0-439B-ACC5-0431590FD349}"/>
              </a:ext>
            </a:extLst>
          </p:cNvPr>
          <p:cNvSpPr/>
          <p:nvPr/>
        </p:nvSpPr>
        <p:spPr>
          <a:xfrm>
            <a:off x="5263635" y="5016242"/>
            <a:ext cx="1664729" cy="891183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9433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868E3-C035-42C7-AC77-52D8A923D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Что такое баг и что такое фича?</a:t>
            </a:r>
            <a:br>
              <a:rPr lang="ru-RU" dirty="0"/>
            </a:br>
            <a:endParaRPr lang="ru-RU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652818A-F113-4E25-96F8-A5218F9F563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7030" y="2447636"/>
            <a:ext cx="5153891" cy="3768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896BCED-CE20-4A73-8768-113BD810BDC4}"/>
              </a:ext>
            </a:extLst>
          </p:cNvPr>
          <p:cNvSpPr/>
          <p:nvPr/>
        </p:nvSpPr>
        <p:spPr>
          <a:xfrm>
            <a:off x="926235" y="2605116"/>
            <a:ext cx="619365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Баг</a:t>
            </a:r>
            <a:r>
              <a:rPr lang="ru-RU" sz="2400" dirty="0"/>
              <a:t> – несоответствие реального поведения программы с ожидаемым.</a:t>
            </a:r>
          </a:p>
          <a:p>
            <a:endParaRPr lang="ru-RU" sz="2400" dirty="0"/>
          </a:p>
          <a:p>
            <a:r>
              <a:rPr lang="ru-RU" sz="2400" b="1" dirty="0"/>
              <a:t>Фича </a:t>
            </a:r>
            <a:r>
              <a:rPr lang="ru-RU" sz="2400" dirty="0"/>
              <a:t>– функциональная возможность программы.</a:t>
            </a:r>
          </a:p>
        </p:txBody>
      </p:sp>
    </p:spTree>
    <p:extLst>
      <p:ext uri="{BB962C8B-B14F-4D97-AF65-F5344CB8AC3E}">
        <p14:creationId xmlns:p14="http://schemas.microsoft.com/office/powerpoint/2010/main" val="1575914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68304-4242-408E-A214-21ED4520B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dirty="0"/>
              <a:t>Можно ли найти все баги?</a:t>
            </a:r>
            <a:br>
              <a:rPr lang="ru-RU" sz="4000" dirty="0"/>
            </a:br>
            <a:r>
              <a:rPr lang="ru-RU" sz="4000" dirty="0"/>
              <a:t>Ответ</a:t>
            </a:r>
            <a:r>
              <a:rPr lang="en-US" sz="4000" dirty="0"/>
              <a:t>:</a:t>
            </a:r>
            <a:endParaRPr lang="ru-RU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Нет. Тестирование доказывает наличие багов, но не их отсутствие.</a:t>
            </a:r>
          </a:p>
          <a:p>
            <a:pPr marL="0" indent="0">
              <a:buNone/>
            </a:pPr>
            <a:r>
              <a:rPr lang="ru-RU" dirty="0"/>
              <a:t>Даже если продукт выпущен без багов – вы об этом никогда не узнаете.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158143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085C1-7046-40A8-99D9-F76744EFE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Какова цель тестирования?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Цель тестирования  - </a:t>
            </a:r>
            <a:r>
              <a:rPr lang="ru-RU" b="1" dirty="0"/>
              <a:t>выпустить качественный продукт.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3522" y="3416440"/>
            <a:ext cx="2692885" cy="2730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437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8FDB6-7CE5-4977-AD08-BF500AE1D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7 принципов тестирования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34DF9-D377-4EF9-84EB-22D0FCA8A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378" y="2450237"/>
            <a:ext cx="10786369" cy="380851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Тестирование доказывает наличие багов, но не их отсутствие.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Исчерпывающее тестирование недостижимо.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Отсутствие ошибок – не гарантирует качество. 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Тестирование должно начинаться как можно раньше.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Скопление дефектов.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603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8FDB6-7CE5-4977-AD08-BF500AE1D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7 принципов тестирования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34DF9-D377-4EF9-84EB-22D0FCA8A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378" y="2450237"/>
            <a:ext cx="10786369" cy="38085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u="sng" dirty="0"/>
              <a:t>Согласно принципу скопления дефектов</a:t>
            </a:r>
            <a:r>
              <a:rPr lang="en-US" u="sng" dirty="0"/>
              <a:t>:</a:t>
            </a:r>
            <a:endParaRPr lang="ru-RU" u="sng" dirty="0"/>
          </a:p>
          <a:p>
            <a:r>
              <a:rPr lang="ru-RU" b="1" dirty="0"/>
              <a:t>Небольшое количество модулей содержит большинство обнаруженных дефектов.</a:t>
            </a:r>
          </a:p>
          <a:p>
            <a:r>
              <a:rPr lang="ru-RU" b="1" dirty="0"/>
              <a:t>Примерно 80% ошибок обнаруживаются в 20% модулей.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68EB98-FF9D-4CF9-BCCD-DFE27BAA05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0330" y="4372178"/>
            <a:ext cx="2152712" cy="185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897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8FDB6-7CE5-4977-AD08-BF500AE1D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7 принципов тестирования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34DF9-D377-4EF9-84EB-22D0FCA8A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378" y="2450237"/>
            <a:ext cx="10786369" cy="380851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Тестирование доказывает наличие багов, но не их отсутствие.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Исчерпывающее тестирование недостижимо.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Отсутствие ошибок – не гарантирует качество. 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Тестирование должно начинаться как можно раньше.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Скопление дефектов.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Парадокс пестицидов.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0051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8FDB6-7CE5-4977-AD08-BF500AE1D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7 принципов тестирования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34DF9-D377-4EF9-84EB-22D0FCA8A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379" y="2450237"/>
            <a:ext cx="10644326" cy="38085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u="sng" dirty="0"/>
              <a:t>Парадокс пестицидов</a:t>
            </a:r>
            <a:r>
              <a:rPr lang="en-US" u="sng" dirty="0"/>
              <a:t>:</a:t>
            </a:r>
            <a:endParaRPr lang="ru-RU" u="sng" dirty="0"/>
          </a:p>
          <a:p>
            <a:r>
              <a:rPr lang="ru-RU" b="1" dirty="0"/>
              <a:t>Если постоянно выполнять одинаковый набор тестов, тогда этот набор тестов больше не будет находить новые дефекты.</a:t>
            </a:r>
          </a:p>
          <a:p>
            <a:r>
              <a:rPr lang="ru-RU" dirty="0"/>
              <a:t>Необходимо регулярно проверять и пересматривать тестовые сценарии, добавлять новые.</a:t>
            </a:r>
          </a:p>
          <a:p>
            <a:pPr marL="0" indent="0">
              <a:buNone/>
            </a:pPr>
            <a:br>
              <a:rPr lang="ru-RU" dirty="0"/>
            </a:br>
            <a:endParaRPr lang="ru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EC1D68-4F21-42F6-8539-A80E747DC03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167456" y="4619554"/>
            <a:ext cx="3404864" cy="161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1353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8FDB6-7CE5-4977-AD08-BF500AE1D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7 принципов тестирования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34DF9-D377-4EF9-84EB-22D0FCA8A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378" y="2450237"/>
            <a:ext cx="10786369" cy="380851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Тестирование доказывает наличие багов, но не их отсутствие.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Исчерпывающее тестирование недостижимо.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Отсутствие ошибок – не гарантирует качество. 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Тестирование должно начинаться как можно раньше.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Скопление дефектов.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Парадокс пестицидов.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Тестирование зависит от контекста.</a:t>
            </a:r>
          </a:p>
          <a:p>
            <a:pPr marL="457200" indent="-457200">
              <a:buFont typeface="+mj-lt"/>
              <a:buAutoNum type="arabicPeriod"/>
            </a:pPr>
            <a:endParaRPr lang="ru-RU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4205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ru-RU" dirty="0"/>
              <a:t>Верификация / Валидация</a:t>
            </a:r>
            <a:endParaRPr dirty="0"/>
          </a:p>
        </p:txBody>
      </p:sp>
      <p:sp>
        <p:nvSpPr>
          <p:cNvPr id="209" name="Google Shape;209;p33"/>
          <p:cNvSpPr txBox="1">
            <a:spLocks noGrp="1"/>
          </p:cNvSpPr>
          <p:nvPr>
            <p:ph idx="1"/>
          </p:nvPr>
        </p:nvSpPr>
        <p:spPr>
          <a:xfrm>
            <a:off x="961122" y="2556932"/>
            <a:ext cx="10225261" cy="361916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Верификация</a:t>
            </a:r>
            <a:r>
              <a:rPr lang="ru-RU" dirty="0"/>
              <a:t>(</a:t>
            </a:r>
            <a:r>
              <a:rPr lang="ru" i="1" dirty="0"/>
              <a:t>Verification</a:t>
            </a:r>
            <a:r>
              <a:rPr lang="ru" dirty="0"/>
              <a:t>) - мы делаем продукт </a:t>
            </a:r>
            <a:r>
              <a:rPr lang="ru" i="1" u="sng" dirty="0"/>
              <a:t>правильно</a:t>
            </a:r>
            <a:r>
              <a:rPr lang="ru" dirty="0"/>
              <a:t>.</a:t>
            </a:r>
            <a:endParaRPr lang="ru" i="1" u="sng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Это проверка того, что определенные требования были выполнены.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Валидация</a:t>
            </a:r>
            <a:r>
              <a:rPr lang="ru-RU" dirty="0"/>
              <a:t>(</a:t>
            </a:r>
            <a:r>
              <a:rPr lang="ru" i="1" dirty="0"/>
              <a:t>Validation</a:t>
            </a:r>
            <a:r>
              <a:rPr lang="ru" dirty="0"/>
              <a:t>) - мы делаем </a:t>
            </a:r>
            <a:r>
              <a:rPr lang="ru" i="1" u="sng" dirty="0"/>
              <a:t>правильный</a:t>
            </a:r>
            <a:r>
              <a:rPr lang="ru" i="1" dirty="0"/>
              <a:t> </a:t>
            </a:r>
            <a:r>
              <a:rPr lang="ru" dirty="0"/>
              <a:t>продукт.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Это проверка того, что продукт отвечает ожиданиям и потребностям пользователей.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ru-RU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ru" dirty="0"/>
          </a:p>
        </p:txBody>
      </p:sp>
    </p:spTree>
    <p:extLst>
      <p:ext uri="{BB962C8B-B14F-4D97-AF65-F5344CB8AC3E}">
        <p14:creationId xmlns:p14="http://schemas.microsoft.com/office/powerpoint/2010/main" val="39409002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3"/>
          <p:cNvSpPr txBox="1">
            <a:spLocks noGrp="1"/>
          </p:cNvSpPr>
          <p:nvPr>
            <p:ph type="title"/>
          </p:nvPr>
        </p:nvSpPr>
        <p:spPr>
          <a:xfrm>
            <a:off x="1295401" y="661759"/>
            <a:ext cx="9601196" cy="1303867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ru-RU" dirty="0"/>
              <a:t>Примеры.</a:t>
            </a:r>
            <a:br>
              <a:rPr lang="ru-RU" dirty="0"/>
            </a:br>
            <a:r>
              <a:rPr lang="ru-RU" dirty="0"/>
              <a:t>Проверяем корабль</a:t>
            </a:r>
            <a:br>
              <a:rPr lang="ru-RU" dirty="0"/>
            </a:br>
            <a:endParaRPr dirty="0"/>
          </a:p>
        </p:txBody>
      </p:sp>
      <p:sp>
        <p:nvSpPr>
          <p:cNvPr id="209" name="Google Shape;209;p33"/>
          <p:cNvSpPr txBox="1">
            <a:spLocks noGrp="1"/>
          </p:cNvSpPr>
          <p:nvPr>
            <p:ph idx="1"/>
          </p:nvPr>
        </p:nvSpPr>
        <p:spPr>
          <a:xfrm>
            <a:off x="1295401" y="2434252"/>
            <a:ext cx="9601196" cy="3318936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r>
              <a:rPr lang="ru-RU" b="1" dirty="0"/>
              <a:t>Верификация</a:t>
            </a:r>
            <a:r>
              <a:rPr lang="ru-RU" dirty="0"/>
              <a:t>:</a:t>
            </a:r>
          </a:p>
          <a:p>
            <a:r>
              <a:rPr lang="ru-RU" dirty="0"/>
              <a:t>Корпус корабля? – есть </a:t>
            </a:r>
          </a:p>
          <a:p>
            <a:r>
              <a:rPr lang="ru-RU" dirty="0"/>
              <a:t>Мачта? – есть</a:t>
            </a:r>
          </a:p>
          <a:p>
            <a:r>
              <a:rPr lang="ru-RU" dirty="0"/>
              <a:t>Веселый роджер? – нет</a:t>
            </a:r>
          </a:p>
          <a:p>
            <a:r>
              <a:rPr lang="ru-RU" dirty="0"/>
              <a:t>Штурвал? – нет</a:t>
            </a:r>
          </a:p>
          <a:p>
            <a:r>
              <a:rPr lang="ru-RU" dirty="0"/>
              <a:t>Парус? – есть</a:t>
            </a:r>
          </a:p>
          <a:p>
            <a:r>
              <a:rPr lang="ru-RU" dirty="0"/>
              <a:t>Все ли есть? – нет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F9F9BC-1962-4091-9A02-267C4B60479E}"/>
              </a:ext>
            </a:extLst>
          </p:cNvPr>
          <p:cNvSpPr txBox="1"/>
          <p:nvPr/>
        </p:nvSpPr>
        <p:spPr>
          <a:xfrm>
            <a:off x="6095997" y="2588956"/>
            <a:ext cx="54463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Валидация:</a:t>
            </a:r>
            <a:endParaRPr lang="ru-RU" sz="2400" dirty="0"/>
          </a:p>
          <a:p>
            <a:pPr marL="380990" indent="-38099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2400" dirty="0"/>
              <a:t>Плывет ли корабль вообще?</a:t>
            </a:r>
          </a:p>
          <a:p>
            <a:endParaRPr lang="ru-RU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32B8CB-30F1-4BBD-9EDD-96E938BE7579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260201" y="3554815"/>
            <a:ext cx="21971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7841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BBF23-542F-437E-B960-EE815E0B4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Тестирование документации. </a:t>
            </a:r>
            <a:br>
              <a:rPr lang="ru-RU" dirty="0"/>
            </a:br>
            <a:r>
              <a:rPr lang="en-US" dirty="0"/>
              <a:t>Specification vs User Guide</a:t>
            </a:r>
            <a:br>
              <a:rPr lang="ru-RU" dirty="0"/>
            </a:b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31985-502C-4648-98F4-F9D63D4E6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4441" y="2549312"/>
            <a:ext cx="5920740" cy="101684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В спецификации указано </a:t>
            </a:r>
            <a:r>
              <a:rPr lang="ru-RU" b="1" dirty="0"/>
              <a:t>как программа должна работать.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B40848-37D4-4541-AAB0-B8E2012B20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835" y="2428254"/>
            <a:ext cx="1823706" cy="18237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FBDE0B-16E1-408F-AF6A-B549C0797FB0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784079" y="4447552"/>
            <a:ext cx="1784341" cy="1784341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2071F87-F895-45B5-A739-5DEB3EA419CF}"/>
              </a:ext>
            </a:extLst>
          </p:cNvPr>
          <p:cNvSpPr txBox="1">
            <a:spLocks/>
          </p:cNvSpPr>
          <p:nvPr/>
        </p:nvSpPr>
        <p:spPr>
          <a:xfrm>
            <a:off x="4583428" y="5215046"/>
            <a:ext cx="5920740" cy="10168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В юзер гайде указано </a:t>
            </a:r>
            <a:r>
              <a:rPr lang="ru-RU" b="1" dirty="0"/>
              <a:t>как пользоваться программой.</a:t>
            </a:r>
          </a:p>
        </p:txBody>
      </p:sp>
    </p:spTree>
    <p:extLst>
      <p:ext uri="{BB962C8B-B14F-4D97-AF65-F5344CB8AC3E}">
        <p14:creationId xmlns:p14="http://schemas.microsoft.com/office/powerpoint/2010/main" val="19050931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BBF23-542F-437E-B960-EE815E0B4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Тестирование спецификации</a:t>
            </a:r>
            <a:br>
              <a:rPr lang="ru-RU" dirty="0"/>
            </a:br>
            <a:r>
              <a:rPr lang="ru-RU" dirty="0"/>
              <a:t>Критерии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31985-502C-4648-98F4-F9D63D4E6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10139038" cy="3318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u="sng" dirty="0"/>
              <a:t>Спецификация должна проходить следующие проверки:</a:t>
            </a:r>
          </a:p>
          <a:p>
            <a:pPr marL="457200" indent="-457200">
              <a:buFont typeface="+mj-lt"/>
              <a:buAutoNum type="arabicPeriod"/>
            </a:pPr>
            <a:r>
              <a:rPr lang="ru-RU" b="1" dirty="0"/>
              <a:t>Полнота</a:t>
            </a:r>
            <a:r>
              <a:rPr lang="ru-RU" dirty="0"/>
              <a:t> </a:t>
            </a:r>
            <a:r>
              <a:rPr lang="ru-RU" b="1" dirty="0"/>
              <a:t>- </a:t>
            </a:r>
            <a:r>
              <a:rPr lang="ru-RU" dirty="0"/>
              <a:t> требования должны правильно и в полной мере описывать функцию, которую необходимо реализовать.</a:t>
            </a:r>
          </a:p>
          <a:p>
            <a:pPr marL="457200" indent="-457200">
              <a:buFont typeface="+mj-lt"/>
              <a:buAutoNum type="arabicPeriod"/>
            </a:pPr>
            <a:r>
              <a:rPr lang="ru-RU" b="1" dirty="0"/>
              <a:t>Точность - </a:t>
            </a:r>
            <a:r>
              <a:rPr lang="ru-RU" dirty="0"/>
              <a:t> указаны точные границы допустимых значений, лимитов, ограничений и других характерстик ПО.</a:t>
            </a:r>
          </a:p>
          <a:p>
            <a:pPr marL="457200" indent="-457200">
              <a:buFont typeface="+mj-lt"/>
              <a:buAutoNum type="arabicPeriod"/>
            </a:pPr>
            <a:r>
              <a:rPr lang="ru-RU" b="1" dirty="0"/>
              <a:t>Однозначность - </a:t>
            </a:r>
            <a:r>
              <a:rPr lang="ru-RU" dirty="0"/>
              <a:t> одинаковое восприятие требований всеми членами команды, никаких расхождений в трактовке быть не должно.</a:t>
            </a:r>
          </a:p>
          <a:p>
            <a:pPr marL="457200" indent="-457200">
              <a:buFont typeface="+mj-lt"/>
              <a:buAutoNum type="arabicPeriod"/>
            </a:pPr>
            <a:endParaRPr lang="ru-RU" dirty="0"/>
          </a:p>
          <a:p>
            <a:pPr marL="457200" indent="-457200">
              <a:buFont typeface="+mj-lt"/>
              <a:buAutoNum type="arabicPeriod"/>
            </a:pPr>
            <a:endParaRPr lang="ru-RU" u="sng" dirty="0"/>
          </a:p>
          <a:p>
            <a:pPr marL="457200" indent="-457200" fontAlgn="base">
              <a:buClrTx/>
              <a:buFont typeface="Arial"/>
              <a:buAutoNum type="arabicParenR"/>
            </a:pPr>
            <a:endParaRPr lang="ru-RU" dirty="0"/>
          </a:p>
          <a:p>
            <a:pPr marL="457200" indent="-457200" fontAlgn="base">
              <a:buFont typeface="Arial"/>
              <a:buAutoNum type="arabicParenR"/>
            </a:pPr>
            <a:endParaRPr lang="ru-RU" dirty="0"/>
          </a:p>
          <a:p>
            <a:pPr marL="457200" lvl="0" indent="-457200" fontAlgn="base">
              <a:buAutoNum type="arabicParenR"/>
            </a:pPr>
            <a:endParaRPr lang="ru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2A7B2C-CF2F-410C-A88F-3EA23711AF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7505" y="5209563"/>
            <a:ext cx="1093148" cy="102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3488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BBF23-542F-437E-B960-EE815E0B4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Тестирование спецификации</a:t>
            </a:r>
            <a:br>
              <a:rPr lang="ru-RU" dirty="0"/>
            </a:br>
            <a:r>
              <a:rPr lang="ru-RU" dirty="0"/>
              <a:t>Критерии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31985-502C-4648-98F4-F9D63D4E6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10139038" cy="3318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u="sng" dirty="0"/>
              <a:t>Спецификация должна проходить следующие проверки: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ru-RU" b="1" dirty="0"/>
              <a:t>Непротиворечивость - </a:t>
            </a:r>
            <a:r>
              <a:rPr lang="ru-RU" dirty="0"/>
              <a:t> не должно быть противоречивых требований, конфликтующих между собой.</a:t>
            </a:r>
            <a:endParaRPr lang="en-US" b="1" dirty="0"/>
          </a:p>
          <a:p>
            <a:pPr marL="457200" indent="-457200">
              <a:buFont typeface="+mj-lt"/>
              <a:buAutoNum type="arabicPeriod" startAt="4"/>
            </a:pPr>
            <a:r>
              <a:rPr lang="ru-RU" b="1" dirty="0"/>
              <a:t>Необходимость - </a:t>
            </a:r>
            <a:r>
              <a:rPr lang="ru-RU" dirty="0"/>
              <a:t> требования должны отражать функциональности, действительно необходимые для пользователя</a:t>
            </a:r>
            <a:r>
              <a:rPr lang="en-US" dirty="0"/>
              <a:t>.</a:t>
            </a:r>
            <a:endParaRPr lang="ru-RU" dirty="0"/>
          </a:p>
          <a:p>
            <a:pPr marL="457200" indent="-457200">
              <a:buFont typeface="+mj-lt"/>
              <a:buAutoNum type="arabicPeriod" startAt="4"/>
            </a:pPr>
            <a:r>
              <a:rPr lang="ru-RU" b="1" dirty="0"/>
              <a:t>Осуществимость - </a:t>
            </a:r>
            <a:r>
              <a:rPr lang="ru-RU" dirty="0"/>
              <a:t> насколько прописанные требования возможно реализовать.</a:t>
            </a:r>
          </a:p>
          <a:p>
            <a:pPr marL="457200" indent="-457200">
              <a:buFont typeface="+mj-lt"/>
              <a:buAutoNum type="arabicPeriod" startAt="4"/>
            </a:pPr>
            <a:endParaRPr lang="ru-RU" dirty="0"/>
          </a:p>
          <a:p>
            <a:pPr marL="457200" indent="-457200">
              <a:buFont typeface="+mj-lt"/>
              <a:buAutoNum type="arabicPeriod" startAt="4"/>
            </a:pPr>
            <a:endParaRPr lang="ru-RU" u="sng" dirty="0"/>
          </a:p>
          <a:p>
            <a:pPr marL="457200" indent="-457200" fontAlgn="base">
              <a:buClrTx/>
              <a:buFont typeface="Arial"/>
              <a:buAutoNum type="arabicParenR"/>
            </a:pPr>
            <a:endParaRPr lang="ru-RU" dirty="0"/>
          </a:p>
          <a:p>
            <a:pPr marL="457200" indent="-457200" fontAlgn="base">
              <a:buFont typeface="Arial"/>
              <a:buAutoNum type="arabicParenR"/>
            </a:pPr>
            <a:endParaRPr lang="ru-RU" dirty="0"/>
          </a:p>
          <a:p>
            <a:pPr marL="457200" lvl="0" indent="-457200" fontAlgn="base">
              <a:buAutoNum type="arabicParenR"/>
            </a:pP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643987-D967-4D66-B9FC-EA48B5609A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7505" y="5209563"/>
            <a:ext cx="1093148" cy="102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4300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31985-502C-4648-98F4-F9D63D4E6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User Guide </a:t>
            </a:r>
            <a:r>
              <a:rPr lang="ru-RU" u="sng" dirty="0"/>
              <a:t>должен проходить следующие проверки:</a:t>
            </a:r>
          </a:p>
          <a:p>
            <a:pPr marL="457200" indent="-457200">
              <a:buFont typeface="+mj-lt"/>
              <a:buAutoNum type="arabicPeriod"/>
            </a:pPr>
            <a:r>
              <a:rPr lang="ru-RU" b="1" dirty="0"/>
              <a:t>Навигация - </a:t>
            </a:r>
            <a:r>
              <a:rPr lang="ru-RU" dirty="0"/>
              <a:t> алфавитный указатель, поиск – должно быть всё, что поможет найти решение/описание проблемы.</a:t>
            </a:r>
            <a:endParaRPr lang="en-US" b="1" dirty="0"/>
          </a:p>
          <a:p>
            <a:pPr marL="457200" indent="-457200">
              <a:buFont typeface="+mj-lt"/>
              <a:buAutoNum type="arabicPeriod"/>
            </a:pPr>
            <a:r>
              <a:rPr lang="ru-RU" b="1" dirty="0"/>
              <a:t>Наличие инструкций</a:t>
            </a:r>
            <a:r>
              <a:rPr lang="ru-RU" dirty="0"/>
              <a:t> - инструкции должны быть во всех разделах, детально описывать каждый шаг.</a:t>
            </a:r>
          </a:p>
          <a:p>
            <a:pPr marL="457200" indent="-457200">
              <a:buFont typeface="+mj-lt"/>
              <a:buAutoNum type="arabicPeriod"/>
            </a:pPr>
            <a:r>
              <a:rPr lang="ru-RU" b="1" dirty="0"/>
              <a:t>Доступность пользователю -</a:t>
            </a:r>
            <a:r>
              <a:rPr lang="ru-RU" dirty="0"/>
              <a:t> описание должно быть максимально понятно для любой целевой аудитории.</a:t>
            </a:r>
          </a:p>
          <a:p>
            <a:pPr marL="457200" indent="-457200">
              <a:buFont typeface="+mj-lt"/>
              <a:buAutoNum type="arabicPeriod"/>
            </a:pPr>
            <a:endParaRPr lang="en-US" b="1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C031C85-BEAA-43B0-9FB0-49D1AF1E8A1E}"/>
              </a:ext>
            </a:extLst>
          </p:cNvPr>
          <p:cNvSpPr txBox="1">
            <a:spLocks/>
          </p:cNvSpPr>
          <p:nvPr/>
        </p:nvSpPr>
        <p:spPr>
          <a:xfrm>
            <a:off x="1447802" y="11345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Тестирование </a:t>
            </a:r>
            <a:r>
              <a:rPr lang="en-US" dirty="0"/>
              <a:t>User Guide</a:t>
            </a:r>
            <a:br>
              <a:rPr lang="ru-RU" dirty="0"/>
            </a:br>
            <a:r>
              <a:rPr lang="ru-RU" dirty="0"/>
              <a:t>Критерии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A3F385-C201-44D1-9CA8-6D9CCCB0F05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528184" y="5191657"/>
            <a:ext cx="1034364" cy="1034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0355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259A2-E2B7-4D4B-86BC-AB93FFBBB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Тестирование сайтов</a:t>
            </a:r>
            <a:br>
              <a:rPr lang="ru-RU" dirty="0"/>
            </a:br>
            <a:r>
              <a:rPr lang="ru-RU" dirty="0"/>
              <a:t>Особенности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479462-7098-4633-AC81-0DD0306FE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Клиент-серверное приложение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Кроссбраузерность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Конфигурация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Безопасность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Производительность</a:t>
            </a:r>
          </a:p>
          <a:p>
            <a:endParaRPr lang="ru-R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E1ACF4-287A-48A2-B02B-0144247E58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0482" y="4935835"/>
            <a:ext cx="2246360" cy="130386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2F9F19E-FD2E-4715-AE0F-B5E3EB156379}"/>
              </a:ext>
            </a:extLst>
          </p:cNvPr>
          <p:cNvSpPr/>
          <p:nvPr/>
        </p:nvSpPr>
        <p:spPr>
          <a:xfrm>
            <a:off x="5974813" y="3244334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6875079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259A2-E2B7-4D4B-86BC-AB93FFBBB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Тестирование сайтов</a:t>
            </a:r>
            <a:br>
              <a:rPr lang="ru-RU" dirty="0"/>
            </a:br>
            <a:r>
              <a:rPr lang="ru-RU" dirty="0"/>
              <a:t>Особенности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479462-7098-4633-AC81-0DD0306FE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b="1" dirty="0"/>
              <a:t>Клиент-серверное приложение</a:t>
            </a:r>
            <a:r>
              <a:rPr lang="en-US" b="1" dirty="0"/>
              <a:t>:</a:t>
            </a:r>
            <a:endParaRPr lang="ru-RU" b="1" dirty="0"/>
          </a:p>
          <a:p>
            <a:r>
              <a:rPr lang="ru-RU" dirty="0"/>
              <a:t>обмен данными осуществляется через интернет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ru-RU" b="1" dirty="0"/>
              <a:t>Кроссбраузерность</a:t>
            </a:r>
            <a:r>
              <a:rPr lang="en-US" b="1" dirty="0"/>
              <a:t>:</a:t>
            </a:r>
            <a:endParaRPr lang="ru-RU" b="1" dirty="0"/>
          </a:p>
          <a:p>
            <a:r>
              <a:rPr lang="ru-RU" dirty="0"/>
              <a:t>учитываются особенности каждого браузера 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ru-RU" b="1" dirty="0"/>
              <a:t>Конфигурация</a:t>
            </a:r>
            <a:r>
              <a:rPr lang="en-US" b="1" dirty="0"/>
              <a:t>:</a:t>
            </a:r>
            <a:endParaRPr lang="ru-RU" b="1" dirty="0"/>
          </a:p>
          <a:p>
            <a:r>
              <a:rPr lang="ru-RU" dirty="0"/>
              <a:t>учитываются размеры каждого устройства</a:t>
            </a:r>
          </a:p>
          <a:p>
            <a:endParaRPr lang="ru-R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E1ACF4-287A-48A2-B02B-0144247E58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0482" y="4935835"/>
            <a:ext cx="2246360" cy="130386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2F9F19E-FD2E-4715-AE0F-B5E3EB156379}"/>
              </a:ext>
            </a:extLst>
          </p:cNvPr>
          <p:cNvSpPr/>
          <p:nvPr/>
        </p:nvSpPr>
        <p:spPr>
          <a:xfrm>
            <a:off x="5974813" y="3244334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1664978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259A2-E2B7-4D4B-86BC-AB93FFBBB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Тестирование сайтов</a:t>
            </a:r>
            <a:br>
              <a:rPr lang="ru-RU" dirty="0"/>
            </a:br>
            <a:r>
              <a:rPr lang="ru-RU" dirty="0"/>
              <a:t>Особенности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479462-7098-4633-AC81-0DD0306FE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ru-RU" b="1" dirty="0"/>
              <a:t>Безопасность</a:t>
            </a:r>
            <a:r>
              <a:rPr lang="en-US" b="1" dirty="0"/>
              <a:t>:</a:t>
            </a:r>
            <a:endParaRPr lang="ru-RU" b="1" dirty="0"/>
          </a:p>
          <a:p>
            <a:r>
              <a:rPr lang="ru-RU" dirty="0"/>
              <a:t>тестирование уязвимостей в логике работы программы</a:t>
            </a:r>
          </a:p>
          <a:p>
            <a:r>
              <a:rPr lang="ru-RU" dirty="0"/>
              <a:t>тестирование </a:t>
            </a:r>
            <a:r>
              <a:rPr lang="en-US" dirty="0"/>
              <a:t>SQL, XSS</a:t>
            </a:r>
            <a:r>
              <a:rPr lang="ru-RU" dirty="0"/>
              <a:t> инъекций</a:t>
            </a:r>
            <a:r>
              <a:rPr lang="en-US" dirty="0"/>
              <a:t> </a:t>
            </a:r>
            <a:endParaRPr lang="ru-RU" dirty="0"/>
          </a:p>
          <a:p>
            <a:pPr marL="457200" indent="-457200">
              <a:buFont typeface="+mj-lt"/>
              <a:buAutoNum type="arabicPeriod" startAt="5"/>
            </a:pPr>
            <a:r>
              <a:rPr lang="ru-RU" b="1" dirty="0"/>
              <a:t>Производительность</a:t>
            </a:r>
            <a:r>
              <a:rPr lang="en-US" b="1" dirty="0"/>
              <a:t>:</a:t>
            </a:r>
            <a:endParaRPr lang="ru-RU" b="1" dirty="0"/>
          </a:p>
          <a:p>
            <a:r>
              <a:rPr lang="ru-RU" dirty="0"/>
              <a:t>тестирование пиковой нагрузки</a:t>
            </a:r>
          </a:p>
          <a:p>
            <a:r>
              <a:rPr lang="ru-RU" dirty="0"/>
              <a:t>тестирование больших объёмов данных</a:t>
            </a:r>
          </a:p>
          <a:p>
            <a:endParaRPr lang="ru-R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E1ACF4-287A-48A2-B02B-0144247E58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0482" y="4935835"/>
            <a:ext cx="2246360" cy="130386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2F9F19E-FD2E-4715-AE0F-B5E3EB156379}"/>
              </a:ext>
            </a:extLst>
          </p:cNvPr>
          <p:cNvSpPr/>
          <p:nvPr/>
        </p:nvSpPr>
        <p:spPr>
          <a:xfrm>
            <a:off x="5974813" y="3244334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0833954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C9967-7C0F-4203-AA51-5AF06049E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Словарь для тестирования</a:t>
            </a:r>
            <a:r>
              <a:rPr lang="en-US" dirty="0"/>
              <a:t> WEB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7B4D9-2C5A-4313-B479-A3AEEE4D8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645" y="2556932"/>
            <a:ext cx="10484528" cy="3318936"/>
          </a:xfrm>
        </p:spPr>
        <p:txBody>
          <a:bodyPr/>
          <a:lstStyle/>
          <a:p>
            <a:r>
              <a:rPr lang="ru-RU" dirty="0"/>
              <a:t>Чекбокс (</a:t>
            </a:r>
            <a:r>
              <a:rPr lang="en-US" dirty="0" err="1"/>
              <a:t>CheckBox</a:t>
            </a:r>
            <a:r>
              <a:rPr lang="ru-RU" dirty="0"/>
              <a:t>)</a:t>
            </a:r>
            <a:endParaRPr lang="en-US" dirty="0"/>
          </a:p>
          <a:p>
            <a:r>
              <a:rPr lang="ru-RU" dirty="0"/>
              <a:t>Свитчер (</a:t>
            </a:r>
            <a:r>
              <a:rPr lang="en-US" dirty="0"/>
              <a:t>Switcher)</a:t>
            </a: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F7223C-FAA5-427A-A5C7-0B2CACF8F3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2228" y="2459037"/>
            <a:ext cx="4333875" cy="35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587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C9967-7C0F-4203-AA51-5AF06049E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Словарь для тестирования</a:t>
            </a:r>
            <a:r>
              <a:rPr lang="en-US" dirty="0"/>
              <a:t> WEB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7B4D9-2C5A-4313-B479-A3AEEE4D8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645" y="2556932"/>
            <a:ext cx="10484528" cy="3318936"/>
          </a:xfrm>
        </p:spPr>
        <p:txBody>
          <a:bodyPr/>
          <a:lstStyle/>
          <a:p>
            <a:r>
              <a:rPr lang="ru-RU" dirty="0"/>
              <a:t>Селектор (</a:t>
            </a:r>
            <a:r>
              <a:rPr lang="en-US" dirty="0"/>
              <a:t>Selector </a:t>
            </a:r>
            <a:r>
              <a:rPr lang="ru-RU" dirty="0"/>
              <a:t>)</a:t>
            </a:r>
            <a:endParaRPr lang="en-US" dirty="0"/>
          </a:p>
          <a:p>
            <a:r>
              <a:rPr lang="ru-RU" dirty="0"/>
              <a:t>Скролл (</a:t>
            </a:r>
            <a:r>
              <a:rPr lang="en-US" dirty="0"/>
              <a:t>Scroll)</a:t>
            </a:r>
            <a:endParaRPr lang="ru-R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2A039F-D113-4EC8-AA5F-A4AA6DE832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272" y="2476210"/>
            <a:ext cx="4299041" cy="15763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4E2A3F-1EA7-4E98-8850-897A00EC5F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4472" y="3429000"/>
            <a:ext cx="3297543" cy="278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3315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C9967-7C0F-4203-AA51-5AF06049E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Словарь для тестирования</a:t>
            </a:r>
            <a:r>
              <a:rPr lang="en-US" dirty="0"/>
              <a:t> WEB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7B4D9-2C5A-4313-B479-A3AEEE4D8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645" y="2556932"/>
            <a:ext cx="10484528" cy="3318936"/>
          </a:xfrm>
        </p:spPr>
        <p:txBody>
          <a:bodyPr/>
          <a:lstStyle/>
          <a:p>
            <a:r>
              <a:rPr lang="ru-RU" dirty="0"/>
              <a:t>Радио</a:t>
            </a:r>
            <a:r>
              <a:rPr lang="en-US" dirty="0"/>
              <a:t> </a:t>
            </a:r>
            <a:r>
              <a:rPr lang="ru-RU" dirty="0"/>
              <a:t>кнопка (</a:t>
            </a:r>
            <a:r>
              <a:rPr lang="en-US" dirty="0"/>
              <a:t>Radio</a:t>
            </a:r>
            <a:r>
              <a:rPr lang="ru-RU" dirty="0"/>
              <a:t> </a:t>
            </a:r>
            <a:r>
              <a:rPr lang="en-US" dirty="0"/>
              <a:t>button </a:t>
            </a:r>
            <a:r>
              <a:rPr lang="ru-RU" dirty="0"/>
              <a:t>)</a:t>
            </a:r>
            <a:endParaRPr lang="en-US" dirty="0"/>
          </a:p>
          <a:p>
            <a:r>
              <a:rPr lang="ru-RU" dirty="0"/>
              <a:t>Плейсхолдер (</a:t>
            </a:r>
            <a:r>
              <a:rPr lang="en-US" dirty="0"/>
              <a:t>Placeholder)</a:t>
            </a:r>
          </a:p>
          <a:p>
            <a:r>
              <a:rPr lang="ru-RU" dirty="0"/>
              <a:t>Баллун (</a:t>
            </a:r>
            <a:r>
              <a:rPr lang="en-US" dirty="0"/>
              <a:t>Balloon)</a:t>
            </a: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B3F201-1E96-4DCD-8636-111A3B1F40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072" y="2445474"/>
            <a:ext cx="3305175" cy="13811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971248-D90C-4F03-A84A-4158A6F246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5645" y="3898733"/>
            <a:ext cx="3305175" cy="1905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67492E2-1797-4B4A-9386-A9F1AAE7DA4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725" y="4216400"/>
            <a:ext cx="2775657" cy="1381124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7FD9A49-92F6-485B-9B3F-517A50E911C0}"/>
              </a:ext>
            </a:extLst>
          </p:cNvPr>
          <p:cNvCxnSpPr>
            <a:cxnSpLocks/>
          </p:cNvCxnSpPr>
          <p:nvPr/>
        </p:nvCxnSpPr>
        <p:spPr>
          <a:xfrm flipH="1" flipV="1">
            <a:off x="4126727" y="4993420"/>
            <a:ext cx="135172" cy="3021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81105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C9967-7C0F-4203-AA51-5AF06049E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Словарь для тестирования</a:t>
            </a:r>
            <a:r>
              <a:rPr lang="en-US" dirty="0"/>
              <a:t> WEB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7B4D9-2C5A-4313-B479-A3AEEE4D8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645" y="2556932"/>
            <a:ext cx="10484528" cy="3318936"/>
          </a:xfrm>
        </p:spPr>
        <p:txBody>
          <a:bodyPr/>
          <a:lstStyle/>
          <a:p>
            <a:r>
              <a:rPr lang="ru-RU" dirty="0"/>
              <a:t>Тултип (</a:t>
            </a:r>
            <a:r>
              <a:rPr lang="en-US" dirty="0"/>
              <a:t>Tooltip</a:t>
            </a:r>
            <a:r>
              <a:rPr lang="ru-RU" dirty="0"/>
              <a:t>)</a:t>
            </a:r>
            <a:endParaRPr lang="en-US" dirty="0"/>
          </a:p>
          <a:p>
            <a:r>
              <a:rPr lang="ru-RU" dirty="0"/>
              <a:t>Пейджер (</a:t>
            </a:r>
            <a:r>
              <a:rPr lang="en-US" dirty="0"/>
              <a:t>Pager)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094205" y="2556932"/>
            <a:ext cx="2638425" cy="18478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334917" y="4865666"/>
            <a:ext cx="2851646" cy="852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1727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8FDB6-7CE5-4977-AD08-BF500AE1D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Инструменты для тестирования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34DF9-D377-4EF9-84EB-22D0FCA8A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Программы на ПК</a:t>
            </a:r>
            <a:r>
              <a:rPr lang="en-US" b="1" dirty="0"/>
              <a:t>:</a:t>
            </a:r>
            <a:endParaRPr lang="ru-RU" b="1" dirty="0"/>
          </a:p>
          <a:p>
            <a:r>
              <a:rPr lang="ru-RU" dirty="0"/>
              <a:t>Скриншоты</a:t>
            </a:r>
          </a:p>
          <a:p>
            <a:r>
              <a:rPr lang="en-US" dirty="0"/>
              <a:t>Gif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Плагины для браузера</a:t>
            </a:r>
            <a:r>
              <a:rPr lang="en-US" b="1" dirty="0"/>
              <a:t>:</a:t>
            </a:r>
            <a:endParaRPr lang="ru-RU" b="1" dirty="0"/>
          </a:p>
          <a:p>
            <a:r>
              <a:rPr lang="ru-RU" dirty="0"/>
              <a:t>Шрифты и цвета</a:t>
            </a:r>
            <a:endParaRPr lang="en-US" dirty="0"/>
          </a:p>
          <a:p>
            <a:r>
              <a:rPr lang="ru-RU" dirty="0"/>
              <a:t>Работа с даннными и размерами страницы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3087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8FDB6-7CE5-4977-AD08-BF500AE1D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Скриншоты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34DF9-D377-4EF9-84EB-22D0FCA8A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</a:t>
            </a:r>
            <a:r>
              <a:rPr lang="ru-RU" dirty="0"/>
              <a:t>Ножницы</a:t>
            </a:r>
            <a:r>
              <a:rPr lang="en-US" dirty="0"/>
              <a:t>”</a:t>
            </a:r>
            <a:endParaRPr lang="ru-RU" dirty="0"/>
          </a:p>
          <a:p>
            <a:r>
              <a:rPr lang="en-US" dirty="0"/>
              <a:t>“</a:t>
            </a:r>
            <a:r>
              <a:rPr lang="en-US" dirty="0" err="1"/>
              <a:t>LightShot</a:t>
            </a:r>
            <a:r>
              <a:rPr lang="en-US" dirty="0"/>
              <a:t>”</a:t>
            </a: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318799-FE29-4A94-9371-1B1159B064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1227" y="3781691"/>
            <a:ext cx="3764268" cy="24549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85E84B-A36B-46BE-9A2B-ED6EF6A4240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31191" y="3781887"/>
            <a:ext cx="4314966" cy="12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0796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8FDB6-7CE5-4977-AD08-BF500AE1D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Gif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34DF9-D377-4EF9-84EB-22D0FCA8A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LiceCap</a:t>
            </a:r>
            <a:endParaRPr lang="ru-RU" dirty="0"/>
          </a:p>
          <a:p>
            <a:r>
              <a:rPr lang="en-US" dirty="0" err="1"/>
              <a:t>GifCam</a:t>
            </a:r>
            <a:endParaRPr lang="en-US" dirty="0"/>
          </a:p>
          <a:p>
            <a:endParaRPr lang="ru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1D1F67-1330-413D-A96F-415B5CC4295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433333" y="3489866"/>
            <a:ext cx="4167158" cy="27478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057C04-945E-4871-B933-4E817B8C71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808" y="2440867"/>
            <a:ext cx="3438525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2865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8FDB6-7CE5-4977-AD08-BF500AE1D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Шрифты и цвета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34DF9-D377-4EF9-84EB-22D0FCA8A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ColorZilla</a:t>
            </a:r>
            <a:endParaRPr lang="ru-RU" dirty="0"/>
          </a:p>
          <a:p>
            <a:r>
              <a:rPr lang="en-US" dirty="0" err="1"/>
              <a:t>FontFace</a:t>
            </a:r>
            <a:r>
              <a:rPr lang="en-US" dirty="0"/>
              <a:t> Ninja</a:t>
            </a:r>
            <a:endParaRPr lang="ru-RU" dirty="0"/>
          </a:p>
          <a:p>
            <a:endParaRPr lang="en-US" dirty="0"/>
          </a:p>
          <a:p>
            <a:endParaRPr lang="ru-R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185E30-E2C1-47F9-A713-735BAEFFD3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2373" y="3200770"/>
            <a:ext cx="4781550" cy="304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67382F-487E-46F6-AD5C-4A885DBEC6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4754" y="2556932"/>
            <a:ext cx="2642250" cy="164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4060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8FDB6-7CE5-4977-AD08-BF500AE1D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с данными и размерами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34DF9-D377-4EF9-84EB-22D0FCA8A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Page Ruler</a:t>
            </a:r>
            <a:endParaRPr lang="ru-RU" dirty="0"/>
          </a:p>
          <a:p>
            <a:r>
              <a:rPr lang="en-US" dirty="0"/>
              <a:t>Form Filler</a:t>
            </a:r>
            <a:endParaRPr lang="ru-RU" dirty="0"/>
          </a:p>
          <a:p>
            <a:r>
              <a:rPr lang="en-US" dirty="0"/>
              <a:t>Clear Cache</a:t>
            </a:r>
            <a:r>
              <a:rPr lang="ru-RU" dirty="0"/>
              <a:t> </a:t>
            </a:r>
            <a:r>
              <a:rPr lang="ru-RU" sz="1400" dirty="0"/>
              <a:t>(или любой аналог)</a:t>
            </a:r>
            <a:endParaRPr lang="en-US" sz="1400" dirty="0"/>
          </a:p>
          <a:p>
            <a:endParaRPr lang="en-US" dirty="0"/>
          </a:p>
          <a:p>
            <a:endParaRPr lang="ru-R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D7BCE50-6E4C-42A0-87FB-577B6DBA97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127" y="2480697"/>
            <a:ext cx="2200564" cy="13679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A511E21-428C-485F-A22A-C1F0C6174A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2692" y="3848615"/>
            <a:ext cx="2042556" cy="13325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025248" y="4465122"/>
            <a:ext cx="2015477" cy="1783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079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259A2-E2B7-4D4B-86BC-AB93FFBBB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Тестирование программ</a:t>
            </a:r>
            <a:br>
              <a:rPr lang="ru-RU" dirty="0"/>
            </a:br>
            <a:endParaRPr lang="ru-R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479462-7098-4633-AC81-0DD0306FE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Влияние операционной системы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Влияние оборудования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Клиент-сервер / оффлайн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Тестирование установки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Microsoft Guidelines</a:t>
            </a:r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F9F19E-FD2E-4715-AE0F-B5E3EB156379}"/>
              </a:ext>
            </a:extLst>
          </p:cNvPr>
          <p:cNvSpPr/>
          <p:nvPr/>
        </p:nvSpPr>
        <p:spPr>
          <a:xfrm>
            <a:off x="5974813" y="3244334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 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7A9869-E4C5-43C1-9522-9F1D644C332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198971" y="4996829"/>
            <a:ext cx="2368352" cy="1240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1325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259A2-E2B7-4D4B-86BC-AB93FFBBB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Тестирование программ</a:t>
            </a:r>
            <a:br>
              <a:rPr lang="ru-RU" dirty="0"/>
            </a:br>
            <a:r>
              <a:rPr lang="ru-RU" dirty="0"/>
              <a:t>Особенности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479462-7098-4633-AC81-0DD0306FE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680283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b="1" dirty="0"/>
              <a:t>Операционная система</a:t>
            </a:r>
            <a:r>
              <a:rPr lang="en-US" b="1" dirty="0"/>
              <a:t>:</a:t>
            </a:r>
            <a:endParaRPr lang="ru-RU" b="1" dirty="0"/>
          </a:p>
          <a:p>
            <a:r>
              <a:rPr lang="ru-RU" dirty="0"/>
              <a:t>учитываются особенности разных ОС</a:t>
            </a:r>
            <a:r>
              <a:rPr lang="en-US" dirty="0"/>
              <a:t>:</a:t>
            </a:r>
          </a:p>
          <a:p>
            <a:pPr lvl="2"/>
            <a:r>
              <a:rPr lang="ru-RU" dirty="0"/>
              <a:t>файловая система</a:t>
            </a:r>
            <a:r>
              <a:rPr lang="en-US" dirty="0"/>
              <a:t> </a:t>
            </a:r>
          </a:p>
          <a:p>
            <a:pPr lvl="2"/>
            <a:r>
              <a:rPr lang="ru-RU" dirty="0"/>
              <a:t>реестр</a:t>
            </a:r>
            <a:endParaRPr lang="en-US" dirty="0"/>
          </a:p>
          <a:p>
            <a:pPr lvl="2"/>
            <a:r>
              <a:rPr lang="ru-RU" dirty="0"/>
              <a:t>сервисы и библиотеки</a:t>
            </a:r>
          </a:p>
          <a:p>
            <a:r>
              <a:rPr lang="ru-RU" dirty="0"/>
              <a:t>тестирование при различных настройках ОС</a:t>
            </a:r>
            <a:r>
              <a:rPr lang="en-US" dirty="0"/>
              <a:t>:</a:t>
            </a:r>
            <a:endParaRPr lang="ru-RU" dirty="0"/>
          </a:p>
          <a:p>
            <a:pPr lvl="2"/>
            <a:r>
              <a:rPr lang="ru-RU" dirty="0"/>
              <a:t>разрешение экрана</a:t>
            </a:r>
          </a:p>
          <a:p>
            <a:pPr lvl="2"/>
            <a:r>
              <a:rPr lang="ru-RU" dirty="0"/>
              <a:t>размер шрифта</a:t>
            </a:r>
          </a:p>
          <a:p>
            <a:pPr lvl="2"/>
            <a:r>
              <a:rPr lang="ru-RU" dirty="0"/>
              <a:t>дата, часовой пояс</a:t>
            </a:r>
          </a:p>
          <a:p>
            <a:pPr lvl="2"/>
            <a:r>
              <a:rPr lang="ru-RU" dirty="0"/>
              <a:t>права доступа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F9F19E-FD2E-4715-AE0F-B5E3EB156379}"/>
              </a:ext>
            </a:extLst>
          </p:cNvPr>
          <p:cNvSpPr/>
          <p:nvPr/>
        </p:nvSpPr>
        <p:spPr>
          <a:xfrm>
            <a:off x="5974813" y="3244334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 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7A9869-E4C5-43C1-9522-9F1D644C332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198971" y="4996829"/>
            <a:ext cx="2368352" cy="1240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0765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259A2-E2B7-4D4B-86BC-AB93FFBBB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Тестирование программ</a:t>
            </a:r>
            <a:br>
              <a:rPr lang="ru-RU" dirty="0"/>
            </a:br>
            <a:r>
              <a:rPr lang="ru-RU" dirty="0"/>
              <a:t>Особенности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479462-7098-4633-AC81-0DD0306FE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68028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ru-RU" b="1" dirty="0"/>
              <a:t>Клиент-сервер / оффлайн</a:t>
            </a:r>
            <a:r>
              <a:rPr lang="en-US" b="1" dirty="0"/>
              <a:t>:</a:t>
            </a:r>
            <a:endParaRPr lang="ru-RU" b="1" dirty="0"/>
          </a:p>
          <a:p>
            <a:r>
              <a:rPr lang="ru-RU" dirty="0"/>
              <a:t>для обмена данными необходим интернет / возможна работа локально</a:t>
            </a:r>
          </a:p>
          <a:p>
            <a:endParaRPr lang="en-US" dirty="0"/>
          </a:p>
          <a:p>
            <a:pPr marL="457200" indent="-457200">
              <a:buFont typeface="+mj-lt"/>
              <a:buAutoNum type="arabicPeriod" startAt="3"/>
            </a:pPr>
            <a:r>
              <a:rPr lang="ru-RU" b="1" dirty="0"/>
              <a:t>Оборудование</a:t>
            </a:r>
            <a:r>
              <a:rPr lang="en-US" b="1" dirty="0"/>
              <a:t>:</a:t>
            </a:r>
            <a:endParaRPr lang="ru-RU" b="1" dirty="0"/>
          </a:p>
          <a:p>
            <a:r>
              <a:rPr lang="ru-RU" dirty="0"/>
              <a:t>тестирование различных конфигураций оборудования</a:t>
            </a:r>
          </a:p>
          <a:p>
            <a:endParaRPr lang="ru-RU" dirty="0"/>
          </a:p>
          <a:p>
            <a:endParaRPr lang="en-US" dirty="0"/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F9F19E-FD2E-4715-AE0F-B5E3EB156379}"/>
              </a:ext>
            </a:extLst>
          </p:cNvPr>
          <p:cNvSpPr/>
          <p:nvPr/>
        </p:nvSpPr>
        <p:spPr>
          <a:xfrm>
            <a:off x="5974813" y="3244334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 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7A9869-E4C5-43C1-9522-9F1D644C332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198971" y="4996829"/>
            <a:ext cx="2368352" cy="1240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0606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259A2-E2B7-4D4B-86BC-AB93FFBBB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Тестирование установки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479462-7098-4633-AC81-0DD0306FE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510" y="2556931"/>
            <a:ext cx="10494628" cy="368028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ru-RU" b="1" dirty="0"/>
              <a:t>Тестирование установки </a:t>
            </a:r>
            <a:r>
              <a:rPr lang="ru-RU" dirty="0"/>
              <a:t>– направлено на проверку успешной инсталляции и настройки, а также обновления или удаления ПО.</a:t>
            </a:r>
            <a:endParaRPr lang="ru-RU" b="1" dirty="0"/>
          </a:p>
          <a:p>
            <a:pPr lvl="1"/>
            <a:r>
              <a:rPr lang="ru-RU" sz="2400" dirty="0"/>
              <a:t>Установка ПО осуществляется при помощи инсталляторов либо вручную. </a:t>
            </a:r>
          </a:p>
          <a:p>
            <a:pPr lvl="1"/>
            <a:r>
              <a:rPr lang="ru-RU" sz="2400" b="1" dirty="0"/>
              <a:t>Инсталлятор/Деинсталлятор</a:t>
            </a:r>
            <a:r>
              <a:rPr lang="ru-RU" sz="2400" dirty="0"/>
              <a:t> – файл с типом </a:t>
            </a:r>
            <a:r>
              <a:rPr lang="en-US" sz="2400" dirty="0"/>
              <a:t>EXE/MSI,</a:t>
            </a:r>
            <a:r>
              <a:rPr lang="ru-RU" sz="2400" dirty="0"/>
              <a:t> необходимый для установки/удаления ПО.</a:t>
            </a:r>
          </a:p>
          <a:p>
            <a:pPr marL="457200" lvl="1" indent="0">
              <a:buNone/>
            </a:pPr>
            <a:endParaRPr lang="ru-RU" sz="2400" b="1" dirty="0"/>
          </a:p>
          <a:p>
            <a:endParaRPr lang="en-US" dirty="0"/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F9F19E-FD2E-4715-AE0F-B5E3EB156379}"/>
              </a:ext>
            </a:extLst>
          </p:cNvPr>
          <p:cNvSpPr/>
          <p:nvPr/>
        </p:nvSpPr>
        <p:spPr>
          <a:xfrm>
            <a:off x="5974813" y="3244334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 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031DD6-B642-40ED-9845-BFC802F9DD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1053" y="5050993"/>
            <a:ext cx="2616664" cy="118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8810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259A2-E2B7-4D4B-86BC-AB93FFBBB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Тестирование установки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479462-7098-4633-AC81-0DD0306FE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68028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u="sng" dirty="0"/>
              <a:t>Что тестируется</a:t>
            </a:r>
            <a:r>
              <a:rPr lang="en-US" u="sng" dirty="0"/>
              <a:t>:</a:t>
            </a:r>
            <a:endParaRPr lang="ru-RU" u="sng" dirty="0"/>
          </a:p>
          <a:p>
            <a:r>
              <a:rPr lang="ru-RU" b="1" dirty="0"/>
              <a:t>Установка</a:t>
            </a:r>
            <a:r>
              <a:rPr lang="ru-RU" dirty="0"/>
              <a:t>(</a:t>
            </a:r>
            <a:r>
              <a:rPr lang="ru-RU" i="1" dirty="0"/>
              <a:t>Инсталляция</a:t>
            </a:r>
            <a:r>
              <a:rPr lang="ru-RU" dirty="0"/>
              <a:t>) </a:t>
            </a:r>
          </a:p>
          <a:p>
            <a:pPr lvl="1"/>
            <a:r>
              <a:rPr lang="ru-RU" dirty="0"/>
              <a:t>возврат и отмена установки на любом этапе</a:t>
            </a:r>
          </a:p>
          <a:p>
            <a:pPr lvl="1"/>
            <a:r>
              <a:rPr lang="ru-RU" dirty="0"/>
              <a:t>возможность выбрать директорию установки</a:t>
            </a:r>
          </a:p>
          <a:p>
            <a:pPr lvl="1"/>
            <a:r>
              <a:rPr lang="ru-RU" dirty="0"/>
              <a:t>создание ярлыка на рабочем столе</a:t>
            </a:r>
          </a:p>
          <a:p>
            <a:pPr lvl="1"/>
            <a:r>
              <a:rPr lang="ru-RU" dirty="0"/>
              <a:t>установка одного и того же приложения в разные директории</a:t>
            </a:r>
          </a:p>
          <a:p>
            <a:pPr lvl="1"/>
            <a:r>
              <a:rPr lang="ru-RU" dirty="0"/>
              <a:t>права доступа пользователя, который ставит приложение</a:t>
            </a:r>
          </a:p>
          <a:p>
            <a:pPr lvl="1"/>
            <a:r>
              <a:rPr lang="ru-RU" dirty="0"/>
              <a:t>регистрация приложения в ОС</a:t>
            </a:r>
          </a:p>
          <a:p>
            <a:pPr lvl="1"/>
            <a:endParaRPr lang="ru-RU" dirty="0"/>
          </a:p>
          <a:p>
            <a:endParaRPr lang="ru-RU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F9F19E-FD2E-4715-AE0F-B5E3EB156379}"/>
              </a:ext>
            </a:extLst>
          </p:cNvPr>
          <p:cNvSpPr/>
          <p:nvPr/>
        </p:nvSpPr>
        <p:spPr>
          <a:xfrm>
            <a:off x="5974813" y="3244334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 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C3823D-DD5B-4CA9-BBF2-F99C4FC6FF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1053" y="5050993"/>
            <a:ext cx="2616664" cy="118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0430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259A2-E2B7-4D4B-86BC-AB93FFBBB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Тестирование установки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479462-7098-4633-AC81-0DD0306FE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8290" y="2556931"/>
            <a:ext cx="9940953" cy="368028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u="sng" dirty="0"/>
              <a:t>Что тестируется</a:t>
            </a:r>
            <a:r>
              <a:rPr lang="en-US" u="sng" dirty="0"/>
              <a:t>:</a:t>
            </a:r>
            <a:endParaRPr lang="ru-RU" u="sng" dirty="0"/>
          </a:p>
          <a:p>
            <a:r>
              <a:rPr lang="ru-RU" b="1" dirty="0"/>
              <a:t>Обновление</a:t>
            </a:r>
          </a:p>
          <a:p>
            <a:pPr lvl="1"/>
            <a:r>
              <a:rPr lang="ru-RU" dirty="0"/>
              <a:t>обновление при запущенном приложении</a:t>
            </a:r>
          </a:p>
          <a:p>
            <a:pPr lvl="1"/>
            <a:r>
              <a:rPr lang="ru-RU" dirty="0"/>
              <a:t>прерывание обновления</a:t>
            </a:r>
          </a:p>
          <a:p>
            <a:r>
              <a:rPr lang="ru-RU" b="1" dirty="0"/>
              <a:t>Удаление</a:t>
            </a:r>
            <a:r>
              <a:rPr lang="ru-RU" dirty="0"/>
              <a:t>(</a:t>
            </a:r>
            <a:r>
              <a:rPr lang="ru-RU" i="1" dirty="0"/>
              <a:t>Деинсталляция</a:t>
            </a:r>
            <a:r>
              <a:rPr lang="ru-RU" dirty="0"/>
              <a:t>)</a:t>
            </a:r>
          </a:p>
          <a:p>
            <a:pPr lvl="1"/>
            <a:r>
              <a:rPr lang="ru-RU" altLang="ru-RU" dirty="0">
                <a:solidFill>
                  <a:schemeClr val="tx1"/>
                </a:solidFill>
              </a:rPr>
              <a:t>аналогично пунктам 1,2 обновления</a:t>
            </a:r>
            <a:endParaRPr lang="ru-RU" altLang="ru-RU" dirty="0">
              <a:solidFill>
                <a:schemeClr val="tx1"/>
              </a:solidFill>
              <a:latin typeface="+mj-lt"/>
            </a:endParaRPr>
          </a:p>
          <a:p>
            <a:pPr lvl="1"/>
            <a:r>
              <a:rPr lang="ru-RU" altLang="ru-RU" dirty="0">
                <a:solidFill>
                  <a:schemeClr val="tx1"/>
                </a:solidFill>
                <a:latin typeface="+mj-lt"/>
              </a:rPr>
              <a:t>корректное удаление приложения</a:t>
            </a:r>
            <a:r>
              <a:rPr lang="en-US" altLang="ru-RU" dirty="0">
                <a:solidFill>
                  <a:schemeClr val="tx1"/>
                </a:solidFill>
                <a:latin typeface="+mj-lt"/>
              </a:rPr>
              <a:t>:</a:t>
            </a:r>
            <a:endParaRPr lang="ru-RU" altLang="ru-RU" dirty="0">
              <a:solidFill>
                <a:schemeClr val="tx1"/>
              </a:solidFill>
              <a:latin typeface="+mj-lt"/>
            </a:endParaRPr>
          </a:p>
          <a:p>
            <a:pPr lvl="2"/>
            <a:r>
              <a:rPr lang="ru-RU" dirty="0"/>
              <a:t>удаление/восстановление предыдущих файловых ассоциаций</a:t>
            </a:r>
          </a:p>
          <a:p>
            <a:pPr lvl="2"/>
            <a:r>
              <a:rPr lang="ru-RU" dirty="0"/>
              <a:t>сохранность файлов созданных за время работы с приложением</a:t>
            </a:r>
            <a:endParaRPr lang="en-US" altLang="ru-RU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F9F19E-FD2E-4715-AE0F-B5E3EB156379}"/>
              </a:ext>
            </a:extLst>
          </p:cNvPr>
          <p:cNvSpPr/>
          <p:nvPr/>
        </p:nvSpPr>
        <p:spPr>
          <a:xfrm>
            <a:off x="5974813" y="3244334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 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9AE431-34BF-47E5-8B31-42E089FD9D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2055" y="5119447"/>
            <a:ext cx="2465662" cy="1117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976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259A2-E2B7-4D4B-86BC-AB93FFBBB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Microsoft Guidelines</a:t>
            </a:r>
            <a:endParaRPr lang="ru-R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479462-7098-4633-AC81-0DD0306FE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556931"/>
            <a:ext cx="9701253" cy="368028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b="1" dirty="0"/>
              <a:t>Microsoft guidelines </a:t>
            </a:r>
            <a:r>
              <a:rPr lang="en-US" dirty="0"/>
              <a:t>- </a:t>
            </a:r>
            <a:r>
              <a:rPr lang="ru-RU" dirty="0"/>
              <a:t>набор правил</a:t>
            </a:r>
            <a:r>
              <a:rPr lang="en-US" dirty="0"/>
              <a:t>,</a:t>
            </a:r>
            <a:r>
              <a:rPr lang="ru-RU" dirty="0"/>
              <a:t> стандартов дизайна и использования элементов в программах.</a:t>
            </a:r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294373-F863-4292-AA0E-02ECCAD432B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277305" y="5505190"/>
            <a:ext cx="3286538" cy="73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8336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259A2-E2B7-4D4B-86BC-AB93FFBBB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Microsoft Guidelines</a:t>
            </a:r>
            <a:endParaRPr lang="ru-R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479462-7098-4633-AC81-0DD0306FE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621" y="2556931"/>
            <a:ext cx="9601196" cy="368028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b="1" dirty="0"/>
              <a:t>Стандарты окна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ru-RU" u="sng" dirty="0"/>
              <a:t>Можно</a:t>
            </a:r>
            <a:r>
              <a:rPr lang="en-US" u="sng" dirty="0"/>
              <a:t>:</a:t>
            </a:r>
            <a:endParaRPr lang="ru-RU" u="sng" dirty="0"/>
          </a:p>
          <a:p>
            <a:r>
              <a:rPr lang="ru-RU" dirty="0"/>
              <a:t>Закрыть</a:t>
            </a:r>
          </a:p>
          <a:p>
            <a:r>
              <a:rPr lang="ru-RU" dirty="0"/>
              <a:t>Развернуть</a:t>
            </a:r>
          </a:p>
          <a:p>
            <a:r>
              <a:rPr lang="ru-RU" dirty="0"/>
              <a:t>Свернуть</a:t>
            </a:r>
          </a:p>
          <a:p>
            <a:r>
              <a:rPr lang="ru-RU" dirty="0"/>
              <a:t>Изменить размер</a:t>
            </a:r>
          </a:p>
          <a:p>
            <a:r>
              <a:rPr lang="ru-RU" dirty="0"/>
              <a:t>Получить справку об элементе*</a:t>
            </a:r>
          </a:p>
          <a:p>
            <a:endParaRPr lang="ru-RU" dirty="0"/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303993-E58B-4A2E-AA9B-05A959585FC2}"/>
              </a:ext>
            </a:extLst>
          </p:cNvPr>
          <p:cNvSpPr txBox="1"/>
          <p:nvPr/>
        </p:nvSpPr>
        <p:spPr>
          <a:xfrm>
            <a:off x="9118833" y="5875868"/>
            <a:ext cx="3389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*зависит от приложения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479628-8929-49E5-8B9A-C66D5BFF088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04159" y="2449585"/>
            <a:ext cx="3132598" cy="378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1616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259A2-E2B7-4D4B-86BC-AB93FFBBB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Microsoft Guidelines</a:t>
            </a:r>
            <a:endParaRPr lang="ru-R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479462-7098-4633-AC81-0DD0306FE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621" y="2556931"/>
            <a:ext cx="9601196" cy="368028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ru-RU" b="1" dirty="0"/>
              <a:t>Клавиши быстрого доступа</a:t>
            </a:r>
            <a:r>
              <a:rPr lang="en-US" b="1" dirty="0"/>
              <a:t>:</a:t>
            </a:r>
          </a:p>
          <a:p>
            <a:r>
              <a:rPr lang="ru-RU" dirty="0"/>
              <a:t>В опции подчёркнута буква для быстрого доступа</a:t>
            </a:r>
          </a:p>
          <a:p>
            <a:r>
              <a:rPr lang="ru-RU" dirty="0"/>
              <a:t>Есть горячие сочетания клавиш для быстрого действия</a:t>
            </a:r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54DD6F-D8FA-4B0B-A90B-C4D769CFEF1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09514" y="4482498"/>
            <a:ext cx="2914598" cy="15366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956130-541D-4D9A-B87F-FF53174F6ED4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963174" y="4482498"/>
            <a:ext cx="2914598" cy="1590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640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259A2-E2B7-4D4B-86BC-AB93FFBBB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Microsoft Guidelines</a:t>
            </a:r>
            <a:endParaRPr lang="ru-R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479462-7098-4633-AC81-0DD0306FE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621" y="2556931"/>
            <a:ext cx="9601196" cy="368028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ru-RU" b="1" dirty="0"/>
              <a:t>Диалоговые окна</a:t>
            </a:r>
            <a:r>
              <a:rPr lang="en-US" b="1" dirty="0"/>
              <a:t>:</a:t>
            </a:r>
          </a:p>
          <a:p>
            <a:r>
              <a:rPr lang="ru-RU" dirty="0"/>
              <a:t>Выделена кнопка одного из вариантов действий</a:t>
            </a:r>
          </a:p>
          <a:p>
            <a:r>
              <a:rPr lang="ru-RU" dirty="0"/>
              <a:t>Информация отображается на одном языке</a:t>
            </a:r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3EDBEE-87DF-478C-A7E0-5F945C4DF2D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261607" y="4101093"/>
            <a:ext cx="4138568" cy="2043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929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259A2-E2B7-4D4B-86BC-AB93FFBBB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Microsoft Guidelines</a:t>
            </a:r>
            <a:endParaRPr lang="ru-R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479462-7098-4633-AC81-0DD0306FE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621" y="2556931"/>
            <a:ext cx="9936758" cy="368028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ru-RU" b="1" dirty="0"/>
              <a:t>Сохранение данных</a:t>
            </a:r>
            <a:r>
              <a:rPr lang="en-US" b="1" dirty="0"/>
              <a:t>:</a:t>
            </a:r>
          </a:p>
          <a:p>
            <a:r>
              <a:rPr lang="ru-RU" dirty="0"/>
              <a:t>В случае возможности потери данных, должно возникать диалоговое окно</a:t>
            </a:r>
          </a:p>
          <a:p>
            <a:r>
              <a:rPr lang="ru-RU" dirty="0"/>
              <a:t>Изменение вступают в силу после подтверждения по кнопке</a:t>
            </a:r>
            <a:endParaRPr lang="en-US" dirty="0"/>
          </a:p>
          <a:p>
            <a:endParaRPr lang="en-US" dirty="0"/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999F86-C6DC-4CC5-B8B0-C7B6849660A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27621" y="4397072"/>
            <a:ext cx="4505325" cy="1409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9C7959-306A-4A4D-B207-C4A264E6EB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7669" y="4099370"/>
            <a:ext cx="4742574" cy="213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3534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259A2-E2B7-4D4B-86BC-AB93FFBBB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Microsoft Guidelines</a:t>
            </a:r>
            <a:endParaRPr lang="ru-R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479462-7098-4633-AC81-0DD0306FE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621" y="2556931"/>
            <a:ext cx="9601196" cy="3680283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ru-RU" b="1" dirty="0"/>
              <a:t>Элементы</a:t>
            </a:r>
            <a:r>
              <a:rPr lang="en-US" b="1" dirty="0"/>
              <a:t>: checkbox</a:t>
            </a:r>
          </a:p>
          <a:p>
            <a:r>
              <a:rPr lang="ru-RU" dirty="0"/>
              <a:t>работает по принципу</a:t>
            </a:r>
            <a:r>
              <a:rPr lang="en-US" dirty="0"/>
              <a:t>:</a:t>
            </a:r>
            <a:r>
              <a:rPr lang="ru-RU" dirty="0"/>
              <a:t> вкл/выкл</a:t>
            </a:r>
          </a:p>
          <a:p>
            <a:r>
              <a:rPr lang="ru-RU" dirty="0"/>
              <a:t>не может иметь одинаковые названия</a:t>
            </a:r>
          </a:p>
          <a:p>
            <a:r>
              <a:rPr lang="ru-RU" dirty="0"/>
              <a:t>нельзя выбрать одновременно 2 противоположных варианта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ru-RU" b="1" dirty="0"/>
              <a:t>Элементы</a:t>
            </a:r>
            <a:r>
              <a:rPr lang="en-US" b="1" dirty="0"/>
              <a:t>: radio button</a:t>
            </a:r>
          </a:p>
          <a:p>
            <a:r>
              <a:rPr lang="ru-RU" dirty="0"/>
              <a:t>выбор между противоложными вариантами</a:t>
            </a:r>
          </a:p>
          <a:p>
            <a:r>
              <a:rPr lang="ru-RU" dirty="0"/>
              <a:t>можно выбрать только один вариант</a:t>
            </a:r>
          </a:p>
          <a:p>
            <a:r>
              <a:rPr lang="ru-RU" dirty="0"/>
              <a:t>не может быть пустым</a:t>
            </a:r>
            <a:endParaRPr lang="en-US" dirty="0"/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A08E03-7ACD-48C7-80A5-C5898E89E16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258556" y="2640704"/>
            <a:ext cx="247650" cy="2381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7FCA7E-D7F7-4C4D-B1F9-7AC183622A2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69819" y="4446869"/>
            <a:ext cx="180975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569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259A2-E2B7-4D4B-86BC-AB93FFBBB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Microsoft Guidelines</a:t>
            </a:r>
            <a:endParaRPr lang="ru-R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479462-7098-4633-AC81-0DD0306FE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621" y="2371723"/>
            <a:ext cx="9921379" cy="45720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solidFill>
                  <a:srgbClr val="FF0000"/>
                </a:solidFill>
              </a:rPr>
              <a:t>Неправильно</a:t>
            </a:r>
            <a:r>
              <a:rPr lang="en-US" b="1" dirty="0">
                <a:solidFill>
                  <a:srgbClr val="FF0000"/>
                </a:solidFill>
              </a:rPr>
              <a:t>:</a:t>
            </a:r>
            <a:r>
              <a:rPr lang="ru-RU" b="1" dirty="0">
                <a:solidFill>
                  <a:srgbClr val="FF0000"/>
                </a:solidFill>
              </a:rPr>
              <a:t>			</a:t>
            </a:r>
            <a:r>
              <a:rPr lang="en-US" b="1" dirty="0">
                <a:solidFill>
                  <a:srgbClr val="FF0000"/>
                </a:solidFill>
              </a:rPr>
              <a:t>					</a:t>
            </a:r>
            <a:endParaRPr lang="ru-RU" dirty="0">
              <a:solidFill>
                <a:srgbClr val="FF0000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/>
              <a:t>1) </a:t>
            </a:r>
            <a:r>
              <a:rPr lang="ru-RU" sz="2200" dirty="0"/>
              <a:t>Выберите размер печати</a:t>
            </a:r>
            <a:r>
              <a:rPr lang="en-US" sz="2200" dirty="0"/>
              <a:t>:</a:t>
            </a:r>
            <a:endParaRPr lang="ru-RU" sz="2200" dirty="0"/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ru-RU" dirty="0"/>
              <a:t>        </a:t>
            </a:r>
            <a:r>
              <a:rPr lang="ru-RU" sz="1800" dirty="0"/>
              <a:t>А4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200" dirty="0"/>
              <a:t>2) </a:t>
            </a:r>
            <a:r>
              <a:rPr lang="ru-RU" sz="2200" dirty="0"/>
              <a:t>Выберите опцию</a:t>
            </a:r>
            <a:r>
              <a:rPr lang="en-US" sz="2200" dirty="0"/>
              <a:t>:</a:t>
            </a:r>
            <a:endParaRPr lang="ru-RU" sz="22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	  </a:t>
            </a:r>
            <a:r>
              <a:rPr lang="ru-RU" sz="1800" dirty="0"/>
              <a:t>Больше не показывать это сообщение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ru-RU" dirty="0"/>
              <a:t>	  </a:t>
            </a:r>
            <a:r>
              <a:rPr lang="ru-RU" sz="1800" dirty="0"/>
              <a:t>Показывать это сообщение</a:t>
            </a:r>
            <a:endParaRPr lang="ru-RU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dirty="0"/>
              <a:t>3) Выберите расположение</a:t>
            </a:r>
            <a:r>
              <a:rPr lang="en-US" sz="2200" dirty="0"/>
              <a:t>:</a:t>
            </a:r>
            <a:endParaRPr lang="ru-RU" sz="22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	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/>
              <a:t>           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E908C5-BF25-418F-9778-117E087149E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47161" y="3292711"/>
            <a:ext cx="247650" cy="2381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D653A7-C6D6-473C-92E2-9C0532AEB15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37636" y="4293081"/>
            <a:ext cx="247650" cy="2381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F282F5-E570-40BA-B780-D88ED6C0564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37636" y="4662122"/>
            <a:ext cx="247650" cy="2381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3F7B3FF-BAFB-44B7-A9DD-207F1F801771}"/>
              </a:ext>
            </a:extLst>
          </p:cNvPr>
          <p:cNvSpPr txBox="1"/>
          <p:nvPr/>
        </p:nvSpPr>
        <p:spPr>
          <a:xfrm>
            <a:off x="3000861" y="5506536"/>
            <a:ext cx="790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Центр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841443-E5FF-438B-B7C8-FAA7363A905F}"/>
              </a:ext>
            </a:extLst>
          </p:cNvPr>
          <p:cNvSpPr txBox="1"/>
          <p:nvPr/>
        </p:nvSpPr>
        <p:spPr>
          <a:xfrm>
            <a:off x="7589258" y="5857122"/>
            <a:ext cx="785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Право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CCFF67-7D50-4E91-9FC0-5942924052F9}"/>
              </a:ext>
            </a:extLst>
          </p:cNvPr>
          <p:cNvSpPr txBox="1"/>
          <p:nvPr/>
        </p:nvSpPr>
        <p:spPr>
          <a:xfrm>
            <a:off x="4296643" y="5504988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Справа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B6A15F-41AF-43B7-B7BD-36D8F8A0CBE0}"/>
              </a:ext>
            </a:extLst>
          </p:cNvPr>
          <p:cNvSpPr txBox="1"/>
          <p:nvPr/>
        </p:nvSpPr>
        <p:spPr>
          <a:xfrm>
            <a:off x="1647200" y="5504988"/>
            <a:ext cx="73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Слева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A309C75-5DB6-4A66-B1BF-3E1086D8A93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47161" y="5614246"/>
            <a:ext cx="190500" cy="1905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E7B0936-8060-460F-AAB8-A25B6483619C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900848" y="5614246"/>
            <a:ext cx="180975" cy="1905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027CF9A-0C8D-43F5-9AEF-93FFBC975CD0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201077" y="5614246"/>
            <a:ext cx="180975" cy="190500"/>
          </a:xfrm>
          <a:prstGeom prst="rect">
            <a:avLst/>
          </a:prstGeom>
        </p:spPr>
      </p:pic>
      <p:sp>
        <p:nvSpPr>
          <p:cNvPr id="24" name="Content Placeholder 6">
            <a:extLst>
              <a:ext uri="{FF2B5EF4-FFF2-40B4-BE49-F238E27FC236}">
                <a16:creationId xmlns:a16="http://schemas.microsoft.com/office/drawing/2014/main" id="{278EC30D-A2A0-4976-A434-03A759E4C2D0}"/>
              </a:ext>
            </a:extLst>
          </p:cNvPr>
          <p:cNvSpPr txBox="1">
            <a:spLocks/>
          </p:cNvSpPr>
          <p:nvPr/>
        </p:nvSpPr>
        <p:spPr>
          <a:xfrm>
            <a:off x="7212261" y="2385646"/>
            <a:ext cx="5684590" cy="45720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ru-RU" b="1" dirty="0">
                <a:solidFill>
                  <a:srgbClr val="00B050"/>
                </a:solidFill>
              </a:rPr>
              <a:t>Правильно</a:t>
            </a:r>
            <a:r>
              <a:rPr lang="en-US" b="1" dirty="0">
                <a:solidFill>
                  <a:srgbClr val="00B050"/>
                </a:solidFill>
              </a:rPr>
              <a:t>:</a:t>
            </a:r>
            <a:r>
              <a:rPr lang="ru-RU" b="1" dirty="0">
                <a:solidFill>
                  <a:srgbClr val="FF0000"/>
                </a:solidFill>
              </a:rPr>
              <a:t>			</a:t>
            </a:r>
            <a:r>
              <a:rPr lang="en-US" b="1" dirty="0">
                <a:solidFill>
                  <a:srgbClr val="FF0000"/>
                </a:solidFill>
              </a:rPr>
              <a:t>					</a:t>
            </a:r>
            <a:endParaRPr lang="ru-RU" dirty="0">
              <a:solidFill>
                <a:srgbClr val="FF0000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lang="en-US" sz="2200" dirty="0"/>
              <a:t>1) </a:t>
            </a:r>
            <a:r>
              <a:rPr lang="ru-RU" sz="2200" dirty="0"/>
              <a:t>Выберите размер печати</a:t>
            </a:r>
            <a:r>
              <a:rPr lang="en-US" sz="2200" dirty="0"/>
              <a:t>:</a:t>
            </a:r>
            <a:endParaRPr lang="ru-RU" sz="22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lang="ru-RU" dirty="0"/>
              <a:t>       </a:t>
            </a:r>
            <a:r>
              <a:rPr lang="ru-RU" sz="1800" dirty="0"/>
              <a:t>А4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lang="ru-RU" sz="1800" dirty="0"/>
              <a:t>	 А3</a:t>
            </a:r>
          </a:p>
          <a:p>
            <a:pPr marL="0" indent="0">
              <a:spcBef>
                <a:spcPts val="600"/>
              </a:spcBef>
              <a:buFont typeface="Arial"/>
              <a:buNone/>
            </a:pPr>
            <a:r>
              <a:rPr lang="en-US" sz="2200" dirty="0"/>
              <a:t>2) </a:t>
            </a:r>
            <a:r>
              <a:rPr lang="ru-RU" sz="2200" dirty="0"/>
              <a:t>Выберите опцию</a:t>
            </a:r>
            <a:r>
              <a:rPr lang="en-US" sz="2200" dirty="0"/>
              <a:t>:</a:t>
            </a:r>
            <a:endParaRPr lang="ru-RU" sz="2200" dirty="0"/>
          </a:p>
          <a:p>
            <a:pPr marL="0" indent="0">
              <a:spcBef>
                <a:spcPts val="0"/>
              </a:spcBef>
              <a:spcAft>
                <a:spcPts val="300"/>
              </a:spcAft>
              <a:buFont typeface="Arial"/>
              <a:buNone/>
            </a:pPr>
            <a:r>
              <a:rPr lang="ru-RU" dirty="0"/>
              <a:t>	 </a:t>
            </a:r>
            <a:r>
              <a:rPr lang="ru-RU" sz="1800" dirty="0"/>
              <a:t>Больше не показывать это сообщение</a:t>
            </a:r>
            <a:endParaRPr lang="ru-RU" sz="2200" dirty="0"/>
          </a:p>
          <a:p>
            <a:pPr marL="0" indent="0">
              <a:spcBef>
                <a:spcPts val="0"/>
              </a:spcBef>
              <a:spcAft>
                <a:spcPts val="300"/>
              </a:spcAft>
              <a:buFont typeface="Arial"/>
              <a:buNone/>
            </a:pPr>
            <a:r>
              <a:rPr lang="ru-RU" sz="2200" dirty="0"/>
              <a:t>3) Выберите расположение</a:t>
            </a:r>
            <a:r>
              <a:rPr lang="en-US" sz="2200" dirty="0"/>
              <a:t>:</a:t>
            </a:r>
            <a:endParaRPr lang="ru-RU" sz="22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lang="ru-RU" dirty="0"/>
              <a:t>	</a:t>
            </a:r>
            <a:endParaRPr lang="ru-RU" sz="1800" dirty="0"/>
          </a:p>
          <a:p>
            <a:pPr marL="0" indent="0">
              <a:buFont typeface="Arial"/>
              <a:buNone/>
            </a:pPr>
            <a:endParaRPr lang="ru-RU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56B8913-9B2E-42A4-88F5-EEF09ECB6E74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26387" y="3340336"/>
            <a:ext cx="190500" cy="1905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24F4ED5-915D-49A5-8362-10A902B4504C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626387" y="3616560"/>
            <a:ext cx="180975" cy="1905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1A04CBC-5575-4D46-9F35-A51A2AFDC31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59712" y="4420564"/>
            <a:ext cx="247650" cy="23812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BFA872B-95AE-4CA9-861F-A2A46E41CB3F}"/>
              </a:ext>
            </a:extLst>
          </p:cNvPr>
          <p:cNvSpPr txBox="1"/>
          <p:nvPr/>
        </p:nvSpPr>
        <p:spPr>
          <a:xfrm>
            <a:off x="7583455" y="5125627"/>
            <a:ext cx="73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Слева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235F223-4E73-416B-9B36-7E6110587274}"/>
              </a:ext>
            </a:extLst>
          </p:cNvPr>
          <p:cNvSpPr txBox="1"/>
          <p:nvPr/>
        </p:nvSpPr>
        <p:spPr>
          <a:xfrm>
            <a:off x="7593975" y="5486268"/>
            <a:ext cx="790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Центр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0D184C1-46CA-42E5-911D-B46BBEE24B6F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464462" y="5213957"/>
            <a:ext cx="190500" cy="1905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D2DA41A-FE9B-411F-B7E8-3195C7DD9706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464462" y="5583066"/>
            <a:ext cx="180975" cy="1905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D64FAD1-C06C-4966-A7B4-8B71F3975F66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464803" y="5957223"/>
            <a:ext cx="180975" cy="1905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D1C3D46-205E-47C5-B401-5E4A0D008FF0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521581" y="4426083"/>
            <a:ext cx="293732" cy="23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05722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259A2-E2B7-4D4B-86BC-AB93FFBBB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Microsoft Guidelines</a:t>
            </a:r>
            <a:endParaRPr lang="ru-R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479462-7098-4633-AC81-0DD0306FE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621" y="2556931"/>
            <a:ext cx="9601196" cy="368028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ru-RU" b="1" dirty="0"/>
              <a:t>Элементы</a:t>
            </a:r>
            <a:r>
              <a:rPr lang="en-US" b="1" dirty="0"/>
              <a:t>: selector</a:t>
            </a:r>
          </a:p>
          <a:p>
            <a:r>
              <a:rPr lang="ru-RU" dirty="0"/>
              <a:t>должна быть сортировка по алфавиту*</a:t>
            </a:r>
          </a:p>
          <a:p>
            <a:r>
              <a:rPr lang="ru-RU" dirty="0"/>
              <a:t>должен быть скролл если список большой</a:t>
            </a:r>
          </a:p>
          <a:p>
            <a:r>
              <a:rPr lang="ru-RU" dirty="0"/>
              <a:t>не должен содержать пустой вариант</a:t>
            </a:r>
          </a:p>
          <a:p>
            <a:pPr marL="457200" indent="-457200">
              <a:buFont typeface="+mj-lt"/>
              <a:buAutoNum type="arabicPeriod" startAt="7"/>
            </a:pPr>
            <a:r>
              <a:rPr lang="ru-RU" b="1" dirty="0"/>
              <a:t>Элементы</a:t>
            </a:r>
            <a:r>
              <a:rPr lang="en-US" b="1" dirty="0"/>
              <a:t>: search box</a:t>
            </a:r>
          </a:p>
          <a:p>
            <a:r>
              <a:rPr lang="ru-RU" dirty="0"/>
              <a:t>должен быть плейсхолдер</a:t>
            </a:r>
            <a:r>
              <a:rPr lang="en-US" dirty="0"/>
              <a:t> </a:t>
            </a:r>
            <a:r>
              <a:rPr lang="ru-RU" dirty="0"/>
              <a:t>и(или) тултип</a:t>
            </a:r>
          </a:p>
          <a:p>
            <a:r>
              <a:rPr lang="ru-RU" dirty="0"/>
              <a:t>должна быть иконка поиска</a:t>
            </a:r>
            <a:r>
              <a:rPr lang="en-US" dirty="0"/>
              <a:t> </a:t>
            </a:r>
            <a:r>
              <a:rPr lang="ru-RU" dirty="0"/>
              <a:t>и(или) кнопка поиска</a:t>
            </a:r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D96742-C73E-4227-AEFC-DF85E38F6127}"/>
              </a:ext>
            </a:extLst>
          </p:cNvPr>
          <p:cNvSpPr txBox="1"/>
          <p:nvPr/>
        </p:nvSpPr>
        <p:spPr>
          <a:xfrm>
            <a:off x="8649707" y="5875868"/>
            <a:ext cx="3389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*если в списке </a:t>
            </a:r>
            <a:r>
              <a:rPr lang="en-US" dirty="0"/>
              <a:t>&gt;10</a:t>
            </a:r>
            <a:r>
              <a:rPr lang="ru-RU" dirty="0"/>
              <a:t> вариантов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E28E93-4CE6-46C7-AE23-820DEE240D5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08969" y="2598675"/>
            <a:ext cx="1619250" cy="390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AA7774-7826-4DF5-91EF-1E3DCDE053F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84361" y="4685547"/>
            <a:ext cx="2042444" cy="313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3624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259A2-E2B7-4D4B-86BC-AB93FFBBB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Microsoft Guidelines</a:t>
            </a:r>
            <a:endParaRPr lang="ru-R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479462-7098-4633-AC81-0DD0306FE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621" y="2371723"/>
            <a:ext cx="9921379" cy="45720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solidFill>
                  <a:srgbClr val="FF0000"/>
                </a:solidFill>
              </a:rPr>
              <a:t>Неправильно</a:t>
            </a:r>
            <a:r>
              <a:rPr lang="en-US" b="1" dirty="0">
                <a:solidFill>
                  <a:srgbClr val="FF0000"/>
                </a:solidFill>
              </a:rPr>
              <a:t>:</a:t>
            </a:r>
            <a:r>
              <a:rPr lang="ru-RU" b="1" dirty="0">
                <a:solidFill>
                  <a:srgbClr val="FF0000"/>
                </a:solidFill>
              </a:rPr>
              <a:t>			</a:t>
            </a:r>
            <a:r>
              <a:rPr lang="en-US" b="1" dirty="0">
                <a:solidFill>
                  <a:srgbClr val="FF0000"/>
                </a:solidFill>
              </a:rPr>
              <a:t>					</a:t>
            </a:r>
            <a:endParaRPr lang="ru-RU" dirty="0">
              <a:solidFill>
                <a:srgbClr val="FF0000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/>
              <a:t>1) </a:t>
            </a:r>
            <a:r>
              <a:rPr lang="ru-RU" sz="2200" dirty="0"/>
              <a:t>Выберите опцию</a:t>
            </a:r>
            <a:r>
              <a:rPr lang="en-US" sz="2200" dirty="0"/>
              <a:t>:</a:t>
            </a:r>
            <a:endParaRPr lang="ru-RU" sz="2200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ED9C15-6716-4F51-BE3B-C9FEB741BDF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95402" y="3267074"/>
            <a:ext cx="2992731" cy="26087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A193C9-E15B-46A0-AF5F-FF931515ADD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370190" y="3267074"/>
            <a:ext cx="2696811" cy="2608794"/>
          </a:xfrm>
          <a:prstGeom prst="rect">
            <a:avLst/>
          </a:prstGeom>
        </p:spPr>
      </p:pic>
      <p:sp>
        <p:nvSpPr>
          <p:cNvPr id="33" name="Content Placeholder 6">
            <a:extLst>
              <a:ext uri="{FF2B5EF4-FFF2-40B4-BE49-F238E27FC236}">
                <a16:creationId xmlns:a16="http://schemas.microsoft.com/office/drawing/2014/main" id="{F01F726A-113E-4AF5-9920-4DC2DD52EA9D}"/>
              </a:ext>
            </a:extLst>
          </p:cNvPr>
          <p:cNvSpPr txBox="1">
            <a:spLocks/>
          </p:cNvSpPr>
          <p:nvPr/>
        </p:nvSpPr>
        <p:spPr>
          <a:xfrm>
            <a:off x="7212261" y="2385646"/>
            <a:ext cx="5684590" cy="45720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ru-RU" b="1" dirty="0">
                <a:solidFill>
                  <a:srgbClr val="00B050"/>
                </a:solidFill>
              </a:rPr>
              <a:t>Правильно</a:t>
            </a:r>
            <a:r>
              <a:rPr lang="en-US" b="1" dirty="0">
                <a:solidFill>
                  <a:srgbClr val="00B050"/>
                </a:solidFill>
              </a:rPr>
              <a:t>:</a:t>
            </a:r>
            <a:r>
              <a:rPr lang="ru-RU" b="1" dirty="0">
                <a:solidFill>
                  <a:srgbClr val="FF0000"/>
                </a:solidFill>
              </a:rPr>
              <a:t>			</a:t>
            </a:r>
            <a:r>
              <a:rPr lang="en-US" b="1" dirty="0">
                <a:solidFill>
                  <a:srgbClr val="FF0000"/>
                </a:solidFill>
              </a:rPr>
              <a:t>					</a:t>
            </a:r>
            <a:endParaRPr lang="ru-RU" dirty="0">
              <a:solidFill>
                <a:srgbClr val="FF0000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lang="en-US" sz="2200" dirty="0"/>
              <a:t>1) </a:t>
            </a:r>
            <a:r>
              <a:rPr lang="ru-RU" sz="2200" dirty="0"/>
              <a:t>Выберите опцию</a:t>
            </a:r>
            <a:r>
              <a:rPr lang="en-US" sz="2200" dirty="0"/>
              <a:t>:</a:t>
            </a:r>
            <a:endParaRPr lang="ru-RU" sz="22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lang="ru-RU" dirty="0"/>
              <a:t>	</a:t>
            </a:r>
            <a:endParaRPr lang="ru-RU" sz="1800" dirty="0"/>
          </a:p>
          <a:p>
            <a:pPr marL="0" indent="0">
              <a:buFont typeface="Arial"/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208286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259A2-E2B7-4D4B-86BC-AB93FFBBB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Microsoft Guidelines</a:t>
            </a:r>
            <a:endParaRPr lang="ru-R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479462-7098-4633-AC81-0DD0306FE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621" y="2371723"/>
            <a:ext cx="9921379" cy="45720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solidFill>
                  <a:srgbClr val="FF0000"/>
                </a:solidFill>
              </a:rPr>
              <a:t>Неправильно</a:t>
            </a:r>
            <a:r>
              <a:rPr lang="en-US" b="1" dirty="0">
                <a:solidFill>
                  <a:srgbClr val="FF0000"/>
                </a:solidFill>
              </a:rPr>
              <a:t>:</a:t>
            </a:r>
            <a:r>
              <a:rPr lang="ru-RU" b="1" dirty="0">
                <a:solidFill>
                  <a:srgbClr val="FF0000"/>
                </a:solidFill>
              </a:rPr>
              <a:t>			</a:t>
            </a:r>
            <a:r>
              <a:rPr lang="en-US" b="1" dirty="0">
                <a:solidFill>
                  <a:srgbClr val="FF0000"/>
                </a:solidFill>
              </a:rPr>
              <a:t>					</a:t>
            </a:r>
            <a:endParaRPr lang="ru-RU" dirty="0">
              <a:solidFill>
                <a:srgbClr val="FF0000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dirty="0"/>
              <a:t>2</a:t>
            </a:r>
            <a:r>
              <a:rPr lang="en-US" sz="2200" dirty="0"/>
              <a:t>) </a:t>
            </a:r>
            <a:r>
              <a:rPr lang="ru-RU" sz="2200" dirty="0"/>
              <a:t>Выберите опцию</a:t>
            </a:r>
            <a:r>
              <a:rPr lang="en-US" sz="2200" dirty="0"/>
              <a:t>:</a:t>
            </a:r>
            <a:endParaRPr lang="ru-RU" sz="2200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33" name="Content Placeholder 6">
            <a:extLst>
              <a:ext uri="{FF2B5EF4-FFF2-40B4-BE49-F238E27FC236}">
                <a16:creationId xmlns:a16="http://schemas.microsoft.com/office/drawing/2014/main" id="{F01F726A-113E-4AF5-9920-4DC2DD52EA9D}"/>
              </a:ext>
            </a:extLst>
          </p:cNvPr>
          <p:cNvSpPr txBox="1">
            <a:spLocks/>
          </p:cNvSpPr>
          <p:nvPr/>
        </p:nvSpPr>
        <p:spPr>
          <a:xfrm>
            <a:off x="7212261" y="2385646"/>
            <a:ext cx="5684590" cy="45720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ru-RU" b="1" dirty="0">
                <a:solidFill>
                  <a:srgbClr val="00B050"/>
                </a:solidFill>
              </a:rPr>
              <a:t>Правильно</a:t>
            </a:r>
            <a:r>
              <a:rPr lang="en-US" b="1" dirty="0">
                <a:solidFill>
                  <a:srgbClr val="00B050"/>
                </a:solidFill>
              </a:rPr>
              <a:t>:</a:t>
            </a:r>
            <a:r>
              <a:rPr lang="ru-RU" b="1" dirty="0">
                <a:solidFill>
                  <a:srgbClr val="FF0000"/>
                </a:solidFill>
              </a:rPr>
              <a:t>			</a:t>
            </a:r>
            <a:r>
              <a:rPr lang="en-US" b="1" dirty="0">
                <a:solidFill>
                  <a:srgbClr val="FF0000"/>
                </a:solidFill>
              </a:rPr>
              <a:t>					</a:t>
            </a:r>
            <a:endParaRPr lang="ru-RU" dirty="0">
              <a:solidFill>
                <a:srgbClr val="FF0000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lang="ru-RU" sz="2200" dirty="0"/>
              <a:t>2</a:t>
            </a:r>
            <a:r>
              <a:rPr lang="en-US" sz="2200" dirty="0"/>
              <a:t>) </a:t>
            </a:r>
            <a:r>
              <a:rPr lang="ru-RU" sz="2200" dirty="0"/>
              <a:t>Выберите опцию</a:t>
            </a:r>
            <a:r>
              <a:rPr lang="en-US" sz="2200" dirty="0"/>
              <a:t>:</a:t>
            </a:r>
            <a:endParaRPr lang="ru-RU" sz="22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lang="ru-RU" dirty="0"/>
              <a:t>	</a:t>
            </a:r>
            <a:endParaRPr lang="ru-RU" sz="1800" dirty="0"/>
          </a:p>
          <a:p>
            <a:pPr marL="0" indent="0">
              <a:buFont typeface="Arial"/>
              <a:buNone/>
            </a:pPr>
            <a:endParaRPr lang="ru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A7ABD8-FD89-450C-86E4-19EFA288C68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12261" y="3274036"/>
            <a:ext cx="3028948" cy="26427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057199-9648-489B-95F1-2F44189C68DE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95402" y="3274036"/>
            <a:ext cx="3028948" cy="2643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8526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259A2-E2B7-4D4B-86BC-AB93FFBBB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Microsoft Guidelines</a:t>
            </a:r>
            <a:endParaRPr lang="ru-R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479462-7098-4633-AC81-0DD0306FE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621" y="2371723"/>
            <a:ext cx="9921379" cy="45720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solidFill>
                  <a:srgbClr val="FF0000"/>
                </a:solidFill>
              </a:rPr>
              <a:t>Неправильно</a:t>
            </a:r>
            <a:r>
              <a:rPr lang="en-US" b="1" dirty="0">
                <a:solidFill>
                  <a:srgbClr val="FF0000"/>
                </a:solidFill>
              </a:rPr>
              <a:t>:</a:t>
            </a:r>
            <a:r>
              <a:rPr lang="ru-RU" b="1" dirty="0">
                <a:solidFill>
                  <a:srgbClr val="FF0000"/>
                </a:solidFill>
              </a:rPr>
              <a:t>			</a:t>
            </a:r>
            <a:r>
              <a:rPr lang="en-US" b="1" dirty="0">
                <a:solidFill>
                  <a:srgbClr val="FF0000"/>
                </a:solidFill>
              </a:rPr>
              <a:t>					</a:t>
            </a:r>
            <a:endParaRPr lang="ru-RU" dirty="0">
              <a:solidFill>
                <a:srgbClr val="FF0000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dirty="0"/>
              <a:t>3</a:t>
            </a:r>
            <a:r>
              <a:rPr lang="en-US" sz="2200" dirty="0"/>
              <a:t>) </a:t>
            </a:r>
            <a:r>
              <a:rPr lang="ru-RU" sz="2200" dirty="0"/>
              <a:t>Поиск</a:t>
            </a:r>
            <a:r>
              <a:rPr lang="en-US" sz="2200" dirty="0"/>
              <a:t>:</a:t>
            </a:r>
            <a:endParaRPr lang="ru-RU" sz="2200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33" name="Content Placeholder 6">
            <a:extLst>
              <a:ext uri="{FF2B5EF4-FFF2-40B4-BE49-F238E27FC236}">
                <a16:creationId xmlns:a16="http://schemas.microsoft.com/office/drawing/2014/main" id="{F01F726A-113E-4AF5-9920-4DC2DD52EA9D}"/>
              </a:ext>
            </a:extLst>
          </p:cNvPr>
          <p:cNvSpPr txBox="1">
            <a:spLocks/>
          </p:cNvSpPr>
          <p:nvPr/>
        </p:nvSpPr>
        <p:spPr>
          <a:xfrm>
            <a:off x="7212261" y="2385646"/>
            <a:ext cx="5684590" cy="45720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ru-RU" b="1" dirty="0">
                <a:solidFill>
                  <a:srgbClr val="00B050"/>
                </a:solidFill>
              </a:rPr>
              <a:t>Правильно</a:t>
            </a:r>
            <a:r>
              <a:rPr lang="en-US" b="1" dirty="0">
                <a:solidFill>
                  <a:srgbClr val="00B050"/>
                </a:solidFill>
              </a:rPr>
              <a:t>:</a:t>
            </a:r>
            <a:r>
              <a:rPr lang="ru-RU" b="1" dirty="0">
                <a:solidFill>
                  <a:srgbClr val="FF0000"/>
                </a:solidFill>
              </a:rPr>
              <a:t>			</a:t>
            </a:r>
            <a:r>
              <a:rPr lang="en-US" b="1" dirty="0">
                <a:solidFill>
                  <a:srgbClr val="FF0000"/>
                </a:solidFill>
              </a:rPr>
              <a:t>					</a:t>
            </a:r>
            <a:endParaRPr lang="ru-RU" dirty="0">
              <a:solidFill>
                <a:srgbClr val="FF0000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lang="ru-RU" sz="2200" dirty="0"/>
              <a:t>3</a:t>
            </a:r>
            <a:r>
              <a:rPr lang="en-US" sz="2200" dirty="0"/>
              <a:t>) </a:t>
            </a:r>
            <a:r>
              <a:rPr lang="ru-RU" sz="2200" dirty="0"/>
              <a:t>Поиск</a:t>
            </a:r>
            <a:r>
              <a:rPr lang="en-US" sz="2200" dirty="0"/>
              <a:t>:</a:t>
            </a:r>
            <a:endParaRPr lang="ru-RU" sz="22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lang="ru-RU" dirty="0"/>
              <a:t>	</a:t>
            </a:r>
            <a:endParaRPr lang="ru-RU" sz="1800" dirty="0"/>
          </a:p>
          <a:p>
            <a:pPr marL="0" indent="0">
              <a:buFont typeface="Arial"/>
              <a:buNone/>
            </a:pPr>
            <a:endParaRPr lang="ru-RU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9BB9411-BFFA-445F-B433-5AF2AAC2B45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75265" y="3500802"/>
            <a:ext cx="2466975" cy="31308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C8455EE-5AAC-4E74-B400-75A30B17820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19200" y="3500802"/>
            <a:ext cx="2466975" cy="28575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2B8CA27-9C20-4636-A51B-E41E473D16D1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19200" y="4205469"/>
            <a:ext cx="2466975" cy="2857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AF661C9-169A-4FA4-B38F-51C7EFBEACD1}"/>
              </a:ext>
            </a:extLst>
          </p:cNvPr>
          <p:cNvCxnSpPr>
            <a:cxnSpLocks/>
          </p:cNvCxnSpPr>
          <p:nvPr/>
        </p:nvCxnSpPr>
        <p:spPr>
          <a:xfrm>
            <a:off x="1295402" y="4257675"/>
            <a:ext cx="0" cy="1788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4398B848-5298-45F3-B247-6F90B842C39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5265" y="4065014"/>
            <a:ext cx="2876951" cy="743054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7B35E8F-A465-4DB9-A60D-EE992B37E3E9}"/>
              </a:ext>
            </a:extLst>
          </p:cNvPr>
          <p:cNvCxnSpPr>
            <a:cxnSpLocks/>
          </p:cNvCxnSpPr>
          <p:nvPr/>
        </p:nvCxnSpPr>
        <p:spPr>
          <a:xfrm>
            <a:off x="1495427" y="4336914"/>
            <a:ext cx="0" cy="1788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33CD5D1-2D39-4A64-AEE7-5B5F02D2A2FB}"/>
              </a:ext>
            </a:extLst>
          </p:cNvPr>
          <p:cNvCxnSpPr>
            <a:cxnSpLocks/>
          </p:cNvCxnSpPr>
          <p:nvPr/>
        </p:nvCxnSpPr>
        <p:spPr>
          <a:xfrm>
            <a:off x="1447802" y="4335678"/>
            <a:ext cx="952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4695A55-527C-4A9A-A1FD-1C451310BA7D}"/>
              </a:ext>
            </a:extLst>
          </p:cNvPr>
          <p:cNvCxnSpPr>
            <a:cxnSpLocks/>
          </p:cNvCxnSpPr>
          <p:nvPr/>
        </p:nvCxnSpPr>
        <p:spPr>
          <a:xfrm>
            <a:off x="1447802" y="4516834"/>
            <a:ext cx="952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9C9384B-60DC-4898-83B9-82A868FE5BE2}"/>
              </a:ext>
            </a:extLst>
          </p:cNvPr>
          <p:cNvCxnSpPr>
            <a:cxnSpLocks/>
          </p:cNvCxnSpPr>
          <p:nvPr/>
        </p:nvCxnSpPr>
        <p:spPr>
          <a:xfrm>
            <a:off x="1485902" y="4335678"/>
            <a:ext cx="190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6903AC45-0C22-4FFB-A943-7962FE5709C2}"/>
              </a:ext>
            </a:extLst>
          </p:cNvPr>
          <p:cNvCxnSpPr>
            <a:cxnSpLocks/>
          </p:cNvCxnSpPr>
          <p:nvPr/>
        </p:nvCxnSpPr>
        <p:spPr>
          <a:xfrm>
            <a:off x="1485902" y="4518161"/>
            <a:ext cx="190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705699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259A2-E2B7-4D4B-86BC-AB93FFBBB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Тестирование мобильных приложений</a:t>
            </a:r>
            <a:br>
              <a:rPr lang="ru-RU" dirty="0"/>
            </a:br>
            <a:endParaRPr lang="ru-R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479462-7098-4633-AC81-0DD0306FE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Клиент-серверное приложение / оффлайн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Кроссбраузерность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Оборудование и ОС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Настройки телефона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Ориентация экрана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F9F19E-FD2E-4715-AE0F-B5E3EB156379}"/>
              </a:ext>
            </a:extLst>
          </p:cNvPr>
          <p:cNvSpPr/>
          <p:nvPr/>
        </p:nvSpPr>
        <p:spPr>
          <a:xfrm>
            <a:off x="5974813" y="3244334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 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47A131-F875-4B11-8BED-5A84AE0AF57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304862" y="4985465"/>
            <a:ext cx="2246360" cy="1240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44597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479462-7098-4633-AC81-0DD0306FE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68028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b="1" dirty="0"/>
              <a:t>Клиент-сервер / оффлайн</a:t>
            </a:r>
            <a:r>
              <a:rPr lang="en-US" b="1" dirty="0"/>
              <a:t>:</a:t>
            </a:r>
            <a:endParaRPr lang="ru-RU" b="1" dirty="0"/>
          </a:p>
          <a:p>
            <a:r>
              <a:rPr lang="ru-RU" dirty="0"/>
              <a:t>для обмена данными необходим интернет / возможна работа локально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ru-RU" b="1" dirty="0"/>
              <a:t>Кроссбраузерность</a:t>
            </a:r>
            <a:r>
              <a:rPr lang="en-US" b="1" dirty="0"/>
              <a:t>:</a:t>
            </a:r>
            <a:endParaRPr lang="ru-RU" b="1" dirty="0"/>
          </a:p>
          <a:p>
            <a:r>
              <a:rPr lang="ru-RU" dirty="0"/>
              <a:t>учитываются особенности каждого браузера 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ru-RU" b="1" dirty="0"/>
              <a:t>Оборудование и ОС</a:t>
            </a:r>
            <a:r>
              <a:rPr lang="en-US" b="1" dirty="0"/>
              <a:t>:</a:t>
            </a:r>
            <a:endParaRPr lang="ru-RU" b="1" dirty="0"/>
          </a:p>
          <a:p>
            <a:r>
              <a:rPr lang="ru-RU" dirty="0"/>
              <a:t>тестирование различных конфигураций оборудования</a:t>
            </a:r>
          </a:p>
          <a:p>
            <a:r>
              <a:rPr lang="ru-RU" dirty="0"/>
              <a:t>учитываются особенности каждой ОС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F9F19E-FD2E-4715-AE0F-B5E3EB156379}"/>
              </a:ext>
            </a:extLst>
          </p:cNvPr>
          <p:cNvSpPr/>
          <p:nvPr/>
        </p:nvSpPr>
        <p:spPr>
          <a:xfrm>
            <a:off x="5974813" y="3244334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 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E5211B-9F62-4E79-9D92-A4E9812F41B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304862" y="4985465"/>
            <a:ext cx="2246360" cy="124038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23E030D-7221-4E1F-B124-EA657BF77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 fontScale="90000"/>
          </a:bodyPr>
          <a:lstStyle/>
          <a:p>
            <a:r>
              <a:rPr lang="ru-RU" dirty="0"/>
              <a:t>Тестирование мобильных приложений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7942555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479462-7098-4633-AC81-0DD0306FE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680283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ru-RU" b="1" dirty="0"/>
              <a:t>Настройки телефона</a:t>
            </a:r>
            <a:r>
              <a:rPr lang="en-US" b="1" dirty="0"/>
              <a:t>:</a:t>
            </a:r>
            <a:endParaRPr lang="ru-RU" b="1" dirty="0"/>
          </a:p>
          <a:p>
            <a:pPr lvl="2"/>
            <a:r>
              <a:rPr lang="ru-RU" dirty="0"/>
              <a:t>размер шрифта</a:t>
            </a:r>
          </a:p>
          <a:p>
            <a:pPr lvl="2"/>
            <a:r>
              <a:rPr lang="ru-RU" dirty="0"/>
              <a:t>дата, часовой пояс</a:t>
            </a:r>
          </a:p>
          <a:p>
            <a:pPr lvl="2"/>
            <a:r>
              <a:rPr lang="ru-RU" dirty="0"/>
              <a:t>нотификации приложения</a:t>
            </a:r>
          </a:p>
          <a:p>
            <a:pPr lvl="2"/>
            <a:r>
              <a:rPr lang="ru-RU" dirty="0"/>
              <a:t>влияние смс и звонков на приложение</a:t>
            </a:r>
          </a:p>
          <a:p>
            <a:pPr lvl="2"/>
            <a:r>
              <a:rPr lang="ru-RU" dirty="0"/>
              <a:t>работа в фоновом режиме</a:t>
            </a:r>
          </a:p>
          <a:p>
            <a:pPr lvl="2"/>
            <a:r>
              <a:rPr lang="en-US" dirty="0"/>
              <a:t>wi-fi</a:t>
            </a:r>
            <a:r>
              <a:rPr lang="ru-RU" dirty="0"/>
              <a:t> соединение (медленное/прерывистое/оффлайн)</a:t>
            </a:r>
            <a:endParaRPr lang="en-US" dirty="0"/>
          </a:p>
          <a:p>
            <a:pPr marL="457200" indent="-457200">
              <a:buFont typeface="+mj-lt"/>
              <a:buAutoNum type="arabicPeriod" startAt="5"/>
            </a:pPr>
            <a:r>
              <a:rPr lang="ru-RU" b="1" dirty="0"/>
              <a:t>Ориентация экрана</a:t>
            </a:r>
            <a:r>
              <a:rPr lang="en-US" b="1" dirty="0"/>
              <a:t>:</a:t>
            </a:r>
            <a:endParaRPr lang="ru-RU" b="1" dirty="0"/>
          </a:p>
          <a:p>
            <a:pPr lvl="2"/>
            <a:r>
              <a:rPr lang="ru-RU" dirty="0"/>
              <a:t>вертикальное, горизонтальное положение по умолчанию</a:t>
            </a:r>
          </a:p>
          <a:p>
            <a:pPr lvl="2"/>
            <a:r>
              <a:rPr lang="ru-RU" dirty="0"/>
              <a:t>изменение ориентации во время работы приложения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F9F19E-FD2E-4715-AE0F-B5E3EB156379}"/>
              </a:ext>
            </a:extLst>
          </p:cNvPr>
          <p:cNvSpPr/>
          <p:nvPr/>
        </p:nvSpPr>
        <p:spPr>
          <a:xfrm>
            <a:off x="5974813" y="3244334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 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E5211B-9F62-4E79-9D92-A4E9812F41B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304862" y="4985465"/>
            <a:ext cx="2246360" cy="124038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E90F328-DE25-4925-A1D9-5D98782D4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 fontScale="90000"/>
          </a:bodyPr>
          <a:lstStyle/>
          <a:p>
            <a:r>
              <a:rPr lang="ru-RU" dirty="0"/>
              <a:t>Тестирование мобильных приложений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127659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8FDB6-7CE5-4977-AD08-BF500AE1D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6 советов для эффективного тестирования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34DF9-D377-4EF9-84EB-22D0FCA8A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556932"/>
            <a:ext cx="10582183" cy="331893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Представьте, что в приложении ничего не работает.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Досконально изучите каждое требование, каждую функцию.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Проверьте работоспособность всех функций (как минимум прокликайте).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Стремитесь определить вероятную причину бага.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Убедитесь, что вы точно понимаете ожидаемый результат.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Взгляните на продукт глазами будущего пользователя.</a:t>
            </a:r>
          </a:p>
          <a:p>
            <a:endParaRPr lang="ru-RU" dirty="0"/>
          </a:p>
          <a:p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0887439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C7C49-3120-4442-A2BE-93AF6BC96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Домашнее задание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63FC2-695B-4A36-BD28-32D1679EC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787" y="2556932"/>
            <a:ext cx="10956022" cy="3318936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300" dirty="0"/>
              <a:t>В тренировочном</a:t>
            </a:r>
            <a:r>
              <a:rPr lang="en-US" sz="2300" dirty="0"/>
              <a:t> web-</a:t>
            </a:r>
            <a:r>
              <a:rPr lang="ru-RU" sz="2300" dirty="0"/>
              <a:t>проекте найти надпись</a:t>
            </a:r>
            <a:r>
              <a:rPr lang="en-US" sz="2300" dirty="0"/>
              <a:t>:</a:t>
            </a:r>
            <a:r>
              <a:rPr lang="ru-RU" sz="2300" dirty="0"/>
              <a:t> </a:t>
            </a:r>
            <a:r>
              <a:rPr lang="en-US" sz="2300" b="1" dirty="0"/>
              <a:t>“Oops! That page can’t be found.”</a:t>
            </a:r>
            <a:endParaRPr lang="en-US" sz="2300" dirty="0"/>
          </a:p>
          <a:p>
            <a:pPr marL="457200" indent="-457200">
              <a:buFont typeface="+mj-lt"/>
              <a:buAutoNum type="arabicPeriod"/>
            </a:pPr>
            <a:r>
              <a:rPr lang="ru-RU" sz="2300" dirty="0"/>
              <a:t>Провести </a:t>
            </a:r>
            <a:r>
              <a:rPr lang="ru-RU" sz="2300"/>
              <a:t>тестирование установки и удаления </a:t>
            </a:r>
            <a:r>
              <a:rPr lang="ru-RU" sz="2300" dirty="0"/>
              <a:t>тренировочной программы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300" dirty="0"/>
              <a:t>Записать в свободной форме баги (если при знакомстве найдутся)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300" dirty="0"/>
              <a:t>Установить инструменты тестировщика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300" dirty="0"/>
              <a:t>Установить </a:t>
            </a:r>
            <a:r>
              <a:rPr lang="en-US" sz="2300" dirty="0"/>
              <a:t>What’s app</a:t>
            </a:r>
            <a:r>
              <a:rPr lang="ru-RU" sz="2300" dirty="0"/>
              <a:t> (прямо сейчас)</a:t>
            </a:r>
          </a:p>
          <a:p>
            <a:pPr marL="457200" indent="-457200">
              <a:buFont typeface="+mj-lt"/>
              <a:buAutoNum type="arabicPeriod"/>
            </a:pPr>
            <a:endParaRPr lang="en-US" sz="2300" dirty="0"/>
          </a:p>
          <a:p>
            <a:pPr marL="0" indent="0">
              <a:buNone/>
            </a:pPr>
            <a:r>
              <a:rPr lang="ru-RU" sz="2300" dirty="0"/>
              <a:t>По желанию</a:t>
            </a:r>
            <a:r>
              <a:rPr lang="en-US" sz="2300" dirty="0"/>
              <a:t>: </a:t>
            </a:r>
            <a:r>
              <a:rPr lang="ru-RU" sz="2300" dirty="0"/>
              <a:t>добавить контакт в </a:t>
            </a:r>
            <a:r>
              <a:rPr lang="en-US" sz="2300" dirty="0"/>
              <a:t>skype </a:t>
            </a:r>
            <a:r>
              <a:rPr lang="en-US" sz="2300" b="1" dirty="0" err="1"/>
              <a:t>live:betesterspb</a:t>
            </a:r>
            <a:endParaRPr lang="ru-RU" sz="2300" b="1" dirty="0"/>
          </a:p>
          <a:p>
            <a:pPr marL="457200" indent="-457200">
              <a:buFont typeface="+mj-lt"/>
              <a:buAutoNum type="arabicPeriod"/>
            </a:pPr>
            <a:endParaRPr lang="ru-RU" sz="2300" b="1" dirty="0"/>
          </a:p>
        </p:txBody>
      </p:sp>
      <p:pic>
        <p:nvPicPr>
          <p:cNvPr id="4" name="Рисунок 2">
            <a:extLst>
              <a:ext uri="{FF2B5EF4-FFF2-40B4-BE49-F238E27FC236}">
                <a16:creationId xmlns:a16="http://schemas.microsoft.com/office/drawing/2014/main" id="{388C4F7A-ECBB-4B9A-AECD-B8D2565BD5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707" y="5024088"/>
            <a:ext cx="1568497" cy="1122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8487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9500</TotalTime>
  <Words>1482</Words>
  <Application>Microsoft Office PowerPoint</Application>
  <PresentationFormat>Widescreen</PresentationFormat>
  <Paragraphs>418</Paragraphs>
  <Slides>59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3" baseType="lpstr">
      <vt:lpstr>Arial</vt:lpstr>
      <vt:lpstr>Calibri</vt:lpstr>
      <vt:lpstr>Garamond</vt:lpstr>
      <vt:lpstr>Organic</vt:lpstr>
      <vt:lpstr>1 Урок</vt:lpstr>
      <vt:lpstr>1 занятие</vt:lpstr>
      <vt:lpstr>2 занятие </vt:lpstr>
      <vt:lpstr>3 занятие </vt:lpstr>
      <vt:lpstr>4 занятие </vt:lpstr>
      <vt:lpstr>5 занятие </vt:lpstr>
      <vt:lpstr>6 занятие </vt:lpstr>
      <vt:lpstr>7 занятие </vt:lpstr>
      <vt:lpstr>8 занятие </vt:lpstr>
      <vt:lpstr>Разница между QA, QC, Tester</vt:lpstr>
      <vt:lpstr>PowerPoint Presentation</vt:lpstr>
      <vt:lpstr>Что такое баг и что такое фича? </vt:lpstr>
      <vt:lpstr>Можно ли найти все баги? Ответ:</vt:lpstr>
      <vt:lpstr>Какова цель тестирования?</vt:lpstr>
      <vt:lpstr>7 принципов тестирования</vt:lpstr>
      <vt:lpstr>7 принципов тестирования</vt:lpstr>
      <vt:lpstr>7 принципов тестирования</vt:lpstr>
      <vt:lpstr>7 принципов тестирования</vt:lpstr>
      <vt:lpstr>7 принципов тестирования</vt:lpstr>
      <vt:lpstr>Верификация / Валидация</vt:lpstr>
      <vt:lpstr>Примеры. Проверяем корабль </vt:lpstr>
      <vt:lpstr>Тестирование документации.  Specification vs User Guide </vt:lpstr>
      <vt:lpstr>Тестирование спецификации Критерии</vt:lpstr>
      <vt:lpstr>Тестирование спецификации Критерии</vt:lpstr>
      <vt:lpstr>PowerPoint Presentation</vt:lpstr>
      <vt:lpstr>Тестирование сайтов Особенности</vt:lpstr>
      <vt:lpstr>Тестирование сайтов Особенности</vt:lpstr>
      <vt:lpstr>Тестирование сайтов Особенности</vt:lpstr>
      <vt:lpstr>Словарь для тестирования WEB</vt:lpstr>
      <vt:lpstr>Словарь для тестирования WEB</vt:lpstr>
      <vt:lpstr>Словарь для тестирования WEB</vt:lpstr>
      <vt:lpstr>Словарь для тестирования WEB</vt:lpstr>
      <vt:lpstr>Инструменты для тестирования</vt:lpstr>
      <vt:lpstr>Скриншоты</vt:lpstr>
      <vt:lpstr>Gif</vt:lpstr>
      <vt:lpstr>Шрифты и цвета</vt:lpstr>
      <vt:lpstr>Работа с данными и размерами</vt:lpstr>
      <vt:lpstr>Тестирование программ </vt:lpstr>
      <vt:lpstr>Тестирование программ Особенности</vt:lpstr>
      <vt:lpstr>Тестирование программ Особенности</vt:lpstr>
      <vt:lpstr>Тестирование установки</vt:lpstr>
      <vt:lpstr>Тестирование установки</vt:lpstr>
      <vt:lpstr>Тестирование установки</vt:lpstr>
      <vt:lpstr>Microsoft Guidelines</vt:lpstr>
      <vt:lpstr>Microsoft Guidelines</vt:lpstr>
      <vt:lpstr>Microsoft Guidelines</vt:lpstr>
      <vt:lpstr>Microsoft Guidelines</vt:lpstr>
      <vt:lpstr>Microsoft Guidelines</vt:lpstr>
      <vt:lpstr>Microsoft Guidelines</vt:lpstr>
      <vt:lpstr>Microsoft Guidelines</vt:lpstr>
      <vt:lpstr>Microsoft Guidelines</vt:lpstr>
      <vt:lpstr>Microsoft Guidelines</vt:lpstr>
      <vt:lpstr>Microsoft Guidelines</vt:lpstr>
      <vt:lpstr>Microsoft Guidelines</vt:lpstr>
      <vt:lpstr>Тестирование мобильных приложений </vt:lpstr>
      <vt:lpstr>Тестирование мобильных приложений </vt:lpstr>
      <vt:lpstr>Тестирование мобильных приложений </vt:lpstr>
      <vt:lpstr>6 советов для эффективного тестирования</vt:lpstr>
      <vt:lpstr>Домашнее задание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KATESATOR</dc:creator>
  <cp:lastModifiedBy>Vladimir Vladimir</cp:lastModifiedBy>
  <cp:revision>615</cp:revision>
  <dcterms:created xsi:type="dcterms:W3CDTF">2019-01-19T12:17:01Z</dcterms:created>
  <dcterms:modified xsi:type="dcterms:W3CDTF">2021-01-13T20:12:06Z</dcterms:modified>
</cp:coreProperties>
</file>