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73" r:id="rId4"/>
    <p:sldId id="297" r:id="rId5"/>
    <p:sldId id="282" r:id="rId6"/>
    <p:sldId id="287" r:id="rId7"/>
    <p:sldId id="288" r:id="rId8"/>
    <p:sldId id="290" r:id="rId9"/>
    <p:sldId id="295" r:id="rId10"/>
    <p:sldId id="296" r:id="rId11"/>
    <p:sldId id="304" r:id="rId12"/>
    <p:sldId id="306" r:id="rId13"/>
    <p:sldId id="307" r:id="rId14"/>
    <p:sldId id="308" r:id="rId15"/>
    <p:sldId id="309" r:id="rId16"/>
    <p:sldId id="310" r:id="rId17"/>
    <p:sldId id="311" r:id="rId18"/>
    <p:sldId id="313" r:id="rId19"/>
    <p:sldId id="314" r:id="rId20"/>
    <p:sldId id="315" r:id="rId21"/>
    <p:sldId id="317" r:id="rId22"/>
    <p:sldId id="319" r:id="rId23"/>
    <p:sldId id="320" r:id="rId24"/>
    <p:sldId id="321" r:id="rId25"/>
    <p:sldId id="318" r:id="rId26"/>
    <p:sldId id="325" r:id="rId27"/>
    <p:sldId id="326" r:id="rId28"/>
    <p:sldId id="328" r:id="rId29"/>
    <p:sldId id="329" r:id="rId30"/>
    <p:sldId id="327" r:id="rId31"/>
    <p:sldId id="330" r:id="rId32"/>
    <p:sldId id="331" r:id="rId33"/>
    <p:sldId id="334" r:id="rId34"/>
    <p:sldId id="335" r:id="rId35"/>
    <p:sldId id="332" r:id="rId36"/>
    <p:sldId id="337" r:id="rId37"/>
    <p:sldId id="338" r:id="rId38"/>
    <p:sldId id="339" r:id="rId39"/>
    <p:sldId id="340" r:id="rId40"/>
    <p:sldId id="366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99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89B0A92-A6E0-40AE-8CFC-96DB4EFEE458}" type="datetimeFigureOut">
              <a:rPr lang="ru-RU" smtClean="0"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AF37AF9-3E6B-4D41-A2F6-2C60A36CC13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077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0A92-A6E0-40AE-8CFC-96DB4EFEE458}" type="datetimeFigureOut">
              <a:rPr lang="ru-RU" smtClean="0"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7AF9-3E6B-4D41-A2F6-2C60A36CC1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28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0A92-A6E0-40AE-8CFC-96DB4EFEE458}" type="datetimeFigureOut">
              <a:rPr lang="ru-RU" smtClean="0"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7AF9-3E6B-4D41-A2F6-2C60A36CC13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071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0A92-A6E0-40AE-8CFC-96DB4EFEE458}" type="datetimeFigureOut">
              <a:rPr lang="ru-RU" smtClean="0"/>
              <a:t>13.01.2021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7AF9-3E6B-4D41-A2F6-2C60A36CC1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1075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0A92-A6E0-40AE-8CFC-96DB4EFEE458}" type="datetimeFigureOut">
              <a:rPr lang="ru-RU" smtClean="0"/>
              <a:t>13.01.2021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7AF9-3E6B-4D41-A2F6-2C60A36CC130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56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0A92-A6E0-40AE-8CFC-96DB4EFEE458}" type="datetimeFigureOut">
              <a:rPr lang="ru-RU" smtClean="0"/>
              <a:t>13.01.2021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7AF9-3E6B-4D41-A2F6-2C60A36CC13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677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0A92-A6E0-40AE-8CFC-96DB4EFEE458}" type="datetimeFigureOut">
              <a:rPr lang="ru-RU" smtClean="0"/>
              <a:t>13.01.2021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7AF9-3E6B-4D41-A2F6-2C60A36CC1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278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0A92-A6E0-40AE-8CFC-96DB4EFEE458}" type="datetimeFigureOut">
              <a:rPr lang="ru-RU" smtClean="0"/>
              <a:t>13.01.2021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7AF9-3E6B-4D41-A2F6-2C60A36CC13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62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0A92-A6E0-40AE-8CFC-96DB4EFEE458}" type="datetimeFigureOut">
              <a:rPr lang="ru-RU" smtClean="0"/>
              <a:t>13.01.2021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7AF9-3E6B-4D41-A2F6-2C60A36CC1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875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0A92-A6E0-40AE-8CFC-96DB4EFEE458}" type="datetimeFigureOut">
              <a:rPr lang="ru-RU" smtClean="0"/>
              <a:t>13.01.2021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7AF9-3E6B-4D41-A2F6-2C60A36CC1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26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0A92-A6E0-40AE-8CFC-96DB4EFEE458}" type="datetimeFigureOut">
              <a:rPr lang="ru-RU" smtClean="0"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7AF9-3E6B-4D41-A2F6-2C60A36CC13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942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0A92-A6E0-40AE-8CFC-96DB4EFEE458}" type="datetimeFigureOut">
              <a:rPr lang="ru-RU" smtClean="0"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7AF9-3E6B-4D41-A2F6-2C60A36CC13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022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0A92-A6E0-40AE-8CFC-96DB4EFEE458}" type="datetimeFigureOut">
              <a:rPr lang="ru-RU" smtClean="0"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7AF9-3E6B-4D41-A2F6-2C60A36CC1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3751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0A92-A6E0-40AE-8CFC-96DB4EFEE458}" type="datetimeFigureOut">
              <a:rPr lang="ru-RU" smtClean="0"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7AF9-3E6B-4D41-A2F6-2C60A36CC13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167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0A92-A6E0-40AE-8CFC-96DB4EFEE458}" type="datetimeFigureOut">
              <a:rPr lang="ru-RU" smtClean="0"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7AF9-3E6B-4D41-A2F6-2C60A36CC13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838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0A92-A6E0-40AE-8CFC-96DB4EFEE458}" type="datetimeFigureOut">
              <a:rPr lang="ru-RU" smtClean="0"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7AF9-3E6B-4D41-A2F6-2C60A36CC13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8795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0A92-A6E0-40AE-8CFC-96DB4EFEE458}" type="datetimeFigureOut">
              <a:rPr lang="ru-RU" smtClean="0"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7AF9-3E6B-4D41-A2F6-2C60A36CC13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944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89B0A92-A6E0-40AE-8CFC-96DB4EFEE458}" type="datetimeFigureOut">
              <a:rPr lang="ru-RU" smtClean="0"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AF37AF9-3E6B-4D41-A2F6-2C60A36CC1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490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source-demo.orangehrmlive.com/index.php/leave/viewLeaveList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source-demo.orangehrmlive.com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demo.automationtesting.in/WebTable.html" TargetMode="External"/><Relationship Id="rId2" Type="http://schemas.openxmlformats.org/officeDocument/2006/relationships/hyperlink" Target="http://demo.automationtesting.in/Register.html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demo.automationtesting.in/Alerts.html" TargetMode="External"/><Relationship Id="rId2" Type="http://schemas.openxmlformats.org/officeDocument/2006/relationships/hyperlink" Target="http://demo.automationtesting.in/WebTable.html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://demo.automationtesting.in/WebTable.html" TargetMode="Externa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randomuser.me/api/portraits/" TargetMode="External"/><Relationship Id="rId2" Type="http://schemas.openxmlformats.org/officeDocument/2006/relationships/hyperlink" Target="http://demo.automationtesting.in/WebTable.html" TargetMode="Externa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://demo.automationtesting.in/WebTable.html" TargetMode="Externa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demo.automationtesting.in/WebTable.html" TargetMode="Externa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://demo.automationtesting.in/WebTable.html" TargetMode="Externa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839uKZz37wieuame6" TargetMode="External"/><Relationship Id="rId2" Type="http://schemas.openxmlformats.org/officeDocument/2006/relationships/hyperlink" Target="https://forms.gle/o2YxG4vXjqhzmWX9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EC1A4-09B7-472D-A89F-D9817657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Урок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5C35B-F6DF-43BB-AD24-785A0E8999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Основные методы</a:t>
            </a:r>
            <a:r>
              <a:rPr lang="en-US" dirty="0"/>
              <a:t> Selenium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5863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0F2DA-44B1-4327-867C-DB7B5907E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</a:t>
            </a:r>
            <a:r>
              <a:rPr lang="en-US" dirty="0"/>
              <a:t>3</a:t>
            </a:r>
            <a:r>
              <a:rPr lang="ru-RU" dirty="0"/>
              <a:t>-го занятия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BFCB4-9C97-4836-B3E4-541A6E424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Элементы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Основные методы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Работа с файлами,</a:t>
            </a:r>
            <a:r>
              <a:rPr lang="en-US" dirty="0"/>
              <a:t> js</a:t>
            </a:r>
            <a:r>
              <a:rPr lang="ru-RU" dirty="0"/>
              <a:t>-скриптами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Работа с окнами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Настройка ожиданий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650C7B-8B74-4C98-B215-FFDF2B973BE9}"/>
              </a:ext>
            </a:extLst>
          </p:cNvPr>
          <p:cNvSpPr/>
          <p:nvPr/>
        </p:nvSpPr>
        <p:spPr>
          <a:xfrm>
            <a:off x="668785" y="5692967"/>
            <a:ext cx="82088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</a:rPr>
              <a:t>Примечание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</a:rPr>
              <a:t>:</a:t>
            </a:r>
            <a:r>
              <a:rPr lang="ru-RU" sz="14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если смотрите презентацию с гугл диска(не скачивая), то возможны небольшие проблемы</a:t>
            </a:r>
          </a:p>
          <a:p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с вёрсткой некоторых слайдов.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936171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751AA-4D96-41C7-9F30-465787FE0B94}"/>
              </a:ext>
            </a:extLst>
          </p:cNvPr>
          <p:cNvSpPr txBox="1">
            <a:spLocks/>
          </p:cNvSpPr>
          <p:nvPr/>
        </p:nvSpPr>
        <p:spPr>
          <a:xfrm>
            <a:off x="1295402" y="502739"/>
            <a:ext cx="9601196" cy="130386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Элементы</a:t>
            </a:r>
            <a:r>
              <a:rPr lang="en-US" dirty="0"/>
              <a:t>: checkbox &amp; radiobutton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D7652-B673-4845-9272-CB1BAA9CE62B}"/>
              </a:ext>
            </a:extLst>
          </p:cNvPr>
          <p:cNvSpPr txBox="1">
            <a:spLocks/>
          </p:cNvSpPr>
          <p:nvPr/>
        </p:nvSpPr>
        <p:spPr>
          <a:xfrm>
            <a:off x="763480" y="1473851"/>
            <a:ext cx="10830757" cy="4740517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Checkbox</a:t>
            </a:r>
            <a:r>
              <a:rPr lang="ru-RU" sz="1800" dirty="0"/>
              <a:t>    (чекбокс/флажок) и </a:t>
            </a:r>
            <a:r>
              <a:rPr lang="ru-RU" sz="1800" b="1" dirty="0"/>
              <a:t>radiobutton </a:t>
            </a:r>
            <a:r>
              <a:rPr lang="ru-RU" sz="1800" dirty="0"/>
              <a:t>   (радиобаттон/переключатель) — часто используемые в формах элементы. </a:t>
            </a:r>
          </a:p>
          <a:p>
            <a:r>
              <a:rPr lang="ru-RU" sz="1800" dirty="0"/>
              <a:t>Основная разница между ними состоит в том, что флажки позволяют выбирать/отключать любой из представленных вариантов, а переключатели позволяют выбрать только один из вариантов.</a:t>
            </a:r>
          </a:p>
          <a:p>
            <a:pPr marL="0" indent="0">
              <a:buNone/>
            </a:pPr>
            <a:r>
              <a:rPr lang="ru-RU" sz="1800" dirty="0"/>
              <a:t>Оба этих элемента создаются при помощи тега </a:t>
            </a:r>
            <a:r>
              <a:rPr lang="en-US" sz="1800" dirty="0"/>
              <a:t>input </a:t>
            </a:r>
            <a:r>
              <a:rPr lang="ru-RU" sz="1800" dirty="0"/>
              <a:t>со значением атрибута </a:t>
            </a:r>
            <a:r>
              <a:rPr lang="en-US" sz="1800" dirty="0"/>
              <a:t>type </a:t>
            </a:r>
            <a:r>
              <a:rPr lang="ru-RU" sz="1800" dirty="0"/>
              <a:t>равным </a:t>
            </a:r>
            <a:r>
              <a:rPr lang="en-US" sz="1800" dirty="0"/>
              <a:t>checkbox </a:t>
            </a:r>
            <a:r>
              <a:rPr lang="ru-RU" sz="1800" dirty="0"/>
              <a:t>или </a:t>
            </a:r>
            <a:r>
              <a:rPr lang="en-US" sz="1800" dirty="0"/>
              <a:t>radio </a:t>
            </a:r>
            <a:r>
              <a:rPr lang="ru-RU" sz="1800" dirty="0"/>
              <a:t>соответственно. В </a:t>
            </a:r>
            <a:r>
              <a:rPr lang="en-US" sz="1800" dirty="0"/>
              <a:t>html-</a:t>
            </a:r>
            <a:r>
              <a:rPr lang="ru-RU" sz="1800" dirty="0"/>
              <a:t>коде страницы вы увидите: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70C0"/>
                </a:solidFill>
              </a:rPr>
              <a:t>&lt;</a:t>
            </a:r>
            <a:r>
              <a:rPr lang="en-US" sz="1800" dirty="0">
                <a:solidFill>
                  <a:srgbClr val="0070C0"/>
                </a:solidFill>
              </a:rPr>
              <a:t>input </a:t>
            </a:r>
            <a:r>
              <a:rPr lang="en-US" sz="1800" dirty="0"/>
              <a:t>type="checkbox"</a:t>
            </a:r>
            <a:r>
              <a:rPr lang="en-US" sz="1800" dirty="0">
                <a:solidFill>
                  <a:srgbClr val="0070C0"/>
                </a:solidFill>
              </a:rPr>
              <a:t>&gt;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&lt;input </a:t>
            </a:r>
            <a:r>
              <a:rPr lang="en-US" sz="1800" dirty="0"/>
              <a:t>type="radio"</a:t>
            </a:r>
            <a:r>
              <a:rPr lang="en-US" sz="1800" dirty="0">
                <a:solidFill>
                  <a:srgbClr val="0070C0"/>
                </a:solidFill>
              </a:rPr>
              <a:t>&gt;</a:t>
            </a:r>
            <a:endParaRPr lang="ru-RU" sz="1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dirty="0"/>
              <a:t>Если checkbox или radiobutton выбран, то у элемента появится новый атрибут checked без значения. Часто атрибут checked уже установлен для одного из элементов по умолчанию.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&lt;input </a:t>
            </a:r>
            <a:r>
              <a:rPr lang="en-US" sz="1800" dirty="0"/>
              <a:t>type="checkbox" checked</a:t>
            </a:r>
            <a:r>
              <a:rPr lang="en-US" sz="1800" dirty="0">
                <a:solidFill>
                  <a:srgbClr val="0070C0"/>
                </a:solidFill>
              </a:rPr>
              <a:t>&gt;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&lt;input </a:t>
            </a:r>
            <a:r>
              <a:rPr lang="en-US" sz="1800" dirty="0"/>
              <a:t>type="radio" checked</a:t>
            </a:r>
            <a:r>
              <a:rPr lang="en-US" sz="1800" dirty="0">
                <a:solidFill>
                  <a:srgbClr val="0070C0"/>
                </a:solidFill>
              </a:rPr>
              <a:t>&gt;</a:t>
            </a:r>
            <a:endParaRPr lang="ru-RU" sz="1800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7CF489-7C9C-4130-B8EA-62215BE42DE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63019" y="1580594"/>
            <a:ext cx="198120" cy="19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FA56DD-6276-4907-B6E3-335327F12FC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01027" y="1580594"/>
            <a:ext cx="180975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625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751AA-4D96-41C7-9F30-465787FE0B94}"/>
              </a:ext>
            </a:extLst>
          </p:cNvPr>
          <p:cNvSpPr txBox="1">
            <a:spLocks/>
          </p:cNvSpPr>
          <p:nvPr/>
        </p:nvSpPr>
        <p:spPr>
          <a:xfrm>
            <a:off x="1295402" y="502739"/>
            <a:ext cx="9601196" cy="130386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Элементы</a:t>
            </a:r>
            <a:r>
              <a:rPr lang="en-US" dirty="0"/>
              <a:t>: checkbox &amp; radiobutton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D7652-B673-4845-9272-CB1BAA9CE62B}"/>
              </a:ext>
            </a:extLst>
          </p:cNvPr>
          <p:cNvSpPr txBox="1">
            <a:spLocks/>
          </p:cNvSpPr>
          <p:nvPr/>
        </p:nvSpPr>
        <p:spPr>
          <a:xfrm>
            <a:off x="787153" y="1473699"/>
            <a:ext cx="10830757" cy="5291091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/>
              <a:t>Radiobuttons объединяются в группу, где все элементы имеют одинаковые значения атрибута name, но разные значения атрибута value: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&lt;input </a:t>
            </a:r>
            <a:r>
              <a:rPr lang="en-US" sz="1600" dirty="0">
                <a:solidFill>
                  <a:schemeClr val="tx1"/>
                </a:solidFill>
              </a:rPr>
              <a:t>type="radio" name="</a:t>
            </a:r>
            <a:r>
              <a:rPr lang="en-US" sz="1600" dirty="0">
                <a:solidFill>
                  <a:schemeClr val="accent1"/>
                </a:solidFill>
              </a:rPr>
              <a:t>language</a:t>
            </a:r>
            <a:r>
              <a:rPr lang="en-US" sz="1600" dirty="0">
                <a:solidFill>
                  <a:schemeClr val="tx1"/>
                </a:solidFill>
              </a:rPr>
              <a:t>" value="</a:t>
            </a:r>
            <a:r>
              <a:rPr lang="en-US" sz="1600" b="1" dirty="0">
                <a:solidFill>
                  <a:schemeClr val="accent1"/>
                </a:solidFill>
              </a:rPr>
              <a:t>python</a:t>
            </a:r>
            <a:r>
              <a:rPr lang="en-US" sz="1600" dirty="0">
                <a:solidFill>
                  <a:schemeClr val="tx1"/>
                </a:solidFill>
              </a:rPr>
              <a:t>" checked</a:t>
            </a:r>
            <a:r>
              <a:rPr lang="en-US" sz="1600" dirty="0">
                <a:solidFill>
                  <a:srgbClr val="0070C0"/>
                </a:solidFill>
              </a:rPr>
              <a:t>&gt;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&lt;input </a:t>
            </a:r>
            <a:r>
              <a:rPr lang="en-US" sz="1600" dirty="0">
                <a:solidFill>
                  <a:schemeClr val="tx1"/>
                </a:solidFill>
              </a:rPr>
              <a:t>type="radio" name="</a:t>
            </a:r>
            <a:r>
              <a:rPr lang="en-US" sz="1600" dirty="0">
                <a:solidFill>
                  <a:schemeClr val="accent1"/>
                </a:solidFill>
              </a:rPr>
              <a:t>language</a:t>
            </a:r>
            <a:r>
              <a:rPr lang="en-US" sz="1600" dirty="0">
                <a:solidFill>
                  <a:schemeClr val="tx1"/>
                </a:solidFill>
              </a:rPr>
              <a:t>" value="</a:t>
            </a:r>
            <a:r>
              <a:rPr lang="en-US" sz="1600" b="1" dirty="0">
                <a:solidFill>
                  <a:schemeClr val="accent1"/>
                </a:solidFill>
              </a:rPr>
              <a:t>selenium</a:t>
            </a:r>
            <a:r>
              <a:rPr lang="en-US" sz="1600" dirty="0">
                <a:solidFill>
                  <a:schemeClr val="tx1"/>
                </a:solidFill>
              </a:rPr>
              <a:t>"</a:t>
            </a:r>
            <a:r>
              <a:rPr lang="en-US" sz="1600" dirty="0">
                <a:solidFill>
                  <a:srgbClr val="0070C0"/>
                </a:solidFill>
              </a:rPr>
              <a:t>&gt;</a:t>
            </a:r>
            <a:endParaRPr lang="ru-RU" sz="16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Checkboxes могут иметь как одинаковые, так и разные значения атрибута name. Поэтому и те, и другие лучше искать с помощью значения id или значения атрибута value. Если вы видите на странице чекбокс с уникальным значением name, то можете искать по name.</a:t>
            </a:r>
          </a:p>
          <a:p>
            <a:pPr marL="0" indent="0">
              <a:spcAft>
                <a:spcPts val="0"/>
              </a:spcAft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Чтобы снять/поставить галочку в элементе типа checkbox или выбрать опцию из группы radiobuttons, надо указать WebDriver метод поиска элемента и выполнить для найденного элемента метод click():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option = driver.find_element_by_css_selector("[value='python']")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option.click()</a:t>
            </a:r>
          </a:p>
        </p:txBody>
      </p:sp>
    </p:spTree>
    <p:extLst>
      <p:ext uri="{BB962C8B-B14F-4D97-AF65-F5344CB8AC3E}">
        <p14:creationId xmlns:p14="http://schemas.microsoft.com/office/powerpoint/2010/main" val="59011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Метод </a:t>
            </a:r>
            <a:r>
              <a:rPr lang="en-US" sz="4200" dirty="0"/>
              <a:t>get_attribute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6565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/>
              <a:t>Мы уже знаем, как найти нужный элемент на странице и как получить видимый пользователю текст. Для более детальных проверок в тесте нам может понадобиться узнать значение атрибута элемента. </a:t>
            </a:r>
          </a:p>
          <a:p>
            <a:pPr marL="0" indent="0">
              <a:buNone/>
            </a:pPr>
            <a:r>
              <a:rPr lang="ru-RU" sz="1600" dirty="0"/>
              <a:t>Атрибуты могут быть стандартными свойствами, которые понимает и использует браузер для отображения и вёрстки элементов или для хранения служебной информации, например, name, width, height, color и многие другие. </a:t>
            </a:r>
          </a:p>
          <a:p>
            <a:pPr marL="0" indent="0">
              <a:buNone/>
            </a:pPr>
            <a:r>
              <a:rPr lang="ru-RU" sz="1600" dirty="0"/>
              <a:t>Также атрибуты могут быть созданы разработчиками проекта для задания собственных стилей или правил.</a:t>
            </a:r>
          </a:p>
          <a:p>
            <a:pPr marL="0" indent="0">
              <a:buNone/>
            </a:pPr>
            <a:endParaRPr lang="ru-RU" sz="1600" dirty="0">
              <a:solidFill>
                <a:srgbClr val="E2426A"/>
              </a:solidFill>
            </a:endParaRPr>
          </a:p>
          <a:p>
            <a:pPr marL="0" indent="0">
              <a:buNone/>
            </a:pPr>
            <a:r>
              <a:rPr lang="ru-RU" sz="1600" b="1" dirty="0">
                <a:solidFill>
                  <a:schemeClr val="tx1"/>
                </a:solidFill>
              </a:rPr>
              <a:t>Значение атрибута представляет собой строку. Если значение атрибута отсутствует, то это равносильно значению атрибута равному "false". 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Давайте взглянем на страницу </a:t>
            </a:r>
            <a:r>
              <a:rPr lang="en-US" sz="1600" dirty="0">
                <a:solidFill>
                  <a:schemeClr val="tx1"/>
                </a:solidFill>
                <a:hlinkClick r:id="rId2"/>
              </a:rPr>
              <a:t>https://opensource-demo.orangehrmlive.com/index.php/leave/viewLeaveList</a:t>
            </a:r>
            <a:r>
              <a:rPr lang="ru-RU" sz="1600" dirty="0">
                <a:solidFill>
                  <a:schemeClr val="tx1"/>
                </a:solidFill>
              </a:rPr>
              <a:t> (залогиньтесь от администратора)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На ней есть </a:t>
            </a:r>
            <a:r>
              <a:rPr lang="en-US" sz="1600" dirty="0">
                <a:solidFill>
                  <a:schemeClr val="tx1"/>
                </a:solidFill>
              </a:rPr>
              <a:t>checkbox</a:t>
            </a:r>
            <a:r>
              <a:rPr lang="ru-RU" sz="1600" dirty="0">
                <a:solidFill>
                  <a:schemeClr val="tx1"/>
                </a:solidFill>
              </a:rPr>
              <a:t>, для которого выбрано значение по умолчанию. В автотесте нам может понадобиться проверить, что для одного из </a:t>
            </a:r>
            <a:r>
              <a:rPr lang="en-US" sz="1600" dirty="0">
                <a:solidFill>
                  <a:schemeClr val="tx1"/>
                </a:solidFill>
              </a:rPr>
              <a:t>checkbox</a:t>
            </a:r>
            <a:r>
              <a:rPr lang="ru-RU" sz="1600" dirty="0">
                <a:solidFill>
                  <a:schemeClr val="tx1"/>
                </a:solidFill>
              </a:rPr>
              <a:t> по умолчанию уже выбрано значение. Для этого мы можем проверить значение атрибута checked у этого элемента. 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Вот HTML-код элемента:</a:t>
            </a:r>
          </a:p>
        </p:txBody>
      </p:sp>
    </p:spTree>
    <p:extLst>
      <p:ext uri="{BB962C8B-B14F-4D97-AF65-F5344CB8AC3E}">
        <p14:creationId xmlns:p14="http://schemas.microsoft.com/office/powerpoint/2010/main" val="1932027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Метод </a:t>
            </a:r>
            <a:r>
              <a:rPr lang="en-US" sz="4200" dirty="0"/>
              <a:t>get_attribute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31541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65652" cy="511269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&lt;input </a:t>
            </a:r>
            <a:r>
              <a:rPr lang="en-US" sz="1600" dirty="0">
                <a:solidFill>
                  <a:schemeClr val="tx1"/>
                </a:solidFill>
              </a:rPr>
              <a:t>name="leaveList[chkSearchFilter][]" type="checkbox" value="1" id="leaveList_chkSearchFilter_1" checked="checked"</a:t>
            </a:r>
            <a:r>
              <a:rPr lang="en-US" sz="1600" dirty="0">
                <a:solidFill>
                  <a:srgbClr val="0070C0"/>
                </a:solidFill>
              </a:rPr>
              <a:t>&gt;</a:t>
            </a:r>
            <a:endParaRPr lang="ru-RU" sz="1600" dirty="0"/>
          </a:p>
          <a:p>
            <a:pPr marL="0" indent="0">
              <a:buNone/>
            </a:pPr>
            <a:endParaRPr lang="ru-RU" sz="1600" b="1" dirty="0"/>
          </a:p>
          <a:p>
            <a:pPr marL="0" indent="0">
              <a:buNone/>
            </a:pPr>
            <a:r>
              <a:rPr lang="ru-RU" sz="1600" b="1" dirty="0"/>
              <a:t>Найдём этот элемент с помощью </a:t>
            </a:r>
            <a:r>
              <a:rPr lang="en-US" sz="1600" b="1" dirty="0"/>
              <a:t>WebDriver:</a:t>
            </a:r>
          </a:p>
          <a:p>
            <a:pPr marL="0" indent="0">
              <a:buNone/>
            </a:pPr>
            <a:r>
              <a:rPr lang="en-US" sz="1600" dirty="0"/>
              <a:t>pending_approval = driver.find_element_by_id("leaveList_chkSearchFilter_1")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600" b="1" dirty="0">
                <a:solidFill>
                  <a:schemeClr val="bg1">
                    <a:lumMod val="50000"/>
                  </a:schemeClr>
                </a:solidFill>
              </a:rPr>
              <a:t>Найдём атрибут "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checked" </a:t>
            </a:r>
            <a:r>
              <a:rPr lang="ru-RU" sz="1600" b="1" dirty="0">
                <a:solidFill>
                  <a:schemeClr val="bg1">
                    <a:lumMod val="50000"/>
                  </a:schemeClr>
                </a:solidFill>
              </a:rPr>
              <a:t>с помощью встроенного метода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get_attribute </a:t>
            </a:r>
            <a:r>
              <a:rPr lang="ru-RU" sz="1600" b="1" dirty="0">
                <a:solidFill>
                  <a:schemeClr val="bg1">
                    <a:lumMod val="50000"/>
                  </a:schemeClr>
                </a:solidFill>
              </a:rPr>
              <a:t>и проверим его значение:</a:t>
            </a:r>
          </a:p>
          <a:p>
            <a:pPr marL="0" indent="0">
              <a:buNone/>
            </a:pPr>
            <a:r>
              <a:rPr lang="en-US" sz="1600" dirty="0"/>
              <a:t>pending_approval_checked = pending_approval.get_attribute("checked")</a:t>
            </a:r>
          </a:p>
          <a:p>
            <a:pPr marL="0" indent="0">
              <a:buNone/>
            </a:pPr>
            <a:r>
              <a:rPr lang="en-US" sz="1600" dirty="0"/>
              <a:t>print("value of pending approval checkbox: ", pending_approval_checked)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89964"/>
                </a:solidFill>
              </a:rPr>
              <a:t>if</a:t>
            </a:r>
            <a:r>
              <a:rPr lang="en-US" sz="1600" dirty="0"/>
              <a:t> pending_approval_checked </a:t>
            </a:r>
            <a:r>
              <a:rPr lang="en-US" sz="1600" dirty="0">
                <a:solidFill>
                  <a:srgbClr val="D89964"/>
                </a:solidFill>
              </a:rPr>
              <a:t>is not None</a:t>
            </a:r>
            <a:r>
              <a:rPr lang="en-US" sz="1600" dirty="0"/>
              <a:t>:</a:t>
            </a:r>
          </a:p>
          <a:p>
            <a:pPr marL="0" indent="0">
              <a:buNone/>
            </a:pPr>
            <a:r>
              <a:rPr lang="en-US" sz="1600" dirty="0"/>
              <a:t>    print("</a:t>
            </a:r>
            <a:r>
              <a:rPr lang="ru-RU" sz="1600" dirty="0"/>
              <a:t>Чекбокс отмечен")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89964"/>
                </a:solidFill>
              </a:rPr>
              <a:t>else</a:t>
            </a:r>
            <a:r>
              <a:rPr lang="en-US" sz="1600" dirty="0"/>
              <a:t>:</a:t>
            </a:r>
          </a:p>
          <a:p>
            <a:pPr marL="0" indent="0">
              <a:buNone/>
            </a:pPr>
            <a:r>
              <a:rPr lang="en-US" sz="1600" dirty="0"/>
              <a:t>    print("</a:t>
            </a:r>
            <a:r>
              <a:rPr lang="ru-RU" sz="1600" dirty="0"/>
              <a:t>Чекбокс НЕ отмечен")</a:t>
            </a:r>
          </a:p>
          <a:p>
            <a:pPr marL="0" indent="0">
              <a:buNone/>
            </a:pPr>
            <a:endParaRPr lang="ru-RU" sz="1600" dirty="0"/>
          </a:p>
          <a:p>
            <a:r>
              <a:rPr lang="ru-RU" sz="1600" dirty="0"/>
              <a:t>Атрибут был найден, поэтому метод </a:t>
            </a:r>
            <a:r>
              <a:rPr lang="en-US" sz="1600" dirty="0"/>
              <a:t>get_attribute </a:t>
            </a:r>
            <a:r>
              <a:rPr lang="ru-RU" sz="1600" dirty="0"/>
              <a:t>вернёт "</a:t>
            </a:r>
            <a:r>
              <a:rPr lang="en-US" sz="1600" dirty="0"/>
              <a:t>true".</a:t>
            </a:r>
            <a:endParaRPr lang="ru-RU" sz="1600" dirty="0"/>
          </a:p>
          <a:p>
            <a:r>
              <a:rPr lang="ru-RU" sz="1600" dirty="0"/>
              <a:t>Дополнительно вывели сообщение об отмеченном чекбоксе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55302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Метод </a:t>
            </a:r>
            <a:r>
              <a:rPr lang="en-US" sz="4200" dirty="0"/>
              <a:t>get_attribute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65652" cy="511269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/>
              <a:t>Если атрибута нет, то метод get_attribute вернёт значение </a:t>
            </a:r>
            <a:r>
              <a:rPr lang="ru-RU" sz="1600" b="1" dirty="0"/>
              <a:t>None</a:t>
            </a:r>
            <a:r>
              <a:rPr lang="ru-RU" sz="1600" dirty="0"/>
              <a:t>. 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ru-RU" sz="1600" b="1" dirty="0"/>
              <a:t>Применим метод get_attribute к чекбоксу справа от </a:t>
            </a:r>
            <a:r>
              <a:rPr lang="en-US" sz="1600" b="1" dirty="0"/>
              <a:t>pending approval</a:t>
            </a:r>
            <a:r>
              <a:rPr lang="ru-RU" sz="1600" b="1" dirty="0"/>
              <a:t>, и убедимся, что атрибут отсутствует</a:t>
            </a:r>
            <a:r>
              <a:rPr lang="en-US" sz="1600" b="1" dirty="0"/>
              <a:t>:</a:t>
            </a:r>
            <a:endParaRPr lang="ru-RU" sz="1600" b="1" dirty="0"/>
          </a:p>
          <a:p>
            <a:pPr marL="0" indent="0">
              <a:buNone/>
            </a:pPr>
            <a:r>
              <a:rPr lang="en-US" sz="1600" dirty="0"/>
              <a:t>scheduled = driver.find_element_by_id("leaveList_chkSearchFilter_2")</a:t>
            </a:r>
          </a:p>
          <a:p>
            <a:pPr marL="0" indent="0">
              <a:buNone/>
            </a:pPr>
            <a:r>
              <a:rPr lang="en-US" sz="1600" dirty="0"/>
              <a:t>scheduled_checked = scheduled.get_attribute("checked")</a:t>
            </a:r>
          </a:p>
          <a:p>
            <a:pPr marL="0" indent="0">
              <a:buNone/>
            </a:pPr>
            <a:r>
              <a:rPr lang="en-US" sz="1600" dirty="0"/>
              <a:t>print("value of sheduled checkbox: ", scheduled_checked)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89964"/>
                </a:solidFill>
              </a:rPr>
              <a:t>if</a:t>
            </a:r>
            <a:r>
              <a:rPr lang="en-US" sz="1600" dirty="0"/>
              <a:t> scheduled_checked </a:t>
            </a:r>
            <a:r>
              <a:rPr lang="en-US" sz="1600" dirty="0">
                <a:solidFill>
                  <a:srgbClr val="D89964"/>
                </a:solidFill>
              </a:rPr>
              <a:t>is None</a:t>
            </a:r>
            <a:r>
              <a:rPr lang="en-US" sz="1600" dirty="0"/>
              <a:t>:</a:t>
            </a:r>
          </a:p>
          <a:p>
            <a:pPr marL="0" indent="0">
              <a:buNone/>
            </a:pPr>
            <a:r>
              <a:rPr lang="en-US" sz="1600" dirty="0"/>
              <a:t>    print("</a:t>
            </a:r>
            <a:r>
              <a:rPr lang="ru-RU" sz="1600" dirty="0"/>
              <a:t>Атрибута нет")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89964"/>
                </a:solidFill>
              </a:rPr>
              <a:t>else</a:t>
            </a:r>
            <a:r>
              <a:rPr lang="en-US" sz="1600" dirty="0"/>
              <a:t>:</a:t>
            </a:r>
          </a:p>
          <a:p>
            <a:pPr marL="0" indent="0">
              <a:buNone/>
            </a:pPr>
            <a:r>
              <a:rPr lang="en-US" sz="1600" dirty="0"/>
              <a:t>    print("</a:t>
            </a:r>
            <a:r>
              <a:rPr lang="ru-RU" sz="1600" dirty="0"/>
              <a:t>Атрибут есть")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ru-RU" sz="1600" dirty="0"/>
              <a:t>Так же мы можем проверять наличие атрибута </a:t>
            </a:r>
            <a:r>
              <a:rPr lang="en-US" sz="1600" b="1" dirty="0"/>
              <a:t>disabled</a:t>
            </a:r>
            <a:r>
              <a:rPr lang="en-US" sz="1600" dirty="0"/>
              <a:t>, </a:t>
            </a:r>
            <a:r>
              <a:rPr lang="ru-RU" sz="1600" dirty="0"/>
              <a:t>который определяет, может ли пользователь выбрать элемент</a:t>
            </a:r>
          </a:p>
          <a:p>
            <a:pPr marL="0" indent="0">
              <a:buNone/>
            </a:pPr>
            <a:r>
              <a:rPr lang="ru-RU" sz="1600" b="1" dirty="0"/>
              <a:t>Например</a:t>
            </a:r>
            <a:r>
              <a:rPr lang="en-US" sz="1600" b="1" dirty="0"/>
              <a:t>:</a:t>
            </a:r>
            <a:endParaRPr lang="ru-RU" sz="1600" b="1" dirty="0"/>
          </a:p>
          <a:p>
            <a:pPr marL="0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&lt;input</a:t>
            </a:r>
            <a:r>
              <a:rPr lang="en-US" sz="1600" dirty="0">
                <a:solidFill>
                  <a:schemeClr val="tx1"/>
                </a:solidFill>
              </a:rPr>
              <a:t> value="on" type="checkbox" name="configPim[chkShowSSN]" id="configPim_chkShowSSN" </a:t>
            </a:r>
            <a:r>
              <a:rPr lang="en-US" sz="1600" b="1" dirty="0">
                <a:solidFill>
                  <a:schemeClr val="tx1"/>
                </a:solidFill>
              </a:rPr>
              <a:t>disabled="disabled"</a:t>
            </a:r>
            <a:r>
              <a:rPr lang="en-US" sz="1600" dirty="0">
                <a:solidFill>
                  <a:srgbClr val="0070C0"/>
                </a:solidFill>
              </a:rPr>
              <a:t>&gt;</a:t>
            </a:r>
            <a:endParaRPr lang="ru-RU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910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Элемент</a:t>
            </a:r>
            <a:r>
              <a:rPr lang="en-US" sz="4200" dirty="0"/>
              <a:t>:</a:t>
            </a:r>
            <a:r>
              <a:rPr lang="ru-RU" sz="4200" dirty="0"/>
              <a:t> </a:t>
            </a:r>
            <a:r>
              <a:rPr lang="en-US" sz="4200" dirty="0"/>
              <a:t>selector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6565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Selector</a:t>
            </a:r>
            <a:r>
              <a:rPr lang="ru-RU" sz="1600" dirty="0">
                <a:solidFill>
                  <a:schemeClr val="tx1"/>
                </a:solidFill>
              </a:rPr>
              <a:t> также часто встречается на многих страницах.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Селекторы формируются с помощью тегов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select</a:t>
            </a:r>
            <a:r>
              <a:rPr lang="ru-RU" sz="1600" dirty="0">
                <a:solidFill>
                  <a:schemeClr val="tx1"/>
                </a:solidFill>
              </a:rPr>
              <a:t> и </a:t>
            </a:r>
            <a:r>
              <a:rPr lang="en-US" sz="1600" dirty="0">
                <a:solidFill>
                  <a:schemeClr val="tx1"/>
                </a:solidFill>
              </a:rPr>
              <a:t>option</a:t>
            </a: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У тега </a:t>
            </a:r>
            <a:r>
              <a:rPr lang="en-US" sz="1600" dirty="0">
                <a:solidFill>
                  <a:schemeClr val="tx1"/>
                </a:solidFill>
              </a:rPr>
              <a:t>option</a:t>
            </a:r>
            <a:r>
              <a:rPr lang="ru-RU" sz="1600" dirty="0">
                <a:solidFill>
                  <a:schemeClr val="tx1"/>
                </a:solidFill>
              </a:rPr>
              <a:t> обычно есть артибут </a:t>
            </a:r>
            <a:r>
              <a:rPr lang="en-US" sz="1600" dirty="0">
                <a:solidFill>
                  <a:schemeClr val="tx1"/>
                </a:solidFill>
              </a:rPr>
              <a:t>value</a:t>
            </a:r>
            <a:r>
              <a:rPr lang="ru-RU" sz="1600" dirty="0">
                <a:solidFill>
                  <a:schemeClr val="tx1"/>
                </a:solidFill>
              </a:rPr>
              <a:t> с значением варианта (видимый текст названия варианта на странице и значение в </a:t>
            </a:r>
            <a:r>
              <a:rPr lang="en-US" sz="1600" dirty="0">
                <a:solidFill>
                  <a:schemeClr val="tx1"/>
                </a:solidFill>
              </a:rPr>
              <a:t>value</a:t>
            </a:r>
            <a:r>
              <a:rPr lang="ru-RU" sz="1600" dirty="0">
                <a:solidFill>
                  <a:schemeClr val="tx1"/>
                </a:solidFill>
              </a:rPr>
              <a:t> могут не совпадать)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&lt;select </a:t>
            </a:r>
            <a:r>
              <a:rPr lang="en-US" sz="1600" dirty="0">
                <a:solidFill>
                  <a:schemeClr val="tx1"/>
                </a:solidFill>
              </a:rPr>
              <a:t>name="leaveList[cmbSubunit]" id="leaveList_cmbSubunit" class="valid"&gt;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&lt;option </a:t>
            </a:r>
            <a:r>
              <a:rPr lang="en-US" sz="1600" dirty="0">
                <a:solidFill>
                  <a:schemeClr val="tx1"/>
                </a:solidFill>
              </a:rPr>
              <a:t>value="0"&gt;All&lt;/option&gt;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&lt;option </a:t>
            </a:r>
            <a:r>
              <a:rPr lang="en-US" sz="1600" dirty="0">
                <a:solidFill>
                  <a:schemeClr val="tx1"/>
                </a:solidFill>
              </a:rPr>
              <a:t>value="4"&gt;Sales&lt;/option&gt;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&lt;option </a:t>
            </a:r>
            <a:r>
              <a:rPr lang="en-US" sz="1600" dirty="0">
                <a:solidFill>
                  <a:schemeClr val="tx1"/>
                </a:solidFill>
              </a:rPr>
              <a:t>value="5"&gt;Administration&lt;/option&gt;</a:t>
            </a: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dirty="0"/>
              <a:t>Варианты ответа задаются тегом option, значение value может отсутствовать. Можно отмечать варианты с помощью обычного метода click(). Для этого сначала нужно применить метод click() для элемента с тегом select, чтобы список раскрылся, а затем кликнуть на нужный вариант ответа.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driver.find_element_by_tag_name("select").click()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driver.find_element_by_css_selector("option:nth-child(2)").click()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или так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: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driver.find_element_by_css_selector("[value='4']").click() </a:t>
            </a:r>
            <a:endParaRPr lang="ru-RU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C74751-60DD-49DF-BEB3-5D62EDC45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251" y="1227435"/>
            <a:ext cx="24193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Элемент</a:t>
            </a:r>
            <a:r>
              <a:rPr lang="en-US" sz="4200" dirty="0"/>
              <a:t>:</a:t>
            </a:r>
            <a:r>
              <a:rPr lang="ru-RU" sz="4200" dirty="0"/>
              <a:t> </a:t>
            </a:r>
            <a:r>
              <a:rPr lang="en-US" sz="4200" dirty="0"/>
              <a:t>selector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65652" cy="511269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В предыдущем примере, нам приходилось делать лишний клики для открытия списка.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Есть и другой способ без кликов, для которого используется специальный класс Select из библиотеки WebDriver. Вначале мы должны инициализировать новый объект, передав в него WebElement с тегом select. Далее можно найти любой вариант из списка с помощью метода </a:t>
            </a:r>
            <a:r>
              <a:rPr lang="ru-RU" sz="1600" b="1" dirty="0">
                <a:solidFill>
                  <a:schemeClr val="tx1"/>
                </a:solidFill>
              </a:rPr>
              <a:t>select_by_value(value)</a:t>
            </a:r>
            <a:r>
              <a:rPr lang="ru-RU" sz="1600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from selenium.webdriver.support.select import Select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импортируем класс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Select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или библиотеки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webdriver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element = driver.find_element_by_</a:t>
            </a:r>
            <a:r>
              <a:rPr lang="ru-RU" sz="1600" dirty="0">
                <a:solidFill>
                  <a:schemeClr val="tx1"/>
                </a:solidFill>
              </a:rPr>
              <a:t>любой метод</a:t>
            </a:r>
            <a:r>
              <a:rPr lang="en-US" sz="1600" dirty="0">
                <a:solidFill>
                  <a:schemeClr val="tx1"/>
                </a:solidFill>
              </a:rPr>
              <a:t>("</a:t>
            </a:r>
            <a:r>
              <a:rPr lang="ru-RU" sz="1600" dirty="0">
                <a:solidFill>
                  <a:schemeClr val="tx1"/>
                </a:solidFill>
              </a:rPr>
              <a:t>селектор</a:t>
            </a:r>
            <a:r>
              <a:rPr lang="en-US" sz="1600" dirty="0">
                <a:solidFill>
                  <a:schemeClr val="tx1"/>
                </a:solidFill>
              </a:rPr>
              <a:t>")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 "element"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это просто название переменной, можно задать и другое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select = Select(element)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S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elect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после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"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=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"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должен быть с большой буквы, так как в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import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он указан с большой буквы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select.select_by_value("</a:t>
            </a:r>
            <a:r>
              <a:rPr lang="ru-RU" sz="1600" dirty="0">
                <a:solidFill>
                  <a:schemeClr val="tx1"/>
                </a:solidFill>
              </a:rPr>
              <a:t>4</a:t>
            </a:r>
            <a:r>
              <a:rPr lang="en-US" sz="1600" dirty="0">
                <a:solidFill>
                  <a:schemeClr val="tx1"/>
                </a:solidFill>
              </a:rPr>
              <a:t>")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ищем элемент с текстом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"Sales" ;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в этом и предыдущем методе добавлять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click()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не нужно</a:t>
            </a:r>
          </a:p>
          <a:p>
            <a:pPr marL="0" indent="0">
              <a:buNone/>
            </a:pPr>
            <a:endParaRPr lang="ru-RU" sz="16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1600" u="sng" dirty="0">
                <a:solidFill>
                  <a:schemeClr val="tx1"/>
                </a:solidFill>
              </a:rPr>
              <a:t>Можно использовать еще два метода: </a:t>
            </a:r>
          </a:p>
          <a:p>
            <a:pPr marL="0" indent="0">
              <a:buNone/>
            </a:pPr>
            <a:r>
              <a:rPr lang="ru-RU" sz="1600" b="1" dirty="0">
                <a:solidFill>
                  <a:schemeClr val="tx1"/>
                </a:solidFill>
              </a:rPr>
              <a:t>select.select_by_visible_text("text")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ищет элемент по видимому тексту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select.select_by_visible_text(“</a:t>
            </a:r>
            <a:r>
              <a:rPr lang="en-US" sz="1600" dirty="0">
                <a:solidFill>
                  <a:schemeClr val="tx1"/>
                </a:solidFill>
              </a:rPr>
              <a:t>Sales</a:t>
            </a:r>
            <a:r>
              <a:rPr lang="ru-RU" sz="1600" dirty="0">
                <a:solidFill>
                  <a:schemeClr val="tx1"/>
                </a:solidFill>
              </a:rPr>
              <a:t>")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найдёт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"Sales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" для нашего примера</a:t>
            </a: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b="1" dirty="0">
                <a:solidFill>
                  <a:schemeClr val="tx1"/>
                </a:solidFill>
              </a:rPr>
              <a:t>select.select_by_index(index)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ищет элемент по его индексу или порядковому номеру 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select.select_by_index(1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порядковый номер указывается как число, без кавычек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ru-RU" sz="1600" dirty="0">
                <a:solidFill>
                  <a:schemeClr val="tx1"/>
                </a:solidFill>
              </a:rPr>
              <a:t>Индексация начинается с нуля. Для того чтобы найти элемент с текстом “</a:t>
            </a:r>
            <a:r>
              <a:rPr lang="en-US" sz="1600" dirty="0">
                <a:solidFill>
                  <a:schemeClr val="tx1"/>
                </a:solidFill>
              </a:rPr>
              <a:t>Sales</a:t>
            </a:r>
            <a:r>
              <a:rPr lang="ru-RU" sz="1600" dirty="0">
                <a:solidFill>
                  <a:schemeClr val="tx1"/>
                </a:solidFill>
              </a:rPr>
              <a:t>", нужно использовать индекс 1, так как опция с индексом 0 в данном примере имеет значение по умолчанию равное “</a:t>
            </a:r>
            <a:r>
              <a:rPr lang="en-US" sz="1600" dirty="0">
                <a:solidFill>
                  <a:schemeClr val="tx1"/>
                </a:solidFill>
              </a:rPr>
              <a:t>All</a:t>
            </a:r>
            <a:r>
              <a:rPr lang="ru-RU" sz="1600" dirty="0">
                <a:solidFill>
                  <a:schemeClr val="tx1"/>
                </a:solidFill>
              </a:rPr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744064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Практическое задание</a:t>
            </a:r>
            <a:r>
              <a:rPr lang="en-US" sz="4200" dirty="0"/>
              <a:t>:</a:t>
            </a:r>
            <a:r>
              <a:rPr lang="ru-RU" sz="4200" dirty="0"/>
              <a:t> элементы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801955" y="1227435"/>
            <a:ext cx="1076565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Откройте </a:t>
            </a:r>
            <a:r>
              <a:rPr lang="en-US" sz="1600" dirty="0">
                <a:solidFill>
                  <a:schemeClr val="tx1"/>
                </a:solidFill>
                <a:hlinkClick r:id="rId2"/>
              </a:rPr>
              <a:t>https://opensource-demo.orangehrmlive.com</a:t>
            </a:r>
            <a:endParaRPr lang="ru-RU" sz="16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Залогиньтесь и перейдите в </a:t>
            </a:r>
            <a:r>
              <a:rPr lang="en-US" sz="1600" dirty="0">
                <a:solidFill>
                  <a:schemeClr val="tx1"/>
                </a:solidFill>
              </a:rPr>
              <a:t>PIM - &gt; Employee List</a:t>
            </a:r>
            <a:endParaRPr lang="ru-RU" sz="16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Нажмите на имя любого сотрудника (произойдёт переход в его карточку с данными)</a:t>
            </a:r>
          </a:p>
          <a:p>
            <a:pPr lvl="1"/>
            <a:r>
              <a:rPr lang="ru-RU" sz="1200" dirty="0">
                <a:solidFill>
                  <a:schemeClr val="tx1"/>
                </a:solidFill>
              </a:rPr>
              <a:t>если список пуст, создайте сотрудника вручную на этой же вкладке, нажав на</a:t>
            </a:r>
            <a:r>
              <a:rPr lang="en-US" sz="1200" dirty="0">
                <a:solidFill>
                  <a:schemeClr val="tx1"/>
                </a:solidFill>
              </a:rPr>
              <a:t>"Add"</a:t>
            </a:r>
            <a:endParaRPr lang="ru-RU" sz="12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Добавьте проверку, что радиокнопка с противоположным полом сотрудника в данный момент недоступна для выбора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Добавьте проверку, что селектор</a:t>
            </a:r>
            <a:r>
              <a:rPr lang="en-US" sz="1600" dirty="0">
                <a:solidFill>
                  <a:schemeClr val="tx1"/>
                </a:solidFill>
              </a:rPr>
              <a:t> Nationality </a:t>
            </a:r>
            <a:r>
              <a:rPr lang="ru-RU" sz="1600" dirty="0">
                <a:solidFill>
                  <a:schemeClr val="tx1"/>
                </a:solidFill>
              </a:rPr>
              <a:t>в данный момент недоступен для выбора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В карточке сотрудника, нажмите на кнопку</a:t>
            </a:r>
            <a:r>
              <a:rPr lang="en-US" sz="1600" dirty="0">
                <a:solidFill>
                  <a:schemeClr val="tx1"/>
                </a:solidFill>
              </a:rPr>
              <a:t> "Edit"</a:t>
            </a:r>
            <a:endParaRPr lang="ru-RU" sz="16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Измените пол сотрудника на противоположный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Добавьте проверку, что радиокнопка с полом сотрудника действительно выбрана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В селекторе </a:t>
            </a:r>
            <a:r>
              <a:rPr lang="en-US" sz="1600" dirty="0">
                <a:solidFill>
                  <a:schemeClr val="tx1"/>
                </a:solidFill>
              </a:rPr>
              <a:t>Nationality</a:t>
            </a:r>
            <a:r>
              <a:rPr lang="ru-RU" sz="1600" dirty="0">
                <a:solidFill>
                  <a:schemeClr val="tx1"/>
                </a:solidFill>
              </a:rPr>
              <a:t> выберите самую последнюю страну в списке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Добавьте проверку, что в селекторе</a:t>
            </a:r>
            <a:r>
              <a:rPr lang="en-US" sz="1600" dirty="0">
                <a:solidFill>
                  <a:schemeClr val="tx1"/>
                </a:solidFill>
              </a:rPr>
              <a:t> Nationality </a:t>
            </a:r>
            <a:r>
              <a:rPr lang="ru-RU" sz="1600" dirty="0">
                <a:solidFill>
                  <a:schemeClr val="tx1"/>
                </a:solidFill>
              </a:rPr>
              <a:t>выбрана последняя страна в списке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Выберите первоначальный пол сотрудника, а в селекторе </a:t>
            </a:r>
            <a:r>
              <a:rPr lang="en-US" sz="1600" dirty="0">
                <a:solidFill>
                  <a:schemeClr val="tx1"/>
                </a:solidFill>
              </a:rPr>
              <a:t>Nationality</a:t>
            </a:r>
            <a:r>
              <a:rPr lang="ru-RU" sz="1600" dirty="0">
                <a:solidFill>
                  <a:schemeClr val="tx1"/>
                </a:solidFill>
              </a:rPr>
              <a:t> выберите вариант</a:t>
            </a:r>
            <a:r>
              <a:rPr lang="en-US" sz="1600" dirty="0">
                <a:solidFill>
                  <a:schemeClr val="tx1"/>
                </a:solidFill>
              </a:rPr>
              <a:t> "-- Select --"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Сохраните изменения, нажав на кнопку </a:t>
            </a:r>
            <a:r>
              <a:rPr lang="en-US" sz="1600" dirty="0">
                <a:solidFill>
                  <a:schemeClr val="tx1"/>
                </a:solidFill>
              </a:rPr>
              <a:t>"Save"</a:t>
            </a:r>
            <a:endParaRPr lang="ru-RU" sz="1600" dirty="0">
              <a:solidFill>
                <a:schemeClr val="tx1"/>
              </a:solidFill>
            </a:endParaRPr>
          </a:p>
          <a:p>
            <a:r>
              <a:rPr lang="ru-RU" sz="1600" b="1" dirty="0">
                <a:solidFill>
                  <a:schemeClr val="tx1"/>
                </a:solidFill>
              </a:rPr>
              <a:t>Код сохраните, потребуется для теста</a:t>
            </a:r>
            <a:endParaRPr 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919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Загрузка файлов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8" y="1227435"/>
            <a:ext cx="10857387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﻿Если нам понадобится загрузить файл на веб-странице, мы можем использовать уже знакомый нам метод </a:t>
            </a:r>
            <a:r>
              <a:rPr lang="ru-RU" sz="1600" b="1" dirty="0">
                <a:solidFill>
                  <a:schemeClr val="tx1"/>
                </a:solidFill>
              </a:rPr>
              <a:t>send_keys</a:t>
            </a:r>
            <a:r>
              <a:rPr lang="ru-RU" sz="1600" dirty="0">
                <a:solidFill>
                  <a:schemeClr val="tx1"/>
                </a:solidFill>
              </a:rPr>
              <a:t>. Только теперь нам нужно в качестве аргумента передать путь к нужному файлу на диске вместо простого текста.</a:t>
            </a:r>
          </a:p>
          <a:p>
            <a:r>
              <a:rPr lang="ru-RU" sz="1600" dirty="0">
                <a:solidFill>
                  <a:schemeClr val="tx1"/>
                </a:solidFill>
              </a:rPr>
              <a:t>Чтобы указать путь к файлу, можно использовать стандартный модуль Python для работы с операционной системой - </a:t>
            </a:r>
            <a:r>
              <a:rPr lang="ru-RU" sz="1600" b="1" dirty="0">
                <a:solidFill>
                  <a:schemeClr val="tx1"/>
                </a:solidFill>
              </a:rPr>
              <a:t>os</a:t>
            </a:r>
            <a:r>
              <a:rPr lang="ru-RU" sz="1600" dirty="0">
                <a:solidFill>
                  <a:schemeClr val="tx1"/>
                </a:solidFill>
              </a:rPr>
              <a:t>.  В нём есть разные возможности под разные задачи.  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Но в нашем примере, пока можно обойтись и без него. Пример кода, который позволяет указать путь к файлу </a:t>
            </a:r>
            <a:r>
              <a:rPr lang="en-US" sz="1600" dirty="0">
                <a:solidFill>
                  <a:schemeClr val="tx1"/>
                </a:solidFill>
              </a:rPr>
              <a:t>'picture.jpg':</a:t>
            </a:r>
            <a:br>
              <a:rPr lang="ru-RU" sz="1600" dirty="0">
                <a:solidFill>
                  <a:schemeClr val="tx1"/>
                </a:solidFill>
              </a:rPr>
            </a:b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file = ('C:\PycharmProjects\be-tester\picture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  <a:r>
              <a:rPr lang="en-US" sz="1600" dirty="0">
                <a:solidFill>
                  <a:schemeClr val="tx1"/>
                </a:solidFill>
              </a:rPr>
              <a:t>jpg')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переменная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= ('C:\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название вашей папки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\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название файла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') 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upload = driver.find_element_by_id("upload_btn")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находим селектор кнопки загрузить файл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upload.send_keys(file)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передаём путь к файлу и загружаем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1600" b="1" dirty="0">
                <a:solidFill>
                  <a:schemeClr val="tx1"/>
                </a:solidFill>
              </a:rPr>
              <a:t>Обратите внимание</a:t>
            </a:r>
            <a:r>
              <a:rPr lang="en-US" sz="1600" b="1" dirty="0">
                <a:solidFill>
                  <a:schemeClr val="tx1"/>
                </a:solidFill>
              </a:rPr>
              <a:t>:</a:t>
            </a:r>
            <a:endParaRPr lang="ru-RU" sz="1600" b="1" dirty="0">
              <a:solidFill>
                <a:schemeClr val="tx1"/>
              </a:solidFill>
            </a:endParaRPr>
          </a:p>
          <a:p>
            <a:r>
              <a:rPr lang="ru-RU" sz="1600" dirty="0">
                <a:solidFill>
                  <a:schemeClr val="tx1"/>
                </a:solidFill>
              </a:rPr>
              <a:t>Нужно использовать обратные слеши</a:t>
            </a:r>
            <a:r>
              <a:rPr lang="en-US" sz="1600" dirty="0">
                <a:solidFill>
                  <a:schemeClr val="tx1"/>
                </a:solidFill>
              </a:rPr>
              <a:t> "\"</a:t>
            </a:r>
            <a:endParaRPr lang="ru-RU" sz="1600" dirty="0">
              <a:solidFill>
                <a:schemeClr val="tx1"/>
              </a:solidFill>
            </a:endParaRPr>
          </a:p>
          <a:p>
            <a:r>
              <a:rPr lang="ru-RU" sz="1600" dirty="0">
                <a:solidFill>
                  <a:schemeClr val="tx1"/>
                </a:solidFill>
              </a:rPr>
              <a:t>Помимо назваия файла, должно быть ещё указано его расширение через точку(</a:t>
            </a:r>
            <a:r>
              <a:rPr lang="en-US" sz="1600" dirty="0">
                <a:solidFill>
                  <a:schemeClr val="tx1"/>
                </a:solidFill>
              </a:rPr>
              <a:t>.jpg/.png/.word/.txt</a:t>
            </a:r>
            <a:r>
              <a:rPr lang="ru-RU" sz="1600" dirty="0">
                <a:solidFill>
                  <a:schemeClr val="tx1"/>
                </a:solidFill>
              </a:rPr>
              <a:t> и т.д)</a:t>
            </a:r>
          </a:p>
          <a:p>
            <a:r>
              <a:rPr lang="ru-RU" sz="1600" dirty="0">
                <a:solidFill>
                  <a:schemeClr val="tx1"/>
                </a:solidFill>
              </a:rPr>
              <a:t>Предварительно нажимать на кнопку загрузки не нужно, вместо этого используйте </a:t>
            </a:r>
            <a:r>
              <a:rPr lang="en-US" sz="1600" dirty="0">
                <a:solidFill>
                  <a:schemeClr val="tx1"/>
                </a:solidFill>
              </a:rPr>
              <a:t>send_keys()</a:t>
            </a:r>
          </a:p>
        </p:txBody>
      </p:sp>
    </p:spTree>
    <p:extLst>
      <p:ext uri="{BB962C8B-B14F-4D97-AF65-F5344CB8AC3E}">
        <p14:creationId xmlns:p14="http://schemas.microsoft.com/office/powerpoint/2010/main" val="116255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Метод</a:t>
            </a:r>
            <a:r>
              <a:rPr lang="en-US" sz="4200" dirty="0"/>
              <a:t>: execute_script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8" y="1227435"/>
            <a:ext cx="10857387" cy="511269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﻿</a:t>
            </a:r>
            <a:r>
              <a:rPr lang="ru-RU" sz="1400" dirty="0">
                <a:solidFill>
                  <a:schemeClr val="tx1"/>
                </a:solidFill>
              </a:rPr>
              <a:t>Рассмотрим еще один очень полезный и мощный метод. С помощью метода execute_script можно выполнить программу, написанную на языке JavaScript, как часть сценария автотеста в запущенном браузере. 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Зачем это может понадобиться, если в автотестах мы стараемся взаимодействовать с интерфейсом сайта как обычный пользователь, нажимая кнопки, выбирая пункты меню и вводя текст в текстовые поля?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Дело в том, что стандартные методы, доступные в Selenium, не могут покрыть всех возможных ситуаций работы с веб-приложением. Сайты в интернете могут решать самые разные задачи, начиная от простого блога до сложных финансовых или графических приложений. Разработчики имеют доступ к огромному количеству различных библиотек для решения бизнес-сценариев, что приводит к появлению на веб-странице нестандартных редакторов текстов, уникальных меню, оригинальных видео-плееров и т.д. Порой это приводит к тому, что для нажатия вроде бы обычной кнопки тестировщику понадобится писать настоящий JavaScript-сценарий. 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Если вы столкнулись с такой ситуацией, то в первую очередь обратитесь за помощью к вашим фронтенд-разработчикам, чтобы они подсказали  пример нужного скрипта. Прежде чем использовать данный скрипт в тестах, вы можете проверить, как он работает прямо в браузере, выполнив код в консоли браузера. Затем можете добавить его в ваш автотест с помощью execute_script(javascript_code).</a:t>
            </a:r>
          </a:p>
          <a:p>
            <a:pPr marL="0" indent="0">
              <a:buNone/>
            </a:pPr>
            <a:r>
              <a:rPr lang="ru-RU" sz="1400" u="sng" dirty="0">
                <a:solidFill>
                  <a:schemeClr val="tx1"/>
                </a:solidFill>
              </a:rPr>
              <a:t>Давайте попробуем вызвать </a:t>
            </a:r>
            <a:r>
              <a:rPr lang="en-US" sz="1400" u="sng" dirty="0">
                <a:solidFill>
                  <a:schemeClr val="tx1"/>
                </a:solidFill>
              </a:rPr>
              <a:t>alert </a:t>
            </a:r>
            <a:r>
              <a:rPr lang="ru-RU" sz="1400" u="sng" dirty="0">
                <a:solidFill>
                  <a:schemeClr val="tx1"/>
                </a:solidFill>
              </a:rPr>
              <a:t>в браузере с помощью </a:t>
            </a:r>
            <a:r>
              <a:rPr lang="en-US" sz="1400" u="sng" dirty="0">
                <a:solidFill>
                  <a:schemeClr val="tx1"/>
                </a:solidFill>
              </a:rPr>
              <a:t>WebDriver. </a:t>
            </a:r>
            <a:r>
              <a:rPr lang="ru-RU" sz="1400" u="sng" dirty="0">
                <a:solidFill>
                  <a:schemeClr val="tx1"/>
                </a:solidFill>
              </a:rPr>
              <a:t>Пример сценария: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from selenium import webdriver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driver = webdriver.Chrome()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driver.execute_script("alert('</a:t>
            </a:r>
            <a:r>
              <a:rPr lang="ru-RU" sz="1400" dirty="0">
                <a:solidFill>
                  <a:schemeClr val="tx1"/>
                </a:solidFill>
              </a:rPr>
              <a:t>Скрипт выполнен успешно!</a:t>
            </a:r>
            <a:r>
              <a:rPr lang="en-US" sz="1400" dirty="0">
                <a:solidFill>
                  <a:schemeClr val="tx1"/>
                </a:solidFill>
              </a:rPr>
              <a:t>');")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Обратите внимание, что исполняемый JavaScript нужно заключать в кавычки (двойные или одинарные). Если внутри скрипта вам также понадобится использовать кавычки, а для выделения скрипта вы уже используете двойные кавычки, то в скрипте следует поставить одинарные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437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Метод</a:t>
            </a:r>
            <a:r>
              <a:rPr lang="en-US" sz="4200" dirty="0"/>
              <a:t>: execute_script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8" y="1227435"/>
            <a:ext cx="10857387" cy="511269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Теперь рассмотрим реальную ситуацию, когда пользователь должен кликнуть на элемент, который внезапно оказывается перекрыт другим элементом на странице.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Для клика в </a:t>
            </a:r>
            <a:r>
              <a:rPr lang="en-US" sz="1400" dirty="0">
                <a:solidFill>
                  <a:schemeClr val="tx1"/>
                </a:solidFill>
              </a:rPr>
              <a:t>WebDriver </a:t>
            </a:r>
            <a:r>
              <a:rPr lang="ru-RU" sz="1400" dirty="0">
                <a:solidFill>
                  <a:schemeClr val="tx1"/>
                </a:solidFill>
              </a:rPr>
              <a:t>мы используем метод </a:t>
            </a:r>
            <a:r>
              <a:rPr lang="en-US" sz="1400" b="1" dirty="0">
                <a:solidFill>
                  <a:schemeClr val="tx1"/>
                </a:solidFill>
              </a:rPr>
              <a:t>click()</a:t>
            </a:r>
            <a:r>
              <a:rPr lang="en-US" sz="1400" dirty="0">
                <a:solidFill>
                  <a:schemeClr val="tx1"/>
                </a:solidFill>
              </a:rPr>
              <a:t>. </a:t>
            </a:r>
            <a:r>
              <a:rPr lang="ru-RU" sz="1400" dirty="0">
                <a:solidFill>
                  <a:schemeClr val="tx1"/>
                </a:solidFill>
              </a:rPr>
              <a:t>Если элемент оказывается перекрыт другим элементом, то наша программа вызовет следующую ошибку: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selenium.common.exceptions.WebDriverException: Message: unknown error: Element</a:t>
            </a:r>
            <a:r>
              <a:rPr lang="ru-RU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(данные элемента)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not clickable at point (X, Y). Other element would receive the click.</a:t>
            </a:r>
            <a:endParaRPr lang="ru-RU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ru-RU" sz="1400" dirty="0"/>
              <a:t>Из описания ошибки можно понять, что указанный нами элемент нельзя кликнуть в данной точке, т.к. клик произойдёт на другом элементе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Чтобы понять, как решить эту проблему, нужно разобраться, как работает метод </a:t>
            </a:r>
            <a:r>
              <a:rPr lang="ru-RU" sz="1400" b="1" dirty="0">
                <a:solidFill>
                  <a:schemeClr val="tx1"/>
                </a:solidFill>
              </a:rPr>
              <a:t>click()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В первую очередь WebDriver проверит, что ширина и высота элемента больше 0, чтобы по нему можно было кликнуть.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Затем, если элемент находится за границей окна браузера, WebDriver автоматически проскроллит страницу, чтобы элемент попал в область видимости, то есть не находился за границей экрана. Но это не гарантирует того, что элемент не перекрыт другим элементом, который тоже находится в области видимости.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А в какую точку элемента будет происходить клик? Selenium рассчитывает координаты центра элемента и производит клик в вычисленную точку. Это тоже приведёт к ошибке, если часть элемента всё-таки видна, но элемент перекрыт больше чем на половину своей высоты или ширины.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Если мы столкнулись с такой ситуацией, мы можем заставить браузер дополнительно проскролить нужный элемент, чтобы он точно стал видимым.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Делается это с помощью следующего скрипта:</a:t>
            </a:r>
          </a:p>
          <a:p>
            <a:pPr marL="0" indent="0">
              <a:buNone/>
            </a:pPr>
            <a:r>
              <a:rPr lang="ru-RU" sz="1400" b="1" dirty="0">
                <a:solidFill>
                  <a:schemeClr val="tx1"/>
                </a:solidFill>
              </a:rPr>
              <a:t>"return arguments[0].scrollIntoView(true);</a:t>
            </a:r>
            <a:r>
              <a:rPr lang="en-US" sz="1400" b="1" dirty="0">
                <a:solidFill>
                  <a:schemeClr val="tx1"/>
                </a:solidFill>
              </a:rPr>
              <a:t>"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Мы дополнительно передали в метод scrollIntoView аргумент true, чтобы элемент после скролла оказался в области видимости. 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07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Метод</a:t>
            </a:r>
            <a:r>
              <a:rPr lang="en-US" sz="4200" dirty="0"/>
              <a:t>: execute_script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8" y="1227435"/>
            <a:ext cx="10857387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b="1" dirty="0">
                <a:solidFill>
                  <a:schemeClr val="tx1"/>
                </a:solidFill>
              </a:rPr>
              <a:t>В итоге, чтобы кликнуть на перекрытую кнопку, нам нужно выполнить следующие команды в коде: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button = driver.find_element_by_tag_name("button")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driver.execute_script(</a:t>
            </a:r>
            <a:r>
              <a:rPr lang="en-US" sz="1400" b="1" dirty="0">
                <a:solidFill>
                  <a:schemeClr val="tx1"/>
                </a:solidFill>
              </a:rPr>
              <a:t>"return arguments[0].scrollIntoView(true);"</a:t>
            </a:r>
            <a:r>
              <a:rPr lang="en-US" sz="1400" dirty="0">
                <a:solidFill>
                  <a:schemeClr val="tx1"/>
                </a:solidFill>
              </a:rPr>
              <a:t>, button)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автоматически проскроллили до зоны видимости кнопки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button.click()</a:t>
            </a: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400" u="sng" dirty="0">
                <a:solidFill>
                  <a:schemeClr val="tx1"/>
                </a:solidFill>
              </a:rPr>
              <a:t>Также можно проскролить всю страницу целиком на строго заданное количество пикселей</a:t>
            </a:r>
            <a:r>
              <a:rPr lang="en-US" sz="1400" u="sng" dirty="0">
                <a:solidFill>
                  <a:schemeClr val="tx1"/>
                </a:solidFill>
              </a:rPr>
              <a:t>:</a:t>
            </a:r>
            <a:r>
              <a:rPr lang="ru-RU" sz="1400" u="sng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driver</a:t>
            </a:r>
            <a:r>
              <a:rPr lang="ru-RU" sz="1400" b="1" dirty="0">
                <a:solidFill>
                  <a:schemeClr val="tx1"/>
                </a:solidFill>
              </a:rPr>
              <a:t>.execute_script("window.scrollBy(0, 100);") 	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Garamond" panose="02020404030301010803" pitchFamily="18" charset="0"/>
              </a:rPr>
              <a:t>#</a:t>
            </a:r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Garamond" panose="02020404030301010803" pitchFamily="18" charset="0"/>
              </a:rPr>
              <a:t> эта команда проскроллит страницу на 100 пикселей вниз</a:t>
            </a:r>
            <a:endParaRPr lang="en-US" sz="1400" b="1" dirty="0">
              <a:solidFill>
                <a:schemeClr val="bg1">
                  <a:lumMod val="50000"/>
                </a:schemeClr>
              </a:solidFill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Использование </a:t>
            </a:r>
            <a:r>
              <a:rPr lang="en-US" sz="1400" dirty="0">
                <a:solidFill>
                  <a:schemeClr val="tx1"/>
                </a:solidFill>
              </a:rPr>
              <a:t>JavaScript</a:t>
            </a:r>
            <a:r>
              <a:rPr lang="ru-RU" sz="1400" dirty="0">
                <a:solidFill>
                  <a:schemeClr val="tx1"/>
                </a:solidFill>
              </a:rPr>
              <a:t> – это уже отдельная тема, поэтому пока что остановимся на приведенных примерах скриптов.</a:t>
            </a:r>
            <a:endParaRPr lang="ru-RU" sz="16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ru-RU" sz="1600" u="sng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ru-RU" sz="1600" u="sng" dirty="0">
                <a:solidFill>
                  <a:schemeClr val="tx1"/>
                </a:solidFill>
              </a:rPr>
              <a:t>Ещё один полезный метод</a:t>
            </a:r>
            <a:r>
              <a:rPr lang="en-US" sz="1600" u="sng" dirty="0">
                <a:solidFill>
                  <a:schemeClr val="tx1"/>
                </a:solidFill>
              </a:rPr>
              <a:t>: </a:t>
            </a:r>
            <a:r>
              <a:rPr lang="en-US" sz="1600" b="1" u="sng" dirty="0">
                <a:solidFill>
                  <a:schemeClr val="tx1"/>
                </a:solidFill>
              </a:rPr>
              <a:t>current_url</a:t>
            </a:r>
            <a:r>
              <a:rPr lang="ru-RU" sz="1600" u="sng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С помощью него, можно проверить находимся ли мы на нужной нам странице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endParaRPr lang="ru-RU" sz="1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current_page = driver.current_url</a:t>
            </a:r>
            <a:r>
              <a:rPr lang="ru-RU" sz="1400" dirty="0">
                <a:solidFill>
                  <a:schemeClr val="tx1"/>
                </a:solidFill>
              </a:rPr>
              <a:t> 	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здесь без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“()”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на конце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print(current_page</a:t>
            </a:r>
            <a:r>
              <a:rPr lang="ru-RU" sz="1400" dirty="0">
                <a:solidFill>
                  <a:schemeClr val="tx1"/>
                </a:solidFill>
              </a:rPr>
              <a:t>)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выведет на экран адрес ссылки на которой мы находимся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580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Практическое задание</a:t>
            </a:r>
            <a:r>
              <a:rPr lang="en-US" sz="4200" dirty="0"/>
              <a:t>:</a:t>
            </a:r>
            <a:r>
              <a:rPr lang="ru-RU" sz="4200" dirty="0"/>
              <a:t> </a:t>
            </a:r>
            <a:r>
              <a:rPr lang="en-US" sz="4200" dirty="0"/>
              <a:t>upload, script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8" y="1227434"/>
            <a:ext cx="10765652" cy="5112699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ru-RU" sz="1600" dirty="0"/>
              <a:t>Настройте открытие окон в полный размер, с помощью команды из предыдущего урока</a:t>
            </a:r>
            <a:r>
              <a:rPr lang="en-US" sz="1600" dirty="0"/>
              <a:t>:</a:t>
            </a:r>
            <a:r>
              <a:rPr lang="ru-RU" sz="1600" dirty="0"/>
              <a:t> </a:t>
            </a:r>
            <a:r>
              <a:rPr lang="en-US" sz="1600" dirty="0"/>
              <a:t>driver.maximize_window()</a:t>
            </a:r>
            <a:endParaRPr lang="ru-RU" sz="1600" dirty="0"/>
          </a:p>
          <a:p>
            <a:pPr lvl="1"/>
            <a:r>
              <a:rPr lang="ru-RU" sz="1200" dirty="0">
                <a:solidFill>
                  <a:schemeClr val="tx1"/>
                </a:solidFill>
              </a:rPr>
              <a:t>Для большей стабильности тестов, рекомендуется использовать её и в дальнейшем, указав сразу после инициализации драйвера</a:t>
            </a:r>
            <a:r>
              <a:rPr lang="en-US" sz="1200" dirty="0">
                <a:solidFill>
                  <a:schemeClr val="tx1"/>
                </a:solidFill>
              </a:rPr>
              <a:t>:</a:t>
            </a:r>
            <a:r>
              <a:rPr lang="ru-RU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driver = webdriver.Chrome()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Откройте страницу </a:t>
            </a:r>
            <a:r>
              <a:rPr lang="en-US" sz="1600" dirty="0">
                <a:hlinkClick r:id="rId2"/>
              </a:rPr>
              <a:t>http://demo.automationtesting.in/Register.html</a:t>
            </a:r>
            <a:r>
              <a:rPr lang="en-US" sz="16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Заполните произвольными данными </a:t>
            </a:r>
            <a:r>
              <a:rPr lang="ru-RU" sz="1600" b="1" dirty="0">
                <a:solidFill>
                  <a:schemeClr val="tx1"/>
                </a:solidFill>
              </a:rPr>
              <a:t>только обязательные поля(*) </a:t>
            </a:r>
            <a:r>
              <a:rPr lang="ru-RU" sz="1600" dirty="0">
                <a:solidFill>
                  <a:schemeClr val="tx1"/>
                </a:solidFill>
              </a:rPr>
              <a:t>в регистрации(а так же поля</a:t>
            </a:r>
            <a:r>
              <a:rPr lang="en-US" sz="1600" dirty="0">
                <a:solidFill>
                  <a:schemeClr val="tx1"/>
                </a:solidFill>
              </a:rPr>
              <a:t>: Date of Birth,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Password, Confirm Password</a:t>
            </a:r>
            <a:r>
              <a:rPr lang="ru-RU" sz="1600" dirty="0">
                <a:solidFill>
                  <a:schemeClr val="tx1"/>
                </a:solidFill>
              </a:rPr>
              <a:t>)</a:t>
            </a:r>
            <a:endParaRPr lang="en-US" sz="1600" dirty="0">
              <a:solidFill>
                <a:schemeClr val="tx1"/>
              </a:solidFill>
            </a:endParaRPr>
          </a:p>
          <a:p>
            <a:pPr lvl="1"/>
            <a:r>
              <a:rPr lang="ru-RU" sz="1400" dirty="0">
                <a:solidFill>
                  <a:schemeClr val="tx1"/>
                </a:solidFill>
              </a:rPr>
              <a:t>Поле телефон должно содержать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 10 цифр, без +</a:t>
            </a:r>
            <a:r>
              <a:rPr lang="en-US" sz="1400" dirty="0">
                <a:solidFill>
                  <a:schemeClr val="tx1"/>
                </a:solidFill>
              </a:rPr>
              <a:t>,</a:t>
            </a:r>
            <a:r>
              <a:rPr lang="ru-RU" sz="1400" dirty="0">
                <a:solidFill>
                  <a:schemeClr val="tx1"/>
                </a:solidFill>
              </a:rPr>
              <a:t> например</a:t>
            </a:r>
            <a:r>
              <a:rPr lang="en-US" sz="1400" dirty="0">
                <a:solidFill>
                  <a:schemeClr val="tx1"/>
                </a:solidFill>
              </a:rPr>
              <a:t>: 1234567890 ; </a:t>
            </a:r>
            <a:r>
              <a:rPr lang="ru-RU" sz="1400" dirty="0">
                <a:solidFill>
                  <a:schemeClr val="tx1"/>
                </a:solidFill>
              </a:rPr>
              <a:t>если номер уже существует в системе – появится ошибка</a:t>
            </a:r>
          </a:p>
          <a:p>
            <a:pPr lvl="1"/>
            <a:r>
              <a:rPr lang="ru-RU" sz="1400" dirty="0">
                <a:solidFill>
                  <a:schemeClr val="tx1"/>
                </a:solidFill>
              </a:rPr>
              <a:t>Значение в селекторе</a:t>
            </a:r>
            <a:r>
              <a:rPr lang="en-US" sz="1400" dirty="0">
                <a:solidFill>
                  <a:schemeClr val="tx1"/>
                </a:solidFill>
              </a:rPr>
              <a:t> country, date of birth</a:t>
            </a:r>
            <a:r>
              <a:rPr lang="ru-RU" sz="1400" dirty="0">
                <a:solidFill>
                  <a:schemeClr val="tx1"/>
                </a:solidFill>
              </a:rPr>
              <a:t> выбирайте с помощью класса Select из библиотеки WebDriver</a:t>
            </a:r>
            <a:endParaRPr lang="en-US" sz="1400" dirty="0">
              <a:solidFill>
                <a:schemeClr val="tx1"/>
              </a:solidFill>
            </a:endParaRPr>
          </a:p>
          <a:p>
            <a:pPr lvl="1"/>
            <a:r>
              <a:rPr lang="ru-RU" sz="1400" dirty="0">
                <a:solidFill>
                  <a:schemeClr val="tx1"/>
                </a:solidFill>
              </a:rPr>
              <a:t>Поля </a:t>
            </a:r>
            <a:r>
              <a:rPr lang="en-US" sz="1400" dirty="0">
                <a:solidFill>
                  <a:schemeClr val="tx1"/>
                </a:solidFill>
              </a:rPr>
              <a:t>password, confirm password</a:t>
            </a:r>
            <a:r>
              <a:rPr lang="ru-RU" sz="1400" dirty="0">
                <a:solidFill>
                  <a:schemeClr val="tx1"/>
                </a:solidFill>
              </a:rPr>
              <a:t> должны содержать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 не менее 6 символов, маленькую букву, большую букву, цифру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Загрузите любой файл в раздел</a:t>
            </a:r>
            <a:r>
              <a:rPr lang="en-US" sz="1600" dirty="0">
                <a:solidFill>
                  <a:schemeClr val="tx1"/>
                </a:solidFill>
              </a:rPr>
              <a:t> "Photo"</a:t>
            </a:r>
            <a:r>
              <a:rPr lang="ru-RU" sz="1600" dirty="0">
                <a:solidFill>
                  <a:schemeClr val="tx1"/>
                </a:solidFill>
              </a:rPr>
              <a:t> вверху справа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Проскролльте страницу вниз на 300 пикселей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Нажмите на кнопку </a:t>
            </a:r>
            <a:r>
              <a:rPr lang="en-US" sz="1600" dirty="0">
                <a:solidFill>
                  <a:schemeClr val="tx1"/>
                </a:solidFill>
              </a:rPr>
              <a:t>Submit</a:t>
            </a:r>
            <a:endParaRPr lang="ru-RU" sz="16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Добавьте проверку, что произошёл переход на страницу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en-US" sz="1600" dirty="0">
                <a:hlinkClick r:id="rId3"/>
              </a:rPr>
              <a:t>http://demo.automationtesting.in/WebTable.html</a:t>
            </a:r>
            <a:endParaRPr lang="ru-RU" sz="1600" dirty="0"/>
          </a:p>
          <a:p>
            <a:pPr lvl="1"/>
            <a:r>
              <a:rPr lang="ru-RU" sz="1400" dirty="0">
                <a:solidFill>
                  <a:schemeClr val="tx1"/>
                </a:solidFill>
              </a:rPr>
              <a:t>Дополнительно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 улучшите проверку таким образом, чтобы в консоли выводилось содержательное сообщение, из которого можно понять, на какой странице находимся сейчас и на какой странице ожидаем находиться.</a:t>
            </a:r>
          </a:p>
          <a:p>
            <a:pPr lvl="1"/>
            <a:endParaRPr lang="ru-RU" sz="1800" dirty="0">
              <a:solidFill>
                <a:schemeClr val="tx1"/>
              </a:solidFill>
            </a:endParaRPr>
          </a:p>
          <a:p>
            <a:r>
              <a:rPr lang="ru-RU" sz="1600" dirty="0">
                <a:solidFill>
                  <a:schemeClr val="tx1"/>
                </a:solidFill>
              </a:rPr>
              <a:t>Не забывайте использовать </a:t>
            </a:r>
            <a:r>
              <a:rPr lang="en-US" sz="1600" dirty="0">
                <a:solidFill>
                  <a:schemeClr val="tx1"/>
                </a:solidFill>
              </a:rPr>
              <a:t>time.sleep()</a:t>
            </a:r>
            <a:r>
              <a:rPr lang="ru-RU" sz="1600" dirty="0">
                <a:solidFill>
                  <a:schemeClr val="tx1"/>
                </a:solidFill>
              </a:rPr>
              <a:t> если нужно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ru-RU" sz="1600" dirty="0">
                <a:solidFill>
                  <a:schemeClr val="tx1"/>
                </a:solidFill>
              </a:rPr>
              <a:t>В задании можно иногда использовать</a:t>
            </a:r>
            <a:r>
              <a:rPr lang="en-US" sz="1600" dirty="0">
                <a:solidFill>
                  <a:schemeClr val="tx1"/>
                </a:solidFill>
              </a:rPr>
              <a:t> XPATH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ru-RU" sz="1600" dirty="0">
                <a:solidFill>
                  <a:schemeClr val="tx1"/>
                </a:solidFill>
              </a:rPr>
              <a:t>пример структуры</a:t>
            </a:r>
            <a:r>
              <a:rPr lang="en-US" sz="1600" dirty="0">
                <a:solidFill>
                  <a:schemeClr val="tx1"/>
                </a:solidFill>
              </a:rPr>
              <a:t>: //</a:t>
            </a:r>
            <a:r>
              <a:rPr lang="ru-RU" sz="1600" dirty="0">
                <a:solidFill>
                  <a:schemeClr val="tx1"/>
                </a:solidFill>
              </a:rPr>
              <a:t>тег</a:t>
            </a:r>
            <a:r>
              <a:rPr lang="en-US" sz="1600" dirty="0">
                <a:solidFill>
                  <a:schemeClr val="tx1"/>
                </a:solidFill>
              </a:rPr>
              <a:t>[@</a:t>
            </a:r>
            <a:r>
              <a:rPr lang="ru-RU" sz="1600" dirty="0">
                <a:solidFill>
                  <a:schemeClr val="tx1"/>
                </a:solidFill>
              </a:rPr>
              <a:t>атрибут</a:t>
            </a:r>
            <a:r>
              <a:rPr lang="en-US" sz="1600" dirty="0">
                <a:solidFill>
                  <a:schemeClr val="tx1"/>
                </a:solidFill>
              </a:rPr>
              <a:t>='</a:t>
            </a:r>
            <a:r>
              <a:rPr lang="ru-RU" sz="1600" dirty="0">
                <a:solidFill>
                  <a:schemeClr val="tx1"/>
                </a:solidFill>
              </a:rPr>
              <a:t>значение</a:t>
            </a:r>
            <a:r>
              <a:rPr lang="en-US" sz="1600" dirty="0">
                <a:solidFill>
                  <a:schemeClr val="tx1"/>
                </a:solidFill>
              </a:rPr>
              <a:t>']</a:t>
            </a:r>
          </a:p>
          <a:p>
            <a:r>
              <a:rPr lang="ru-RU" sz="1600" dirty="0">
                <a:solidFill>
                  <a:schemeClr val="tx1"/>
                </a:solidFill>
              </a:rPr>
              <a:t>Будет также полезно вспомнить про составной селектор (пример структуры</a:t>
            </a:r>
            <a:r>
              <a:rPr lang="en-US" sz="1600" dirty="0">
                <a:solidFill>
                  <a:schemeClr val="tx1"/>
                </a:solidFill>
              </a:rPr>
              <a:t>: .class .other class) ;</a:t>
            </a:r>
            <a:r>
              <a:rPr lang="ru-RU" sz="1600" dirty="0">
                <a:solidFill>
                  <a:schemeClr val="tx1"/>
                </a:solidFill>
              </a:rPr>
              <a:t> (пример структуры</a:t>
            </a:r>
            <a:r>
              <a:rPr lang="en-US" sz="1600" dirty="0">
                <a:solidFill>
                  <a:schemeClr val="tx1"/>
                </a:solidFill>
              </a:rPr>
              <a:t> 2: #someid .someclass)</a:t>
            </a:r>
          </a:p>
          <a:p>
            <a:r>
              <a:rPr lang="ru-RU" sz="1600" dirty="0">
                <a:solidFill>
                  <a:schemeClr val="tx1"/>
                </a:solidFill>
              </a:rPr>
              <a:t>Ещё здесь может пригодиться </a:t>
            </a:r>
            <a:r>
              <a:rPr lang="en-US" sz="1600" dirty="0">
                <a:solidFill>
                  <a:schemeClr val="tx1"/>
                </a:solidFill>
              </a:rPr>
              <a:t>nth-child()</a:t>
            </a:r>
            <a:r>
              <a:rPr lang="ru-RU" sz="1600" dirty="0">
                <a:solidFill>
                  <a:schemeClr val="tx1"/>
                </a:solidFill>
              </a:rPr>
              <a:t> (пример структуры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element:nth-child(</a:t>
            </a:r>
            <a:r>
              <a:rPr lang="ru-RU" sz="1600" dirty="0">
                <a:solidFill>
                  <a:schemeClr val="tx1"/>
                </a:solidFill>
              </a:rPr>
              <a:t>порядковый номер)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Код сохраните, потребуется для теста</a:t>
            </a:r>
            <a:endParaRPr lang="ru-RU" sz="1200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ru-RU" sz="1200" dirty="0">
              <a:solidFill>
                <a:schemeClr val="tx1"/>
              </a:solidFill>
            </a:endParaRPr>
          </a:p>
          <a:p>
            <a:pPr lvl="1"/>
            <a:endParaRPr lang="ru-RU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214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Работа с окнами браузера</a:t>
            </a:r>
            <a:r>
              <a:rPr lang="en-US" sz="4200" dirty="0"/>
              <a:t> alert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8" y="1227435"/>
            <a:ext cx="10857387" cy="511269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Мы уже встречали alert, когда самостоятельно вызывали alert с помощью JavaScript: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driver.execute_script("alert('</a:t>
            </a:r>
            <a:r>
              <a:rPr lang="ru-RU" sz="1600" dirty="0">
                <a:solidFill>
                  <a:schemeClr val="tx1"/>
                </a:solidFill>
              </a:rPr>
              <a:t>Скрипт выполнен успешно!</a:t>
            </a:r>
            <a:r>
              <a:rPr lang="en-US" sz="1600" dirty="0">
                <a:solidFill>
                  <a:schemeClr val="tx1"/>
                </a:solidFill>
              </a:rPr>
              <a:t>');")</a:t>
            </a: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Теперь рассмотрим ситуацию, когда в сценарии теста возникает необходимость получить содержимое alert, а также, нажать кнопку OK, чтобы закрыть alert. Alert является модальным окном: это означает, что пользователь не может взаимодействовать дальше с интерфейсом, пока не закроет alert. Для этого нужно сначала переключиться на окно с alert, получить текст с помощью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.text</a:t>
            </a:r>
            <a:r>
              <a:rPr lang="ru-RU" sz="1600" dirty="0">
                <a:solidFill>
                  <a:schemeClr val="tx1"/>
                </a:solidFill>
              </a:rPr>
              <a:t> и затем принять его с помощью команды </a:t>
            </a:r>
            <a:r>
              <a:rPr lang="ru-RU" sz="1600" b="1" dirty="0">
                <a:solidFill>
                  <a:schemeClr val="tx1"/>
                </a:solidFill>
              </a:rPr>
              <a:t>accept()</a:t>
            </a:r>
            <a:r>
              <a:rPr lang="ru-RU" sz="1600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from selenium import webdriver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driver = webdriver.Chrome()</a:t>
            </a:r>
          </a:p>
          <a:p>
            <a:pPr marL="0" indent="0">
              <a:buNone/>
            </a:pPr>
            <a:endParaRPr lang="en-US" sz="15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alert_script = driver.execute_script("alert('</a:t>
            </a:r>
            <a:r>
              <a:rPr lang="ru-RU" sz="1500" dirty="0">
                <a:solidFill>
                  <a:schemeClr val="tx1"/>
                </a:solidFill>
              </a:rPr>
              <a:t>Скрипт выполнен успешно!');") 	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 вызываем окно 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alert</a:t>
            </a:r>
            <a:endParaRPr lang="ru-RU" sz="15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alert = driver.switch_to.alert </a:t>
            </a:r>
            <a:r>
              <a:rPr lang="ru-RU" sz="1500" dirty="0">
                <a:solidFill>
                  <a:schemeClr val="tx1"/>
                </a:solidFill>
              </a:rPr>
              <a:t>	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 переключаемся в область окна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 alert;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 обратите внимание,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 “()”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 после 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switch_to.alert 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не нужны</a:t>
            </a:r>
            <a:endParaRPr lang="en-US" sz="15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alert_text = alert.text </a:t>
            </a:r>
            <a:r>
              <a:rPr lang="ru-RU" sz="1500" dirty="0">
                <a:solidFill>
                  <a:schemeClr val="tx1"/>
                </a:solidFill>
              </a:rPr>
              <a:t>	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 получаем текст с помощью команды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</a:rPr>
              <a:t>.text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print(alert_text)		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 выводим содержимое в консоли</a:t>
            </a:r>
            <a:endParaRPr lang="en-US" sz="15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alert.accept()</a:t>
            </a:r>
            <a:r>
              <a:rPr lang="ru-RU" sz="1500" dirty="0">
                <a:solidFill>
                  <a:schemeClr val="tx1"/>
                </a:solidFill>
              </a:rPr>
              <a:t>			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 нажимаем на 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“OK”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 в окне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 alert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2CBE09-7D6D-4682-B4D4-DD6968423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19" y="1834714"/>
            <a:ext cx="3663009" cy="109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214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Работа с окнами браузера</a:t>
            </a:r>
            <a:r>
              <a:rPr lang="en-US" sz="4200" dirty="0"/>
              <a:t> confirm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8" y="1227435"/>
            <a:ext cx="10857387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Другой вариант модального окна, который предлагает пользователю выбор согласиться с сообщением или отказаться от него, называется </a:t>
            </a:r>
            <a:r>
              <a:rPr lang="ru-RU" sz="1400" b="1" dirty="0">
                <a:solidFill>
                  <a:schemeClr val="tx1"/>
                </a:solidFill>
              </a:rPr>
              <a:t>confirm</a:t>
            </a:r>
            <a:r>
              <a:rPr lang="ru-RU" sz="1400" dirty="0">
                <a:solidFill>
                  <a:schemeClr val="tx1"/>
                </a:solidFill>
              </a:rPr>
              <a:t>. Для переключения на окно </a:t>
            </a:r>
            <a:r>
              <a:rPr lang="ru-RU" sz="1400" b="1" dirty="0">
                <a:solidFill>
                  <a:schemeClr val="tx1"/>
                </a:solidFill>
              </a:rPr>
              <a:t>confirm</a:t>
            </a:r>
            <a:r>
              <a:rPr lang="ru-RU" sz="1400" dirty="0">
                <a:solidFill>
                  <a:schemeClr val="tx1"/>
                </a:solidFill>
              </a:rPr>
              <a:t> используется та же команда, что и в случае с alert:</a:t>
            </a: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confirm = </a:t>
            </a:r>
            <a:r>
              <a:rPr lang="en-US" sz="1400" dirty="0">
                <a:solidFill>
                  <a:schemeClr val="tx1"/>
                </a:solidFill>
              </a:rPr>
              <a:t>driver</a:t>
            </a:r>
            <a:r>
              <a:rPr lang="ru-RU" sz="1400" dirty="0">
                <a:solidFill>
                  <a:schemeClr val="tx1"/>
                </a:solidFill>
              </a:rPr>
              <a:t>.switch_to.alert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confirm.accept()</a:t>
            </a: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400" u="sng" dirty="0">
                <a:solidFill>
                  <a:schemeClr val="tx1"/>
                </a:solidFill>
              </a:rPr>
              <a:t>Для confirm-окон можно использовать следующий метод для отказа: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confirm.dismiss()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то же самое, что и при нажатии пользователем кнопки "Отмена".</a:t>
            </a: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2864AC-45A4-4477-B29E-7B4EA13B0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08" y="1879104"/>
            <a:ext cx="3820727" cy="106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096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Работа с окнами браузера</a:t>
            </a:r>
            <a:r>
              <a:rPr lang="en-US" sz="4200" dirty="0"/>
              <a:t> promt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4" y="1227435"/>
            <a:ext cx="10910656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Третий вариант модального окна — </a:t>
            </a:r>
            <a:r>
              <a:rPr lang="en-US" sz="1400" b="1" dirty="0">
                <a:solidFill>
                  <a:schemeClr val="tx1"/>
                </a:solidFill>
              </a:rPr>
              <a:t>prompt</a:t>
            </a:r>
            <a:r>
              <a:rPr lang="en-US" sz="1400" dirty="0">
                <a:solidFill>
                  <a:schemeClr val="tx1"/>
                </a:solidFill>
              </a:rPr>
              <a:t> — </a:t>
            </a:r>
            <a:r>
              <a:rPr lang="ru-RU" sz="1400" dirty="0">
                <a:solidFill>
                  <a:schemeClr val="tx1"/>
                </a:solidFill>
              </a:rPr>
              <a:t>имеет дополнительное поле для ввода текста. Чтобы ввести текст, используйте метод </a:t>
            </a:r>
            <a:r>
              <a:rPr lang="en-US" sz="1400" b="1" dirty="0">
                <a:solidFill>
                  <a:schemeClr val="tx1"/>
                </a:solidFill>
              </a:rPr>
              <a:t>send_keys()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prompt = driver.switch_to.alert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prompt.send_keys("Promt")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prompt.accept()</a:t>
            </a: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u="sng" dirty="0">
                <a:solidFill>
                  <a:schemeClr val="tx1"/>
                </a:solidFill>
              </a:rPr>
              <a:t>Для </a:t>
            </a:r>
            <a:r>
              <a:rPr lang="en-US" sz="1600" u="sng" dirty="0">
                <a:solidFill>
                  <a:schemeClr val="tx1"/>
                </a:solidFill>
              </a:rPr>
              <a:t>promt</a:t>
            </a:r>
            <a:r>
              <a:rPr lang="ru-RU" sz="1600" u="sng" dirty="0">
                <a:solidFill>
                  <a:schemeClr val="tx1"/>
                </a:solidFill>
              </a:rPr>
              <a:t>-окон, также можно использовать следующий метод для отказа: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promt</a:t>
            </a:r>
            <a:r>
              <a:rPr lang="ru-RU" sz="1600" dirty="0">
                <a:solidFill>
                  <a:schemeClr val="tx1"/>
                </a:solidFill>
              </a:rPr>
              <a:t>.dismiss()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то же самое, что и при нажатии пользователем кнопки "Отмена".</a:t>
            </a: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33CB80-5F19-4F68-A038-AF786BCEB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684" y="1740919"/>
            <a:ext cx="3414297" cy="131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150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Переход на новую вкладку браузера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4" y="1227435"/>
            <a:ext cx="10910656" cy="511269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500" dirty="0">
                <a:solidFill>
                  <a:schemeClr val="tx1"/>
                </a:solidFill>
              </a:rPr>
              <a:t>При работе с веб-приложениями приходится переходить по ссылкам, которые открываются в новой вкладке браузера. WebDriver может работать только с одной вкладкой браузера. </a:t>
            </a:r>
          </a:p>
          <a:p>
            <a:pPr marL="0" indent="0">
              <a:buNone/>
            </a:pPr>
            <a:r>
              <a:rPr lang="ru-RU" sz="1500" dirty="0">
                <a:solidFill>
                  <a:schemeClr val="tx1"/>
                </a:solidFill>
              </a:rPr>
              <a:t>При открытии новой вкладки WebDriver продолжит работать со старой вкладкой. Для переключения на новую вкладку надо явно указать, на какую вкладку мы хотим перейти. Это делается с помощью команды </a:t>
            </a:r>
            <a:r>
              <a:rPr lang="ru-RU" sz="1500" b="1" dirty="0">
                <a:solidFill>
                  <a:schemeClr val="tx1"/>
                </a:solidFill>
              </a:rPr>
              <a:t>switch_to.window</a:t>
            </a:r>
            <a:r>
              <a:rPr lang="ru-RU" sz="1500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driver</a:t>
            </a:r>
            <a:r>
              <a:rPr lang="ru-RU" sz="1500" b="1" dirty="0">
                <a:solidFill>
                  <a:schemeClr val="tx1"/>
                </a:solidFill>
              </a:rPr>
              <a:t>.switch_to.window(window_name) </a:t>
            </a:r>
          </a:p>
          <a:p>
            <a:pPr marL="0" indent="0">
              <a:buNone/>
            </a:pPr>
            <a:endParaRPr lang="en-US" sz="15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500" dirty="0">
                <a:solidFill>
                  <a:schemeClr val="tx1"/>
                </a:solidFill>
              </a:rPr>
              <a:t>Чтобы узнать имя новой вкладки, нужно использовать </a:t>
            </a:r>
            <a:r>
              <a:rPr lang="ru-RU" sz="1500" b="1" dirty="0">
                <a:solidFill>
                  <a:schemeClr val="tx1"/>
                </a:solidFill>
              </a:rPr>
              <a:t>метод window_handles</a:t>
            </a:r>
            <a:r>
              <a:rPr lang="ru-RU" sz="1500" dirty="0">
                <a:solidFill>
                  <a:schemeClr val="tx1"/>
                </a:solidFill>
              </a:rPr>
              <a:t>, который возвращает массив имён всех вкладок. Зная, что в браузере теперь открыто две вкладки, выбираем вторую вкладку:</a:t>
            </a:r>
          </a:p>
          <a:p>
            <a:pPr marL="0" indent="0">
              <a:buNone/>
            </a:pPr>
            <a:r>
              <a:rPr lang="ru-RU" sz="1500" b="1" dirty="0">
                <a:solidFill>
                  <a:schemeClr val="tx1"/>
                </a:solidFill>
              </a:rPr>
              <a:t>new_window = </a:t>
            </a:r>
            <a:r>
              <a:rPr lang="en-US" sz="1500" b="1" dirty="0">
                <a:solidFill>
                  <a:schemeClr val="tx1"/>
                </a:solidFill>
              </a:rPr>
              <a:t>driver</a:t>
            </a:r>
            <a:r>
              <a:rPr lang="ru-RU" sz="1500" b="1" dirty="0">
                <a:solidFill>
                  <a:schemeClr val="tx1"/>
                </a:solidFill>
              </a:rPr>
              <a:t>.window_handles[1]</a:t>
            </a:r>
            <a:endParaRPr lang="en-US" sz="15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500" u="sng" dirty="0">
                <a:solidFill>
                  <a:schemeClr val="tx1"/>
                </a:solidFill>
              </a:rPr>
              <a:t>Важно</a:t>
            </a:r>
            <a:r>
              <a:rPr lang="en-US" sz="1500" u="sng" dirty="0">
                <a:solidFill>
                  <a:schemeClr val="tx1"/>
                </a:solidFill>
              </a:rPr>
              <a:t>:</a:t>
            </a:r>
            <a:r>
              <a:rPr lang="ru-RU" sz="1500" u="sng" dirty="0">
                <a:solidFill>
                  <a:schemeClr val="tx1"/>
                </a:solidFill>
              </a:rPr>
              <a:t> после переключения на новую вкладку поиск и взаимодействие с элементами будут происходить уже на новой странице.</a:t>
            </a:r>
            <a:endParaRPr lang="en-US" sz="1500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5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500" u="sng" dirty="0">
                <a:solidFill>
                  <a:schemeClr val="tx1"/>
                </a:solidFill>
              </a:rPr>
              <a:t>Также мы можем запомнить имя текущей</a:t>
            </a:r>
            <a:r>
              <a:rPr lang="en-US" sz="1500" u="sng" dirty="0">
                <a:solidFill>
                  <a:schemeClr val="tx1"/>
                </a:solidFill>
              </a:rPr>
              <a:t>(</a:t>
            </a:r>
            <a:r>
              <a:rPr lang="ru-RU" sz="1500" u="sng" dirty="0">
                <a:solidFill>
                  <a:schemeClr val="tx1"/>
                </a:solidFill>
              </a:rPr>
              <a:t>первоначальной) вкладки, чтобы иметь возможность потом к ней вернуться: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current_window = </a:t>
            </a:r>
            <a:r>
              <a:rPr lang="en-US" sz="1500" b="1" dirty="0" err="1">
                <a:solidFill>
                  <a:schemeClr val="tx1"/>
                </a:solidFill>
              </a:rPr>
              <a:t>driver.current_window_handle</a:t>
            </a:r>
            <a:endParaRPr lang="en-US" sz="15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5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500" u="sng" dirty="0">
                <a:solidFill>
                  <a:schemeClr val="tx1"/>
                </a:solidFill>
              </a:rPr>
              <a:t>Для создания новой пустой вкладки можно использовать</a:t>
            </a:r>
            <a:r>
              <a:rPr lang="en-US" sz="1500" u="sng" dirty="0">
                <a:solidFill>
                  <a:schemeClr val="tx1"/>
                </a:solidFill>
              </a:rPr>
              <a:t> </a:t>
            </a:r>
            <a:r>
              <a:rPr lang="ru-RU" sz="1500" u="sng" dirty="0">
                <a:solidFill>
                  <a:schemeClr val="tx1"/>
                </a:solidFill>
              </a:rPr>
              <a:t>скрипт на </a:t>
            </a:r>
            <a:r>
              <a:rPr lang="en-US" sz="1500" u="sng" dirty="0">
                <a:solidFill>
                  <a:schemeClr val="tx1"/>
                </a:solidFill>
              </a:rPr>
              <a:t>JS: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driver.execute_script("window.open();") 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открыть пустую вкладку в браузере</a:t>
            </a:r>
            <a:endParaRPr lang="en-US" sz="15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ru-RU" sz="15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500" b="1" dirty="0">
                <a:solidFill>
                  <a:schemeClr val="tx1"/>
                </a:solidFill>
              </a:rPr>
              <a:t>Пример переключения на вторую вкладку</a:t>
            </a:r>
            <a:r>
              <a:rPr lang="en-US" sz="1500" b="1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driver.execute_script("window.open();")</a:t>
            </a:r>
            <a:r>
              <a:rPr lang="ru-RU" sz="1500" dirty="0">
                <a:solidFill>
                  <a:schemeClr val="tx1"/>
                </a:solidFill>
              </a:rPr>
              <a:t> 		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 открытие новой вкладки</a:t>
            </a:r>
            <a:endParaRPr lang="en-US" sz="15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window_after = driver.window_handles[1] </a:t>
            </a:r>
            <a:r>
              <a:rPr lang="ru-RU" sz="1500" dirty="0">
                <a:solidFill>
                  <a:schemeClr val="tx1"/>
                </a:solidFill>
              </a:rPr>
              <a:t>	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 создание переменной, где укажем путь к второй вкладке (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window_handles[1]) ; 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здесь будет 1, так как отсчёт начинается с 0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driver.switch_to.window(window_after)</a:t>
            </a:r>
            <a:r>
              <a:rPr lang="ru-RU" sz="1500" dirty="0">
                <a:solidFill>
                  <a:schemeClr val="tx1"/>
                </a:solidFill>
              </a:rPr>
              <a:t>		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 переключим область действия драйвера на новую вкладку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 теперь дальнейшие элементы драйвер будет искать уже там</a:t>
            </a:r>
            <a:endParaRPr lang="en-US" sz="15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driver.get("</a:t>
            </a:r>
            <a:r>
              <a:rPr lang="ru-RU" sz="1500" dirty="0">
                <a:solidFill>
                  <a:schemeClr val="tx1"/>
                </a:solidFill>
              </a:rPr>
              <a:t>ссылка</a:t>
            </a:r>
            <a:r>
              <a:rPr lang="en-US" sz="1500" dirty="0">
                <a:solidFill>
                  <a:schemeClr val="tx1"/>
                </a:solidFill>
              </a:rPr>
              <a:t>"</a:t>
            </a:r>
            <a:r>
              <a:rPr lang="ru-RU" sz="1500" dirty="0">
                <a:solidFill>
                  <a:schemeClr val="tx1"/>
                </a:solidFill>
              </a:rPr>
              <a:t>)</a:t>
            </a:r>
            <a:r>
              <a:rPr lang="en-US" sz="1500" dirty="0">
                <a:solidFill>
                  <a:schemeClr val="tx1"/>
                </a:solidFill>
              </a:rPr>
              <a:t>				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 на новой вкладке откроем какую-нибудь другую страницу на сайте</a:t>
            </a:r>
            <a:endParaRPr lang="en-US" sz="15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5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ru-RU" sz="15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303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Практическое задание</a:t>
            </a:r>
            <a:r>
              <a:rPr lang="en-US" sz="4200" dirty="0"/>
              <a:t>: </a:t>
            </a:r>
            <a:r>
              <a:rPr lang="ru-RU" sz="4200" dirty="0"/>
              <a:t>модальные окна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227435"/>
            <a:ext cx="11014228" cy="511269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Откройте страницу</a:t>
            </a:r>
            <a:r>
              <a:rPr lang="en-US" sz="1400" dirty="0">
                <a:solidFill>
                  <a:schemeClr val="tx1"/>
                </a:solidFill>
              </a:rPr>
              <a:t>: </a:t>
            </a:r>
            <a:r>
              <a:rPr lang="en-US" sz="1400" dirty="0">
                <a:solidFill>
                  <a:schemeClr val="tx1"/>
                </a:solidFill>
                <a:hlinkClick r:id="rId2"/>
              </a:rPr>
              <a:t>http://demo.automationtesting.in/WebTable.html</a:t>
            </a:r>
            <a:endParaRPr lang="ru-RU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Перейдите на вкладку</a:t>
            </a:r>
            <a:r>
              <a:rPr lang="en-US" sz="1400" dirty="0">
                <a:solidFill>
                  <a:schemeClr val="tx1"/>
                </a:solidFill>
              </a:rPr>
              <a:t> "SwitchTo" - &gt; "Alerts"</a:t>
            </a:r>
            <a:endParaRPr lang="ru-RU" sz="1400" dirty="0">
              <a:solidFill>
                <a:schemeClr val="tx1"/>
              </a:solidFill>
            </a:endParaRPr>
          </a:p>
          <a:p>
            <a:pPr lvl="1"/>
            <a:r>
              <a:rPr lang="ru-RU" sz="1300" dirty="0">
                <a:solidFill>
                  <a:schemeClr val="tx1"/>
                </a:solidFill>
              </a:rPr>
              <a:t>Здесь используйте клики(их будет 2) вместо выбора по селектору</a:t>
            </a:r>
            <a:endParaRPr lang="en-US" sz="1300" dirty="0">
              <a:solidFill>
                <a:schemeClr val="tx1"/>
              </a:solidFill>
            </a:endParaRPr>
          </a:p>
          <a:p>
            <a:pPr lvl="1"/>
            <a:r>
              <a:rPr lang="ru-RU" sz="1300" dirty="0">
                <a:solidFill>
                  <a:schemeClr val="tx1"/>
                </a:solidFill>
              </a:rPr>
              <a:t>Если не получится перейти на вкладку</a:t>
            </a:r>
            <a:r>
              <a:rPr lang="en-US" sz="1300" dirty="0">
                <a:solidFill>
                  <a:schemeClr val="tx1"/>
                </a:solidFill>
              </a:rPr>
              <a:t> Alerts</a:t>
            </a:r>
            <a:r>
              <a:rPr lang="ru-RU" sz="1300" dirty="0">
                <a:solidFill>
                  <a:schemeClr val="tx1"/>
                </a:solidFill>
              </a:rPr>
              <a:t>, тогда откройте страницу </a:t>
            </a:r>
            <a:r>
              <a:rPr lang="en-US" sz="1300" dirty="0">
                <a:hlinkClick r:id="rId3"/>
              </a:rPr>
              <a:t>http://demo.automationtesting.in/Alerts.html</a:t>
            </a:r>
            <a:r>
              <a:rPr lang="ru-RU" sz="1300" dirty="0"/>
              <a:t> и выполняйте задание начиная с 3-го шага</a:t>
            </a:r>
            <a:endParaRPr lang="ru-RU" sz="13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Нажмите на кнопку</a:t>
            </a:r>
            <a:r>
              <a:rPr lang="en-US" sz="1400" dirty="0">
                <a:solidFill>
                  <a:schemeClr val="tx1"/>
                </a:solidFill>
              </a:rPr>
              <a:t> "</a:t>
            </a:r>
            <a:r>
              <a:rPr lang="en-US" sz="1400" dirty="0"/>
              <a:t>click the button to display an alert box:"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перед нажатием добавьте паузу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Выведите в консоль содержимое окна</a:t>
            </a:r>
            <a:r>
              <a:rPr lang="en-US" sz="1400" dirty="0">
                <a:solidFill>
                  <a:schemeClr val="tx1"/>
                </a:solidFill>
              </a:rPr>
              <a:t> alert</a:t>
            </a:r>
            <a:r>
              <a:rPr lang="ru-RU" sz="1400" dirty="0">
                <a:solidFill>
                  <a:schemeClr val="tx1"/>
                </a:solidFill>
              </a:rPr>
              <a:t> и нажмите</a:t>
            </a:r>
            <a:r>
              <a:rPr lang="en-US" sz="1400" dirty="0">
                <a:solidFill>
                  <a:schemeClr val="tx1"/>
                </a:solidFill>
              </a:rPr>
              <a:t> "OK"</a:t>
            </a:r>
          </a:p>
          <a:p>
            <a:pPr lvl="1"/>
            <a:r>
              <a:rPr lang="ru-RU" sz="1200" dirty="0">
                <a:solidFill>
                  <a:schemeClr val="tx1"/>
                </a:solidFill>
              </a:rPr>
              <a:t>Дополнительно(если получится)</a:t>
            </a:r>
            <a:r>
              <a:rPr lang="en-US" sz="1200" dirty="0">
                <a:solidFill>
                  <a:schemeClr val="tx1"/>
                </a:solidFill>
              </a:rPr>
              <a:t>: </a:t>
            </a:r>
            <a:r>
              <a:rPr lang="ru-RU" sz="1200" dirty="0">
                <a:solidFill>
                  <a:schemeClr val="tx1"/>
                </a:solidFill>
              </a:rPr>
              <a:t>добавьте тест, что содержимое равно тексту </a:t>
            </a:r>
            <a:r>
              <a:rPr lang="en-US" sz="1200" dirty="0">
                <a:solidFill>
                  <a:schemeClr val="tx1"/>
                </a:solidFill>
              </a:rPr>
              <a:t>"</a:t>
            </a:r>
            <a:r>
              <a:rPr lang="de-DE" sz="1200" dirty="0">
                <a:solidFill>
                  <a:schemeClr val="tx1"/>
                </a:solidFill>
              </a:rPr>
              <a:t>I am an alert box!</a:t>
            </a:r>
            <a:r>
              <a:rPr lang="en-US" sz="1200" dirty="0">
                <a:solidFill>
                  <a:schemeClr val="tx1"/>
                </a:solidFill>
              </a:rPr>
              <a:t>"</a:t>
            </a:r>
            <a:r>
              <a:rPr lang="ru-RU" sz="1200" dirty="0">
                <a:solidFill>
                  <a:schemeClr val="tx1"/>
                </a:solidFill>
              </a:rPr>
              <a:t> , а если не равно, тогда в консоли выводится сообщение об ошибке</a:t>
            </a:r>
          </a:p>
          <a:p>
            <a:pPr marL="342900" indent="-342900"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Получите адрес текущей ссылки</a:t>
            </a:r>
          </a:p>
          <a:p>
            <a:pPr marL="342900" indent="-342900">
              <a:buFont typeface="Arial"/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Откройте новую вкладку в браузере, введите ссылку из предыдущего шага и перейдите по ней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перед открытием добавьте паузу</a:t>
            </a:r>
            <a:endParaRPr lang="ru-RU" sz="1400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Нажмите на </a:t>
            </a:r>
            <a:r>
              <a:rPr lang="en-US" sz="1400" dirty="0">
                <a:solidFill>
                  <a:schemeClr val="tx1"/>
                </a:solidFill>
              </a:rPr>
              <a:t>"Alert with OK &amp; Cancel" -&gt; "click the button to display a confirm box"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перед нажатием добавьте паузу</a:t>
            </a:r>
            <a:endParaRPr lang="ru-RU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В модальном окне нажмите </a:t>
            </a:r>
            <a:r>
              <a:rPr lang="en-US" sz="1400" dirty="0">
                <a:solidFill>
                  <a:schemeClr val="tx1"/>
                </a:solidFill>
              </a:rPr>
              <a:t>"</a:t>
            </a:r>
            <a:r>
              <a:rPr lang="ru-RU" sz="1400" dirty="0">
                <a:solidFill>
                  <a:schemeClr val="tx1"/>
                </a:solidFill>
              </a:rPr>
              <a:t>Отмена</a:t>
            </a:r>
            <a:r>
              <a:rPr lang="en-US" sz="1400" dirty="0">
                <a:solidFill>
                  <a:schemeClr val="tx1"/>
                </a:solidFill>
              </a:rPr>
              <a:t>" </a:t>
            </a:r>
            <a:endParaRPr lang="ru-RU" sz="1400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Откройте новую вкладку в браузере, введите ссылку из шага 5 и перейдите по ней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перед открытием добавьте паузу</a:t>
            </a:r>
            <a:endParaRPr lang="en-US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Нажмите на </a:t>
            </a:r>
            <a:r>
              <a:rPr lang="en-US" sz="1400" dirty="0">
                <a:solidFill>
                  <a:schemeClr val="tx1"/>
                </a:solidFill>
              </a:rPr>
              <a:t>"Alert with Textbox"-&gt; "click the button to demonstrate the prompt box"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перед нажатием добавьте паузу</a:t>
            </a:r>
            <a:endParaRPr lang="en-US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В модальном окне, введите текст</a:t>
            </a:r>
            <a:r>
              <a:rPr lang="en-US" sz="1400" dirty="0">
                <a:solidFill>
                  <a:schemeClr val="tx1"/>
                </a:solidFill>
              </a:rPr>
              <a:t>: "</a:t>
            </a:r>
            <a:r>
              <a:rPr lang="ru-RU" sz="1400" dirty="0">
                <a:solidFill>
                  <a:schemeClr val="tx1"/>
                </a:solidFill>
              </a:rPr>
              <a:t>Ура! Задание выполнено!</a:t>
            </a:r>
            <a:r>
              <a:rPr lang="en-US" sz="1400" dirty="0">
                <a:solidFill>
                  <a:schemeClr val="tx1"/>
                </a:solidFill>
              </a:rPr>
              <a:t>" </a:t>
            </a:r>
            <a:r>
              <a:rPr lang="ru-RU" sz="1400" dirty="0">
                <a:solidFill>
                  <a:schemeClr val="tx1"/>
                </a:solidFill>
              </a:rPr>
              <a:t>и нажмите</a:t>
            </a:r>
            <a:r>
              <a:rPr lang="en-US" sz="1400" dirty="0">
                <a:solidFill>
                  <a:schemeClr val="tx1"/>
                </a:solidFill>
              </a:rPr>
              <a:t> "OK"</a:t>
            </a:r>
          </a:p>
          <a:p>
            <a:pPr marL="342900" indent="-342900">
              <a:buAutoNum type="arabicPeriod"/>
            </a:pPr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Если вдруг никак не будет получаться переключаться между окнами браузера, выполните всё задание в одном окне</a:t>
            </a:r>
          </a:p>
          <a:p>
            <a:r>
              <a:rPr lang="ru-RU" sz="1400" dirty="0">
                <a:solidFill>
                  <a:schemeClr val="tx1"/>
                </a:solidFill>
              </a:rPr>
              <a:t>Если считаете, что селектор подобран правильно и почему-то не срабатывает, используйте между командами</a:t>
            </a:r>
            <a:r>
              <a:rPr lang="en-US" sz="1400" dirty="0">
                <a:solidFill>
                  <a:schemeClr val="tx1"/>
                </a:solidFill>
              </a:rPr>
              <a:t> time.sleep(5)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Код сохраните, потребуется для теста</a:t>
            </a:r>
            <a:endParaRPr lang="en-US" sz="1400" b="1" dirty="0">
              <a:solidFill>
                <a:schemeClr val="tx1"/>
              </a:solidFill>
            </a:endParaRPr>
          </a:p>
          <a:p>
            <a:endParaRPr lang="ru-RU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975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Как устроен современны	й</a:t>
            </a:r>
            <a:r>
              <a:rPr lang="en-US" sz="4200" dirty="0"/>
              <a:t> Web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227435"/>
            <a:ext cx="10792285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Разработчики хорошо потрудились, чтобы в наше время веб-страницы выглядели красиво и быстро открывались, а переходы между страницами были практически незаметны. Страницы сайтов интерактивны и мгновенно реагируют на действия пользователя. 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Для реализации такого комфортного пользовательского опыта чаще всего используют подход </a:t>
            </a:r>
            <a:r>
              <a:rPr lang="ru-RU" sz="1600" b="1" dirty="0">
                <a:solidFill>
                  <a:schemeClr val="tx1"/>
                </a:solidFill>
              </a:rPr>
              <a:t>Single-Page Application </a:t>
            </a:r>
            <a:r>
              <a:rPr lang="ru-RU" sz="1600" dirty="0">
                <a:solidFill>
                  <a:schemeClr val="tx1"/>
                </a:solidFill>
              </a:rPr>
              <a:t>(или одностраничных приложений), что в общем случае означает наличие одной страницы на сайте. 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Содержимое страницы при этом динамически обновляется с помощью JavaScript, который незаметно обменивается с сервером информацией, например, посредством REST API.</a:t>
            </a: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В целом все довольны. Разве что создателям автотестов на интерфейсы приходится туго. Неожиданно появляющиеся или пропадающие элементы на странице, непредсказуемое время полной отрисовки страницы, изменяющийся текст в кнопках или в сообщениях веб-сайта — эти особенности работы SPA-приложений приходится учитывать в автотестах, и, стоит признать, это является одним из самых сложных и головоломных аспектов разработки автотестов на Selenium (да и в других фреймворках для написания end-to-end тестов тоже).</a:t>
            </a: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Далее мы рассмотрим подробнее самые распространенные проблемы и познакомимся со способами их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1565900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Метод</a:t>
            </a:r>
            <a:r>
              <a:rPr lang="en-US" sz="4200" dirty="0"/>
              <a:t> assert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227435"/>
            <a:ext cx="10792285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Есть ещё один способ, как можно проверить совпадение текста в элементе с ожидаемым результатом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или его состояние, это использовать </a:t>
            </a:r>
            <a:r>
              <a:rPr lang="en-US" sz="1600" b="1" dirty="0">
                <a:solidFill>
                  <a:schemeClr val="tx1"/>
                </a:solidFill>
              </a:rPr>
              <a:t>assert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Раньше, для подобных проверок, мы использовали конструкцию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…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element = driver.find_element_by_*("</a:t>
            </a:r>
            <a:r>
              <a:rPr lang="ru-RU" sz="1600" dirty="0">
                <a:solidFill>
                  <a:schemeClr val="tx1"/>
                </a:solidFill>
              </a:rPr>
              <a:t>селектор</a:t>
            </a:r>
            <a:r>
              <a:rPr lang="en-US" sz="1600" dirty="0">
                <a:solidFill>
                  <a:schemeClr val="tx1"/>
                </a:solidFill>
              </a:rPr>
              <a:t>") 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element_check = element.get_attribute("value")</a:t>
            </a: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if element_check == "</a:t>
            </a:r>
            <a:r>
              <a:rPr lang="ru-RU" sz="1600" dirty="0">
                <a:solidFill>
                  <a:schemeClr val="tx1"/>
                </a:solidFill>
              </a:rPr>
              <a:t>нужное нам значение</a:t>
            </a:r>
            <a:r>
              <a:rPr lang="en-US" sz="1600" dirty="0">
                <a:solidFill>
                  <a:schemeClr val="tx1"/>
                </a:solidFill>
              </a:rPr>
              <a:t>":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	print("</a:t>
            </a:r>
            <a:r>
              <a:rPr lang="ru-RU" sz="1600" dirty="0">
                <a:solidFill>
                  <a:schemeClr val="tx1"/>
                </a:solidFill>
              </a:rPr>
              <a:t>текст 1</a:t>
            </a:r>
            <a:r>
              <a:rPr lang="en-US" sz="1600" dirty="0">
                <a:solidFill>
                  <a:schemeClr val="tx1"/>
                </a:solidFill>
              </a:rPr>
              <a:t>…")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else: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	print("</a:t>
            </a:r>
            <a:r>
              <a:rPr lang="ru-RU" sz="1600" dirty="0">
                <a:solidFill>
                  <a:schemeClr val="tx1"/>
                </a:solidFill>
              </a:rPr>
              <a:t>текст 2</a:t>
            </a:r>
            <a:r>
              <a:rPr lang="en-US" sz="1600" dirty="0">
                <a:solidFill>
                  <a:schemeClr val="tx1"/>
                </a:solidFill>
              </a:rPr>
              <a:t>…")</a:t>
            </a: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Вместо этой конструкции, можно использовать </a:t>
            </a:r>
            <a:r>
              <a:rPr lang="en-US" sz="1600" b="1" dirty="0">
                <a:solidFill>
                  <a:schemeClr val="tx1"/>
                </a:solidFill>
              </a:rPr>
              <a:t>assert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assert element_check == "</a:t>
            </a:r>
            <a:r>
              <a:rPr lang="ru-RU" sz="1600" dirty="0">
                <a:solidFill>
                  <a:schemeClr val="tx1"/>
                </a:solidFill>
              </a:rPr>
              <a:t>нужное нам значение</a:t>
            </a:r>
            <a:r>
              <a:rPr lang="en-US" sz="1600" dirty="0">
                <a:solidFill>
                  <a:schemeClr val="tx1"/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840992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Метод</a:t>
            </a:r>
            <a:r>
              <a:rPr lang="en-US" sz="4200" dirty="0"/>
              <a:t> assert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227435"/>
            <a:ext cx="10792285" cy="511269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Отличие такого способа проверки от предыдущего в том, что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ru-RU" sz="1600" b="1" dirty="0">
                <a:solidFill>
                  <a:schemeClr val="tx1"/>
                </a:solidFill>
              </a:rPr>
              <a:t>Если содержимое не равно ожидаемому, тогда тест сразу упадёт с ошибкой в консоли и остановится на шаге проверки.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endParaRPr lang="ru-RU" sz="1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b="1" dirty="0">
                <a:solidFill>
                  <a:schemeClr val="tx1"/>
                </a:solidFill>
              </a:rPr>
              <a:t>Если содержимое равно ожидаемоу, тогда тест пройден успешно, но в консоли не будет никакого сообщения.</a:t>
            </a: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Также, мы раньше сравнивали в основном состояние элемента</a:t>
            </a:r>
            <a:r>
              <a:rPr lang="en-US" sz="1600" dirty="0">
                <a:solidFill>
                  <a:schemeClr val="tx1"/>
                </a:solidFill>
              </a:rPr>
              <a:t>(true/false/none)</a:t>
            </a:r>
            <a:r>
              <a:rPr lang="ru-RU" sz="1600" dirty="0">
                <a:solidFill>
                  <a:schemeClr val="tx1"/>
                </a:solidFill>
              </a:rPr>
              <a:t> или его значение в </a:t>
            </a:r>
            <a:r>
              <a:rPr lang="en-US" sz="1600" dirty="0">
                <a:solidFill>
                  <a:schemeClr val="tx1"/>
                </a:solidFill>
              </a:rPr>
              <a:t>value</a:t>
            </a:r>
            <a:r>
              <a:rPr lang="ru-RU" sz="1600" dirty="0">
                <a:solidFill>
                  <a:schemeClr val="tx1"/>
                </a:solidFill>
              </a:rPr>
              <a:t>, помимо этого, из элемента можно ещё извлечь текст с помощью недавно изученной команды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.text</a:t>
            </a:r>
          </a:p>
          <a:p>
            <a:pPr marL="0" indent="0">
              <a:buNone/>
            </a:pPr>
            <a:r>
              <a:rPr lang="ru-RU" sz="1600" u="sng" dirty="0">
                <a:solidFill>
                  <a:schemeClr val="tx1"/>
                </a:solidFill>
              </a:rPr>
              <a:t>Например нам нужно проверить что у элемента отображается текст</a:t>
            </a:r>
            <a:r>
              <a:rPr lang="en-US" sz="1600" u="sng" dirty="0">
                <a:solidFill>
                  <a:schemeClr val="tx1"/>
                </a:solidFill>
              </a:rPr>
              <a:t> "Bar doggo":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&lt;div class="card-body"&gt;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	&lt;p class="card-text second"&gt;Bar doggo&lt;/p&gt;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	&lt;div class="d-flex justify-content-between align-items-center"&gt;&lt;/div&gt;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&lt;/div&gt;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element = driver.find_element_by_css_selector(".card-text.second")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нашли элемент по составному селектору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element_get_text = element.text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			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получили текст элемента с помощью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.text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assert element_get_text == "Bar doggo"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	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добавили проверку что содержимое равно ожидаемому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068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Метод</a:t>
            </a:r>
            <a:r>
              <a:rPr lang="en-US" sz="4200" dirty="0"/>
              <a:t> assert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227435"/>
            <a:ext cx="10792285" cy="511269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500" u="sng" dirty="0">
                <a:solidFill>
                  <a:schemeClr val="tx1"/>
                </a:solidFill>
              </a:rPr>
              <a:t>Можно</a:t>
            </a:r>
            <a:r>
              <a:rPr lang="en-US" sz="1500" u="sng" dirty="0">
                <a:solidFill>
                  <a:schemeClr val="tx1"/>
                </a:solidFill>
              </a:rPr>
              <a:t> </a:t>
            </a:r>
            <a:r>
              <a:rPr lang="ru-RU" sz="1500" u="sng" dirty="0">
                <a:solidFill>
                  <a:schemeClr val="tx1"/>
                </a:solidFill>
              </a:rPr>
              <a:t>проверить вхождение слова в общем тексте</a:t>
            </a:r>
            <a:r>
              <a:rPr lang="en-US" sz="1500" u="sng" dirty="0">
                <a:solidFill>
                  <a:schemeClr val="tx1"/>
                </a:solidFill>
              </a:rPr>
              <a:t>:</a:t>
            </a:r>
            <a:endParaRPr lang="ru-RU" sz="1500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500" dirty="0">
                <a:solidFill>
                  <a:schemeClr val="tx1"/>
                </a:solidFill>
              </a:rPr>
              <a:t>&lt;div class=</a:t>
            </a:r>
            <a:r>
              <a:rPr lang="en-US" sz="1500" dirty="0">
                <a:solidFill>
                  <a:schemeClr val="tx1"/>
                </a:solidFill>
              </a:rPr>
              <a:t>"entry-content</a:t>
            </a:r>
            <a:r>
              <a:rPr lang="ru-RU" sz="1500" dirty="0">
                <a:solidFill>
                  <a:schemeClr val="tx1"/>
                </a:solidFill>
              </a:rPr>
              <a:t>"&gt;</a:t>
            </a:r>
          </a:p>
          <a:p>
            <a:pPr marL="0" indent="0">
              <a:buNone/>
            </a:pPr>
            <a:r>
              <a:rPr lang="ru-RU" sz="1500" dirty="0">
                <a:solidFill>
                  <a:schemeClr val="tx1"/>
                </a:solidFill>
              </a:rPr>
              <a:t>   &lt;p&gt;</a:t>
            </a:r>
            <a:r>
              <a:rPr lang="en-US" sz="1500" dirty="0">
                <a:solidFill>
                  <a:schemeClr val="tx1"/>
                </a:solidFill>
              </a:rPr>
              <a:t>A</a:t>
            </a:r>
            <a:r>
              <a:rPr lang="ru-RU" sz="1500" dirty="0">
                <a:solidFill>
                  <a:schemeClr val="tx1"/>
                </a:solidFill>
              </a:rPr>
              <a:t>ssertion - утверждение. По своей сути assert напоминает констатацию факта, расположенную посреди кода программы. В случаях, когда произнесенное утверждение не верно, assert возбуждает исключение. Такое поведение позволяет контролировать выполнение программы в строго определенном русле. Отличие assert от условий заключается в том, что программа с assert не приемлет иного хода событий, считая дальнейшее выполнение программы или функции бессмысленным.&lt;/p&gt;</a:t>
            </a:r>
          </a:p>
          <a:p>
            <a:pPr marL="0" indent="0">
              <a:buNone/>
            </a:pPr>
            <a:r>
              <a:rPr lang="ru-RU" sz="1500" dirty="0">
                <a:solidFill>
                  <a:schemeClr val="tx1"/>
                </a:solidFill>
              </a:rPr>
              <a:t>&lt;/div&gt;</a:t>
            </a:r>
            <a:endParaRPr lang="en-US" sz="15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5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element = driver.find_element_by_css_selector(".entry-content &gt; p") </a:t>
            </a:r>
            <a:r>
              <a:rPr lang="ru-RU" sz="1500" dirty="0">
                <a:solidFill>
                  <a:schemeClr val="tx1"/>
                </a:solidFill>
              </a:rPr>
              <a:t>	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 нашли элемент по составному селектору</a:t>
            </a:r>
            <a:endParaRPr lang="en-US" sz="15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element_get_text = element.text</a:t>
            </a:r>
            <a:r>
              <a:rPr lang="ru-RU" sz="1500" dirty="0">
                <a:solidFill>
                  <a:schemeClr val="tx1"/>
                </a:solidFill>
              </a:rPr>
              <a:t> </a:t>
            </a:r>
            <a:r>
              <a:rPr lang="en-US" sz="1500" dirty="0">
                <a:solidFill>
                  <a:schemeClr val="tx1"/>
                </a:solidFill>
              </a:rPr>
              <a:t>			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 получили текст элемента с помощью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</a:rPr>
              <a:t>.text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assert "</a:t>
            </a:r>
            <a:r>
              <a:rPr lang="ru-RU" sz="1500" dirty="0">
                <a:solidFill>
                  <a:schemeClr val="tx1"/>
                </a:solidFill>
              </a:rPr>
              <a:t>напоминает</a:t>
            </a:r>
            <a:r>
              <a:rPr lang="en-US" sz="1500" dirty="0">
                <a:solidFill>
                  <a:schemeClr val="tx1"/>
                </a:solidFill>
              </a:rPr>
              <a:t>"</a:t>
            </a:r>
            <a:r>
              <a:rPr lang="ru-RU" sz="1500" dirty="0">
                <a:solidFill>
                  <a:schemeClr val="tx1"/>
                </a:solidFill>
              </a:rPr>
              <a:t> </a:t>
            </a:r>
            <a:r>
              <a:rPr lang="en-US" sz="1500" dirty="0">
                <a:solidFill>
                  <a:schemeClr val="tx1"/>
                </a:solidFill>
              </a:rPr>
              <a:t>in</a:t>
            </a:r>
            <a:r>
              <a:rPr lang="ru-RU" sz="1500" dirty="0">
                <a:solidFill>
                  <a:schemeClr val="tx1"/>
                </a:solidFill>
              </a:rPr>
              <a:t> </a:t>
            </a:r>
            <a:r>
              <a:rPr lang="en-US" sz="1500" dirty="0">
                <a:solidFill>
                  <a:schemeClr val="tx1"/>
                </a:solidFill>
              </a:rPr>
              <a:t>element_get_text 	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добавили проверку что слово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 “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напоминает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”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 есть в тексте</a:t>
            </a:r>
          </a:p>
          <a:p>
            <a:pPr marL="0" indent="0">
              <a:buNone/>
            </a:pPr>
            <a:endParaRPr lang="en-US" sz="15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1500" u="sng" dirty="0">
                <a:solidFill>
                  <a:schemeClr val="tx1"/>
                </a:solidFill>
              </a:rPr>
              <a:t>Можно</a:t>
            </a:r>
            <a:r>
              <a:rPr lang="en-US" sz="1500" u="sng" dirty="0">
                <a:solidFill>
                  <a:schemeClr val="tx1"/>
                </a:solidFill>
              </a:rPr>
              <a:t> </a:t>
            </a:r>
            <a:r>
              <a:rPr lang="ru-RU" sz="1500" u="sng" dirty="0">
                <a:solidFill>
                  <a:schemeClr val="tx1"/>
                </a:solidFill>
              </a:rPr>
              <a:t>проверить состояние элемента</a:t>
            </a:r>
            <a:r>
              <a:rPr lang="en-US" sz="1500" u="sng" dirty="0">
                <a:solidFill>
                  <a:schemeClr val="tx1"/>
                </a:solidFill>
              </a:rPr>
              <a:t>(</a:t>
            </a:r>
            <a:r>
              <a:rPr lang="ru-RU" sz="1500" u="sng" dirty="0">
                <a:solidFill>
                  <a:schemeClr val="tx1"/>
                </a:solidFill>
              </a:rPr>
              <a:t>проверим, отмечен ли чекбокс </a:t>
            </a:r>
            <a:r>
              <a:rPr lang="en-US" sz="1500" u="sng" dirty="0">
                <a:solidFill>
                  <a:schemeClr val="tx1"/>
                </a:solidFill>
              </a:rPr>
              <a:t>"All"</a:t>
            </a:r>
            <a:r>
              <a:rPr lang="ru-RU" sz="1500" u="sng" dirty="0">
                <a:solidFill>
                  <a:schemeClr val="tx1"/>
                </a:solidFill>
              </a:rPr>
              <a:t>)</a:t>
            </a:r>
            <a:r>
              <a:rPr lang="en-US" sz="1500" u="sng" dirty="0">
                <a:solidFill>
                  <a:schemeClr val="tx1"/>
                </a:solidFill>
              </a:rPr>
              <a:t>:</a:t>
            </a:r>
            <a:endParaRPr lang="ru-RU" sz="1500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&lt;input name="select_all" type="checkbox" id="select-all" checked="checked"&gt;</a:t>
            </a:r>
          </a:p>
          <a:p>
            <a:pPr marL="0" indent="0">
              <a:buNone/>
            </a:pPr>
            <a:endParaRPr lang="en-US" sz="15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all_checkbox = driver.find_element_by_id("select-all") </a:t>
            </a:r>
            <a:r>
              <a:rPr lang="ru-RU" sz="1500" dirty="0">
                <a:solidFill>
                  <a:schemeClr val="tx1"/>
                </a:solidFill>
              </a:rPr>
              <a:t>	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 нашли элемент по составному селектору</a:t>
            </a:r>
            <a:endParaRPr lang="en-US" sz="15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all_checkbox_checked = all_checkbox_checked.get_attribute("checked") </a:t>
            </a:r>
            <a:r>
              <a:rPr lang="ru-RU" sz="1500" dirty="0">
                <a:solidFill>
                  <a:schemeClr val="tx1"/>
                </a:solidFill>
              </a:rPr>
              <a:t>	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 получили аттрибут 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"checked"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assert all_checkbox_checked is not None</a:t>
            </a:r>
            <a:r>
              <a:rPr lang="ru-RU" sz="1500" dirty="0">
                <a:solidFill>
                  <a:schemeClr val="tx1"/>
                </a:solidFill>
              </a:rPr>
              <a:t> 	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добавили проверку что чекбокс не пустой, то есть отмечен</a:t>
            </a:r>
            <a:endParaRPr lang="en-US" sz="15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0575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Как работают методы get и find_element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227435"/>
            <a:ext cx="10792285" cy="511269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Разберем еще один простой тест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ru-RU" sz="1600" dirty="0">
                <a:solidFill>
                  <a:schemeClr val="tx1"/>
                </a:solidFill>
              </a:rPr>
              <a:t>проверяющий текст в модальном окне.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Тестовый сценарий выглядит так: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Открыть страницу </a:t>
            </a:r>
            <a:r>
              <a:rPr lang="en-US" sz="1600" dirty="0">
                <a:solidFill>
                  <a:schemeClr val="tx1"/>
                </a:solidFill>
              </a:rPr>
              <a:t>http://demo.automationtesting.in/Loader.html   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Нажать на кнопку </a:t>
            </a:r>
            <a:r>
              <a:rPr lang="en-US" sz="1600" dirty="0">
                <a:solidFill>
                  <a:schemeClr val="tx1"/>
                </a:solidFill>
              </a:rPr>
              <a:t>"Run"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Проверить, что появилось модальное окно с текстом </a:t>
            </a:r>
            <a:r>
              <a:rPr lang="en-US" sz="1600" dirty="0">
                <a:solidFill>
                  <a:schemeClr val="tx1"/>
                </a:solidFill>
              </a:rPr>
              <a:t>"Modal title"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Нажать на кнопку</a:t>
            </a:r>
            <a:r>
              <a:rPr lang="en-US" sz="1600" dirty="0">
                <a:solidFill>
                  <a:schemeClr val="tx1"/>
                </a:solidFill>
              </a:rPr>
              <a:t> "Save Changes"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Для открытия страницы мы используем метод </a:t>
            </a:r>
            <a:r>
              <a:rPr lang="en-US" sz="1600" dirty="0">
                <a:solidFill>
                  <a:schemeClr val="tx1"/>
                </a:solidFill>
              </a:rPr>
              <a:t>get, </a:t>
            </a:r>
            <a:r>
              <a:rPr lang="ru-RU" sz="1600" dirty="0">
                <a:solidFill>
                  <a:schemeClr val="tx1"/>
                </a:solidFill>
              </a:rPr>
              <a:t>затем находим нужную кнопку с помощью одного из методов </a:t>
            </a:r>
            <a:r>
              <a:rPr lang="en-US" sz="1600" dirty="0">
                <a:solidFill>
                  <a:schemeClr val="tx1"/>
                </a:solidFill>
              </a:rPr>
              <a:t>find_element_by_ </a:t>
            </a:r>
            <a:r>
              <a:rPr lang="ru-RU" sz="1600" dirty="0">
                <a:solidFill>
                  <a:schemeClr val="tx1"/>
                </a:solidFill>
              </a:rPr>
              <a:t>и нажимаем на нее с помощью метода </a:t>
            </a:r>
            <a:r>
              <a:rPr lang="en-US" sz="1600" dirty="0">
                <a:solidFill>
                  <a:schemeClr val="tx1"/>
                </a:solidFill>
              </a:rPr>
              <a:t>click. </a:t>
            </a:r>
            <a:r>
              <a:rPr lang="ru-RU" sz="1600" dirty="0">
                <a:solidFill>
                  <a:schemeClr val="tx1"/>
                </a:solidFill>
              </a:rPr>
              <a:t>Далее находим новый элемент с текстом и проверяем соответствие текста на странице ожидаемому тексту.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Если написать тест без ожиданий, то он будет постоянно падать с сообщением </a:t>
            </a:r>
            <a:r>
              <a:rPr lang="ru-RU" sz="1600" b="1" dirty="0">
                <a:solidFill>
                  <a:schemeClr val="tx1"/>
                </a:solidFill>
              </a:rPr>
              <a:t>NoSuchElementExceptio</a:t>
            </a:r>
            <a:r>
              <a:rPr lang="en-US" sz="1600" b="1" dirty="0">
                <a:solidFill>
                  <a:schemeClr val="tx1"/>
                </a:solidFill>
              </a:rPr>
              <a:t>n</a:t>
            </a:r>
            <a:r>
              <a:rPr lang="ru-RU" sz="1600" dirty="0">
                <a:solidFill>
                  <a:schemeClr val="tx1"/>
                </a:solidFill>
              </a:rPr>
              <a:t>. Почему так происходит?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Команды в Python выполняются последовательно. Пока не завершится команда get, не начнется поиск кнопки. Пока кнопка не найдена, не будет сделан клик по кнопке и так далее.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Метод get дожидается информации от браузера о том, что страница загружена, и только после этого наш тест переходит к поиску кнопки. Если страница интерактивная, то браузер будет считать, что страница загружена, при этом продолжат выполняться загруженные браузером скрипты. Скрипт может управлять появлением окна на странице и показывать его, например, с задержкой, чтобы окно красиво и медленно возникало на странице. В этом случае наш тест упадет с уже известной нам ошибкой NoSuchElementException, так как в момент поиска окна, элемент еще не отображается на странице. На данной странице пауза перед появлением окна установлена от 5 до 20 секунд, метод find_element_by_id() сделает только одну попытку найти элемент и в случае неудачи уронит наш тест.</a:t>
            </a: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762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Как работают методы get и find_element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227435"/>
            <a:ext cx="10792285" cy="511269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Давайте быстрее это починим с помощью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  <a:r>
              <a:rPr lang="ru-RU" sz="1600" dirty="0">
                <a:solidFill>
                  <a:schemeClr val="tx1"/>
                </a:solidFill>
              </a:rPr>
              <a:t> time.sleep()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Теперь, когда мы уже знаем, что кнопка появляется с задержкой, мы можем добавить паузу до начала поиска элемента. </a:t>
            </a:r>
          </a:p>
          <a:p>
            <a:pPr marL="0" indent="0">
              <a:buNone/>
            </a:pPr>
            <a:r>
              <a:rPr lang="ru-RU" sz="1600" u="sng" dirty="0">
                <a:solidFill>
                  <a:schemeClr val="tx1"/>
                </a:solidFill>
              </a:rPr>
              <a:t>Примерный код выглядел бы так</a:t>
            </a:r>
            <a:r>
              <a:rPr lang="en-US" sz="1600" u="sng" dirty="0">
                <a:solidFill>
                  <a:schemeClr val="tx1"/>
                </a:solidFill>
              </a:rPr>
              <a:t>:</a:t>
            </a:r>
            <a:endParaRPr lang="ru-RU" sz="1600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...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#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импорт модулей, инциация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webdriver</a:t>
            </a:r>
            <a:endParaRPr lang="ru-RU" sz="16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driver.get("http://demo.automationtesting.in/Loader.html")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run_btn = driver_find_element_by*("</a:t>
            </a:r>
            <a:r>
              <a:rPr lang="ru-RU" sz="1600" dirty="0">
                <a:solidFill>
                  <a:schemeClr val="tx1"/>
                </a:solidFill>
              </a:rPr>
              <a:t>селектор</a:t>
            </a:r>
            <a:r>
              <a:rPr lang="en-US" sz="1600" dirty="0">
                <a:solidFill>
                  <a:schemeClr val="tx1"/>
                </a:solidFill>
              </a:rPr>
              <a:t>"</a:t>
            </a:r>
            <a:r>
              <a:rPr lang="ru-RU" sz="1600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run_btn.click()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time.sleep(20)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так как окно с текстом появляется от 5 до 20 секунд, то придётся поставить ожидание 20, чтобы тест не падал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modal_window = driver_find_element_by*("</a:t>
            </a:r>
            <a:r>
              <a:rPr lang="ru-RU" sz="1600" dirty="0">
                <a:solidFill>
                  <a:schemeClr val="tx1"/>
                </a:solidFill>
              </a:rPr>
              <a:t>селектор</a:t>
            </a:r>
            <a:r>
              <a:rPr lang="en-US" sz="1600" dirty="0">
                <a:solidFill>
                  <a:schemeClr val="tx1"/>
                </a:solidFill>
              </a:rPr>
              <a:t>"</a:t>
            </a:r>
            <a:r>
              <a:rPr lang="ru-RU" sz="1600" dirty="0">
                <a:solidFill>
                  <a:schemeClr val="tx1"/>
                </a:solidFill>
              </a:rPr>
              <a:t>)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modal_window_text = modal_window.text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assert "Modal title" in modal_window_text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save_changes_btn = driver_find_element_by*("</a:t>
            </a:r>
            <a:r>
              <a:rPr lang="ru-RU" sz="1600" dirty="0">
                <a:solidFill>
                  <a:schemeClr val="tx1"/>
                </a:solidFill>
              </a:rPr>
              <a:t>селектор</a:t>
            </a:r>
            <a:r>
              <a:rPr lang="en-US" sz="1600" dirty="0">
                <a:solidFill>
                  <a:schemeClr val="tx1"/>
                </a:solidFill>
              </a:rPr>
              <a:t>"</a:t>
            </a:r>
            <a:r>
              <a:rPr lang="ru-RU" sz="1600" dirty="0">
                <a:solidFill>
                  <a:schemeClr val="tx1"/>
                </a:solidFill>
              </a:rPr>
              <a:t>)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save_changes_btn.click()</a:t>
            </a: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Теперь тест проходит. Но что если кнопка</a:t>
            </a:r>
            <a:r>
              <a:rPr lang="en-US" sz="1600" dirty="0">
                <a:solidFill>
                  <a:schemeClr val="tx1"/>
                </a:solidFill>
              </a:rPr>
              <a:t> “Save Changes"</a:t>
            </a:r>
            <a:r>
              <a:rPr lang="ru-RU" sz="1600" dirty="0">
                <a:solidFill>
                  <a:schemeClr val="tx1"/>
                </a:solidFill>
              </a:rPr>
              <a:t> тожен будет появляться с задержкой? Добавить еще один time.sleep() перед поиском элемента? А если изменится время задержки при появлении кнопки? Увеличим длительность паузы? А еще на разных машинах с разной скоростью интернета кнопка может появляться через разные промежутки времени. Можно перед каждым действием добавить задержку, но тогда значительную часть времени прогона тестов будут занимать бесполезные ожидания, при этом с увеличением количества тестов эта проблема будет только расти.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747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200" dirty="0"/>
              <a:t>Selenium Waits (Implicit Waits)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227435"/>
            <a:ext cx="10792285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u="sng" dirty="0">
                <a:solidFill>
                  <a:schemeClr val="tx1"/>
                </a:solidFill>
              </a:rPr>
              <a:t>Есть способы получше: </a:t>
            </a:r>
            <a:r>
              <a:rPr lang="ru-RU" sz="1600" b="1" u="sng" dirty="0">
                <a:solidFill>
                  <a:schemeClr val="tx1"/>
                </a:solidFill>
              </a:rPr>
              <a:t>Selenium Waits (Implicit Waits)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Надеемся, вы поняли, что решение с time.sleep() плохое: оно не масштабируемое и трудно поддерживаемое.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Идеальное решение могло бы быть таким: нам всё равно надо избежать ложного падения тестов из-за асинхронной работы скриптов или задержек от сервера, поэтому мы будем ждать появление элемента на странице в течение заданного количества времени (например, 5 секунд). Проверять наличие элемента будем каждые </a:t>
            </a:r>
            <a:r>
              <a:rPr lang="en-US" sz="1600" dirty="0">
                <a:solidFill>
                  <a:schemeClr val="tx1"/>
                </a:solidFill>
              </a:rPr>
              <a:t>0,5 </a:t>
            </a:r>
            <a:r>
              <a:rPr lang="ru-RU" sz="1600" dirty="0">
                <a:solidFill>
                  <a:schemeClr val="tx1"/>
                </a:solidFill>
              </a:rPr>
              <a:t>секунд. Как только элемент будет найден, мы сразу перейдем к следующему шагу в тесте. 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Таким образом, мы сможем получить нужный элемент в идеальном случае сразу, в худшем случае за 5 секунд.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В Selenium WebDriver есть специальный способ организации такого ожидания, который позволяет задать ожидание при инициализации драйвера, чтобы применить его ко всем тестам. Ожидание называется </a:t>
            </a:r>
            <a:r>
              <a:rPr lang="ru-RU" sz="1600" b="1" dirty="0">
                <a:solidFill>
                  <a:schemeClr val="tx1"/>
                </a:solidFill>
              </a:rPr>
              <a:t>неявным (Implicit wait)</a:t>
            </a:r>
            <a:r>
              <a:rPr lang="ru-RU" sz="1600" dirty="0">
                <a:solidFill>
                  <a:schemeClr val="tx1"/>
                </a:solidFill>
              </a:rPr>
              <a:t>, так как его не надо явно указывать каждый раз, когда мы выполняем поиск элементов, оно автоматически будет применяться при вызове каждой последующей команды.</a:t>
            </a:r>
          </a:p>
        </p:txBody>
      </p:sp>
    </p:spTree>
    <p:extLst>
      <p:ext uri="{BB962C8B-B14F-4D97-AF65-F5344CB8AC3E}">
        <p14:creationId xmlns:p14="http://schemas.microsoft.com/office/powerpoint/2010/main" val="15932460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200" dirty="0"/>
              <a:t>Selenium Waits (Implicit Waits)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227435"/>
            <a:ext cx="10792285" cy="511269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Улучшим наш тест с помощью неявных ожиданий. Для этого нам нужно будет </a:t>
            </a:r>
            <a:r>
              <a:rPr lang="ru-RU" sz="1600" b="1" dirty="0">
                <a:solidFill>
                  <a:schemeClr val="tx1"/>
                </a:solidFill>
              </a:rPr>
              <a:t>убрать time.sleep() </a:t>
            </a:r>
            <a:r>
              <a:rPr lang="ru-RU" sz="1600" dirty="0">
                <a:solidFill>
                  <a:schemeClr val="tx1"/>
                </a:solidFill>
              </a:rPr>
              <a:t>и добавить одну строчку с методом </a:t>
            </a:r>
            <a:r>
              <a:rPr lang="ru-RU" sz="1600" b="1" dirty="0">
                <a:solidFill>
                  <a:schemeClr val="tx1"/>
                </a:solidFill>
              </a:rPr>
              <a:t>implicitly wait</a:t>
            </a:r>
            <a:r>
              <a:rPr lang="ru-RU" sz="1600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...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#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импорт модулей, инциация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webdriver</a:t>
            </a:r>
            <a:endParaRPr lang="ru-RU" sz="16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driver</a:t>
            </a:r>
            <a:r>
              <a:rPr lang="ru-RU" sz="1600" b="1" dirty="0">
                <a:solidFill>
                  <a:schemeClr val="tx1"/>
                </a:solidFill>
              </a:rPr>
              <a:t>.implicitly_wait(5)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# говорим WebDriver искать каждый элемент в течение 5 секунд</a:t>
            </a: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driver.get("http://demo.automationtesting.in/Loader.html")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run_btn = driver_find_element_by*("</a:t>
            </a:r>
            <a:r>
              <a:rPr lang="ru-RU" sz="1600" dirty="0">
                <a:solidFill>
                  <a:schemeClr val="tx1"/>
                </a:solidFill>
              </a:rPr>
              <a:t>селектор</a:t>
            </a:r>
            <a:r>
              <a:rPr lang="en-US" sz="1600" dirty="0">
                <a:solidFill>
                  <a:schemeClr val="tx1"/>
                </a:solidFill>
              </a:rPr>
              <a:t>"</a:t>
            </a:r>
            <a:r>
              <a:rPr lang="ru-RU" sz="1600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run_btn.click()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modal_window = driver_find_element_by*("</a:t>
            </a:r>
            <a:r>
              <a:rPr lang="ru-RU" sz="1600" dirty="0">
                <a:solidFill>
                  <a:schemeClr val="tx1"/>
                </a:solidFill>
              </a:rPr>
              <a:t>селектор</a:t>
            </a:r>
            <a:r>
              <a:rPr lang="en-US" sz="1600" dirty="0">
                <a:solidFill>
                  <a:schemeClr val="tx1"/>
                </a:solidFill>
              </a:rPr>
              <a:t>"</a:t>
            </a:r>
            <a:r>
              <a:rPr lang="ru-RU" sz="1600" dirty="0">
                <a:solidFill>
                  <a:schemeClr val="tx1"/>
                </a:solidFill>
              </a:rPr>
              <a:t>)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modal_window_text = modal_window.text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assert "Modal title" in modal_window_text</a:t>
            </a: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save_changes_btn = driver_find_element_by*("</a:t>
            </a:r>
            <a:r>
              <a:rPr lang="ru-RU" sz="1600" dirty="0">
                <a:solidFill>
                  <a:schemeClr val="tx1"/>
                </a:solidFill>
              </a:rPr>
              <a:t>селектор</a:t>
            </a:r>
            <a:r>
              <a:rPr lang="en-US" sz="1600" dirty="0">
                <a:solidFill>
                  <a:schemeClr val="tx1"/>
                </a:solidFill>
              </a:rPr>
              <a:t>"</a:t>
            </a:r>
            <a:r>
              <a:rPr lang="ru-RU" sz="1600" dirty="0">
                <a:solidFill>
                  <a:schemeClr val="tx1"/>
                </a:solidFill>
              </a:rPr>
              <a:t>)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save_changes_btn.click()</a:t>
            </a: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Теперь мы можем быть уверены, что при небольших задержках в работе сайта наши тесты продолжат работать стабильно. На каждый вызов команды </a:t>
            </a:r>
            <a:r>
              <a:rPr lang="ru-RU" sz="1600" b="1" dirty="0">
                <a:solidFill>
                  <a:schemeClr val="tx1"/>
                </a:solidFill>
              </a:rPr>
              <a:t>find_element </a:t>
            </a:r>
            <a:r>
              <a:rPr lang="ru-RU" sz="1600" dirty="0">
                <a:solidFill>
                  <a:schemeClr val="tx1"/>
                </a:solidFill>
              </a:rPr>
              <a:t>WebDriver будет ждать 5 секунд до появления элемента на странице прежде, чем выбросить исключение </a:t>
            </a:r>
            <a:r>
              <a:rPr lang="ru-RU" sz="1600" b="1" dirty="0">
                <a:solidFill>
                  <a:schemeClr val="tx1"/>
                </a:solidFill>
              </a:rPr>
              <a:t>NoSuchElementException</a:t>
            </a:r>
            <a:r>
              <a:rPr lang="ru-RU" sz="1600" dirty="0">
                <a:solidFill>
                  <a:schemeClr val="tx1"/>
                </a:solidFill>
              </a:rPr>
              <a:t>.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4883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200" dirty="0"/>
              <a:t>Exceptions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227435"/>
            <a:ext cx="1088402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Теперь мы знаем, как настроить ожидание поиска элемента. </a:t>
            </a:r>
            <a:r>
              <a:rPr lang="ru-RU" sz="1600" dirty="0"/>
              <a:t>Во время поиска WebDriver каждые 0.5 секунды проверяет, появился ли нужный элемент в DOM-модели браузера (Document Object Model — «объектная модель документа», интерфейс для доступа к HTML-содержимому сайта)</a:t>
            </a:r>
            <a:r>
              <a:rPr lang="ru-RU" sz="1600" dirty="0">
                <a:solidFill>
                  <a:schemeClr val="tx1"/>
                </a:solidFill>
              </a:rPr>
              <a:t>. Если произойдет ошибка, то WebDriver выбросит одно из следующих исключений (</a:t>
            </a:r>
            <a:r>
              <a:rPr lang="ru-RU" sz="1600" b="1" dirty="0">
                <a:solidFill>
                  <a:schemeClr val="tx1"/>
                </a:solidFill>
              </a:rPr>
              <a:t>exceptions</a:t>
            </a:r>
            <a:r>
              <a:rPr lang="ru-RU" sz="1600" dirty="0">
                <a:solidFill>
                  <a:schemeClr val="tx1"/>
                </a:solidFill>
              </a:rPr>
              <a:t>):</a:t>
            </a: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r>
              <a:rPr lang="ru-RU" sz="1600" dirty="0">
                <a:solidFill>
                  <a:schemeClr val="tx1"/>
                </a:solidFill>
              </a:rPr>
              <a:t>Если </a:t>
            </a:r>
            <a:r>
              <a:rPr lang="ru-RU" sz="1600" b="1" dirty="0">
                <a:solidFill>
                  <a:schemeClr val="tx1"/>
                </a:solidFill>
              </a:rPr>
              <a:t>элемент не был найден </a:t>
            </a:r>
            <a:r>
              <a:rPr lang="ru-RU" sz="1600" dirty="0">
                <a:solidFill>
                  <a:schemeClr val="tx1"/>
                </a:solidFill>
              </a:rPr>
              <a:t>за отведенное время, то мы получим </a:t>
            </a:r>
            <a:r>
              <a:rPr lang="ru-RU" sz="1600" b="1" dirty="0">
                <a:solidFill>
                  <a:schemeClr val="tx1"/>
                </a:solidFill>
              </a:rPr>
              <a:t>NoSuchElementException</a:t>
            </a:r>
            <a:r>
              <a:rPr lang="ru-RU" sz="1600" dirty="0">
                <a:solidFill>
                  <a:schemeClr val="tx1"/>
                </a:solidFill>
              </a:rPr>
              <a:t>.</a:t>
            </a:r>
          </a:p>
          <a:p>
            <a:r>
              <a:rPr lang="ru-RU" sz="1600" dirty="0">
                <a:solidFill>
                  <a:schemeClr val="tx1"/>
                </a:solidFill>
              </a:rPr>
              <a:t>Если элемент был найден в момент поиска, но при последующем обращении к элементу DOM изменился, то получим </a:t>
            </a:r>
            <a:r>
              <a:rPr lang="ru-RU" sz="1600" b="1" dirty="0">
                <a:solidFill>
                  <a:schemeClr val="tx1"/>
                </a:solidFill>
              </a:rPr>
              <a:t>StaleElementReferenceException</a:t>
            </a:r>
            <a:r>
              <a:rPr lang="ru-RU" sz="1600" dirty="0">
                <a:solidFill>
                  <a:schemeClr val="tx1"/>
                </a:solidFill>
              </a:rPr>
              <a:t>. </a:t>
            </a:r>
          </a:p>
          <a:p>
            <a:pPr lvl="1"/>
            <a:r>
              <a:rPr lang="ru-RU" sz="1200" dirty="0">
                <a:solidFill>
                  <a:schemeClr val="tx1"/>
                </a:solidFill>
              </a:rPr>
              <a:t>Например, мы нашли кнопку и через какое-то время решили на неё нажать. Если кнопка за это время была скрыта скриптом, то нажать на неё уже не получится — элемент "устарел" (stale) и мы увидим исключение.</a:t>
            </a:r>
          </a:p>
          <a:p>
            <a:r>
              <a:rPr lang="ru-RU" sz="1600" dirty="0">
                <a:solidFill>
                  <a:schemeClr val="tx1"/>
                </a:solidFill>
              </a:rPr>
              <a:t>Если элемент был найден в момент поиска, но сам элемент невидим (например, имеет нулевые размеры), и реальный пользователь не смог бы с ним взаимодействовать, то получим </a:t>
            </a:r>
            <a:r>
              <a:rPr lang="ru-RU" sz="1600" b="1" dirty="0">
                <a:solidFill>
                  <a:schemeClr val="tx1"/>
                </a:solidFill>
              </a:rPr>
              <a:t>ElementNotVisibleException</a:t>
            </a:r>
            <a:r>
              <a:rPr lang="ru-RU" sz="16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Знание причин появления исключений помогает отлаживать тесты и понимать, где находится баг в случае его возникновения.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194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/>
              <a:t>Explicit Waits (WebDriverWait и expected_conditions)</a:t>
            </a:r>
            <a:endParaRPr lang="ru-R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183045"/>
            <a:ext cx="10792285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В предыдущем шаге мы решили проблему с ожиданием элементов на странице. Однако методы find_element проверяют только то, что элемент появился на странице. В то же время элемент может иметь дополнительные свойства, которые могут быть важны для наших тестов. Рассмотрим пример с кнопкой, которая отправляет данные:</a:t>
            </a:r>
          </a:p>
          <a:p>
            <a:r>
              <a:rPr lang="ru-RU" sz="1600" dirty="0">
                <a:solidFill>
                  <a:schemeClr val="tx1"/>
                </a:solidFill>
              </a:rPr>
              <a:t>Кнопка может быть неактивной, то есть её нельзя кликнуть;</a:t>
            </a:r>
          </a:p>
          <a:p>
            <a:r>
              <a:rPr lang="ru-RU" sz="1600" dirty="0">
                <a:solidFill>
                  <a:schemeClr val="tx1"/>
                </a:solidFill>
              </a:rPr>
              <a:t>Кнопка может содержать текст, который меняется в зависимости от действий пользователя. Например, текст </a:t>
            </a:r>
            <a:r>
              <a:rPr lang="en-US" sz="1600" dirty="0">
                <a:solidFill>
                  <a:schemeClr val="tx1"/>
                </a:solidFill>
              </a:rPr>
              <a:t>"</a:t>
            </a:r>
            <a:r>
              <a:rPr lang="ru-RU" sz="1600" dirty="0">
                <a:solidFill>
                  <a:schemeClr val="tx1"/>
                </a:solidFill>
              </a:rPr>
              <a:t>Редактировать" после нажатия кнопки поменяется на </a:t>
            </a:r>
            <a:r>
              <a:rPr lang="en-US" sz="1600" dirty="0">
                <a:solidFill>
                  <a:schemeClr val="tx1"/>
                </a:solidFill>
              </a:rPr>
              <a:t>"</a:t>
            </a:r>
            <a:r>
              <a:rPr lang="ru-RU" sz="1600" dirty="0">
                <a:solidFill>
                  <a:schemeClr val="tx1"/>
                </a:solidFill>
              </a:rPr>
              <a:t>Сохранить изменения";</a:t>
            </a:r>
          </a:p>
          <a:p>
            <a:r>
              <a:rPr lang="ru-RU" sz="1600" dirty="0">
                <a:solidFill>
                  <a:schemeClr val="tx1"/>
                </a:solidFill>
              </a:rPr>
              <a:t>Кнопка может быть перекрыта каким-то другим элементом или быть невидимой.</a:t>
            </a: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Если мы хотим в тесте кликнуть на кнопку, а она в этот момент неактивна, то WebDriver все равно проэмулирует действие нажатия на кнопку, но данные не будут отправлены.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WebDriver</a:t>
            </a:r>
            <a:r>
              <a:rPr lang="ru-RU" sz="1600" dirty="0">
                <a:solidFill>
                  <a:schemeClr val="tx1"/>
                </a:solidFill>
              </a:rPr>
              <a:t> находит и взаимодействует с элементами с очень большой скоростью, поэтому часто нужны ожидания, чтобы элементы прогрузились, стали активными и т.д. Неактивная кнопка в момент загрузки страницы — обычное дело для реального сайта.</a:t>
            </a:r>
          </a:p>
          <a:p>
            <a:pPr marL="0" indent="0">
              <a:buNone/>
            </a:pPr>
            <a:r>
              <a:rPr lang="ru-RU" sz="1600" dirty="0"/>
              <a:t>Чтобы тест был надежным, нам нужно не только найти кнопку на странице, но и дождаться, когда кнопка станет кликабельной. Для реализации подобных ожиданий в Selenium WebDriver существует понятие </a:t>
            </a:r>
            <a:r>
              <a:rPr lang="ru-RU" sz="1600" b="1" dirty="0"/>
              <a:t>явных</a:t>
            </a:r>
            <a:r>
              <a:rPr lang="ru-RU" sz="1600" dirty="0"/>
              <a:t> ожиданий (</a:t>
            </a:r>
            <a:r>
              <a:rPr lang="ru-RU" sz="1600" b="1" dirty="0"/>
              <a:t>Explicit Waits</a:t>
            </a:r>
            <a:r>
              <a:rPr lang="ru-RU" sz="1600" dirty="0"/>
              <a:t>), которые позволяют задать специальное ожидание для конкретного элемента. Задание явных ожиданий реализуется с помощью инструментов WebDriverWait и </a:t>
            </a:r>
            <a:r>
              <a:rPr lang="ru-RU" sz="1600" b="1" dirty="0"/>
              <a:t>expected_conditions</a:t>
            </a:r>
            <a:r>
              <a:rPr lang="ru-RU" sz="1600" dirty="0"/>
              <a:t>.</a:t>
            </a:r>
            <a:endParaRPr lang="ru-R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7006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/>
              <a:t>Explicit Waits (WebDriverWait и expected_conditions)</a:t>
            </a:r>
            <a:endParaRPr lang="ru-R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183045"/>
            <a:ext cx="10792285" cy="511269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u="sng" dirty="0">
                <a:solidFill>
                  <a:schemeClr val="tx1"/>
                </a:solidFill>
              </a:rPr>
              <a:t>Улучшим наш тест проверки текста в модальном окне</a:t>
            </a:r>
            <a:r>
              <a:rPr lang="en-US" sz="1600" b="1" u="sng" dirty="0">
                <a:solidFill>
                  <a:schemeClr val="tx1"/>
                </a:solidFill>
              </a:rPr>
              <a:t>:</a:t>
            </a:r>
            <a:endParaRPr lang="ru-RU" sz="1600" b="1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from selenium.webdriver.common.by import By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from selenium.webdriver.support.ui import WebDriverWait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from selenium.webdriver.support import expected_conditions as EC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from selenium import webdriver</a:t>
            </a: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driver = webdriver.Chrome()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driver.get("http://demo.automationtesting.in/Loader.html")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run_btn = driver_find_element_by*("</a:t>
            </a:r>
            <a:r>
              <a:rPr lang="ru-RU" sz="1600" dirty="0">
                <a:solidFill>
                  <a:schemeClr val="tx1"/>
                </a:solidFill>
              </a:rPr>
              <a:t>селектор</a:t>
            </a:r>
            <a:r>
              <a:rPr lang="en-US" sz="1600" dirty="0">
                <a:solidFill>
                  <a:schemeClr val="tx1"/>
                </a:solidFill>
              </a:rPr>
              <a:t>"</a:t>
            </a:r>
            <a:r>
              <a:rPr lang="ru-RU" sz="1600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run_btn.click()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save_changes_btn = WebDriverWait(driver, 20).until(</a:t>
            </a:r>
            <a:r>
              <a:rPr lang="ru-RU" sz="1600" dirty="0">
                <a:solidFill>
                  <a:schemeClr val="tx1"/>
                </a:solidFill>
              </a:rPr>
              <a:t>		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600" b="1" dirty="0">
                <a:solidFill>
                  <a:schemeClr val="bg1">
                    <a:lumMod val="50000"/>
                  </a:schemeClr>
                </a:solidFill>
              </a:rPr>
              <a:t>говорим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Selenium </a:t>
            </a:r>
            <a:r>
              <a:rPr lang="ru-RU" sz="1600" b="1" dirty="0">
                <a:solidFill>
                  <a:schemeClr val="bg1">
                    <a:lumMod val="50000"/>
                  </a:schemeClr>
                </a:solidFill>
              </a:rPr>
              <a:t>проверять в течение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20</a:t>
            </a:r>
            <a:r>
              <a:rPr lang="ru-RU" sz="1600" b="1" dirty="0">
                <a:solidFill>
                  <a:schemeClr val="bg1">
                    <a:lumMod val="50000"/>
                  </a:schemeClr>
                </a:solidFill>
              </a:rPr>
              <a:t> секунд, пока кнопка не станет кликабельной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        </a:t>
            </a:r>
            <a:r>
              <a:rPr lang="en-US" sz="1600" b="1" dirty="0">
                <a:solidFill>
                  <a:schemeClr val="tx1"/>
                </a:solidFill>
              </a:rPr>
              <a:t>EC.element_to_be_clickable((By.CSS_SELECTOR, "</a:t>
            </a:r>
            <a:r>
              <a:rPr lang="ru-RU" sz="1600" b="1" dirty="0">
                <a:solidFill>
                  <a:schemeClr val="tx1"/>
                </a:solidFill>
              </a:rPr>
              <a:t>ваш селектор</a:t>
            </a:r>
            <a:r>
              <a:rPr lang="en-US" sz="1600" b="1" dirty="0">
                <a:solidFill>
                  <a:schemeClr val="tx1"/>
                </a:solidFill>
              </a:rPr>
              <a:t>"))</a:t>
            </a:r>
            <a:r>
              <a:rPr lang="ru-RU" sz="1600" b="1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modal_window = driver_find_element_by*("</a:t>
            </a:r>
            <a:r>
              <a:rPr lang="ru-RU" sz="1600" dirty="0">
                <a:solidFill>
                  <a:schemeClr val="tx1"/>
                </a:solidFill>
              </a:rPr>
              <a:t>селектор</a:t>
            </a:r>
            <a:r>
              <a:rPr lang="en-US" sz="1600" dirty="0">
                <a:solidFill>
                  <a:schemeClr val="tx1"/>
                </a:solidFill>
              </a:rPr>
              <a:t>"</a:t>
            </a:r>
            <a:r>
              <a:rPr lang="ru-RU" sz="1600" dirty="0">
                <a:solidFill>
                  <a:schemeClr val="tx1"/>
                </a:solidFill>
              </a:rPr>
              <a:t>)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modal_window_text = modal_window.text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assert "Modal title" in modal_window_text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save_changes_btn.click()</a:t>
            </a: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Как вы видите, в этом случае нужно использовать поиск элементов с помощью класса </a:t>
            </a:r>
            <a:r>
              <a:rPr lang="en-US" sz="1600" dirty="0">
                <a:solidFill>
                  <a:schemeClr val="tx1"/>
                </a:solidFill>
              </a:rPr>
              <a:t>By, </a:t>
            </a:r>
            <a:r>
              <a:rPr lang="ru-RU" sz="1600" dirty="0">
                <a:solidFill>
                  <a:schemeClr val="tx1"/>
                </a:solidFill>
              </a:rPr>
              <a:t>который мы рассмотрели на предыдущем занятии. 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element_to_be_clickable </a:t>
            </a:r>
            <a:r>
              <a:rPr lang="ru-RU" sz="1600" dirty="0">
                <a:solidFill>
                  <a:schemeClr val="tx1"/>
                </a:solidFill>
              </a:rPr>
              <a:t>вернет элемент, когда он станет кликабельным, или вернет </a:t>
            </a:r>
            <a:r>
              <a:rPr lang="en-US" sz="1600" dirty="0">
                <a:solidFill>
                  <a:schemeClr val="tx1"/>
                </a:solidFill>
              </a:rPr>
              <a:t>False </a:t>
            </a:r>
            <a:r>
              <a:rPr lang="ru-RU" sz="1600" dirty="0">
                <a:solidFill>
                  <a:schemeClr val="tx1"/>
                </a:solidFill>
              </a:rPr>
              <a:t>в ином случае.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600" dirty="0"/>
              <a:t>Обратите внимание, что в объекте WebDriverWait используется функция </a:t>
            </a:r>
            <a:r>
              <a:rPr lang="ru-RU" sz="1600" b="1" dirty="0"/>
              <a:t>until</a:t>
            </a:r>
            <a:r>
              <a:rPr lang="ru-RU" sz="1600" dirty="0"/>
              <a:t>, в которую передается правило ожидания, элемент, а так же значение, по которому мы будем искать элемент.</a:t>
            </a:r>
            <a:endParaRPr lang="ru-R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5002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/>
              <a:t>Explicit Waits (WebDriverWait и expected_conditions)</a:t>
            </a:r>
            <a:endParaRPr lang="ru-R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183045"/>
            <a:ext cx="10792285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 В модуле </a:t>
            </a:r>
            <a:r>
              <a:rPr lang="en-US" sz="1400" dirty="0">
                <a:solidFill>
                  <a:schemeClr val="tx1"/>
                </a:solidFill>
              </a:rPr>
              <a:t>expected_conditions </a:t>
            </a:r>
            <a:r>
              <a:rPr lang="ru-RU" sz="1400" dirty="0">
                <a:solidFill>
                  <a:schemeClr val="tx1"/>
                </a:solidFill>
              </a:rPr>
              <a:t>есть много других правил, которые позволяют реализовать необходимые ожидания</a:t>
            </a:r>
            <a:r>
              <a:rPr lang="en-US" sz="1400" dirty="0">
                <a:solidFill>
                  <a:schemeClr val="tx1"/>
                </a:solidFill>
              </a:rPr>
              <a:t>,</a:t>
            </a:r>
            <a:r>
              <a:rPr lang="ru-RU" sz="1400" dirty="0">
                <a:solidFill>
                  <a:schemeClr val="tx1"/>
                </a:solidFill>
              </a:rPr>
              <a:t> например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element_to_be_selected(element)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проверка что элемент выбран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invisibility_of_element_located(locator)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проверка что элемент невидим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number_of_windows_to_be(number)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проверка что количество открытых око/вкладок = заданому значению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text_to_be_present_in_element_value(locator, text_)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проверка что текст присутствует в элементе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url_to_be(url)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проверка что адрес страницы равен заданому значению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Если мы захотим проверять, что кнопка становится неактивной после отправки данных, то можно задать негативное правило с помощью метода </a:t>
            </a:r>
            <a:r>
              <a:rPr lang="en-US" sz="1400" b="1" dirty="0">
                <a:solidFill>
                  <a:schemeClr val="tx1"/>
                </a:solidFill>
              </a:rPr>
              <a:t>until_not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400" b="1" dirty="0">
                <a:solidFill>
                  <a:schemeClr val="bg1">
                    <a:lumMod val="50000"/>
                  </a:schemeClr>
                </a:solidFill>
              </a:rPr>
              <a:t>говорим 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</a:rPr>
              <a:t>Selenium </a:t>
            </a:r>
            <a:r>
              <a:rPr lang="ru-RU" sz="1400" b="1" dirty="0">
                <a:solidFill>
                  <a:schemeClr val="bg1">
                    <a:lumMod val="50000"/>
                  </a:schemeClr>
                </a:solidFill>
              </a:rPr>
              <a:t>проверять в течение 5 секунд пока кнопка станет неактивной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button = WebDriverWait(driver, 5).until_not(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        EC.element_to_be_clickable((By.ID, "verify")) )</a:t>
            </a:r>
            <a:endParaRPr lang="ru-RU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9460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/>
              <a:t>Expected conditions</a:t>
            </a:r>
            <a:endParaRPr lang="ru-R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183045"/>
            <a:ext cx="10792285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b="1" u="sng" dirty="0">
                <a:solidFill>
                  <a:schemeClr val="tx1"/>
                </a:solidFill>
              </a:rPr>
              <a:t>Несколько примеров использования</a:t>
            </a:r>
            <a:r>
              <a:rPr lang="en-US" sz="1400" b="1" u="sng" dirty="0">
                <a:solidFill>
                  <a:schemeClr val="tx1"/>
                </a:solidFill>
              </a:rPr>
              <a:t>:</a:t>
            </a:r>
            <a:endParaRPr lang="ru-RU" sz="1400" b="1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element_to_be_selected(element)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проверка что элемент выбран(например чекбокс, радиокнопка) до истечения указанного времени 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some_element = driver.find_element_by_id("</a:t>
            </a:r>
            <a:r>
              <a:rPr lang="ru-RU" sz="1400" dirty="0">
                <a:solidFill>
                  <a:schemeClr val="tx1"/>
                </a:solidFill>
              </a:rPr>
              <a:t>ваш селектор</a:t>
            </a:r>
            <a:r>
              <a:rPr lang="en-US" sz="1400" dirty="0">
                <a:solidFill>
                  <a:schemeClr val="tx1"/>
                </a:solidFill>
              </a:rPr>
              <a:t>")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element_check = WebDriverWait(driver,</a:t>
            </a:r>
            <a:r>
              <a:rPr lang="ru-RU" sz="1400" dirty="0">
                <a:solidFill>
                  <a:schemeClr val="tx1"/>
                </a:solidFill>
              </a:rPr>
              <a:t> цифра ожидания</a:t>
            </a:r>
            <a:r>
              <a:rPr lang="en-US" sz="1400" dirty="0">
                <a:solidFill>
                  <a:schemeClr val="tx1"/>
                </a:solidFill>
              </a:rPr>
              <a:t> ).until(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chemeClr val="tx1"/>
                </a:solidFill>
              </a:rPr>
              <a:t>       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	EC.element_to_be_selected(some_element))</a:t>
            </a:r>
          </a:p>
          <a:p>
            <a:pPr marL="0" indent="0">
              <a:buNone/>
            </a:pPr>
            <a:endParaRPr lang="en-US" sz="1400" b="1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400" b="1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invisibility_of_element_located(locator)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проверка что элемент невидим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button = WebDriverWait(driver, </a:t>
            </a:r>
            <a:r>
              <a:rPr lang="ru-RU" sz="1400" dirty="0">
                <a:solidFill>
                  <a:schemeClr val="tx1"/>
                </a:solidFill>
              </a:rPr>
              <a:t>10</a:t>
            </a:r>
            <a:r>
              <a:rPr lang="en-US" sz="1400" dirty="0">
                <a:solidFill>
                  <a:schemeClr val="tx1"/>
                </a:solidFill>
              </a:rPr>
              <a:t>).until(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	EC. invisibility_of_element_located((By.ID, "save")))</a:t>
            </a: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7701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/>
              <a:t>Expected conditions</a:t>
            </a:r>
            <a:endParaRPr lang="ru-R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183045"/>
            <a:ext cx="10792285" cy="511269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b="1" u="sng" dirty="0">
                <a:solidFill>
                  <a:schemeClr val="tx1"/>
                </a:solidFill>
              </a:rPr>
              <a:t>Несколько примеров использования</a:t>
            </a:r>
            <a:r>
              <a:rPr lang="en-US" sz="1400" b="1" u="sng" dirty="0">
                <a:solidFill>
                  <a:schemeClr val="tx1"/>
                </a:solidFill>
              </a:rPr>
              <a:t>:</a:t>
            </a:r>
            <a:endParaRPr lang="ru-RU" sz="1400" b="1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text_to_be_present_in_element_value(locator, text_)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проверка что текст присутствует в элементе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some_element= WebDriverWait(driver, </a:t>
            </a:r>
            <a:r>
              <a:rPr lang="ru-RU" sz="1400" dirty="0">
                <a:solidFill>
                  <a:schemeClr val="tx1"/>
                </a:solidFill>
              </a:rPr>
              <a:t>10</a:t>
            </a:r>
            <a:r>
              <a:rPr lang="en-US" sz="1400" dirty="0">
                <a:solidFill>
                  <a:schemeClr val="tx1"/>
                </a:solidFill>
              </a:rPr>
              <a:t>).until(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    EC.text_to_be_present_in_element((By.CSS_SELECTOR, "</a:t>
            </a:r>
            <a:r>
              <a:rPr lang="ru-RU" sz="1400" dirty="0">
                <a:solidFill>
                  <a:schemeClr val="tx1"/>
                </a:solidFill>
              </a:rPr>
              <a:t>ваш селектор</a:t>
            </a:r>
            <a:r>
              <a:rPr lang="en-US" sz="1400" dirty="0">
                <a:solidFill>
                  <a:schemeClr val="tx1"/>
                </a:solidFill>
              </a:rPr>
              <a:t>"), "</a:t>
            </a:r>
            <a:r>
              <a:rPr lang="ru-RU" sz="1400" dirty="0">
                <a:solidFill>
                  <a:schemeClr val="tx1"/>
                </a:solidFill>
              </a:rPr>
              <a:t>текст элемента который проверяете</a:t>
            </a:r>
            <a:r>
              <a:rPr lang="en-US" sz="1400" dirty="0">
                <a:solidFill>
                  <a:schemeClr val="tx1"/>
                </a:solidFill>
              </a:rPr>
              <a:t>"))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url_to_be(url)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проверка что адрес страницы равен заданому значению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link_check = WebDriverWait(driver, </a:t>
            </a:r>
            <a:r>
              <a:rPr lang="ru-RU" sz="1400" dirty="0">
                <a:solidFill>
                  <a:schemeClr val="tx1"/>
                </a:solidFill>
              </a:rPr>
              <a:t>10</a:t>
            </a:r>
            <a:r>
              <a:rPr lang="en-US" sz="1400" dirty="0">
                <a:solidFill>
                  <a:schemeClr val="tx1"/>
                </a:solidFill>
              </a:rPr>
              <a:t>).until(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	EC.url_to_be("</a:t>
            </a:r>
            <a:r>
              <a:rPr lang="ru-RU" sz="1400" dirty="0">
                <a:solidFill>
                  <a:schemeClr val="tx1"/>
                </a:solidFill>
              </a:rPr>
              <a:t>ссылка на страницу</a:t>
            </a:r>
            <a:r>
              <a:rPr lang="en-US" sz="1400" dirty="0">
                <a:solidFill>
                  <a:schemeClr val="tx1"/>
                </a:solidFill>
              </a:rPr>
              <a:t>"))</a:t>
            </a: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number_of_windows_to_be()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проверка что количество открытых окон/вкладок в браузере = заданому значению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b="1" dirty="0">
                <a:solidFill>
                  <a:schemeClr val="bg1">
                    <a:lumMod val="50000"/>
                  </a:schemeClr>
                </a:solidFill>
              </a:rPr>
              <a:t> альтернативный вариант записи ожиданий(актуально и для предыдущих примеров)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</a:rPr>
              <a:t>;</a:t>
            </a:r>
            <a:r>
              <a:rPr lang="ru-RU" sz="1400" b="1" dirty="0">
                <a:solidFill>
                  <a:schemeClr val="bg1">
                    <a:lumMod val="50000"/>
                  </a:schemeClr>
                </a:solidFill>
              </a:rPr>
              <a:t> можно вынести часть в переменную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</a:rPr>
              <a:t>:</a:t>
            </a:r>
            <a:endParaRPr lang="ru-RU" sz="1400" b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wait = WebDriverWait(driver, </a:t>
            </a:r>
            <a:r>
              <a:rPr lang="ru-RU" sz="1400" dirty="0">
                <a:solidFill>
                  <a:schemeClr val="tx1"/>
                </a:solidFill>
              </a:rPr>
              <a:t>10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вынесли повторяющуюся часть в переменную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wait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number_of_tabs = wait.until(EC.number_of_windows_to_be(</a:t>
            </a:r>
            <a:r>
              <a:rPr lang="ru-RU" sz="1400" dirty="0">
                <a:solidFill>
                  <a:schemeClr val="tx1"/>
                </a:solidFill>
              </a:rPr>
              <a:t>количество ожидаемых вкладок в виде цифры</a:t>
            </a:r>
            <a:r>
              <a:rPr lang="en-US" sz="1400" dirty="0">
                <a:solidFill>
                  <a:schemeClr val="tx1"/>
                </a:solidFill>
              </a:rPr>
              <a:t>))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кавычки для цифры не нужны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print(number_of_tabs )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вернёт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True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, если количество открытых окон/вкладок в браузере = количеству ожидаемых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ru-RU" sz="1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925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Практика по материалам </a:t>
            </a:r>
            <a:r>
              <a:rPr lang="en-US" sz="3600" dirty="0"/>
              <a:t>1</a:t>
            </a:r>
            <a:endParaRPr lang="ru-R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183045"/>
            <a:ext cx="10792285" cy="511269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Откройте страницу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  <a:hlinkClick r:id="rId2"/>
              </a:rPr>
              <a:t>http://demo.automationtesting.in/WebTable.html</a:t>
            </a:r>
            <a:endParaRPr lang="ru-RU" sz="16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Перейдите в раздел</a:t>
            </a:r>
            <a:r>
              <a:rPr lang="en-US" sz="1600" dirty="0">
                <a:solidFill>
                  <a:schemeClr val="tx1"/>
                </a:solidFill>
              </a:rPr>
              <a:t> "More"</a:t>
            </a:r>
            <a:r>
              <a:rPr lang="ru-RU" sz="1600" dirty="0">
                <a:solidFill>
                  <a:schemeClr val="tx1"/>
                </a:solidFill>
              </a:rPr>
              <a:t> -</a:t>
            </a:r>
            <a:r>
              <a:rPr lang="en-US" sz="1600" dirty="0">
                <a:solidFill>
                  <a:schemeClr val="tx1"/>
                </a:solidFill>
              </a:rPr>
              <a:t>&gt; "Loader"</a:t>
            </a:r>
            <a:endParaRPr lang="ru-RU" sz="16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Реализуйте </a:t>
            </a:r>
            <a:r>
              <a:rPr lang="ru-RU" sz="1600" b="1" dirty="0">
                <a:solidFill>
                  <a:schemeClr val="tx1"/>
                </a:solidFill>
              </a:rPr>
              <a:t>явное</a:t>
            </a:r>
            <a:r>
              <a:rPr lang="ru-RU" sz="1600" dirty="0">
                <a:solidFill>
                  <a:schemeClr val="tx1"/>
                </a:solidFill>
              </a:rPr>
              <a:t> ожидание</a:t>
            </a:r>
            <a:r>
              <a:rPr lang="en-US" sz="1600" dirty="0">
                <a:solidFill>
                  <a:schemeClr val="tx1"/>
                </a:solidFill>
              </a:rPr>
              <a:t>(EC)</a:t>
            </a:r>
            <a:r>
              <a:rPr lang="ru-RU" sz="1600" dirty="0">
                <a:solidFill>
                  <a:schemeClr val="tx1"/>
                </a:solidFill>
              </a:rPr>
              <a:t> для отображения текста </a:t>
            </a:r>
            <a:r>
              <a:rPr lang="en-US" sz="1600" dirty="0">
                <a:solidFill>
                  <a:schemeClr val="tx1"/>
                </a:solidFill>
              </a:rPr>
              <a:t>"Run"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Нажмите кнопку</a:t>
            </a:r>
            <a:r>
              <a:rPr lang="en-US" sz="1600" dirty="0">
                <a:solidFill>
                  <a:schemeClr val="tx1"/>
                </a:solidFill>
              </a:rPr>
              <a:t> "Run"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Реализуйте </a:t>
            </a:r>
            <a:r>
              <a:rPr lang="ru-RU" sz="1600" b="1" dirty="0">
                <a:solidFill>
                  <a:schemeClr val="tx1"/>
                </a:solidFill>
              </a:rPr>
              <a:t>явное</a:t>
            </a:r>
            <a:r>
              <a:rPr lang="ru-RU" sz="1600" dirty="0">
                <a:solidFill>
                  <a:schemeClr val="tx1"/>
                </a:solidFill>
              </a:rPr>
              <a:t> ожидание(</a:t>
            </a:r>
            <a:r>
              <a:rPr lang="en-US" sz="1600" dirty="0">
                <a:solidFill>
                  <a:schemeClr val="tx1"/>
                </a:solidFill>
              </a:rPr>
              <a:t>EC)</a:t>
            </a:r>
            <a:r>
              <a:rPr lang="ru-RU" sz="1600" dirty="0">
                <a:solidFill>
                  <a:schemeClr val="tx1"/>
                </a:solidFill>
              </a:rPr>
              <a:t> что слово</a:t>
            </a:r>
            <a:r>
              <a:rPr lang="en-US" sz="1600" dirty="0">
                <a:solidFill>
                  <a:schemeClr val="tx1"/>
                </a:solidFill>
              </a:rPr>
              <a:t> "Lorem"</a:t>
            </a:r>
            <a:r>
              <a:rPr lang="ru-RU" sz="1600" dirty="0">
                <a:solidFill>
                  <a:schemeClr val="tx1"/>
                </a:solidFill>
              </a:rPr>
              <a:t> содержится в тексте модального окна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Реализуйте </a:t>
            </a:r>
            <a:r>
              <a:rPr lang="ru-RU" sz="1600" b="1" dirty="0">
                <a:solidFill>
                  <a:schemeClr val="tx1"/>
                </a:solidFill>
              </a:rPr>
              <a:t>явное</a:t>
            </a:r>
            <a:r>
              <a:rPr lang="ru-RU" sz="1600" dirty="0">
                <a:solidFill>
                  <a:schemeClr val="tx1"/>
                </a:solidFill>
              </a:rPr>
              <a:t> ожидание(</a:t>
            </a:r>
            <a:r>
              <a:rPr lang="en-US" sz="1600" dirty="0">
                <a:solidFill>
                  <a:schemeClr val="tx1"/>
                </a:solidFill>
              </a:rPr>
              <a:t>EC)</a:t>
            </a:r>
            <a:r>
              <a:rPr lang="ru-RU" sz="1600" dirty="0">
                <a:solidFill>
                  <a:schemeClr val="tx1"/>
                </a:solidFill>
              </a:rPr>
              <a:t> для нажатия в модальном окне на кнопку </a:t>
            </a:r>
            <a:r>
              <a:rPr lang="en-US" sz="1600" dirty="0">
                <a:solidFill>
                  <a:schemeClr val="tx1"/>
                </a:solidFill>
              </a:rPr>
              <a:t>"Save Changes"</a:t>
            </a:r>
            <a:r>
              <a:rPr lang="ru-RU" sz="1600" dirty="0">
                <a:solidFill>
                  <a:schemeClr val="tx1"/>
                </a:solidFill>
              </a:rPr>
              <a:t> и нажмите на неё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1400" b="1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1400" b="1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1400" b="1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1400" b="1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 </a:t>
            </a:r>
            <a:endParaRPr lang="ru-RU" sz="1600" b="1" dirty="0">
              <a:solidFill>
                <a:schemeClr val="tx1"/>
              </a:solidFill>
            </a:endParaRPr>
          </a:p>
          <a:p>
            <a:r>
              <a:rPr lang="ru-RU" sz="1600" b="1" dirty="0">
                <a:solidFill>
                  <a:schemeClr val="tx1"/>
                </a:solidFill>
              </a:rPr>
              <a:t>Код сохраните, потребуется для теста</a:t>
            </a:r>
            <a:endParaRPr lang="en-US" sz="1600" b="1" dirty="0">
              <a:solidFill>
                <a:schemeClr val="tx1"/>
              </a:solidFill>
            </a:endParaRPr>
          </a:p>
          <a:p>
            <a:r>
              <a:rPr lang="ru-RU" sz="1600" b="1" dirty="0">
                <a:solidFill>
                  <a:schemeClr val="tx1"/>
                </a:solidFill>
              </a:rPr>
              <a:t>Если в процессе вдруг будет возникать окно с рекламой, попробуйте закрыть его или установить плагин </a:t>
            </a:r>
            <a:r>
              <a:rPr lang="en-US" sz="1600" b="1" dirty="0">
                <a:solidFill>
                  <a:schemeClr val="tx1"/>
                </a:solidFill>
              </a:rPr>
              <a:t>adblock</a:t>
            </a:r>
            <a:endParaRPr lang="en-US" dirty="0"/>
          </a:p>
          <a:p>
            <a:endParaRPr lang="en-US" sz="1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7026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Практика по материалам </a:t>
            </a:r>
            <a:r>
              <a:rPr lang="en-US" sz="3600" dirty="0"/>
              <a:t>2</a:t>
            </a:r>
            <a:endParaRPr lang="ru-R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183045"/>
            <a:ext cx="10792285" cy="5112698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ru-RU" sz="6400" dirty="0">
                <a:solidFill>
                  <a:schemeClr val="tx1"/>
                </a:solidFill>
              </a:rPr>
              <a:t>Откройте страницу</a:t>
            </a:r>
            <a:r>
              <a:rPr lang="en-US" sz="6400" dirty="0">
                <a:solidFill>
                  <a:schemeClr val="tx1"/>
                </a:solidFill>
              </a:rPr>
              <a:t>:</a:t>
            </a:r>
            <a:r>
              <a:rPr lang="ru-RU" sz="6400" dirty="0">
                <a:solidFill>
                  <a:schemeClr val="tx1"/>
                </a:solidFill>
              </a:rPr>
              <a:t> </a:t>
            </a:r>
            <a:r>
              <a:rPr lang="en-US" sz="6400" dirty="0">
                <a:solidFill>
                  <a:schemeClr val="tx1"/>
                </a:solidFill>
                <a:hlinkClick r:id="rId2"/>
              </a:rPr>
              <a:t>http://demo.automationtesting.in/WebTable.html</a:t>
            </a:r>
            <a:endParaRPr lang="en-US" sz="6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6400" dirty="0">
                <a:solidFill>
                  <a:schemeClr val="tx1"/>
                </a:solidFill>
              </a:rPr>
              <a:t>Реализуйте </a:t>
            </a:r>
            <a:r>
              <a:rPr lang="ru-RU" sz="6400" b="1" dirty="0">
                <a:solidFill>
                  <a:schemeClr val="tx1"/>
                </a:solidFill>
              </a:rPr>
              <a:t>неявное </a:t>
            </a:r>
            <a:r>
              <a:rPr lang="ru-RU" sz="6400" dirty="0">
                <a:solidFill>
                  <a:schemeClr val="tx1"/>
                </a:solidFill>
              </a:rPr>
              <a:t>ожидание поиска элементов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6400" dirty="0">
                <a:solidFill>
                  <a:schemeClr val="tx1"/>
                </a:solidFill>
              </a:rPr>
              <a:t>Перейдите в раздел</a:t>
            </a:r>
            <a:r>
              <a:rPr lang="en-US" sz="6400" dirty="0">
                <a:solidFill>
                  <a:schemeClr val="tx1"/>
                </a:solidFill>
              </a:rPr>
              <a:t> "More"</a:t>
            </a:r>
            <a:r>
              <a:rPr lang="ru-RU" sz="6400" dirty="0">
                <a:solidFill>
                  <a:schemeClr val="tx1"/>
                </a:solidFill>
              </a:rPr>
              <a:t> -</a:t>
            </a:r>
            <a:r>
              <a:rPr lang="en-US" sz="6400" dirty="0">
                <a:solidFill>
                  <a:schemeClr val="tx1"/>
                </a:solidFill>
              </a:rPr>
              <a:t>&gt; "Dynamic Data"</a:t>
            </a:r>
            <a:r>
              <a:rPr lang="ru-RU" sz="6400" dirty="0">
                <a:solidFill>
                  <a:schemeClr val="tx1"/>
                </a:solidFill>
              </a:rPr>
              <a:t> </a:t>
            </a:r>
            <a:endParaRPr lang="en-US" sz="6400" dirty="0">
              <a:solidFill>
                <a:schemeClr val="tx1"/>
              </a:solidFill>
            </a:endParaRPr>
          </a:p>
          <a:p>
            <a:pPr lvl="1"/>
            <a:r>
              <a:rPr lang="ru-RU" sz="5600" dirty="0">
                <a:solidFill>
                  <a:schemeClr val="tx1"/>
                </a:solidFill>
              </a:rPr>
              <a:t>Здесь и в дальнейших заданиях используйте клики(их будет 2) вместо выбора по селектору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ru-RU" sz="6400" dirty="0">
                <a:solidFill>
                  <a:schemeClr val="tx1"/>
                </a:solidFill>
              </a:rPr>
              <a:t>Добавьте проверку, что заголовок окна равен </a:t>
            </a:r>
            <a:r>
              <a:rPr lang="en-US" sz="6400" dirty="0">
                <a:solidFill>
                  <a:schemeClr val="tx1"/>
                </a:solidFill>
              </a:rPr>
              <a:t>"</a:t>
            </a:r>
            <a:r>
              <a:rPr lang="en-US" sz="6400" dirty="0"/>
              <a:t>Loading the data Dynamically</a:t>
            </a:r>
            <a:r>
              <a:rPr lang="en-US" sz="6400" dirty="0">
                <a:solidFill>
                  <a:schemeClr val="tx1"/>
                </a:solidFill>
              </a:rPr>
              <a:t>"</a:t>
            </a:r>
            <a:r>
              <a:rPr lang="ru-RU" sz="6400" dirty="0">
                <a:solidFill>
                  <a:schemeClr val="tx1"/>
                </a:solidFill>
              </a:rPr>
              <a:t> 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ru-RU" sz="6400" dirty="0">
                <a:solidFill>
                  <a:schemeClr val="tx1"/>
                </a:solidFill>
              </a:rPr>
              <a:t>Нажмите на кнопку</a:t>
            </a:r>
            <a:r>
              <a:rPr lang="en-US" sz="6400" dirty="0">
                <a:solidFill>
                  <a:schemeClr val="tx1"/>
                </a:solidFill>
              </a:rPr>
              <a:t> "Get Dynamic Data"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ru-RU" sz="6400" dirty="0">
                <a:solidFill>
                  <a:schemeClr val="tx1"/>
                </a:solidFill>
              </a:rPr>
              <a:t>Выведите в консоли адрес ссылки, которая сгенерируется в теге</a:t>
            </a:r>
            <a:r>
              <a:rPr lang="en-US" sz="6400" dirty="0">
                <a:solidFill>
                  <a:schemeClr val="tx1"/>
                </a:solidFill>
              </a:rPr>
              <a:t> img</a:t>
            </a:r>
            <a:r>
              <a:rPr lang="ru-RU" sz="6400" dirty="0">
                <a:solidFill>
                  <a:schemeClr val="tx1"/>
                </a:solidFill>
              </a:rPr>
              <a:t> (похожий на</a:t>
            </a:r>
            <a:r>
              <a:rPr lang="en-US" sz="6400" dirty="0">
                <a:solidFill>
                  <a:schemeClr val="tx1"/>
                </a:solidFill>
              </a:rPr>
              <a:t>: </a:t>
            </a:r>
            <a:r>
              <a:rPr lang="en-US" sz="6400" dirty="0">
                <a:solidFill>
                  <a:schemeClr val="tx1"/>
                </a:solidFill>
                <a:hlinkClick r:id="rId3"/>
              </a:rPr>
              <a:t>https://randomuser.me/api/portraits/</a:t>
            </a:r>
            <a:r>
              <a:rPr lang="ru-RU" sz="6400" dirty="0">
                <a:solidFill>
                  <a:schemeClr val="tx1"/>
                </a:solidFill>
              </a:rPr>
              <a:t>...)</a:t>
            </a:r>
            <a:endParaRPr lang="en-US" sz="6400" dirty="0">
              <a:solidFill>
                <a:schemeClr val="tx1"/>
              </a:solidFill>
            </a:endParaRPr>
          </a:p>
          <a:p>
            <a:pPr lvl="1"/>
            <a:r>
              <a:rPr lang="ru-RU" sz="5600" dirty="0">
                <a:solidFill>
                  <a:schemeClr val="tx1"/>
                </a:solidFill>
              </a:rPr>
              <a:t>Чтобы это сделать, используйте метод</a:t>
            </a:r>
            <a:r>
              <a:rPr lang="en-US" sz="5600" dirty="0">
                <a:solidFill>
                  <a:schemeClr val="tx1"/>
                </a:solidFill>
              </a:rPr>
              <a:t> .get_attribute("</a:t>
            </a:r>
            <a:r>
              <a:rPr lang="ru-RU" sz="5600" dirty="0">
                <a:solidFill>
                  <a:schemeClr val="tx1"/>
                </a:solidFill>
              </a:rPr>
              <a:t>атрибут</a:t>
            </a:r>
            <a:r>
              <a:rPr lang="en-US" sz="5600" dirty="0">
                <a:solidFill>
                  <a:schemeClr val="tx1"/>
                </a:solidFill>
              </a:rPr>
              <a:t>")</a:t>
            </a:r>
            <a:r>
              <a:rPr lang="ru-RU" sz="5600" dirty="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ru-RU" sz="5400" dirty="0">
                <a:solidFill>
                  <a:schemeClr val="tx1"/>
                </a:solidFill>
              </a:rPr>
              <a:t>Если адрес ссылки сильно отличается от примера в шаге 6, тогда  после нажатия на кнопку из шага 5 добавьте паузу </a:t>
            </a:r>
            <a:r>
              <a:rPr lang="en-US" sz="5400" dirty="0">
                <a:solidFill>
                  <a:schemeClr val="tx1"/>
                </a:solidFill>
              </a:rPr>
              <a:t>time.sleep(3)</a:t>
            </a:r>
            <a:endParaRPr lang="ru-RU" sz="56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 startAt="4"/>
            </a:pPr>
            <a:endParaRPr lang="en-US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 startAt="4"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6400" dirty="0">
              <a:solidFill>
                <a:schemeClr val="tx1"/>
              </a:solidFill>
            </a:endParaRPr>
          </a:p>
          <a:p>
            <a:endParaRPr lang="ru-RU" sz="6400" dirty="0">
              <a:solidFill>
                <a:schemeClr val="tx1"/>
              </a:solidFill>
            </a:endParaRPr>
          </a:p>
          <a:p>
            <a:endParaRPr lang="en-US" sz="6400" dirty="0">
              <a:solidFill>
                <a:schemeClr val="tx1"/>
              </a:solidFill>
            </a:endParaRPr>
          </a:p>
          <a:p>
            <a:r>
              <a:rPr lang="ru-RU" sz="6400" dirty="0">
                <a:solidFill>
                  <a:schemeClr val="tx1"/>
                </a:solidFill>
              </a:rPr>
              <a:t>В этом задании можно испольовать</a:t>
            </a:r>
            <a:r>
              <a:rPr lang="en-US" sz="6400" dirty="0">
                <a:solidFill>
                  <a:schemeClr val="tx1"/>
                </a:solidFill>
              </a:rPr>
              <a:t> XPATH</a:t>
            </a:r>
            <a:r>
              <a:rPr lang="ru-RU" sz="6400" dirty="0">
                <a:solidFill>
                  <a:schemeClr val="tx1"/>
                </a:solidFill>
              </a:rPr>
              <a:t> если нужно</a:t>
            </a:r>
          </a:p>
          <a:p>
            <a:r>
              <a:rPr lang="ru-RU" sz="6400" b="1" dirty="0">
                <a:solidFill>
                  <a:schemeClr val="tx1"/>
                </a:solidFill>
              </a:rPr>
              <a:t>Код сохраните, потребуется для теста</a:t>
            </a:r>
            <a:r>
              <a:rPr lang="ru-RU" sz="64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0973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Практика по материалам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183045"/>
            <a:ext cx="10792285" cy="511269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ru-RU" sz="1900" dirty="0">
                <a:solidFill>
                  <a:schemeClr val="tx1"/>
                </a:solidFill>
              </a:rPr>
              <a:t>Откройте страницу</a:t>
            </a:r>
            <a:r>
              <a:rPr lang="en-US" sz="1900" dirty="0">
                <a:solidFill>
                  <a:schemeClr val="tx1"/>
                </a:solidFill>
              </a:rPr>
              <a:t>:</a:t>
            </a:r>
            <a:r>
              <a:rPr lang="ru-RU" sz="1900" dirty="0">
                <a:solidFill>
                  <a:schemeClr val="tx1"/>
                </a:solidFill>
              </a:rPr>
              <a:t> </a:t>
            </a:r>
            <a:r>
              <a:rPr lang="en-US" sz="1900" dirty="0">
                <a:solidFill>
                  <a:schemeClr val="tx1"/>
                </a:solidFill>
                <a:hlinkClick r:id="rId2"/>
              </a:rPr>
              <a:t>http://demo.automationtesting.in/WebTable.html</a:t>
            </a:r>
            <a:endParaRPr lang="ru-RU" sz="19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900" dirty="0">
                <a:solidFill>
                  <a:schemeClr val="tx1"/>
                </a:solidFill>
              </a:rPr>
              <a:t>Реализуйте </a:t>
            </a:r>
            <a:r>
              <a:rPr lang="ru-RU" sz="1900" b="1" dirty="0">
                <a:solidFill>
                  <a:schemeClr val="tx1"/>
                </a:solidFill>
              </a:rPr>
              <a:t>неявное </a:t>
            </a:r>
            <a:r>
              <a:rPr lang="ru-RU" sz="1900" dirty="0">
                <a:solidFill>
                  <a:schemeClr val="tx1"/>
                </a:solidFill>
              </a:rPr>
              <a:t>ожидание поиска элементов</a:t>
            </a:r>
            <a:endParaRPr lang="en-US" sz="19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900" dirty="0">
                <a:solidFill>
                  <a:schemeClr val="tx1"/>
                </a:solidFill>
              </a:rPr>
              <a:t>Перейдите в раздел</a:t>
            </a:r>
            <a:r>
              <a:rPr lang="en-US" sz="1900" dirty="0">
                <a:solidFill>
                  <a:schemeClr val="tx1"/>
                </a:solidFill>
              </a:rPr>
              <a:t> "More"</a:t>
            </a:r>
            <a:r>
              <a:rPr lang="ru-RU" sz="1900" dirty="0">
                <a:solidFill>
                  <a:schemeClr val="tx1"/>
                </a:solidFill>
              </a:rPr>
              <a:t> -</a:t>
            </a:r>
            <a:r>
              <a:rPr lang="en-US" sz="1900" dirty="0">
                <a:solidFill>
                  <a:schemeClr val="tx1"/>
                </a:solidFill>
              </a:rPr>
              <a:t>&gt; "File Upload"</a:t>
            </a:r>
            <a:endParaRPr lang="ru-RU" sz="19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900" dirty="0">
                <a:solidFill>
                  <a:schemeClr val="tx1"/>
                </a:solidFill>
              </a:rPr>
              <a:t>Загрузите файл с картинкой</a:t>
            </a:r>
            <a:endParaRPr lang="en-US" sz="19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900" dirty="0">
                <a:solidFill>
                  <a:schemeClr val="tx1"/>
                </a:solidFill>
              </a:rPr>
              <a:t>Нажмите на кнопку</a:t>
            </a:r>
            <a:r>
              <a:rPr lang="en-US" sz="1900" dirty="0">
                <a:solidFill>
                  <a:schemeClr val="tx1"/>
                </a:solidFill>
              </a:rPr>
              <a:t> "Remove"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900" dirty="0">
                <a:solidFill>
                  <a:schemeClr val="tx1"/>
                </a:solidFill>
              </a:rPr>
              <a:t>Загрузите пустой файл с расширением </a:t>
            </a:r>
            <a:r>
              <a:rPr lang="en-US" sz="1900" dirty="0">
                <a:solidFill>
                  <a:schemeClr val="tx1"/>
                </a:solidFill>
              </a:rPr>
              <a:t>.txt (</a:t>
            </a:r>
            <a:r>
              <a:rPr lang="ru-RU" sz="1900" dirty="0">
                <a:solidFill>
                  <a:schemeClr val="tx1"/>
                </a:solidFill>
              </a:rPr>
              <a:t>можно создать в блокноте)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900" dirty="0">
                <a:solidFill>
                  <a:schemeClr val="tx1"/>
                </a:solidFill>
              </a:rPr>
              <a:t>Закройте появившееся красное сообщение об ошибке</a:t>
            </a:r>
          </a:p>
          <a:p>
            <a:r>
              <a:rPr lang="ru-RU" sz="1600" dirty="0">
                <a:solidFill>
                  <a:schemeClr val="tx1"/>
                </a:solidFill>
              </a:rPr>
              <a:t>Дополнительно(если получится)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ru-RU" sz="1600" dirty="0">
                <a:solidFill>
                  <a:schemeClr val="tx1"/>
                </a:solidFill>
              </a:rPr>
              <a:t>добавьте проверку что кнопка</a:t>
            </a:r>
            <a:r>
              <a:rPr lang="en-US" sz="1600" dirty="0">
                <a:solidFill>
                  <a:schemeClr val="tx1"/>
                </a:solidFill>
              </a:rPr>
              <a:t> upload </a:t>
            </a:r>
            <a:r>
              <a:rPr lang="ru-RU" sz="1600" dirty="0">
                <a:solidFill>
                  <a:schemeClr val="tx1"/>
                </a:solidFill>
              </a:rPr>
              <a:t>недоступна для нажатия</a:t>
            </a:r>
          </a:p>
          <a:p>
            <a:pPr marL="342900" indent="-342900">
              <a:buFont typeface="+mj-lt"/>
              <a:buAutoNum type="arabicPeriod"/>
            </a:pPr>
            <a:endParaRPr lang="en-US" sz="17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17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7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7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700" dirty="0">
                <a:solidFill>
                  <a:schemeClr val="tx1"/>
                </a:solidFill>
              </a:rPr>
              <a:t> </a:t>
            </a:r>
            <a:endParaRPr lang="en-US" sz="17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700" b="1" dirty="0">
              <a:solidFill>
                <a:schemeClr val="tx1"/>
              </a:solidFill>
            </a:endParaRPr>
          </a:p>
          <a:p>
            <a:endParaRPr lang="ru-RU" sz="1900" b="1" dirty="0">
              <a:solidFill>
                <a:schemeClr val="tx1"/>
              </a:solidFill>
            </a:endParaRPr>
          </a:p>
          <a:p>
            <a:r>
              <a:rPr lang="ru-RU" sz="1900" b="1" dirty="0">
                <a:solidFill>
                  <a:schemeClr val="tx1"/>
                </a:solidFill>
              </a:rPr>
              <a:t>Код сохраните, потребуется для теста</a:t>
            </a:r>
            <a:endParaRPr lang="en-US" sz="19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2173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Практика по материалам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183044"/>
            <a:ext cx="10792285" cy="512898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ru-RU" sz="1700" dirty="0">
                <a:solidFill>
                  <a:schemeClr val="tx1"/>
                </a:solidFill>
              </a:rPr>
              <a:t>Откройте страницу</a:t>
            </a:r>
            <a:r>
              <a:rPr lang="en-US" sz="1700" dirty="0">
                <a:solidFill>
                  <a:schemeClr val="tx1"/>
                </a:solidFill>
              </a:rPr>
              <a:t>:</a:t>
            </a:r>
            <a:r>
              <a:rPr lang="ru-RU" sz="1700" dirty="0">
                <a:solidFill>
                  <a:schemeClr val="tx1"/>
                </a:solidFill>
              </a:rPr>
              <a:t> </a:t>
            </a:r>
            <a:r>
              <a:rPr lang="en-US" sz="1700" dirty="0">
                <a:solidFill>
                  <a:schemeClr val="tx1"/>
                </a:solidFill>
                <a:hlinkClick r:id="rId2"/>
              </a:rPr>
              <a:t>http://demo.automationtesting.in/WebTable.html</a:t>
            </a:r>
            <a:endParaRPr lang="ru-RU" sz="17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700" dirty="0">
                <a:solidFill>
                  <a:schemeClr val="tx1"/>
                </a:solidFill>
              </a:rPr>
              <a:t>Реализуйте </a:t>
            </a:r>
            <a:r>
              <a:rPr lang="ru-RU" sz="1700" b="1" dirty="0">
                <a:solidFill>
                  <a:schemeClr val="tx1"/>
                </a:solidFill>
              </a:rPr>
              <a:t>неявное </a:t>
            </a:r>
            <a:r>
              <a:rPr lang="ru-RU" sz="1700" dirty="0">
                <a:solidFill>
                  <a:schemeClr val="tx1"/>
                </a:solidFill>
              </a:rPr>
              <a:t>ожидание поиска элементов</a:t>
            </a:r>
            <a:endParaRPr lang="en-US" sz="17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700" dirty="0">
                <a:solidFill>
                  <a:schemeClr val="tx1"/>
                </a:solidFill>
              </a:rPr>
              <a:t>Перейдите в раздел</a:t>
            </a:r>
            <a:r>
              <a:rPr lang="en-US" sz="1700" dirty="0">
                <a:solidFill>
                  <a:schemeClr val="tx1"/>
                </a:solidFill>
              </a:rPr>
              <a:t> "More"</a:t>
            </a:r>
            <a:r>
              <a:rPr lang="ru-RU" sz="1700" dirty="0">
                <a:solidFill>
                  <a:schemeClr val="tx1"/>
                </a:solidFill>
              </a:rPr>
              <a:t> -</a:t>
            </a:r>
            <a:r>
              <a:rPr lang="en-US" sz="1700" dirty="0">
                <a:solidFill>
                  <a:schemeClr val="tx1"/>
                </a:solidFill>
              </a:rPr>
              <a:t>&gt; "JQuery ProgressBar"</a:t>
            </a:r>
            <a:endParaRPr lang="ru-RU" sz="17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700" dirty="0">
                <a:solidFill>
                  <a:schemeClr val="tx1"/>
                </a:solidFill>
              </a:rPr>
              <a:t>Реализуйте </a:t>
            </a:r>
            <a:r>
              <a:rPr lang="ru-RU" sz="1700" b="1" dirty="0">
                <a:solidFill>
                  <a:schemeClr val="tx1"/>
                </a:solidFill>
              </a:rPr>
              <a:t>явное</a:t>
            </a:r>
            <a:r>
              <a:rPr lang="ru-RU" sz="1700" dirty="0">
                <a:solidFill>
                  <a:schemeClr val="tx1"/>
                </a:solidFill>
              </a:rPr>
              <a:t> ожидание(</a:t>
            </a:r>
            <a:r>
              <a:rPr lang="en-US" sz="1700" dirty="0">
                <a:solidFill>
                  <a:schemeClr val="tx1"/>
                </a:solidFill>
              </a:rPr>
              <a:t>EC)</a:t>
            </a:r>
            <a:r>
              <a:rPr lang="ru-RU" sz="1700" dirty="0">
                <a:solidFill>
                  <a:schemeClr val="tx1"/>
                </a:solidFill>
              </a:rPr>
              <a:t> для проверки что кнопка </a:t>
            </a:r>
            <a:r>
              <a:rPr lang="en-US" sz="1700" dirty="0">
                <a:solidFill>
                  <a:schemeClr val="tx1"/>
                </a:solidFill>
              </a:rPr>
              <a:t>"Close"</a:t>
            </a:r>
            <a:r>
              <a:rPr lang="ru-RU" sz="1700" dirty="0">
                <a:solidFill>
                  <a:schemeClr val="tx1"/>
                </a:solidFill>
              </a:rPr>
              <a:t> невидима</a:t>
            </a:r>
            <a:endParaRPr lang="en-US" sz="1700" dirty="0">
              <a:solidFill>
                <a:schemeClr val="tx1"/>
              </a:solidFill>
            </a:endParaRPr>
          </a:p>
          <a:p>
            <a:pPr lvl="1"/>
            <a:r>
              <a:rPr lang="ru-RU" sz="1500" dirty="0">
                <a:solidFill>
                  <a:schemeClr val="tx1"/>
                </a:solidFill>
              </a:rPr>
              <a:t>Для этого, предварительно вручную нажмите на кпоку</a:t>
            </a:r>
            <a:r>
              <a:rPr lang="en-US" sz="1500" dirty="0">
                <a:solidFill>
                  <a:schemeClr val="tx1"/>
                </a:solidFill>
              </a:rPr>
              <a:t> "Start Download"</a:t>
            </a:r>
            <a:r>
              <a:rPr lang="ru-RU" sz="1500" dirty="0">
                <a:solidFill>
                  <a:schemeClr val="tx1"/>
                </a:solidFill>
              </a:rPr>
              <a:t> и в появившемся окне возьмите селектор кнопки</a:t>
            </a:r>
            <a:r>
              <a:rPr lang="en-US" sz="1500" dirty="0">
                <a:solidFill>
                  <a:schemeClr val="tx1"/>
                </a:solidFill>
              </a:rPr>
              <a:t> "Close"</a:t>
            </a:r>
            <a:endParaRPr lang="ru-RU" sz="15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700" dirty="0">
                <a:solidFill>
                  <a:schemeClr val="tx1"/>
                </a:solidFill>
              </a:rPr>
              <a:t>Нажмите кнопку</a:t>
            </a:r>
            <a:r>
              <a:rPr lang="en-US" sz="1700" dirty="0">
                <a:solidFill>
                  <a:schemeClr val="tx1"/>
                </a:solidFill>
              </a:rPr>
              <a:t> "Start Download"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700" dirty="0">
                <a:solidFill>
                  <a:schemeClr val="tx1"/>
                </a:solidFill>
              </a:rPr>
              <a:t>Реализуйте </a:t>
            </a:r>
            <a:r>
              <a:rPr lang="ru-RU" sz="1700" b="1" dirty="0">
                <a:solidFill>
                  <a:schemeClr val="tx1"/>
                </a:solidFill>
              </a:rPr>
              <a:t>явное</a:t>
            </a:r>
            <a:r>
              <a:rPr lang="ru-RU" sz="1700" dirty="0">
                <a:solidFill>
                  <a:schemeClr val="tx1"/>
                </a:solidFill>
              </a:rPr>
              <a:t> ожидание(</a:t>
            </a:r>
            <a:r>
              <a:rPr lang="en-US" sz="1700" dirty="0">
                <a:solidFill>
                  <a:schemeClr val="tx1"/>
                </a:solidFill>
              </a:rPr>
              <a:t>EC)</a:t>
            </a:r>
            <a:r>
              <a:rPr lang="ru-RU" sz="1700" dirty="0">
                <a:solidFill>
                  <a:schemeClr val="tx1"/>
                </a:solidFill>
              </a:rPr>
              <a:t> для проверки что кнопка называется </a:t>
            </a:r>
            <a:r>
              <a:rPr lang="en-US" sz="1700" dirty="0">
                <a:solidFill>
                  <a:schemeClr val="tx1"/>
                </a:solidFill>
              </a:rPr>
              <a:t>"Cancel Download"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700" dirty="0">
                <a:solidFill>
                  <a:schemeClr val="tx1"/>
                </a:solidFill>
              </a:rPr>
              <a:t>Закройте окно. Снова откройте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700" dirty="0">
                <a:solidFill>
                  <a:schemeClr val="tx1"/>
                </a:solidFill>
              </a:rPr>
              <a:t>Реализуйте </a:t>
            </a:r>
            <a:r>
              <a:rPr lang="ru-RU" sz="1700" b="1" dirty="0">
                <a:solidFill>
                  <a:schemeClr val="tx1"/>
                </a:solidFill>
              </a:rPr>
              <a:t>явное</a:t>
            </a:r>
            <a:r>
              <a:rPr lang="ru-RU" sz="1700" dirty="0">
                <a:solidFill>
                  <a:schemeClr val="tx1"/>
                </a:solidFill>
              </a:rPr>
              <a:t> ожидание(</a:t>
            </a:r>
            <a:r>
              <a:rPr lang="en-US" sz="1700" dirty="0">
                <a:solidFill>
                  <a:schemeClr val="tx1"/>
                </a:solidFill>
              </a:rPr>
              <a:t>EC)</a:t>
            </a:r>
            <a:r>
              <a:rPr lang="ru-RU" sz="1700" dirty="0">
                <a:solidFill>
                  <a:schemeClr val="tx1"/>
                </a:solidFill>
              </a:rPr>
              <a:t> для проверки что в окне присутствует текст </a:t>
            </a:r>
            <a:r>
              <a:rPr lang="en-US" sz="1700" dirty="0">
                <a:solidFill>
                  <a:schemeClr val="tx1"/>
                </a:solidFill>
              </a:rPr>
              <a:t>"Complete!"</a:t>
            </a:r>
          </a:p>
          <a:p>
            <a:pPr marL="342900" indent="-342900">
              <a:buFont typeface="+mj-lt"/>
              <a:buAutoNum type="arabicPeriod"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ru-RU" sz="1400" b="1" dirty="0">
              <a:solidFill>
                <a:schemeClr val="tx1"/>
              </a:solidFill>
            </a:endParaRPr>
          </a:p>
          <a:p>
            <a:endParaRPr lang="en-US" sz="1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700" b="1" dirty="0">
              <a:solidFill>
                <a:schemeClr val="tx1"/>
              </a:solidFill>
            </a:endParaRPr>
          </a:p>
          <a:p>
            <a:endParaRPr lang="en-US" sz="1700" b="1" dirty="0">
              <a:solidFill>
                <a:schemeClr val="tx1"/>
              </a:solidFill>
            </a:endParaRPr>
          </a:p>
          <a:p>
            <a:r>
              <a:rPr lang="ru-RU" sz="1700" b="1" dirty="0">
                <a:solidFill>
                  <a:schemeClr val="tx1"/>
                </a:solidFill>
              </a:rPr>
              <a:t>Код сохраните, потребуется для теста</a:t>
            </a:r>
            <a:endParaRPr lang="ru-RU" sz="1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7924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Практика по материалам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13175" y="1183045"/>
            <a:ext cx="10792285" cy="5112698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ru-RU" sz="5600" dirty="0">
                <a:solidFill>
                  <a:schemeClr val="tx1"/>
                </a:solidFill>
              </a:rPr>
              <a:t>Откройте страницу</a:t>
            </a:r>
            <a:r>
              <a:rPr lang="en-US" sz="5600" dirty="0">
                <a:solidFill>
                  <a:schemeClr val="tx1"/>
                </a:solidFill>
              </a:rPr>
              <a:t>:</a:t>
            </a:r>
            <a:r>
              <a:rPr lang="ru-RU" sz="5600" dirty="0">
                <a:solidFill>
                  <a:schemeClr val="tx1"/>
                </a:solidFill>
              </a:rPr>
              <a:t> </a:t>
            </a:r>
            <a:r>
              <a:rPr lang="en-US" sz="5600" dirty="0">
                <a:solidFill>
                  <a:schemeClr val="tx1"/>
                </a:solidFill>
                <a:hlinkClick r:id="rId2"/>
              </a:rPr>
              <a:t>http://demo.automationtesting.in/WebTable.html</a:t>
            </a:r>
            <a:endParaRPr lang="ru-RU" sz="56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5600" dirty="0">
                <a:solidFill>
                  <a:schemeClr val="tx1"/>
                </a:solidFill>
              </a:rPr>
              <a:t>Реализуйте </a:t>
            </a:r>
            <a:r>
              <a:rPr lang="ru-RU" sz="5600" b="1" dirty="0">
                <a:solidFill>
                  <a:schemeClr val="tx1"/>
                </a:solidFill>
              </a:rPr>
              <a:t>неявное </a:t>
            </a:r>
            <a:r>
              <a:rPr lang="ru-RU" sz="5600" dirty="0">
                <a:solidFill>
                  <a:schemeClr val="tx1"/>
                </a:solidFill>
              </a:rPr>
              <a:t>ожидание поиска элементов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5600" dirty="0">
                <a:solidFill>
                  <a:schemeClr val="tx1"/>
                </a:solidFill>
              </a:rPr>
              <a:t>Перейдите в раздел </a:t>
            </a:r>
            <a:r>
              <a:rPr lang="en-US" sz="5600" dirty="0">
                <a:solidFill>
                  <a:schemeClr val="tx1"/>
                </a:solidFill>
              </a:rPr>
              <a:t>"Switch to"</a:t>
            </a:r>
            <a:r>
              <a:rPr lang="ru-RU" sz="5600" dirty="0">
                <a:solidFill>
                  <a:schemeClr val="tx1"/>
                </a:solidFill>
              </a:rPr>
              <a:t> </a:t>
            </a:r>
            <a:r>
              <a:rPr lang="en-US" sz="5600" dirty="0">
                <a:solidFill>
                  <a:schemeClr val="tx1"/>
                </a:solidFill>
              </a:rPr>
              <a:t>-&gt;</a:t>
            </a:r>
            <a:r>
              <a:rPr lang="ru-RU" sz="5600" dirty="0">
                <a:solidFill>
                  <a:schemeClr val="tx1"/>
                </a:solidFill>
              </a:rPr>
              <a:t> </a:t>
            </a:r>
            <a:r>
              <a:rPr lang="en-US" sz="5600" dirty="0">
                <a:solidFill>
                  <a:schemeClr val="tx1"/>
                </a:solidFill>
              </a:rPr>
              <a:t>"Windows"</a:t>
            </a:r>
            <a:endParaRPr lang="ru-RU" sz="56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5600" dirty="0">
                <a:solidFill>
                  <a:schemeClr val="tx1"/>
                </a:solidFill>
              </a:rPr>
              <a:t>В разделе </a:t>
            </a:r>
            <a:r>
              <a:rPr lang="en-US" sz="5600" dirty="0">
                <a:solidFill>
                  <a:schemeClr val="tx1"/>
                </a:solidFill>
              </a:rPr>
              <a:t>"Open New Tabbed Windows"</a:t>
            </a:r>
            <a:r>
              <a:rPr lang="ru-RU" sz="5600" dirty="0">
                <a:solidFill>
                  <a:schemeClr val="tx1"/>
                </a:solidFill>
              </a:rPr>
              <a:t> нажмите кнопку</a:t>
            </a:r>
            <a:r>
              <a:rPr lang="en-US" sz="5600" dirty="0">
                <a:solidFill>
                  <a:schemeClr val="tx1"/>
                </a:solidFill>
              </a:rPr>
              <a:t> "click"</a:t>
            </a:r>
            <a:endParaRPr lang="ru-RU" sz="56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5600" dirty="0">
                <a:solidFill>
                  <a:schemeClr val="tx1"/>
                </a:solidFill>
              </a:rPr>
              <a:t>Переключите драйвер на вторую вкладку</a:t>
            </a:r>
            <a:r>
              <a:rPr lang="en-US" sz="5600" dirty="0">
                <a:solidFill>
                  <a:schemeClr val="tx1"/>
                </a:solidFill>
              </a:rPr>
              <a:t> - &gt;</a:t>
            </a:r>
            <a:r>
              <a:rPr lang="ru-RU" sz="5600" dirty="0">
                <a:solidFill>
                  <a:schemeClr val="tx1"/>
                </a:solidFill>
              </a:rPr>
              <a:t> закройте её</a:t>
            </a:r>
            <a:r>
              <a:rPr lang="en-US" sz="5600" dirty="0">
                <a:solidFill>
                  <a:schemeClr val="tx1"/>
                </a:solidFill>
              </a:rPr>
              <a:t> -&gt;</a:t>
            </a:r>
            <a:r>
              <a:rPr lang="ru-RU" sz="5600" dirty="0">
                <a:solidFill>
                  <a:schemeClr val="tx1"/>
                </a:solidFill>
              </a:rPr>
              <a:t> переключитесь обратно на первую вкладку</a:t>
            </a:r>
          </a:p>
          <a:p>
            <a:pPr lvl="1"/>
            <a:r>
              <a:rPr lang="ru-RU" sz="4800" dirty="0">
                <a:solidFill>
                  <a:schemeClr val="tx1"/>
                </a:solidFill>
              </a:rPr>
              <a:t>Чтобы закрыть вкладку</a:t>
            </a:r>
            <a:r>
              <a:rPr lang="en-US" sz="4800" dirty="0">
                <a:solidFill>
                  <a:schemeClr val="tx1"/>
                </a:solidFill>
              </a:rPr>
              <a:t>: </a:t>
            </a:r>
            <a:r>
              <a:rPr lang="ru-RU" sz="4800" dirty="0">
                <a:solidFill>
                  <a:schemeClr val="tx1"/>
                </a:solidFill>
              </a:rPr>
              <a:t>после переключения на неё на новой строке добавьте команду </a:t>
            </a:r>
            <a:r>
              <a:rPr lang="en-US" sz="4800" dirty="0">
                <a:solidFill>
                  <a:schemeClr val="tx1"/>
                </a:solidFill>
              </a:rPr>
              <a:t>driver.close()</a:t>
            </a:r>
            <a:endParaRPr lang="ru-RU" sz="48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5600" dirty="0">
                <a:solidFill>
                  <a:schemeClr val="tx1"/>
                </a:solidFill>
              </a:rPr>
              <a:t>Перейдите в раздел </a:t>
            </a:r>
            <a:r>
              <a:rPr lang="en-US" sz="5600" dirty="0">
                <a:solidFill>
                  <a:schemeClr val="tx1"/>
                </a:solidFill>
              </a:rPr>
              <a:t>"Separate Multiple Windows"</a:t>
            </a:r>
            <a:r>
              <a:rPr lang="ru-RU" sz="5600" dirty="0">
                <a:solidFill>
                  <a:schemeClr val="tx1"/>
                </a:solidFill>
              </a:rPr>
              <a:t> и </a:t>
            </a:r>
            <a:r>
              <a:rPr lang="en-US" sz="5600" dirty="0">
                <a:solidFill>
                  <a:schemeClr val="tx1"/>
                </a:solidFill>
              </a:rPr>
              <a:t> </a:t>
            </a:r>
            <a:r>
              <a:rPr lang="ru-RU" sz="5600" dirty="0">
                <a:solidFill>
                  <a:schemeClr val="tx1"/>
                </a:solidFill>
              </a:rPr>
              <a:t>нажмите</a:t>
            </a:r>
            <a:r>
              <a:rPr lang="en-US" sz="5600" dirty="0">
                <a:solidFill>
                  <a:schemeClr val="tx1"/>
                </a:solidFill>
              </a:rPr>
              <a:t> "click"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5600" dirty="0">
                <a:solidFill>
                  <a:schemeClr val="tx1"/>
                </a:solidFill>
              </a:rPr>
              <a:t>Переключите драйвер на вторую вкладку</a:t>
            </a:r>
            <a:r>
              <a:rPr lang="en-US" sz="5600" dirty="0">
                <a:solidFill>
                  <a:schemeClr val="tx1"/>
                </a:solidFill>
              </a:rPr>
              <a:t> </a:t>
            </a:r>
            <a:r>
              <a:rPr lang="en-US" sz="56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5600" dirty="0">
                <a:solidFill>
                  <a:schemeClr val="bg1">
                    <a:lumMod val="50000"/>
                  </a:schemeClr>
                </a:solidFill>
              </a:rPr>
              <a:t> здесь нужно будет использовать</a:t>
            </a:r>
            <a:r>
              <a:rPr lang="en-US" sz="5600" dirty="0">
                <a:solidFill>
                  <a:schemeClr val="bg1">
                    <a:lumMod val="50000"/>
                  </a:schemeClr>
                </a:solidFill>
              </a:rPr>
              <a:t> handles[2],</a:t>
            </a:r>
            <a:r>
              <a:rPr lang="ru-RU" sz="5600" dirty="0">
                <a:solidFill>
                  <a:schemeClr val="bg1">
                    <a:lumMod val="50000"/>
                  </a:schemeClr>
                </a:solidFill>
              </a:rPr>
              <a:t> тк ранее закрытая вкладка с шага 4 останется в памяти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5600" dirty="0">
                <a:solidFill>
                  <a:schemeClr val="tx1"/>
                </a:solidFill>
              </a:rPr>
              <a:t>Используя </a:t>
            </a:r>
            <a:r>
              <a:rPr lang="ru-RU" sz="5600" b="1" dirty="0">
                <a:solidFill>
                  <a:schemeClr val="tx1"/>
                </a:solidFill>
              </a:rPr>
              <a:t>явное</a:t>
            </a:r>
            <a:r>
              <a:rPr lang="ru-RU" sz="5600" dirty="0">
                <a:solidFill>
                  <a:schemeClr val="tx1"/>
                </a:solidFill>
              </a:rPr>
              <a:t> ожидание</a:t>
            </a:r>
            <a:r>
              <a:rPr lang="en-US" sz="5600" dirty="0">
                <a:solidFill>
                  <a:schemeClr val="tx1"/>
                </a:solidFill>
              </a:rPr>
              <a:t>(EC)</a:t>
            </a:r>
            <a:r>
              <a:rPr lang="ru-RU" sz="5600" dirty="0">
                <a:solidFill>
                  <a:schemeClr val="tx1"/>
                </a:solidFill>
              </a:rPr>
              <a:t>, проверьте что ссылка</a:t>
            </a:r>
            <a:r>
              <a:rPr lang="en-US" sz="5600" dirty="0">
                <a:solidFill>
                  <a:schemeClr val="tx1"/>
                </a:solidFill>
              </a:rPr>
              <a:t> = "http://demo.automationtesting.in/Index.html"</a:t>
            </a:r>
            <a:endParaRPr lang="ru-RU" sz="56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5600" dirty="0">
                <a:solidFill>
                  <a:schemeClr val="tx1"/>
                </a:solidFill>
              </a:rPr>
              <a:t>Используя </a:t>
            </a:r>
            <a:r>
              <a:rPr lang="ru-RU" sz="5600" b="1" dirty="0">
                <a:solidFill>
                  <a:schemeClr val="tx1"/>
                </a:solidFill>
              </a:rPr>
              <a:t>явное</a:t>
            </a:r>
            <a:r>
              <a:rPr lang="ru-RU" sz="5600" dirty="0">
                <a:solidFill>
                  <a:schemeClr val="tx1"/>
                </a:solidFill>
              </a:rPr>
              <a:t> ожидание</a:t>
            </a:r>
            <a:r>
              <a:rPr lang="en-US" sz="5600" dirty="0">
                <a:solidFill>
                  <a:schemeClr val="tx1"/>
                </a:solidFill>
              </a:rPr>
              <a:t>(EC)</a:t>
            </a:r>
            <a:r>
              <a:rPr lang="ru-RU" sz="5600" dirty="0">
                <a:solidFill>
                  <a:schemeClr val="tx1"/>
                </a:solidFill>
              </a:rPr>
              <a:t>, проверьте что в браузере открыто 3 вкладки, выведите в консоли результат проверки </a:t>
            </a:r>
            <a:r>
              <a:rPr lang="en-US" sz="5600" dirty="0">
                <a:solidFill>
                  <a:schemeClr val="tx1"/>
                </a:solidFill>
              </a:rPr>
              <a:t>(True/False)</a:t>
            </a:r>
            <a:endParaRPr lang="ru-RU" sz="56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5600" dirty="0">
                <a:solidFill>
                  <a:schemeClr val="tx1"/>
                </a:solidFill>
              </a:rPr>
              <a:t>В поле </a:t>
            </a:r>
            <a:r>
              <a:rPr lang="en-US" sz="5600" dirty="0">
                <a:solidFill>
                  <a:schemeClr val="tx1"/>
                </a:solidFill>
              </a:rPr>
              <a:t>"email"</a:t>
            </a:r>
            <a:r>
              <a:rPr lang="ru-RU" sz="5600" dirty="0">
                <a:solidFill>
                  <a:schemeClr val="tx1"/>
                </a:solidFill>
              </a:rPr>
              <a:t> напишите любую почту и нажмите на кнопку в виде</a:t>
            </a:r>
            <a:r>
              <a:rPr lang="en-US" sz="5600" dirty="0">
                <a:solidFill>
                  <a:schemeClr val="tx1"/>
                </a:solidFill>
              </a:rPr>
              <a:t> "&gt;"</a:t>
            </a:r>
            <a:r>
              <a:rPr lang="ru-RU" sz="5600" dirty="0">
                <a:solidFill>
                  <a:schemeClr val="tx1"/>
                </a:solidFill>
              </a:rPr>
              <a:t> справа от поля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5600" dirty="0">
                <a:solidFill>
                  <a:schemeClr val="tx1"/>
                </a:solidFill>
              </a:rPr>
              <a:t>Используя </a:t>
            </a:r>
            <a:r>
              <a:rPr lang="ru-RU" sz="5600" b="1" dirty="0">
                <a:solidFill>
                  <a:schemeClr val="tx1"/>
                </a:solidFill>
              </a:rPr>
              <a:t>явное</a:t>
            </a:r>
            <a:r>
              <a:rPr lang="ru-RU" sz="5600" dirty="0">
                <a:solidFill>
                  <a:schemeClr val="tx1"/>
                </a:solidFill>
              </a:rPr>
              <a:t> ожидание</a:t>
            </a:r>
            <a:r>
              <a:rPr lang="en-US" sz="5600" dirty="0">
                <a:solidFill>
                  <a:schemeClr val="tx1"/>
                </a:solidFill>
              </a:rPr>
              <a:t>(EC)</a:t>
            </a:r>
            <a:r>
              <a:rPr lang="ru-RU" sz="5600" dirty="0">
                <a:solidFill>
                  <a:schemeClr val="tx1"/>
                </a:solidFill>
              </a:rPr>
              <a:t>, проверьте что ссылка</a:t>
            </a:r>
            <a:r>
              <a:rPr lang="en-US" sz="5600" dirty="0">
                <a:solidFill>
                  <a:schemeClr val="tx1"/>
                </a:solidFill>
              </a:rPr>
              <a:t> = "http://demo.automationtesting.in/Register.html"</a:t>
            </a:r>
            <a:endParaRPr lang="ru-RU" sz="5600" dirty="0">
              <a:solidFill>
                <a:schemeClr val="tx1"/>
              </a:solidFill>
            </a:endParaRPr>
          </a:p>
          <a:p>
            <a:r>
              <a:rPr lang="ru-RU" sz="5600" dirty="0">
                <a:solidFill>
                  <a:schemeClr val="tx1"/>
                </a:solidFill>
              </a:rPr>
              <a:t>Дополнительно(необязательно)</a:t>
            </a:r>
            <a:r>
              <a:rPr lang="en-US" sz="5600" dirty="0">
                <a:solidFill>
                  <a:schemeClr val="tx1"/>
                </a:solidFill>
              </a:rPr>
              <a:t>:</a:t>
            </a:r>
            <a:r>
              <a:rPr lang="ru-RU" sz="5600" dirty="0">
                <a:solidFill>
                  <a:schemeClr val="tx1"/>
                </a:solidFill>
              </a:rPr>
              <a:t> для всех </a:t>
            </a:r>
            <a:r>
              <a:rPr lang="en-US" sz="5600" dirty="0">
                <a:solidFill>
                  <a:schemeClr val="tx1"/>
                </a:solidFill>
              </a:rPr>
              <a:t>EC,</a:t>
            </a:r>
            <a:r>
              <a:rPr lang="ru-RU" sz="5600" dirty="0">
                <a:solidFill>
                  <a:schemeClr val="tx1"/>
                </a:solidFill>
              </a:rPr>
              <a:t> вынесите часть проверки в переменную (как на последнем слайде перед практикой)</a:t>
            </a:r>
          </a:p>
          <a:p>
            <a:pPr marL="0" indent="0">
              <a:buNone/>
            </a:pPr>
            <a:endParaRPr lang="ru-RU" sz="1400" b="1" dirty="0">
              <a:solidFill>
                <a:schemeClr val="tx1"/>
              </a:solidFill>
            </a:endParaRPr>
          </a:p>
          <a:p>
            <a:endParaRPr lang="ru-RU" sz="1400" b="1" dirty="0">
              <a:solidFill>
                <a:schemeClr val="tx1"/>
              </a:solidFill>
            </a:endParaRPr>
          </a:p>
          <a:p>
            <a:endParaRPr lang="ru-RU" sz="19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5600" b="1" dirty="0">
              <a:solidFill>
                <a:schemeClr val="tx1"/>
              </a:solidFill>
            </a:endParaRPr>
          </a:p>
          <a:p>
            <a:r>
              <a:rPr lang="ru-RU" sz="5600" b="1" dirty="0">
                <a:solidFill>
                  <a:schemeClr val="tx1"/>
                </a:solidFill>
              </a:rPr>
              <a:t>Код сохраните, потребуется для теста</a:t>
            </a:r>
            <a:endParaRPr lang="ru-RU" sz="5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6919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1822E-BCEF-4B79-B90A-FA0F28D20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6CA6F-A50E-453D-88DA-765F2E16E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932" y="2556932"/>
            <a:ext cx="10271464" cy="331893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1800" dirty="0"/>
              <a:t>Попробуйте решить как можно больше задач из всего урока. Код нужно отправить по ссылке</a:t>
            </a:r>
            <a:r>
              <a:rPr lang="en-US" sz="1800" dirty="0"/>
              <a:t>: </a:t>
            </a:r>
            <a:r>
              <a:rPr lang="en-US" sz="1800" dirty="0">
                <a:hlinkClick r:id="rId2"/>
              </a:rPr>
              <a:t>https://forms.gle/o2YxG4vXjqhzmWX96 </a:t>
            </a:r>
            <a:endParaRPr lang="ru-RU" sz="1800" dirty="0"/>
          </a:p>
          <a:p>
            <a:pPr marL="457200" indent="-457200">
              <a:buFont typeface="+mj-lt"/>
              <a:buAutoNum type="arabicPeriod"/>
            </a:pPr>
            <a:r>
              <a:rPr lang="ru-RU" sz="1800" dirty="0"/>
              <a:t>Заполните анкету обратной связи по ссылке</a:t>
            </a:r>
            <a:r>
              <a:rPr lang="en-US" sz="1800" dirty="0"/>
              <a:t>: </a:t>
            </a:r>
            <a:r>
              <a:rPr lang="en-US" sz="1800" dirty="0">
                <a:hlinkClick r:id="rId3"/>
              </a:rPr>
              <a:t>https://forms.gle/839uKZz37wieuame6</a:t>
            </a:r>
            <a:endParaRPr lang="ru-RU" sz="1800" dirty="0"/>
          </a:p>
        </p:txBody>
      </p:sp>
      <p:pic>
        <p:nvPicPr>
          <p:cNvPr id="4" name="Рисунок 2">
            <a:extLst>
              <a:ext uri="{FF2B5EF4-FFF2-40B4-BE49-F238E27FC236}">
                <a16:creationId xmlns:a16="http://schemas.microsoft.com/office/drawing/2014/main" id="{F5D6472E-89E0-4EE8-AF7B-D552875042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707" y="5024088"/>
            <a:ext cx="1568497" cy="112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415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4983</TotalTime>
  <Words>5090</Words>
  <Application>Microsoft Office PowerPoint</Application>
  <PresentationFormat>Widescreen</PresentationFormat>
  <Paragraphs>904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Garamond</vt:lpstr>
      <vt:lpstr>Garamond (Body)</vt:lpstr>
      <vt:lpstr>Organic</vt:lpstr>
      <vt:lpstr>Урок 3</vt:lpstr>
      <vt:lpstr>Структура 3-го занятия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Домашнее 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2</dc:title>
  <dc:creator>Vladimir Vladimir</dc:creator>
  <cp:lastModifiedBy>Vladimir Vladimir</cp:lastModifiedBy>
  <cp:revision>390</cp:revision>
  <dcterms:created xsi:type="dcterms:W3CDTF">2020-07-24T07:57:37Z</dcterms:created>
  <dcterms:modified xsi:type="dcterms:W3CDTF">2021-01-13T19:43:25Z</dcterms:modified>
</cp:coreProperties>
</file>