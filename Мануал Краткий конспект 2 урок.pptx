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611" r:id="rId3"/>
    <p:sldId id="612" r:id="rId4"/>
    <p:sldId id="61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Garamond" panose="02020404030301010803" pitchFamily="18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34" roundtripDataSignature="AMtx7mioaw4El58uIrgcqT59QQLbuA+u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22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22" name="Google Shape;22;p22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2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" name="Google Shape;24;p2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2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2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1" name="Google Shape;31;p22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p23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49" name="Google Shape;49;p25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2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2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67" name="Google Shape;67;p2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73" name="Google Shape;73;p2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81" name="Google Shape;81;p29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2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3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02" name="Google Shape;102;p3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p3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11" name="Google Shape;111;p33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12" name="Google Shape;112;p33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4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4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3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5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35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3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6" name="Google Shape;126;p3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7" name="Google Shape;127;p35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8" name="Google Shape;128;p3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6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36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3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36" name="Google Shape;136;p36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7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43" name="Google Shape;143;p3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8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8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3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50" name="Google Shape;150;p38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Google Shape;11;p21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21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" name="Google Shape;13;p21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1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ru-RU"/>
              <a:t>Урок 2</a:t>
            </a:r>
            <a:endParaRPr/>
          </a:p>
        </p:txBody>
      </p:sp>
      <p:sp>
        <p:nvSpPr>
          <p:cNvPr id="156" name="Google Shape;156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ru-RU"/>
              <a:t>Виды тестирования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824B-19FE-46E0-89EF-4A1433BA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 box Testing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F7AD-EBA4-4E5A-A30F-37B2691F0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Главный принцип</a:t>
            </a:r>
            <a:r>
              <a:rPr lang="en-US" b="1" dirty="0"/>
              <a:t>:</a:t>
            </a:r>
            <a:r>
              <a:rPr lang="ru-RU" b="1" dirty="0"/>
              <a:t> мы не знаем, как устроена тестируемая система.</a:t>
            </a:r>
            <a:endParaRPr lang="ru-RU" dirty="0"/>
          </a:p>
          <a:p>
            <a:r>
              <a:rPr lang="ru-RU" dirty="0"/>
              <a:t>Тестирование методом «черного ящика», основанно на работе исключительно с внешними интерфейсами тестируемой системы.</a:t>
            </a:r>
          </a:p>
          <a:p>
            <a:r>
              <a:rPr lang="ru-RU" dirty="0"/>
              <a:t>Пример</a:t>
            </a:r>
            <a:r>
              <a:rPr lang="en-US" dirty="0"/>
              <a:t>:</a:t>
            </a:r>
            <a:r>
              <a:rPr lang="ru-RU" dirty="0"/>
              <a:t> Тестирование веб-сайта.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F3A5D-7E92-4007-A9C9-FB8A39241D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3373" y="4169958"/>
            <a:ext cx="1845353" cy="207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63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824B-19FE-46E0-89EF-4A1433BA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box Testing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F7AD-EBA4-4E5A-A30F-37B2691F0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Главный принцип</a:t>
            </a:r>
            <a:r>
              <a:rPr lang="en-US" b="1" dirty="0"/>
              <a:t>:</a:t>
            </a:r>
            <a:r>
              <a:rPr lang="ru-RU" b="1" dirty="0"/>
              <a:t> нам известны все детали реализации тестируемой программы.</a:t>
            </a:r>
            <a:endParaRPr lang="ru-RU" dirty="0"/>
          </a:p>
          <a:p>
            <a:r>
              <a:rPr lang="ru-RU" dirty="0"/>
              <a:t>Тестирование белого</a:t>
            </a:r>
            <a:r>
              <a:rPr lang="ru-RU" sz="2000" i="1" dirty="0"/>
              <a:t>(прозрачного, открытого, стеклянного) </a:t>
            </a:r>
            <a:r>
              <a:rPr lang="ru-RU" sz="2000" dirty="0"/>
              <a:t>ящика</a:t>
            </a:r>
            <a:r>
              <a:rPr lang="ru-RU" sz="2000" i="1" dirty="0"/>
              <a:t> </a:t>
            </a:r>
            <a:r>
              <a:rPr lang="ru-RU" dirty="0"/>
              <a:t>– метод, который предполагает, что внутренняя структура системы известна тестировщику.</a:t>
            </a:r>
          </a:p>
          <a:p>
            <a:r>
              <a:rPr lang="ru-RU" dirty="0"/>
              <a:t>Пример</a:t>
            </a:r>
            <a:r>
              <a:rPr lang="en-US" dirty="0"/>
              <a:t>:</a:t>
            </a:r>
            <a:r>
              <a:rPr lang="ru-RU" dirty="0"/>
              <a:t> Тестирование веб-сайта с доступом к исходному коду.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8767D-C51C-43D2-9F00-D8CF5CF2801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31477" y="4305669"/>
            <a:ext cx="1836128" cy="192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824B-19FE-46E0-89EF-4A1433BA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box Testing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0F7AD-EBA4-4E5A-A30F-37B2691F0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661" y="2556931"/>
            <a:ext cx="9091473" cy="3663647"/>
          </a:xfrm>
        </p:spPr>
        <p:txBody>
          <a:bodyPr>
            <a:normAutofit/>
          </a:bodyPr>
          <a:lstStyle/>
          <a:p>
            <a:r>
              <a:rPr lang="ru-RU" b="1" dirty="0"/>
              <a:t>Главный принцип</a:t>
            </a:r>
            <a:r>
              <a:rPr lang="en-US" b="1" dirty="0"/>
              <a:t>:</a:t>
            </a:r>
            <a:r>
              <a:rPr lang="ru-RU" b="1" dirty="0"/>
              <a:t> нам известны только некоторые особенности реализации тестируемой системы.</a:t>
            </a:r>
            <a:endParaRPr lang="ru-RU" dirty="0"/>
          </a:p>
          <a:p>
            <a:r>
              <a:rPr lang="ru-RU" dirty="0"/>
              <a:t>Тестирование методом серого ящика – метод тестирования ПО, предполагающий, комбинацию White Box и Black Box подходов. </a:t>
            </a:r>
          </a:p>
          <a:p>
            <a:r>
              <a:rPr lang="ru-RU" dirty="0"/>
              <a:t>Пример</a:t>
            </a:r>
            <a:r>
              <a:rPr lang="en-US" dirty="0"/>
              <a:t>:</a:t>
            </a:r>
            <a:r>
              <a:rPr lang="ru-RU" dirty="0"/>
              <a:t> Тестирование веб-сайта с частичным доступом</a:t>
            </a:r>
            <a:r>
              <a:rPr lang="en-US" dirty="0"/>
              <a:t> </a:t>
            </a:r>
            <a:r>
              <a:rPr lang="ru-RU" dirty="0"/>
              <a:t>к исходному коду.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7022A-7AC1-485F-B02C-77BCCA86374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12232" y="4358935"/>
            <a:ext cx="1854107" cy="186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4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Функциональное тестирование</a:t>
            </a:r>
            <a:br>
              <a:rPr lang="ru-RU" sz="3959"/>
            </a:br>
            <a:endParaRPr sz="3959"/>
          </a:p>
        </p:txBody>
      </p:sp>
      <p:sp>
        <p:nvSpPr>
          <p:cNvPr id="162" name="Google Shape;162;p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Функциональное тестирование </a:t>
            </a:r>
            <a:r>
              <a:rPr lang="ru-RU"/>
              <a:t>- вид тестирования, направленный на проверку соответствий функциональных требований ПО к его реальным характеристикам.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Функциональные виды тестирования:</a:t>
            </a:r>
            <a:endParaRPr b="1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ru-RU"/>
              <a:t>	Функциональное тестирование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ru-RU"/>
              <a:t>	</a:t>
            </a:r>
            <a:r>
              <a:rPr lang="ru-RU">
                <a:solidFill>
                  <a:srgbClr val="A5A5A5"/>
                </a:solidFill>
              </a:rPr>
              <a:t>Тестирование безопасности*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163" name="Google Shape;16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9284" y="4325035"/>
            <a:ext cx="3704549" cy="1821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Структура видов тестирования</a:t>
            </a:r>
            <a:br>
              <a:rPr lang="ru-RU" sz="3959"/>
            </a:br>
            <a:endParaRPr sz="3959"/>
          </a:p>
        </p:txBody>
      </p:sp>
      <p:sp>
        <p:nvSpPr>
          <p:cNvPr id="169" name="Google Shape;169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11049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4124" y="2450237"/>
            <a:ext cx="7143750" cy="375647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"/>
          <p:cNvSpPr/>
          <p:nvPr/>
        </p:nvSpPr>
        <p:spPr>
          <a:xfrm>
            <a:off x="7830105" y="4261282"/>
            <a:ext cx="1837769" cy="1945426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ru-RU"/>
              <a:t>Позитивное и негативное тестирование</a:t>
            </a:r>
            <a:endParaRPr/>
          </a:p>
        </p:txBody>
      </p:sp>
      <p:pic>
        <p:nvPicPr>
          <p:cNvPr id="177" name="Google Shape;177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486439" y="2493886"/>
            <a:ext cx="2714625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7651" y="4264851"/>
            <a:ext cx="2714625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/>
          <p:nvPr/>
        </p:nvSpPr>
        <p:spPr>
          <a:xfrm>
            <a:off x="785611" y="2418192"/>
            <a:ext cx="7572039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Позитивное тестирование</a:t>
            </a:r>
            <a:r>
              <a:rPr lang="ru-RU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- применение сценариев, которые соответствуют нормальному поведению системы. 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Негативное тестирование</a:t>
            </a:r>
            <a:r>
              <a:rPr lang="ru-RU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-  применение сценариев, что соответствуют внештатному поведению системы. </a:t>
            </a:r>
            <a:endParaRPr sz="2400" b="0" i="0" u="none" strike="noStrike" cap="non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Нефункциональное тестирование</a:t>
            </a:r>
            <a:br>
              <a:rPr lang="ru-RU" sz="3959"/>
            </a:br>
            <a:endParaRPr sz="3959"/>
          </a:p>
        </p:txBody>
      </p:sp>
      <p:sp>
        <p:nvSpPr>
          <p:cNvPr id="185" name="Google Shape;185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Нефункциональное тестирование - </a:t>
            </a:r>
            <a:r>
              <a:rPr lang="ru-RU"/>
              <a:t>проверка характеристик ПО, которые могут быть измерены различными величинами. 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/>
              <a:t>В целом, это тестирование того, "Как" система работает.</a:t>
            </a:r>
            <a:endParaRPr/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36132" y="4554245"/>
            <a:ext cx="3219819" cy="167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/>
          <p:nvPr/>
        </p:nvSpPr>
        <p:spPr>
          <a:xfrm>
            <a:off x="8336132" y="4554245"/>
            <a:ext cx="763480" cy="292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>
            <a:spLocks noGrp="1"/>
          </p:cNvSpPr>
          <p:nvPr>
            <p:ph type="title"/>
          </p:nvPr>
        </p:nvSpPr>
        <p:spPr>
          <a:xfrm>
            <a:off x="1065319" y="982132"/>
            <a:ext cx="10236093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Тестирование интерфейса пользователя (UI/GUI)</a:t>
            </a:r>
            <a:br>
              <a:rPr lang="ru-RU" sz="3959"/>
            </a:br>
            <a:endParaRPr sz="3959"/>
          </a:p>
        </p:txBody>
      </p:sp>
      <p:sp>
        <p:nvSpPr>
          <p:cNvPr id="193" name="Google Shape;193;p6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Тестирование UI </a:t>
            </a:r>
            <a:r>
              <a:rPr lang="ru-RU"/>
              <a:t>– проверка соответствия дизайна заданным требованиям и утверждённому прототипу.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194" name="Google Shape;19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5968" y="4338310"/>
            <a:ext cx="2985445" cy="1908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>
            <a:spLocks noGrp="1"/>
          </p:cNvSpPr>
          <p:nvPr>
            <p:ph type="title"/>
          </p:nvPr>
        </p:nvSpPr>
        <p:spPr>
          <a:xfrm>
            <a:off x="958788" y="816746"/>
            <a:ext cx="10342486" cy="146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ru-RU"/>
              <a:t>Тестирование удобства использования</a:t>
            </a:r>
            <a:br>
              <a:rPr lang="ru-RU"/>
            </a:br>
            <a:r>
              <a:rPr lang="ru-RU"/>
              <a:t>(Usability)</a:t>
            </a:r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body" idx="1"/>
          </p:nvPr>
        </p:nvSpPr>
        <p:spPr>
          <a:xfrm>
            <a:off x="781235" y="2432481"/>
            <a:ext cx="9428085" cy="3790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Тестирование удобства использования</a:t>
            </a:r>
            <a:r>
              <a:rPr lang="ru-RU"/>
              <a:t> - это вид тестирования, направленный на установление степени: 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ru-RU"/>
              <a:t>удобства использования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ru-RU"/>
              <a:t>обучаемости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ru-RU"/>
              <a:t>понятности для пользователей, в контексте заданных условий.</a:t>
            </a:r>
            <a:endParaRPr/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5328" y="3480046"/>
            <a:ext cx="2693717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"/>
          <p:cNvSpPr txBox="1">
            <a:spLocks noGrp="1"/>
          </p:cNvSpPr>
          <p:nvPr>
            <p:ph type="title"/>
          </p:nvPr>
        </p:nvSpPr>
        <p:spPr>
          <a:xfrm>
            <a:off x="958788" y="816746"/>
            <a:ext cx="10342486" cy="146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ru-RU"/>
              <a:t>Особенности клавиатуры</a:t>
            </a:r>
            <a:endParaRPr/>
          </a:p>
        </p:txBody>
      </p:sp>
      <p:sp>
        <p:nvSpPr>
          <p:cNvPr id="208" name="Google Shape;208;p8"/>
          <p:cNvSpPr txBox="1">
            <a:spLocks noGrp="1"/>
          </p:cNvSpPr>
          <p:nvPr>
            <p:ph type="body" idx="1"/>
          </p:nvPr>
        </p:nvSpPr>
        <p:spPr>
          <a:xfrm>
            <a:off x="1295401" y="2432481"/>
            <a:ext cx="9601196" cy="3790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ESC </a:t>
            </a:r>
            <a:r>
              <a:rPr lang="ru-RU"/>
              <a:t>– закрытие окна/панели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TAB / TAB + SHIFT</a:t>
            </a:r>
            <a:r>
              <a:rPr lang="ru-RU"/>
              <a:t> – переключение между полями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ENTER</a:t>
            </a:r>
            <a:r>
              <a:rPr lang="ru-RU"/>
              <a:t> – имитирует клик по полю/кнопке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SPACE</a:t>
            </a:r>
            <a:r>
              <a:rPr lang="ru-RU"/>
              <a:t> – выделяет/снимает выделение чекбокса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Сочетание клавиш</a:t>
            </a:r>
            <a:r>
              <a:rPr lang="ru-RU"/>
              <a:t> (ctrl + c ...)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Клавиши быстрого доступа </a:t>
            </a:r>
            <a:endParaRPr b="1"/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67948" y="2743800"/>
            <a:ext cx="1728649" cy="162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0988" y="4632278"/>
            <a:ext cx="2121624" cy="1332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title"/>
          </p:nvPr>
        </p:nvSpPr>
        <p:spPr>
          <a:xfrm>
            <a:off x="958788" y="816746"/>
            <a:ext cx="10342486" cy="1469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ru-RU"/>
              <a:t>Особенности курсора</a:t>
            </a:r>
            <a:endParaRPr/>
          </a:p>
        </p:txBody>
      </p:sp>
      <p:pic>
        <p:nvPicPr>
          <p:cNvPr id="216" name="Google Shape;216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27238" y="3197918"/>
            <a:ext cx="476770" cy="476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2902" y="3829555"/>
            <a:ext cx="497392" cy="497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7238" y="4481814"/>
            <a:ext cx="497392" cy="497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8696" y="2557739"/>
            <a:ext cx="485312" cy="48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02902" y="5134073"/>
            <a:ext cx="501106" cy="50110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2241611" y="2615729"/>
            <a:ext cx="4931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Курсор по умолчанию(Default)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241610" y="3254604"/>
            <a:ext cx="25967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Курсор-рука(Pointer)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2241611" y="3893479"/>
            <a:ext cx="27397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Текстовое выделение(Text)</a:t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2241611" y="4532354"/>
            <a:ext cx="397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Перекрестие(Crosshair)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2241610" y="5199960"/>
            <a:ext cx="66271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Курсор перемещения(Move)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Тестирование локализации</a:t>
            </a:r>
            <a:br>
              <a:rPr lang="ru-RU" sz="3959"/>
            </a:br>
            <a:endParaRPr sz="3959"/>
          </a:p>
        </p:txBody>
      </p:sp>
      <p:sp>
        <p:nvSpPr>
          <p:cNvPr id="231" name="Google Shape;231;p10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220"/>
              <a:buNone/>
            </a:pPr>
            <a:r>
              <a:rPr lang="ru-RU" sz="2800" b="1"/>
              <a:t>Локализация</a:t>
            </a:r>
            <a:r>
              <a:rPr lang="ru-RU" sz="2800"/>
              <a:t> – процесс адаптации программного продукта к языку и культуре клиента. </a:t>
            </a:r>
            <a:endParaRPr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3220"/>
              <a:buNone/>
            </a:pPr>
            <a:endParaRPr sz="2800"/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94761" y="3118536"/>
            <a:ext cx="5088015" cy="3173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Кроссбраузерное тестирование</a:t>
            </a:r>
            <a:br>
              <a:rPr lang="ru-RU" sz="3959"/>
            </a:br>
            <a:endParaRPr sz="3959"/>
          </a:p>
        </p:txBody>
      </p:sp>
      <p:sp>
        <p:nvSpPr>
          <p:cNvPr id="238" name="Google Shape;238;p11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Тестирование кроссбраузерности</a:t>
            </a:r>
            <a:r>
              <a:rPr lang="ru-RU"/>
              <a:t> </a:t>
            </a:r>
            <a:r>
              <a:rPr lang="ru-RU" b="1"/>
              <a:t>-</a:t>
            </a:r>
            <a:r>
              <a:rPr lang="ru-RU"/>
              <a:t> вид тестирования, направленный на поддержку и правильное отображение приложения в разных браузерах, мобильных устройствах, планшетах, экранах различного размера.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39" name="Google Shape;2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4401" y="4731798"/>
            <a:ext cx="3033203" cy="1516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Конфигурационное тестирование</a:t>
            </a:r>
            <a:br>
              <a:rPr lang="ru-RU" sz="3959"/>
            </a:br>
            <a:endParaRPr sz="3959"/>
          </a:p>
        </p:txBody>
      </p:sp>
      <p:sp>
        <p:nvSpPr>
          <p:cNvPr id="245" name="Google Shape;245;p1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Конфигурационное тестирование - </a:t>
            </a:r>
            <a:r>
              <a:rPr lang="ru-RU"/>
              <a:t>проверка работоспособности ПО в условиях различных операционных систем, аппаратных и программных конфигураций.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6947" y="4488032"/>
            <a:ext cx="260985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Конфигурационное тестирование</a:t>
            </a:r>
            <a:br>
              <a:rPr lang="ru-RU" sz="3959"/>
            </a:br>
            <a:endParaRPr sz="3959"/>
          </a:p>
        </p:txBody>
      </p:sp>
      <p:sp>
        <p:nvSpPr>
          <p:cNvPr id="252" name="Google Shape;252;p13"/>
          <p:cNvSpPr txBox="1">
            <a:spLocks noGrp="1"/>
          </p:cNvSpPr>
          <p:nvPr>
            <p:ph type="body" idx="1"/>
          </p:nvPr>
        </p:nvSpPr>
        <p:spPr>
          <a:xfrm>
            <a:off x="1056448" y="2556932"/>
            <a:ext cx="8691239" cy="361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Две цели конфигурационного тестирования: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ru-RU"/>
              <a:t> Определить оптимальную конфигурацию оборудования, достаточную для использования ПО.</a:t>
            </a:r>
            <a:endParaRPr/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ru-RU"/>
              <a:t>Проверить приложение на совместимость с объявленным в спецификации оборудованием, ОС, и ПО третьих фирм.</a:t>
            </a: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53" name="Google Shape;25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9813" y="4488032"/>
            <a:ext cx="2606983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Тестирование безопасности</a:t>
            </a:r>
            <a:br>
              <a:rPr lang="ru-RU" sz="3959"/>
            </a:br>
            <a:endParaRPr sz="3959"/>
          </a:p>
        </p:txBody>
      </p:sp>
      <p:sp>
        <p:nvSpPr>
          <p:cNvPr id="259" name="Google Shape;259;p1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Тестирование безопасности</a:t>
            </a:r>
            <a:r>
              <a:rPr lang="ru-RU"/>
              <a:t> – направлено на обнаружение дефектов, связанных с сохранностью пользовательских данных.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60" name="Google Shape;2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7759" y="4183799"/>
            <a:ext cx="3649832" cy="206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Что тестируют?</a:t>
            </a:r>
            <a:br>
              <a:rPr lang="ru-RU" sz="3959"/>
            </a:br>
            <a:endParaRPr sz="3959"/>
          </a:p>
        </p:txBody>
      </p:sp>
      <p:sp>
        <p:nvSpPr>
          <p:cNvPr id="266" name="Google Shape;266;p1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ru-RU"/>
              <a:t>Отображение важной информации в зашифрованном виде </a:t>
            </a:r>
            <a:r>
              <a:rPr lang="ru-RU" i="1"/>
              <a:t>(пароли,   cvv карты и т.д)</a:t>
            </a:r>
            <a:endParaRPr/>
          </a:p>
          <a:p>
            <a:pPr marL="457200" lvl="0" indent="-45720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ru-RU"/>
              <a:t>Наличие правил создания паролей при регистрации</a:t>
            </a:r>
            <a:endParaRPr/>
          </a:p>
          <a:p>
            <a:pPr marL="457200" lvl="0" indent="-45720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ru-RU"/>
              <a:t>Невозможность зайти под старым паролем, после смены пароля</a:t>
            </a:r>
            <a:endParaRPr/>
          </a:p>
          <a:p>
            <a:pPr marL="457200" lvl="0" indent="-45720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ru-RU"/>
              <a:t>Сообщения об ошибках не содержат никакой секретной информации</a:t>
            </a:r>
            <a:endParaRPr/>
          </a:p>
          <a:p>
            <a:pPr marL="457200" lvl="0" indent="-45720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AutoNum type="arabicPeriod"/>
            </a:pPr>
            <a:r>
              <a:rPr lang="ru-RU"/>
              <a:t>XSS инъекции: &lt;script&gt;alert(“some text”);&lt;/script&gt;</a:t>
            </a:r>
            <a:endParaRPr/>
          </a:p>
          <a:p>
            <a:pPr marL="457200" lvl="0" indent="-28194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"/>
          <p:cNvSpPr txBox="1">
            <a:spLocks noGrp="1"/>
          </p:cNvSpPr>
          <p:nvPr>
            <p:ph type="title"/>
          </p:nvPr>
        </p:nvSpPr>
        <p:spPr>
          <a:xfrm>
            <a:off x="1295401" y="1253065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Тестирование производительности</a:t>
            </a:r>
            <a:br>
              <a:rPr lang="ru-RU" sz="3959"/>
            </a:br>
            <a:br>
              <a:rPr lang="ru-RU" sz="3959"/>
            </a:br>
            <a:endParaRPr sz="3959"/>
          </a:p>
        </p:txBody>
      </p:sp>
      <p:sp>
        <p:nvSpPr>
          <p:cNvPr id="272" name="Google Shape;272;p16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lang="ru-RU" b="1"/>
              <a:t>Тестирование производительности </a:t>
            </a:r>
            <a:r>
              <a:rPr lang="ru-RU"/>
              <a:t>- это комплекс видов тестирования, целью которого является определение работоспособности, стабильности приложения.</a:t>
            </a:r>
            <a:endParaRPr/>
          </a:p>
        </p:txBody>
      </p:sp>
      <p:pic>
        <p:nvPicPr>
          <p:cNvPr id="273" name="Google Shape;27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0152" y="3724367"/>
            <a:ext cx="70580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 txBox="1">
            <a:spLocks noGrp="1"/>
          </p:cNvSpPr>
          <p:nvPr>
            <p:ph type="title"/>
          </p:nvPr>
        </p:nvSpPr>
        <p:spPr>
          <a:xfrm>
            <a:off x="1295401" y="1253065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Тестирование производительности.</a:t>
            </a:r>
            <a:br>
              <a:rPr lang="ru-RU" sz="3959"/>
            </a:br>
            <a:r>
              <a:rPr lang="ru-RU" sz="3959"/>
              <a:t>Виды:</a:t>
            </a:r>
            <a:br>
              <a:rPr lang="ru-RU" sz="3959"/>
            </a:br>
            <a:endParaRPr sz="3959"/>
          </a:p>
        </p:txBody>
      </p:sp>
      <p:sp>
        <p:nvSpPr>
          <p:cNvPr id="279" name="Google Shape;279;p17"/>
          <p:cNvSpPr txBox="1">
            <a:spLocks noGrp="1"/>
          </p:cNvSpPr>
          <p:nvPr>
            <p:ph type="body" idx="1"/>
          </p:nvPr>
        </p:nvSpPr>
        <p:spPr>
          <a:xfrm>
            <a:off x="754602" y="2556932"/>
            <a:ext cx="10733103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SzPts val="2760"/>
              <a:buFont typeface="+mj-lt"/>
              <a:buAutoNum type="arabicPeriod"/>
            </a:pPr>
            <a:r>
              <a:rPr lang="ru-RU" b="1" dirty="0"/>
              <a:t>Нагрузочное тестирование - </a:t>
            </a:r>
            <a:r>
              <a:rPr lang="ru-RU" dirty="0"/>
              <a:t>проверка производительности при нормальных условиях.</a:t>
            </a:r>
            <a:endParaRPr dirty="0"/>
          </a:p>
          <a:p>
            <a:pPr marL="457200" lvl="0" indent="-28194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None/>
            </a:pPr>
            <a:endParaRPr dirty="0"/>
          </a:p>
          <a:p>
            <a:pPr lvl="0" indent="-457200" algn="l" rtl="0">
              <a:spcBef>
                <a:spcPts val="1080"/>
              </a:spcBef>
              <a:spcAft>
                <a:spcPts val="0"/>
              </a:spcAft>
              <a:buSzPts val="2760"/>
              <a:buFont typeface="+mj-lt"/>
              <a:buAutoNum type="arabicPeriod" startAt="2"/>
            </a:pPr>
            <a:r>
              <a:rPr lang="ru-RU" b="1" dirty="0"/>
              <a:t>Стресс-тестирование - </a:t>
            </a:r>
            <a:r>
              <a:rPr lang="ru-RU" dirty="0"/>
              <a:t>работоспособность, производительность приложения при экстремальных нагрузках.</a:t>
            </a:r>
            <a:endParaRPr dirty="0"/>
          </a:p>
          <a:p>
            <a:pPr marL="457200" lvl="1" indent="0" algn="l" rtl="0">
              <a:spcBef>
                <a:spcPts val="1000"/>
              </a:spcBef>
              <a:spcAft>
                <a:spcPts val="0"/>
              </a:spcAft>
              <a:buSzPts val="2300"/>
              <a:buNone/>
            </a:pPr>
            <a:r>
              <a:rPr lang="ru-RU" dirty="0"/>
              <a:t>нехватка ресурсов </a:t>
            </a:r>
            <a:r>
              <a:rPr lang="ru-RU" i="1" dirty="0"/>
              <a:t>(оперативаная память, место на диске и т.д.)</a:t>
            </a:r>
            <a:endParaRPr dirty="0"/>
          </a:p>
          <a:p>
            <a:pPr marL="457200" lvl="1" indent="0" algn="l" rtl="0">
              <a:spcBef>
                <a:spcPts val="1000"/>
              </a:spcBef>
              <a:spcAft>
                <a:spcPts val="0"/>
              </a:spcAft>
              <a:buSzPts val="2300"/>
              <a:buNone/>
            </a:pPr>
            <a:r>
              <a:rPr lang="ru-RU" dirty="0"/>
              <a:t>запущено множество процессов в приложении</a:t>
            </a:r>
            <a:endParaRPr dirty="0"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>
            <a:spLocks noGrp="1"/>
          </p:cNvSpPr>
          <p:nvPr>
            <p:ph type="title"/>
          </p:nvPr>
        </p:nvSpPr>
        <p:spPr>
          <a:xfrm>
            <a:off x="1295401" y="1253065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Тестирование производительности.</a:t>
            </a:r>
            <a:br>
              <a:rPr lang="ru-RU" sz="3959"/>
            </a:br>
            <a:r>
              <a:rPr lang="ru-RU" sz="3959"/>
              <a:t>Виды:</a:t>
            </a:r>
            <a:br>
              <a:rPr lang="ru-RU" sz="3959"/>
            </a:br>
            <a:endParaRPr sz="3959"/>
          </a:p>
        </p:txBody>
      </p:sp>
      <p:sp>
        <p:nvSpPr>
          <p:cNvPr id="285" name="Google Shape;285;p18"/>
          <p:cNvSpPr txBox="1">
            <a:spLocks noGrp="1"/>
          </p:cNvSpPr>
          <p:nvPr>
            <p:ph type="body" idx="1"/>
          </p:nvPr>
        </p:nvSpPr>
        <p:spPr>
          <a:xfrm>
            <a:off x="772356" y="2556932"/>
            <a:ext cx="10688715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760"/>
              <a:buFont typeface="Garamond"/>
              <a:buAutoNum type="arabicPeriod" startAt="3"/>
            </a:pPr>
            <a:r>
              <a:rPr lang="ru-RU" b="1" dirty="0"/>
              <a:t>Тестирование стабильности - </a:t>
            </a:r>
            <a:r>
              <a:rPr lang="ru-RU" dirty="0"/>
              <a:t>проверка при длительной работе.</a:t>
            </a:r>
            <a:endParaRPr dirty="0"/>
          </a:p>
          <a:p>
            <a:pPr marL="457200" lvl="0" indent="-281940" algn="l" rtl="0">
              <a:spcBef>
                <a:spcPts val="1080"/>
              </a:spcBef>
              <a:spcAft>
                <a:spcPts val="0"/>
              </a:spcAft>
              <a:buSzPts val="2760"/>
              <a:buFont typeface="Garamond"/>
              <a:buNone/>
            </a:pPr>
            <a:endParaRPr b="1" dirty="0"/>
          </a:p>
          <a:p>
            <a:pPr marL="457200" lvl="0" indent="-457200" algn="l" rtl="0">
              <a:spcBef>
                <a:spcPts val="1080"/>
              </a:spcBef>
              <a:spcAft>
                <a:spcPts val="0"/>
              </a:spcAft>
              <a:buSzPts val="2760"/>
              <a:buFont typeface="+mj-lt"/>
              <a:buAutoNum type="arabicPeriod" startAt="4"/>
            </a:pPr>
            <a:r>
              <a:rPr lang="ru-RU" b="1" dirty="0"/>
              <a:t>Объемное тестирование - </a:t>
            </a:r>
            <a:r>
              <a:rPr lang="ru-RU" dirty="0"/>
              <a:t>проверка при увеличенных объемах обрабатываемых данных.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ru-RU" dirty="0"/>
              <a:t>в системе много данных </a:t>
            </a:r>
            <a:r>
              <a:rPr lang="ru-RU" i="1" dirty="0"/>
              <a:t>(пользователи/задачи/сообщения/комментарии и т.д.)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ru-RU" dirty="0"/>
              <a:t>выполнение операции с большим количеством данных </a:t>
            </a:r>
            <a:r>
              <a:rPr lang="ru-RU" i="1" dirty="0"/>
              <a:t>(создание, перемещение, удаление и т.д)</a:t>
            </a:r>
            <a:endParaRPr dirty="0"/>
          </a:p>
          <a:p>
            <a:pPr marL="742950" lvl="1" indent="-139700" algn="l" rtl="0">
              <a:spcBef>
                <a:spcPts val="1000"/>
              </a:spcBef>
              <a:spcAft>
                <a:spcPts val="0"/>
              </a:spcAft>
              <a:buSzPts val="2300"/>
              <a:buNone/>
            </a:pPr>
            <a:endParaRPr dirty="0"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/>
          <p:nvPr/>
        </p:nvSpPr>
        <p:spPr>
          <a:xfrm>
            <a:off x="6454066" y="2299317"/>
            <a:ext cx="88777" cy="62143"/>
          </a:xfrm>
          <a:prstGeom prst="star4">
            <a:avLst>
              <a:gd name="adj" fmla="val 12500"/>
            </a:avLst>
          </a:prstGeom>
          <a:solidFill>
            <a:srgbClr val="A3A3A3"/>
          </a:solidFill>
          <a:ln w="158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959"/>
              <a:buFont typeface="Garamond"/>
              <a:buNone/>
            </a:pPr>
            <a:r>
              <a:rPr lang="ru-RU" sz="3959"/>
              <a:t>Домашнее задание</a:t>
            </a:r>
            <a:br>
              <a:rPr lang="ru-RU" sz="3959"/>
            </a:br>
            <a:endParaRPr sz="3959"/>
          </a:p>
        </p:txBody>
      </p:sp>
      <p:sp>
        <p:nvSpPr>
          <p:cNvPr id="297" name="Google Shape;297;p20"/>
          <p:cNvSpPr txBox="1">
            <a:spLocks noGrp="1"/>
          </p:cNvSpPr>
          <p:nvPr>
            <p:ph type="body" idx="1"/>
          </p:nvPr>
        </p:nvSpPr>
        <p:spPr>
          <a:xfrm>
            <a:off x="719092" y="2512381"/>
            <a:ext cx="10177506" cy="37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2530"/>
              <a:buFont typeface="Garamond"/>
              <a:buAutoNum type="arabicPeriod"/>
            </a:pPr>
            <a:r>
              <a:rPr lang="ru-RU" sz="2200"/>
              <a:t>Протестировать напольные весы, используя все виды тестирования </a:t>
            </a:r>
            <a:endParaRPr/>
          </a:p>
          <a:p>
            <a:pPr marL="457200" lvl="0" indent="-457200" algn="l" rtl="0">
              <a:spcBef>
                <a:spcPts val="1040"/>
              </a:spcBef>
              <a:spcAft>
                <a:spcPts val="0"/>
              </a:spcAft>
              <a:buSzPts val="2530"/>
              <a:buFont typeface="Garamond"/>
              <a:buAutoNum type="arabicPeriod"/>
            </a:pPr>
            <a:r>
              <a:rPr lang="ru-RU" sz="2200"/>
              <a:t>Пройти испытание по UI и Usability</a:t>
            </a:r>
            <a:endParaRPr sz="2200"/>
          </a:p>
          <a:p>
            <a:pPr marL="457200" lvl="0" indent="-457200" algn="l" rtl="0">
              <a:spcBef>
                <a:spcPts val="1040"/>
              </a:spcBef>
              <a:spcAft>
                <a:spcPts val="0"/>
              </a:spcAft>
              <a:buSzPts val="2530"/>
              <a:buFont typeface="Garamond"/>
              <a:buAutoNum type="arabicPeriod"/>
            </a:pPr>
            <a:r>
              <a:rPr lang="ru-RU" sz="2200"/>
              <a:t>Протестировать web-проект Rushplace, используя все виды тестирования</a:t>
            </a:r>
            <a:endParaRPr sz="2200"/>
          </a:p>
          <a:p>
            <a:pPr marL="457200" lvl="0" indent="-457200" algn="l" rtl="0">
              <a:spcBef>
                <a:spcPts val="1040"/>
              </a:spcBef>
              <a:spcAft>
                <a:spcPts val="0"/>
              </a:spcAft>
              <a:buSzPts val="2530"/>
              <a:buFont typeface="Garamond"/>
              <a:buAutoNum type="arabicPeriod"/>
            </a:pPr>
            <a:r>
              <a:rPr lang="ru-RU" sz="2200"/>
              <a:t>Протестировать программу List Boxer, используя все виды тестирования</a:t>
            </a:r>
            <a:endParaRPr/>
          </a:p>
          <a:p>
            <a:pPr marL="457200" lvl="0" indent="-296545" algn="l" rtl="0">
              <a:spcBef>
                <a:spcPts val="1040"/>
              </a:spcBef>
              <a:spcAft>
                <a:spcPts val="0"/>
              </a:spcAft>
              <a:buSzPts val="2530"/>
              <a:buFont typeface="Garamond"/>
              <a:buNone/>
            </a:pPr>
            <a:endParaRPr sz="2200"/>
          </a:p>
          <a:p>
            <a:pPr marL="285750" lvl="0" indent="-285750" algn="l" rtl="0">
              <a:spcBef>
                <a:spcPts val="1040"/>
              </a:spcBef>
              <a:spcAft>
                <a:spcPts val="0"/>
              </a:spcAft>
              <a:buSzPts val="2530"/>
              <a:buChar char="•"/>
            </a:pPr>
            <a:r>
              <a:rPr lang="ru-RU" sz="2200"/>
              <a:t>Инструкции по выполнению будут в папке с общим дз</a:t>
            </a:r>
            <a:endParaRPr sz="2200"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pic>
        <p:nvPicPr>
          <p:cNvPr id="298" name="Google Shape;29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4674" y="5202318"/>
            <a:ext cx="1443530" cy="1033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657</Words>
  <Application>Microsoft Office PowerPoint</Application>
  <PresentationFormat>Widescreen</PresentationFormat>
  <Paragraphs>92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Calibri</vt:lpstr>
      <vt:lpstr>Garamond</vt:lpstr>
      <vt:lpstr>Arial</vt:lpstr>
      <vt:lpstr>Organic</vt:lpstr>
      <vt:lpstr>Урок 2</vt:lpstr>
      <vt:lpstr>Black box Testing</vt:lpstr>
      <vt:lpstr>White box Testing</vt:lpstr>
      <vt:lpstr>Gray box Testing</vt:lpstr>
      <vt:lpstr>Функциональное тестирование </vt:lpstr>
      <vt:lpstr>Структура видов тестирования </vt:lpstr>
      <vt:lpstr>Позитивное и негативное тестирование</vt:lpstr>
      <vt:lpstr>Нефункциональное тестирование </vt:lpstr>
      <vt:lpstr>Тестирование интерфейса пользователя (UI/GUI) </vt:lpstr>
      <vt:lpstr>Тестирование удобства использования (Usability)</vt:lpstr>
      <vt:lpstr>Особенности клавиатуры</vt:lpstr>
      <vt:lpstr>Особенности курсора</vt:lpstr>
      <vt:lpstr>Тестирование локализации </vt:lpstr>
      <vt:lpstr>Кроссбраузерное тестирование </vt:lpstr>
      <vt:lpstr>Конфигурационное тестирование </vt:lpstr>
      <vt:lpstr>Конфигурационное тестирование </vt:lpstr>
      <vt:lpstr>Тестирование безопасности </vt:lpstr>
      <vt:lpstr>Что тестируют? </vt:lpstr>
      <vt:lpstr>Тестирование производительности  </vt:lpstr>
      <vt:lpstr>Тестирование производительности. Виды: </vt:lpstr>
      <vt:lpstr>Тестирование производительности. Виды: </vt:lpstr>
      <vt:lpstr>PowerPoint Presentation</vt:lpstr>
      <vt:lpstr>Домашнее задание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2</dc:title>
  <dc:creator>KATESATOR</dc:creator>
  <cp:lastModifiedBy>Vladimir Vladimir</cp:lastModifiedBy>
  <cp:revision>2</cp:revision>
  <dcterms:created xsi:type="dcterms:W3CDTF">2019-01-12T13:19:23Z</dcterms:created>
  <dcterms:modified xsi:type="dcterms:W3CDTF">2020-08-21T11:08:14Z</dcterms:modified>
</cp:coreProperties>
</file>