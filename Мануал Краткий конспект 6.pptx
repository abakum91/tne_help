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2"/>
  </p:notesMasterIdLst>
  <p:sldIdLst>
    <p:sldId id="256" r:id="rId2"/>
    <p:sldId id="337" r:id="rId3"/>
    <p:sldId id="351" r:id="rId4"/>
    <p:sldId id="451" r:id="rId5"/>
    <p:sldId id="354" r:id="rId6"/>
    <p:sldId id="502" r:id="rId7"/>
    <p:sldId id="357" r:id="rId8"/>
    <p:sldId id="358" r:id="rId9"/>
    <p:sldId id="487" r:id="rId10"/>
    <p:sldId id="360" r:id="rId11"/>
    <p:sldId id="498" r:id="rId12"/>
    <p:sldId id="365" r:id="rId13"/>
    <p:sldId id="366" r:id="rId14"/>
    <p:sldId id="368" r:id="rId15"/>
    <p:sldId id="369" r:id="rId16"/>
    <p:sldId id="279" r:id="rId17"/>
    <p:sldId id="488" r:id="rId18"/>
    <p:sldId id="370" r:id="rId19"/>
    <p:sldId id="373" r:id="rId20"/>
    <p:sldId id="489" r:id="rId21"/>
    <p:sldId id="374" r:id="rId22"/>
    <p:sldId id="491" r:id="rId23"/>
    <p:sldId id="492" r:id="rId24"/>
    <p:sldId id="375" r:id="rId25"/>
    <p:sldId id="379" r:id="rId26"/>
    <p:sldId id="376" r:id="rId27"/>
    <p:sldId id="493" r:id="rId28"/>
    <p:sldId id="407" r:id="rId29"/>
    <p:sldId id="494" r:id="rId30"/>
    <p:sldId id="454" r:id="rId31"/>
    <p:sldId id="297" r:id="rId32"/>
    <p:sldId id="300" r:id="rId33"/>
    <p:sldId id="298" r:id="rId34"/>
    <p:sldId id="303" r:id="rId35"/>
    <p:sldId id="380" r:id="rId36"/>
    <p:sldId id="304" r:id="rId37"/>
    <p:sldId id="308" r:id="rId38"/>
    <p:sldId id="307" r:id="rId39"/>
    <p:sldId id="500" r:id="rId40"/>
    <p:sldId id="268" r:id="rId41"/>
    <p:sldId id="381" r:id="rId42"/>
    <p:sldId id="501" r:id="rId43"/>
    <p:sldId id="313" r:id="rId44"/>
    <p:sldId id="496" r:id="rId45"/>
    <p:sldId id="495" r:id="rId46"/>
    <p:sldId id="416" r:id="rId47"/>
    <p:sldId id="417" r:id="rId48"/>
    <p:sldId id="418" r:id="rId49"/>
    <p:sldId id="453" r:id="rId50"/>
    <p:sldId id="320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4" autoAdjust="0"/>
    <p:restoredTop sz="94364" autoAdjust="0"/>
  </p:normalViewPr>
  <p:slideViewPr>
    <p:cSldViewPr snapToGrid="0">
      <p:cViewPr varScale="1">
        <p:scale>
          <a:sx n="108" d="100"/>
          <a:sy n="108" d="100"/>
        </p:scale>
        <p:origin x="7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2F593B-444F-4603-98CA-9AC13CF1315F}" type="datetimeFigureOut">
              <a:rPr lang="ru-RU" smtClean="0"/>
              <a:t>16.12.2020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33B807-373E-4633-B9AC-EDB7CA03C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0213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33B807-373E-4633-B9AC-EDB7CA03CF3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8152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33B807-373E-4633-B9AC-EDB7CA03CF3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9724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33B807-373E-4633-B9AC-EDB7CA03CF3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2517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12/16/2020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12/16/2020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Урок 6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460446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37" y="2384473"/>
            <a:ext cx="11141612" cy="206091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18757" y="0"/>
            <a:ext cx="12210757" cy="23844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Rectangle 3"/>
          <p:cNvSpPr/>
          <p:nvPr/>
        </p:nvSpPr>
        <p:spPr>
          <a:xfrm>
            <a:off x="-18757" y="4445391"/>
            <a:ext cx="12229514" cy="24126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Rectangle 4"/>
          <p:cNvSpPr/>
          <p:nvPr/>
        </p:nvSpPr>
        <p:spPr>
          <a:xfrm>
            <a:off x="-18757" y="2053883"/>
            <a:ext cx="525194" cy="26025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Rectangle 5"/>
          <p:cNvSpPr/>
          <p:nvPr/>
        </p:nvSpPr>
        <p:spPr>
          <a:xfrm>
            <a:off x="11648049" y="1941342"/>
            <a:ext cx="562708" cy="26025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6696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58994054-85BE-42CE-AACC-5194C2DC09F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612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3B28-95AF-4589-81AE-3204CFB58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Как это можно использовать в тестировании?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8FC7D-384F-46AB-BBF0-3917E6644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Создавать большие объемы тестовых данных</a:t>
            </a:r>
          </a:p>
          <a:p>
            <a:r>
              <a:rPr lang="ru-RU" dirty="0"/>
              <a:t>Менять в базе данных статусы для объектов для экономии времени</a:t>
            </a:r>
          </a:p>
          <a:p>
            <a:r>
              <a:rPr lang="ru-RU" dirty="0"/>
              <a:t>Импортировать / экспортировать БД для тестирования </a:t>
            </a:r>
            <a:r>
              <a:rPr lang="en-US" dirty="0"/>
              <a:t>“</a:t>
            </a:r>
            <a:r>
              <a:rPr lang="ru-RU" dirty="0"/>
              <a:t>особых</a:t>
            </a:r>
            <a:r>
              <a:rPr lang="en-US" dirty="0"/>
              <a:t>”</a:t>
            </a:r>
            <a:r>
              <a:rPr lang="ru-RU" dirty="0"/>
              <a:t> багов</a:t>
            </a:r>
          </a:p>
          <a:p>
            <a:r>
              <a:rPr lang="ru-RU" dirty="0"/>
              <a:t>Тестировать лицензии</a:t>
            </a:r>
          </a:p>
          <a:p>
            <a:r>
              <a:rPr lang="ru-RU" dirty="0"/>
              <a:t>Проверять парсинг данных</a:t>
            </a:r>
          </a:p>
          <a:p>
            <a:r>
              <a:rPr lang="ru-RU" dirty="0"/>
              <a:t>Применять </a:t>
            </a:r>
            <a:r>
              <a:rPr lang="en-US" dirty="0"/>
              <a:t>SQL</a:t>
            </a:r>
            <a:r>
              <a:rPr lang="ru-RU" dirty="0"/>
              <a:t>-инъекции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8233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Типы данных в </a:t>
            </a:r>
            <a:r>
              <a:rPr lang="en-US" dirty="0"/>
              <a:t>SQL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Типы данных SQL</a:t>
            </a:r>
            <a:r>
              <a:rPr lang="ru-RU" dirty="0"/>
              <a:t> разделяются на три группы:</a:t>
            </a:r>
          </a:p>
          <a:p>
            <a:r>
              <a:rPr lang="ru-RU" dirty="0"/>
              <a:t>Строковые</a:t>
            </a:r>
          </a:p>
          <a:p>
            <a:r>
              <a:rPr lang="ru-RU" dirty="0"/>
              <a:t>Числовые</a:t>
            </a:r>
          </a:p>
          <a:p>
            <a:r>
              <a:rPr lang="ru-RU" dirty="0"/>
              <a:t>Календарные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75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0F5825-09BD-4248-9C42-365DD74611C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0" y="0"/>
          <a:ext cx="12192000" cy="72947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665092716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272845279"/>
                    </a:ext>
                  </a:extLst>
                </a:gridCol>
              </a:tblGrid>
              <a:tr h="565848"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Тип данных </a:t>
                      </a:r>
                      <a:r>
                        <a:rPr lang="en-US" dirty="0"/>
                        <a:t>SQL</a:t>
                      </a:r>
                      <a:r>
                        <a:rPr lang="ru-RU" dirty="0"/>
                        <a:t> (строковые)</a:t>
                      </a:r>
                      <a:endParaRPr lang="en-US" dirty="0"/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Описание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3525648813"/>
                  </a:ext>
                </a:extLst>
              </a:tr>
              <a:tr h="1165298"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CHAR(size)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/>
                        <a:t>Строки с </a:t>
                      </a:r>
                      <a:r>
                        <a:rPr lang="ru-RU" b="0" u="sng" dirty="0"/>
                        <a:t>фиксированной</a:t>
                      </a:r>
                      <a:r>
                        <a:rPr lang="ru-RU" b="0" dirty="0"/>
                        <a:t> длиной (могут содержать буквы, цифры и специальные символы). Фиксированный размер указан в скобках. Можно записать до 255 символов.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3377981508"/>
                  </a:ext>
                </a:extLst>
              </a:tr>
              <a:tr h="876118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VARCHAR(size)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/>
                        <a:t>Строки с </a:t>
                      </a:r>
                      <a:r>
                        <a:rPr lang="ru-RU" b="1" u="sng" dirty="0"/>
                        <a:t>переменной</a:t>
                      </a:r>
                      <a:r>
                        <a:rPr lang="ru-RU" b="1" dirty="0"/>
                        <a:t> длиной (могут содержать буквы, цифры и специальные символы). Фиксированный размер указан в скобках. Можно записать до 255 символов.</a:t>
                      </a:r>
                    </a:p>
                    <a:p>
                      <a:pPr algn="l"/>
                      <a:endParaRPr lang="ru-RU" b="1" dirty="0"/>
                    </a:p>
                    <a:p>
                      <a:pPr algn="l"/>
                      <a:r>
                        <a:rPr lang="ru-RU" b="1" u="sng" dirty="0"/>
                        <a:t>Пример</a:t>
                      </a:r>
                      <a:r>
                        <a:rPr lang="en-US" b="1" u="sng" dirty="0"/>
                        <a:t>:</a:t>
                      </a:r>
                      <a:r>
                        <a:rPr lang="ru-RU" b="1" u="sng" dirty="0"/>
                        <a:t> </a:t>
                      </a:r>
                      <a:endParaRPr lang="en-US" b="1" u="sng" dirty="0"/>
                    </a:p>
                    <a:p>
                      <a:pPr algn="l"/>
                      <a:r>
                        <a:rPr lang="en-US" b="1" dirty="0"/>
                        <a:t>VARCHAR(6)         abc123 </a:t>
                      </a:r>
                      <a:r>
                        <a:rPr lang="ru-RU" b="1" dirty="0"/>
                        <a:t>/ </a:t>
                      </a:r>
                      <a:r>
                        <a:rPr lang="en-US" b="1" dirty="0" err="1"/>
                        <a:t>abc</a:t>
                      </a:r>
                      <a:r>
                        <a:rPr lang="en-US" b="1" dirty="0"/>
                        <a:t>!@# / 123!@#</a:t>
                      </a:r>
                      <a:endParaRPr lang="ru-RU" b="1" dirty="0"/>
                    </a:p>
                    <a:p>
                      <a:endParaRPr lang="ru-RU" b="0" dirty="0"/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311267569"/>
                  </a:ext>
                </a:extLst>
              </a:tr>
              <a:tr h="565848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TINYTEXT</a:t>
                      </a:r>
                      <a:r>
                        <a:rPr lang="en-US" b="0" dirty="0"/>
                        <a:t>(size)</a:t>
                      </a:r>
                      <a:endParaRPr lang="en-US" dirty="0"/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Может хранить не более 255 символов.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219154630"/>
                  </a:ext>
                </a:extLst>
              </a:tr>
              <a:tr h="565848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TEXT(size)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/>
                        <a:t>Может хранить не более 65 535 символов. (только буквы)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712323140"/>
                  </a:ext>
                </a:extLst>
              </a:tr>
              <a:tr h="565848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BLOB</a:t>
                      </a:r>
                      <a:r>
                        <a:rPr lang="en-US" b="0" dirty="0"/>
                        <a:t>(size)</a:t>
                      </a:r>
                      <a:endParaRPr lang="en-US" dirty="0"/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Может хранить не более 65 535 символов. (массив двоичных </a:t>
                      </a:r>
                      <a:r>
                        <a:rPr lang="ru-RU" b="0" dirty="0"/>
                        <a:t>данных)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429322882"/>
                  </a:ext>
                </a:extLst>
              </a:tr>
              <a:tr h="924347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MEDIUMTEXT</a:t>
                      </a:r>
                      <a:r>
                        <a:rPr lang="en-US" b="0" dirty="0"/>
                        <a:t>(size)</a:t>
                      </a:r>
                      <a:endParaRPr lang="en-US" dirty="0"/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Может хранить не более 16 777 215 символов.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281625645"/>
                  </a:ext>
                </a:extLst>
              </a:tr>
              <a:tr h="924347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LONGTEXT</a:t>
                      </a:r>
                      <a:r>
                        <a:rPr lang="en-US" b="0" dirty="0"/>
                        <a:t>(size)</a:t>
                      </a:r>
                      <a:endParaRPr lang="en-US" dirty="0"/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Может хранить не более 4 294 967 295 символов.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2742131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6308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0F5825-09BD-4248-9C42-365DD7461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879169"/>
              </p:ext>
            </p:extLst>
          </p:nvPr>
        </p:nvGraphicFramePr>
        <p:xfrm>
          <a:off x="0" y="0"/>
          <a:ext cx="12192000" cy="73463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665092716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272845279"/>
                    </a:ext>
                  </a:extLst>
                </a:gridCol>
              </a:tblGrid>
              <a:tr h="621349"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Тип данных </a:t>
                      </a:r>
                      <a:r>
                        <a:rPr lang="en-US" dirty="0"/>
                        <a:t>SQL</a:t>
                      </a:r>
                      <a:r>
                        <a:rPr lang="ru-RU" dirty="0"/>
                        <a:t> (числовые)</a:t>
                      </a:r>
                      <a:endParaRPr lang="en-US" dirty="0"/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Описание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3525648813"/>
                  </a:ext>
                </a:extLst>
              </a:tr>
              <a:tr h="662359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TINYINT(size)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/>
                        <a:t>Может хранить числа от -128 до 127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3377981508"/>
                  </a:ext>
                </a:extLst>
              </a:tr>
              <a:tr h="498793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SMALLINT(size)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/>
                        <a:t>Диапазон от -32 768 до 32 767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311267569"/>
                  </a:ext>
                </a:extLst>
              </a:tr>
              <a:tr h="497712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MEDIUMINT(size)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/>
                        <a:t>Диапазон от -8 388 608 до 8 388 607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219154630"/>
                  </a:ext>
                </a:extLst>
              </a:tr>
              <a:tr h="648182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INT(size)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/>
                        <a:t>Диапазон от -2 147 483 648 до 2 147 483 647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712323140"/>
                  </a:ext>
                </a:extLst>
              </a:tr>
              <a:tr h="74078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BIGINT(size)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/>
                        <a:t>Диапазон от -9 223 372 036 854 775 808 до 9 223 372 036 854 775 807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429322882"/>
                  </a:ext>
                </a:extLst>
              </a:tr>
              <a:tr h="1944547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FLOAT(</a:t>
                      </a:r>
                      <a:r>
                        <a:rPr lang="en-US" b="1" dirty="0" err="1"/>
                        <a:t>size,d</a:t>
                      </a:r>
                      <a:r>
                        <a:rPr lang="en-US" b="1" dirty="0"/>
                        <a:t>)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/>
                        <a:t>Число с плавающей точкой небольшой точности.</a:t>
                      </a:r>
                      <a:endParaRPr lang="en-US" b="1" dirty="0"/>
                    </a:p>
                    <a:p>
                      <a:pPr algn="l"/>
                      <a:endParaRPr lang="en-US" b="1" dirty="0"/>
                    </a:p>
                    <a:p>
                      <a:pPr algn="l"/>
                      <a:r>
                        <a:rPr lang="ru-RU" b="1" dirty="0"/>
                        <a:t>FLOAT (5,2) - будет хранить числа из 5 символов, 2 из которых будут идти после точки</a:t>
                      </a:r>
                      <a:r>
                        <a:rPr lang="en-US" b="1" dirty="0"/>
                        <a:t>.</a:t>
                      </a:r>
                      <a:r>
                        <a:rPr lang="ru-RU" b="1" dirty="0"/>
                        <a:t> </a:t>
                      </a:r>
                      <a:endParaRPr lang="en-US" b="1" dirty="0"/>
                    </a:p>
                    <a:p>
                      <a:pPr algn="l"/>
                      <a:endParaRPr lang="en-US" b="1" dirty="0"/>
                    </a:p>
                    <a:p>
                      <a:pPr algn="l"/>
                      <a:r>
                        <a:rPr lang="ru-RU" b="1" dirty="0"/>
                        <a:t>Например: </a:t>
                      </a:r>
                      <a:r>
                        <a:rPr lang="en-US" b="1" dirty="0"/>
                        <a:t>588.46</a:t>
                      </a:r>
                      <a:endParaRPr lang="ru-RU" b="1" dirty="0"/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281625645"/>
                  </a:ext>
                </a:extLst>
              </a:tr>
              <a:tr h="71763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DOUBLE(</a:t>
                      </a:r>
                      <a:r>
                        <a:rPr lang="en-US" dirty="0" err="1"/>
                        <a:t>size,d</a:t>
                      </a:r>
                      <a:r>
                        <a:rPr lang="en-US" dirty="0"/>
                        <a:t>)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Число с плавающей точкой двойной точности.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2742131682"/>
                  </a:ext>
                </a:extLst>
              </a:tr>
              <a:tr h="1015012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DECIMAL(</a:t>
                      </a:r>
                      <a:r>
                        <a:rPr lang="en-US" dirty="0" err="1"/>
                        <a:t>size,d</a:t>
                      </a:r>
                      <a:r>
                        <a:rPr lang="en-US" dirty="0"/>
                        <a:t>)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Дробное число, хранящееся в виде строки.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523190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852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0F5825-09BD-4248-9C42-365DD7461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411478"/>
              </p:ext>
            </p:extLst>
          </p:nvPr>
        </p:nvGraphicFramePr>
        <p:xfrm>
          <a:off x="0" y="0"/>
          <a:ext cx="12192000" cy="721020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665092716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272845279"/>
                    </a:ext>
                  </a:extLst>
                </a:gridCol>
              </a:tblGrid>
              <a:tr h="752354"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Тип данных </a:t>
                      </a:r>
                      <a:r>
                        <a:rPr lang="en-US" dirty="0"/>
                        <a:t>SQL</a:t>
                      </a:r>
                      <a:r>
                        <a:rPr lang="ru-RU" dirty="0"/>
                        <a:t> (календарные)</a:t>
                      </a:r>
                      <a:endParaRPr lang="en-US" dirty="0"/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Описание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3525648813"/>
                  </a:ext>
                </a:extLst>
              </a:tr>
              <a:tr h="1514277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DATE()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/>
                        <a:t>Дата в </a:t>
                      </a:r>
                      <a:r>
                        <a:rPr lang="ru-RU" b="1"/>
                        <a:t>формате ГГГГ-ММ-ДД</a:t>
                      </a:r>
                    </a:p>
                    <a:p>
                      <a:pPr algn="l"/>
                      <a:endParaRPr lang="en-US" b="1"/>
                    </a:p>
                    <a:p>
                      <a:pPr algn="l"/>
                      <a:r>
                        <a:rPr lang="ru-RU" b="1"/>
                        <a:t>‘0000-00-00’</a:t>
                      </a:r>
                      <a:endParaRPr lang="ru-RU" b="1" dirty="0"/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3377981508"/>
                  </a:ext>
                </a:extLst>
              </a:tr>
              <a:tr h="151829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DATETIME()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Дата и время в формате ГГГГ-ММ-ДД ЧЧ:ММ:СС</a:t>
                      </a:r>
                    </a:p>
                    <a:p>
                      <a:pPr algn="l"/>
                      <a:endParaRPr lang="en-US" dirty="0"/>
                    </a:p>
                    <a:p>
                      <a:pPr algn="l"/>
                      <a:r>
                        <a:rPr lang="ru-RU" dirty="0"/>
                        <a:t>‘0000-00-00 00:00:00’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311267569"/>
                  </a:ext>
                </a:extLst>
              </a:tr>
              <a:tr h="1724627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TIME()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/>
                        <a:t>Время в формате ЧЧ:ММ:СС</a:t>
                      </a:r>
                    </a:p>
                    <a:p>
                      <a:pPr algn="l"/>
                      <a:endParaRPr lang="en-US" b="1" dirty="0"/>
                    </a:p>
                    <a:p>
                      <a:pPr algn="l"/>
                      <a:r>
                        <a:rPr lang="ru-RU" b="1" dirty="0"/>
                        <a:t>’00:00:00′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712323140"/>
                  </a:ext>
                </a:extLst>
              </a:tr>
              <a:tr h="1700654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YEAR()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Год в двух значной или в четырехзначном формате.</a:t>
                      </a:r>
                    </a:p>
                    <a:p>
                      <a:pPr algn="l"/>
                      <a:endParaRPr lang="en-US" dirty="0"/>
                    </a:p>
                    <a:p>
                      <a:pPr algn="l"/>
                      <a:r>
                        <a:rPr lang="en-US" dirty="0"/>
                        <a:t>‘</a:t>
                      </a:r>
                      <a:r>
                        <a:rPr lang="ru-RU" dirty="0"/>
                        <a:t>0000</a:t>
                      </a:r>
                      <a:r>
                        <a:rPr lang="en-US" dirty="0"/>
                        <a:t>’</a:t>
                      </a:r>
                      <a:endParaRPr lang="ru-RU" dirty="0"/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429322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711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</a:t>
            </a:r>
            <a:endParaRPr lang="ru-R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Основные команды</a:t>
            </a:r>
          </a:p>
        </p:txBody>
      </p:sp>
    </p:spTree>
    <p:extLst>
      <p:ext uri="{BB962C8B-B14F-4D97-AF65-F5344CB8AC3E}">
        <p14:creationId xmlns:p14="http://schemas.microsoft.com/office/powerpoint/2010/main" val="1915663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75205-5025-42A0-A867-EBBF9BD24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Создаем базу данных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8F4DD-7C4C-4825-9B9C-4C6F653B3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932" y="2556932"/>
            <a:ext cx="10449018" cy="33189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tx2"/>
                </a:solidFill>
              </a:rPr>
              <a:t>Структура</a:t>
            </a:r>
            <a:r>
              <a:rPr lang="en-US" b="1" dirty="0">
                <a:solidFill>
                  <a:schemeClr val="tx2"/>
                </a:solidFill>
              </a:rPr>
              <a:t>:</a:t>
            </a:r>
            <a:endParaRPr lang="ru-RU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CREATE DATABASE </a:t>
            </a:r>
            <a:r>
              <a:rPr lang="en-US" dirty="0">
                <a:solidFill>
                  <a:schemeClr val="tx1"/>
                </a:solidFill>
              </a:rPr>
              <a:t>&lt;</a:t>
            </a:r>
            <a:r>
              <a:rPr lang="ru-RU" dirty="0">
                <a:solidFill>
                  <a:schemeClr val="tx1"/>
                </a:solidFill>
              </a:rPr>
              <a:t>имя базы</a:t>
            </a:r>
            <a:r>
              <a:rPr lang="en-US" dirty="0">
                <a:solidFill>
                  <a:schemeClr val="tx1"/>
                </a:solidFill>
              </a:rPr>
              <a:t>&gt;;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Пример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CREATE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DATABASE </a:t>
            </a:r>
            <a:r>
              <a:rPr lang="en-US" dirty="0">
                <a:solidFill>
                  <a:schemeClr val="tx1"/>
                </a:solidFill>
              </a:rPr>
              <a:t>my</a:t>
            </a:r>
            <a:r>
              <a:rPr lang="ru-RU" dirty="0">
                <a:solidFill>
                  <a:schemeClr val="tx1"/>
                </a:solidFill>
              </a:rPr>
              <a:t>_</a:t>
            </a:r>
            <a:r>
              <a:rPr lang="en-US" dirty="0">
                <a:solidFill>
                  <a:schemeClr val="tx1"/>
                </a:solidFill>
              </a:rPr>
              <a:t>base;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800" dirty="0">
                <a:solidFill>
                  <a:srgbClr val="FF0000"/>
                </a:solidFill>
              </a:rPr>
              <a:t>В конце каждого запроса желательно писать </a:t>
            </a:r>
            <a:r>
              <a:rPr lang="en-US" sz="1800" dirty="0">
                <a:solidFill>
                  <a:srgbClr val="FF0000"/>
                </a:solidFill>
              </a:rPr>
              <a:t>“;”</a:t>
            </a:r>
            <a:r>
              <a:rPr lang="ru-RU" sz="1800" dirty="0">
                <a:solidFill>
                  <a:srgbClr val="FF0000"/>
                </a:solidFill>
              </a:rPr>
              <a:t> (есть версии </a:t>
            </a:r>
            <a:r>
              <a:rPr lang="en-US" sz="1800" dirty="0" err="1">
                <a:solidFill>
                  <a:srgbClr val="FF0000"/>
                </a:solidFill>
              </a:rPr>
              <a:t>sql</a:t>
            </a:r>
            <a:r>
              <a:rPr lang="ru-RU" sz="1800" dirty="0">
                <a:solidFill>
                  <a:srgbClr val="FF0000"/>
                </a:solidFill>
              </a:rPr>
              <a:t>, где это обязательно).</a:t>
            </a:r>
          </a:p>
        </p:txBody>
      </p:sp>
    </p:spTree>
    <p:extLst>
      <p:ext uri="{BB962C8B-B14F-4D97-AF65-F5344CB8AC3E}">
        <p14:creationId xmlns:p14="http://schemas.microsoft.com/office/powerpoint/2010/main" val="4013221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6647FFC-D21E-4B96-AA42-ACD08A868A9F}"/>
              </a:ext>
            </a:extLst>
          </p:cNvPr>
          <p:cNvSpPr/>
          <p:nvPr/>
        </p:nvSpPr>
        <p:spPr>
          <a:xfrm>
            <a:off x="1" y="0"/>
            <a:ext cx="1798232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FD0220-EDA8-437B-8EFF-79E3D3E1BE14}"/>
              </a:ext>
            </a:extLst>
          </p:cNvPr>
          <p:cNvSpPr/>
          <p:nvPr/>
        </p:nvSpPr>
        <p:spPr>
          <a:xfrm>
            <a:off x="10136315" y="164262"/>
            <a:ext cx="193297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32FA6C-E672-4FC9-905A-FA0DBBEC2D5B}"/>
              </a:ext>
            </a:extLst>
          </p:cNvPr>
          <p:cNvSpPr/>
          <p:nvPr/>
        </p:nvSpPr>
        <p:spPr>
          <a:xfrm>
            <a:off x="1798233" y="1493667"/>
            <a:ext cx="1184664" cy="41081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DC3B21-1ADC-4733-957B-416B635C8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42" y="0"/>
            <a:ext cx="9624115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FDE961F-762D-4A01-B17C-62842B2ED079}"/>
              </a:ext>
            </a:extLst>
          </p:cNvPr>
          <p:cNvSpPr/>
          <p:nvPr/>
        </p:nvSpPr>
        <p:spPr>
          <a:xfrm>
            <a:off x="1353180" y="1434298"/>
            <a:ext cx="1247977" cy="39894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010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75205-5025-42A0-A867-EBBF9BD24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Создаем таблицу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8F4DD-7C4C-4825-9B9C-4C6F653B3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70249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solidFill>
                  <a:schemeClr val="tx2"/>
                </a:solidFill>
              </a:rPr>
              <a:t>Структура</a:t>
            </a:r>
            <a:r>
              <a:rPr lang="en-US" b="1" dirty="0">
                <a:solidFill>
                  <a:schemeClr val="tx2"/>
                </a:solidFill>
              </a:rPr>
              <a:t>:</a:t>
            </a:r>
            <a:endParaRPr lang="ru-RU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CREATE TABLE </a:t>
            </a:r>
            <a:r>
              <a:rPr lang="en-US" dirty="0">
                <a:solidFill>
                  <a:schemeClr val="tx1"/>
                </a:solidFill>
              </a:rPr>
              <a:t>&lt;</a:t>
            </a:r>
            <a:r>
              <a:rPr lang="ru-RU" dirty="0">
                <a:solidFill>
                  <a:schemeClr val="tx1"/>
                </a:solidFill>
              </a:rPr>
              <a:t>имя таблицы</a:t>
            </a:r>
            <a:r>
              <a:rPr lang="en-US" dirty="0">
                <a:solidFill>
                  <a:schemeClr val="tx1"/>
                </a:solidFill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(&lt;</a:t>
            </a:r>
            <a:r>
              <a:rPr lang="ru-RU" dirty="0">
                <a:solidFill>
                  <a:schemeClr val="tx1"/>
                </a:solidFill>
              </a:rPr>
              <a:t>название</a:t>
            </a:r>
            <a:r>
              <a:rPr lang="en-US" dirty="0">
                <a:solidFill>
                  <a:schemeClr val="tx1"/>
                </a:solidFill>
              </a:rPr>
              <a:t>&gt;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&lt;</a:t>
            </a:r>
            <a:r>
              <a:rPr lang="ru-RU" dirty="0">
                <a:solidFill>
                  <a:schemeClr val="tx1"/>
                </a:solidFill>
              </a:rPr>
              <a:t>тип</a:t>
            </a:r>
            <a:r>
              <a:rPr lang="en-US" dirty="0">
                <a:solidFill>
                  <a:schemeClr val="tx1"/>
                </a:solidFill>
              </a:rPr>
              <a:t>&gt;(</a:t>
            </a:r>
            <a:r>
              <a:rPr lang="ru-RU" dirty="0">
                <a:solidFill>
                  <a:schemeClr val="tx1"/>
                </a:solidFill>
              </a:rPr>
              <a:t>размер</a:t>
            </a:r>
            <a:r>
              <a:rPr lang="en-US" dirty="0">
                <a:solidFill>
                  <a:schemeClr val="tx1"/>
                </a:solidFill>
              </a:rPr>
              <a:t>), …</a:t>
            </a:r>
            <a:r>
              <a:rPr lang="ru-RU" dirty="0">
                <a:solidFill>
                  <a:schemeClr val="tx1"/>
                </a:solidFill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;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Пример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CREATE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TABLE </a:t>
            </a:r>
            <a:r>
              <a:rPr lang="en-US" dirty="0">
                <a:solidFill>
                  <a:schemeClr val="tx1"/>
                </a:solidFill>
              </a:rPr>
              <a:t>my</a:t>
            </a:r>
            <a:r>
              <a:rPr lang="ru-RU" dirty="0">
                <a:solidFill>
                  <a:schemeClr val="tx1"/>
                </a:solidFill>
              </a:rPr>
              <a:t>_</a:t>
            </a:r>
            <a:r>
              <a:rPr lang="en-US" dirty="0">
                <a:solidFill>
                  <a:schemeClr val="tx1"/>
                </a:solidFill>
              </a:rPr>
              <a:t>table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(</a:t>
            </a:r>
            <a:r>
              <a:rPr lang="en-US" dirty="0">
                <a:solidFill>
                  <a:schemeClr val="tx1"/>
                </a:solidFill>
              </a:rPr>
              <a:t>age </a:t>
            </a:r>
            <a:r>
              <a:rPr lang="en-US" dirty="0">
                <a:solidFill>
                  <a:srgbClr val="0070C0"/>
                </a:solidFill>
              </a:rPr>
              <a:t>int</a:t>
            </a:r>
            <a:r>
              <a:rPr lang="ru-RU" dirty="0">
                <a:solidFill>
                  <a:srgbClr val="0070C0"/>
                </a:solidFill>
              </a:rPr>
              <a:t>(</a:t>
            </a:r>
            <a:r>
              <a:rPr lang="en-US" dirty="0">
                <a:solidFill>
                  <a:srgbClr val="0070C0"/>
                </a:solidFill>
              </a:rPr>
              <a:t>3</a:t>
            </a:r>
            <a:r>
              <a:rPr lang="ru-RU" dirty="0">
                <a:solidFill>
                  <a:srgbClr val="0070C0"/>
                </a:solidFill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name</a:t>
            </a:r>
            <a:r>
              <a:rPr lang="en-US" dirty="0">
                <a:solidFill>
                  <a:srgbClr val="0070C0"/>
                </a:solidFill>
              </a:rPr>
              <a:t> char(20)</a:t>
            </a:r>
            <a:r>
              <a:rPr lang="en-US" dirty="0">
                <a:solidFill>
                  <a:schemeClr val="tx2"/>
                </a:solidFill>
              </a:rPr>
              <a:t>);</a:t>
            </a:r>
            <a:endParaRPr lang="ru-R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086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1770DB3-1B3C-4F1B-9DF5-3A18556E3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123" y="0"/>
            <a:ext cx="8613754" cy="68695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C6B85F0-D9A9-4D4D-B4A0-29C193B1BA01}"/>
              </a:ext>
            </a:extLst>
          </p:cNvPr>
          <p:cNvSpPr/>
          <p:nvPr/>
        </p:nvSpPr>
        <p:spPr>
          <a:xfrm>
            <a:off x="0" y="0"/>
            <a:ext cx="178912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40CFA9-064F-498F-85A9-6CC8A92619D2}"/>
              </a:ext>
            </a:extLst>
          </p:cNvPr>
          <p:cNvSpPr/>
          <p:nvPr/>
        </p:nvSpPr>
        <p:spPr>
          <a:xfrm>
            <a:off x="10402877" y="0"/>
            <a:ext cx="1932973" cy="68695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512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DD1D46-4084-45AF-BA2D-027A12ACE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922" y="0"/>
            <a:ext cx="8640156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DAD66CA-9CE7-4E08-80C9-124719397CD1}"/>
              </a:ext>
            </a:extLst>
          </p:cNvPr>
          <p:cNvSpPr/>
          <p:nvPr/>
        </p:nvSpPr>
        <p:spPr>
          <a:xfrm>
            <a:off x="1" y="0"/>
            <a:ext cx="1775922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6CDA2D-A396-4345-93D6-C99DC82A4338}"/>
              </a:ext>
            </a:extLst>
          </p:cNvPr>
          <p:cNvSpPr/>
          <p:nvPr/>
        </p:nvSpPr>
        <p:spPr>
          <a:xfrm>
            <a:off x="10416078" y="0"/>
            <a:ext cx="1775922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1479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6DA914-E51D-43D2-B208-E14514C8E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423" y="0"/>
            <a:ext cx="8607153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861657D-CAB2-462B-A07F-6D61E340095F}"/>
              </a:ext>
            </a:extLst>
          </p:cNvPr>
          <p:cNvSpPr/>
          <p:nvPr/>
        </p:nvSpPr>
        <p:spPr>
          <a:xfrm>
            <a:off x="0" y="0"/>
            <a:ext cx="179242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271F0B-A523-49CE-866A-7B266111F677}"/>
              </a:ext>
            </a:extLst>
          </p:cNvPr>
          <p:cNvSpPr/>
          <p:nvPr/>
        </p:nvSpPr>
        <p:spPr>
          <a:xfrm>
            <a:off x="10399576" y="0"/>
            <a:ext cx="1792424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1937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Основы</a:t>
            </a:r>
            <a:r>
              <a:rPr lang="en-US" dirty="0"/>
              <a:t> SQL</a:t>
            </a:r>
            <a:endParaRPr lang="ru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1E79E7-1838-40E9-8039-EB87E3BEF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Ключевые слова при построении </a:t>
            </a:r>
            <a:r>
              <a:rPr lang="en-US" dirty="0"/>
              <a:t>SQL</a:t>
            </a:r>
            <a:r>
              <a:rPr lang="ru-RU" dirty="0"/>
              <a:t> запросов</a:t>
            </a:r>
            <a:r>
              <a:rPr lang="en-US" dirty="0"/>
              <a:t>:</a:t>
            </a:r>
          </a:p>
          <a:p>
            <a:r>
              <a:rPr lang="en-US" dirty="0">
                <a:solidFill>
                  <a:schemeClr val="tx1"/>
                </a:solidFill>
              </a:rPr>
              <a:t>SELECT</a:t>
            </a:r>
          </a:p>
          <a:p>
            <a:r>
              <a:rPr lang="en-US" dirty="0">
                <a:solidFill>
                  <a:schemeClr val="tx1"/>
                </a:solidFill>
              </a:rPr>
              <a:t>INSERT</a:t>
            </a:r>
          </a:p>
          <a:p>
            <a:r>
              <a:rPr lang="en-US" dirty="0">
                <a:solidFill>
                  <a:schemeClr val="tx1"/>
                </a:solidFill>
              </a:rPr>
              <a:t>UPDATE</a:t>
            </a:r>
          </a:p>
          <a:p>
            <a:r>
              <a:rPr lang="en-US" dirty="0">
                <a:solidFill>
                  <a:schemeClr val="tx1"/>
                </a:solidFill>
              </a:rPr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4242421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</a:t>
            </a:r>
            <a:endParaRPr lang="ru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1E79E7-1838-40E9-8039-EB87E3BEF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556932"/>
            <a:ext cx="10325581" cy="370497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Оператор </a:t>
            </a:r>
            <a:r>
              <a:rPr lang="ru-RU" b="1" dirty="0"/>
              <a:t>SELECT</a:t>
            </a:r>
            <a:r>
              <a:rPr lang="ru-RU" dirty="0"/>
              <a:t> осуществляет выборку из базы данных</a:t>
            </a:r>
            <a:r>
              <a:rPr lang="en-US" dirty="0"/>
              <a:t>.</a:t>
            </a:r>
            <a:r>
              <a:rPr lang="ru-RU" dirty="0"/>
              <a:t> </a:t>
            </a:r>
            <a:endParaRPr lang="en-US" dirty="0"/>
          </a:p>
          <a:p>
            <a:pPr marL="0" indent="0">
              <a:buNone/>
            </a:pPr>
            <a:endParaRPr lang="en-US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2"/>
                </a:solidFill>
              </a:rPr>
              <a:t>Структура</a:t>
            </a:r>
            <a:r>
              <a:rPr lang="en-US" b="1" dirty="0">
                <a:solidFill>
                  <a:schemeClr val="tx2"/>
                </a:solidFill>
              </a:rPr>
              <a:t>: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SELECT</a:t>
            </a:r>
            <a:r>
              <a:rPr lang="en-US" dirty="0"/>
              <a:t> * </a:t>
            </a:r>
            <a:r>
              <a:rPr lang="en-US" dirty="0">
                <a:solidFill>
                  <a:srgbClr val="0070C0"/>
                </a:solidFill>
              </a:rPr>
              <a:t>FROM</a:t>
            </a:r>
            <a:r>
              <a:rPr lang="ru-RU" dirty="0"/>
              <a:t> </a:t>
            </a:r>
            <a:r>
              <a:rPr lang="en-US" dirty="0"/>
              <a:t>&lt;</a:t>
            </a:r>
            <a:r>
              <a:rPr lang="ru-RU" dirty="0"/>
              <a:t>имя_таблицы</a:t>
            </a:r>
            <a:r>
              <a:rPr lang="en-US" dirty="0"/>
              <a:t>&gt;;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SELECT</a:t>
            </a:r>
            <a:r>
              <a:rPr lang="ru-RU" dirty="0"/>
              <a:t> </a:t>
            </a:r>
            <a:r>
              <a:rPr lang="en-US" dirty="0"/>
              <a:t>&lt;</a:t>
            </a:r>
            <a:r>
              <a:rPr lang="ru-RU" dirty="0"/>
              <a:t>имя_столбца</a:t>
            </a:r>
            <a:r>
              <a:rPr lang="en-US" dirty="0"/>
              <a:t>&gt;</a:t>
            </a:r>
            <a:r>
              <a:rPr lang="ru-RU" dirty="0"/>
              <a:t>, </a:t>
            </a:r>
            <a:r>
              <a:rPr lang="en-US" dirty="0"/>
              <a:t>&lt;</a:t>
            </a:r>
            <a:r>
              <a:rPr lang="ru-RU" dirty="0"/>
              <a:t>имя_столбца</a:t>
            </a:r>
            <a:r>
              <a:rPr lang="en-US" dirty="0"/>
              <a:t>&gt; </a:t>
            </a:r>
            <a:r>
              <a:rPr lang="en-US" dirty="0">
                <a:solidFill>
                  <a:srgbClr val="0070C0"/>
                </a:solidFill>
              </a:rPr>
              <a:t>FROM</a:t>
            </a:r>
            <a:r>
              <a:rPr lang="en-US" dirty="0"/>
              <a:t> &lt;</a:t>
            </a:r>
            <a:r>
              <a:rPr lang="ru-RU" dirty="0"/>
              <a:t>имя_таблицы</a:t>
            </a:r>
            <a:r>
              <a:rPr lang="en-US" dirty="0"/>
              <a:t>&gt;;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Пример</a:t>
            </a:r>
            <a:r>
              <a:rPr lang="en-US" b="1" dirty="0"/>
              <a:t>:</a:t>
            </a:r>
            <a:endParaRPr lang="ru-RU" b="1" dirty="0"/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1) </a:t>
            </a:r>
            <a:r>
              <a:rPr lang="en-US" dirty="0">
                <a:solidFill>
                  <a:srgbClr val="0070C0"/>
                </a:solidFill>
              </a:rPr>
              <a:t>SELECT</a:t>
            </a:r>
            <a:r>
              <a:rPr lang="en-US" dirty="0"/>
              <a:t> * </a:t>
            </a:r>
            <a:r>
              <a:rPr lang="en-US" dirty="0">
                <a:solidFill>
                  <a:srgbClr val="0070C0"/>
                </a:solidFill>
              </a:rPr>
              <a:t>FROM</a:t>
            </a:r>
            <a:r>
              <a:rPr lang="en-US" dirty="0"/>
              <a:t> users;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2) </a:t>
            </a:r>
            <a:r>
              <a:rPr lang="en-US" dirty="0">
                <a:solidFill>
                  <a:srgbClr val="0070C0"/>
                </a:solidFill>
              </a:rPr>
              <a:t>SELECT</a:t>
            </a:r>
            <a:r>
              <a:rPr lang="en-US" dirty="0"/>
              <a:t> id, name </a:t>
            </a:r>
            <a:r>
              <a:rPr lang="en-US" dirty="0">
                <a:solidFill>
                  <a:srgbClr val="0070C0"/>
                </a:solidFill>
              </a:rPr>
              <a:t>FROM</a:t>
            </a:r>
            <a:r>
              <a:rPr lang="en-US" dirty="0"/>
              <a:t> users;										</a:t>
            </a:r>
            <a:r>
              <a:rPr lang="ru-RU" dirty="0"/>
              <a:t>             </a:t>
            </a:r>
            <a:r>
              <a:rPr lang="en-US" dirty="0"/>
              <a:t>* - </a:t>
            </a:r>
            <a:r>
              <a:rPr lang="ru-RU" dirty="0"/>
              <a:t>всё</a:t>
            </a:r>
          </a:p>
        </p:txBody>
      </p:sp>
    </p:spTree>
    <p:extLst>
      <p:ext uri="{BB962C8B-B14F-4D97-AF65-F5344CB8AC3E}">
        <p14:creationId xmlns:p14="http://schemas.microsoft.com/office/powerpoint/2010/main" val="725932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EB154F-B045-46FD-9BA3-1DB598F4C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281852"/>
              </p:ext>
            </p:extLst>
          </p:nvPr>
        </p:nvGraphicFramePr>
        <p:xfrm>
          <a:off x="4610100" y="1834726"/>
          <a:ext cx="6870703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1529">
                  <a:extLst>
                    <a:ext uri="{9D8B030D-6E8A-4147-A177-3AD203B41FA5}">
                      <a16:colId xmlns:a16="http://schemas.microsoft.com/office/drawing/2014/main" val="1159588668"/>
                    </a:ext>
                  </a:extLst>
                </a:gridCol>
                <a:gridCol w="981529">
                  <a:extLst>
                    <a:ext uri="{9D8B030D-6E8A-4147-A177-3AD203B41FA5}">
                      <a16:colId xmlns:a16="http://schemas.microsoft.com/office/drawing/2014/main" val="3472812332"/>
                    </a:ext>
                  </a:extLst>
                </a:gridCol>
                <a:gridCol w="981529">
                  <a:extLst>
                    <a:ext uri="{9D8B030D-6E8A-4147-A177-3AD203B41FA5}">
                      <a16:colId xmlns:a16="http://schemas.microsoft.com/office/drawing/2014/main" val="3211270466"/>
                    </a:ext>
                  </a:extLst>
                </a:gridCol>
                <a:gridCol w="981529">
                  <a:extLst>
                    <a:ext uri="{9D8B030D-6E8A-4147-A177-3AD203B41FA5}">
                      <a16:colId xmlns:a16="http://schemas.microsoft.com/office/drawing/2014/main" val="2103523720"/>
                    </a:ext>
                  </a:extLst>
                </a:gridCol>
                <a:gridCol w="981529">
                  <a:extLst>
                    <a:ext uri="{9D8B030D-6E8A-4147-A177-3AD203B41FA5}">
                      <a16:colId xmlns:a16="http://schemas.microsoft.com/office/drawing/2014/main" val="1922389964"/>
                    </a:ext>
                  </a:extLst>
                </a:gridCol>
                <a:gridCol w="981529">
                  <a:extLst>
                    <a:ext uri="{9D8B030D-6E8A-4147-A177-3AD203B41FA5}">
                      <a16:colId xmlns:a16="http://schemas.microsoft.com/office/drawing/2014/main" val="77621148"/>
                    </a:ext>
                  </a:extLst>
                </a:gridCol>
                <a:gridCol w="981529">
                  <a:extLst>
                    <a:ext uri="{9D8B030D-6E8A-4147-A177-3AD203B41FA5}">
                      <a16:colId xmlns:a16="http://schemas.microsoft.com/office/drawing/2014/main" val="3255952948"/>
                    </a:ext>
                  </a:extLst>
                </a:gridCol>
              </a:tblGrid>
              <a:tr h="348262"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ram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137403"/>
                  </a:ext>
                </a:extLst>
              </a:tr>
              <a:tr h="348262">
                <a:tc>
                  <a:txBody>
                    <a:bodyPr/>
                    <a:lstStyle/>
                    <a:p>
                      <a:r>
                        <a:rPr lang="en-US" dirty="0"/>
                        <a:t>600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13487"/>
                  </a:ext>
                </a:extLst>
              </a:tr>
              <a:tr h="348262">
                <a:tc>
                  <a:txBody>
                    <a:bodyPr/>
                    <a:lstStyle/>
                    <a:p>
                      <a:r>
                        <a:rPr lang="en-US" dirty="0"/>
                        <a:t>850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1121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093313"/>
                  </a:ext>
                </a:extLst>
              </a:tr>
              <a:tr h="348262">
                <a:tc>
                  <a:txBody>
                    <a:bodyPr/>
                    <a:lstStyle/>
                    <a:p>
                      <a:r>
                        <a:rPr lang="en-US" dirty="0"/>
                        <a:t>600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723408"/>
                  </a:ext>
                </a:extLst>
              </a:tr>
              <a:tr h="348262">
                <a:tc>
                  <a:txBody>
                    <a:bodyPr/>
                    <a:lstStyle/>
                    <a:p>
                      <a:r>
                        <a:rPr lang="en-US" dirty="0"/>
                        <a:t>850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1121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91618"/>
                  </a:ext>
                </a:extLst>
              </a:tr>
              <a:tr h="348262">
                <a:tc>
                  <a:txBody>
                    <a:bodyPr/>
                    <a:lstStyle/>
                    <a:p>
                      <a:r>
                        <a:rPr lang="en-US" dirty="0"/>
                        <a:t>850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1121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148787"/>
                  </a:ext>
                </a:extLst>
              </a:tr>
              <a:tr h="348262">
                <a:tc>
                  <a:txBody>
                    <a:bodyPr/>
                    <a:lstStyle/>
                    <a:p>
                      <a:r>
                        <a:rPr lang="en-US" dirty="0"/>
                        <a:t>950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410546"/>
                  </a:ext>
                </a:extLst>
              </a:tr>
              <a:tr h="348262"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17149"/>
                  </a:ext>
                </a:extLst>
              </a:tr>
              <a:tr h="348262">
                <a:tc>
                  <a:txBody>
                    <a:bodyPr/>
                    <a:lstStyle/>
                    <a:p>
                      <a:r>
                        <a:rPr lang="en-US" dirty="0"/>
                        <a:t>350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157806"/>
                  </a:ext>
                </a:extLst>
              </a:tr>
              <a:tr h="348262">
                <a:tc>
                  <a:txBody>
                    <a:bodyPr/>
                    <a:lstStyle/>
                    <a:p>
                      <a:r>
                        <a:rPr lang="en-US" dirty="0"/>
                        <a:t>350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830133"/>
                  </a:ext>
                </a:extLst>
              </a:tr>
              <a:tr h="348262">
                <a:tc>
                  <a:txBody>
                    <a:bodyPr/>
                    <a:lstStyle/>
                    <a:p>
                      <a:r>
                        <a:rPr lang="en-US" dirty="0"/>
                        <a:t>350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1260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436226"/>
                  </a:ext>
                </a:extLst>
              </a:tr>
              <a:tr h="348262">
                <a:tc>
                  <a:txBody>
                    <a:bodyPr/>
                    <a:lstStyle/>
                    <a:p>
                      <a:r>
                        <a:rPr lang="en-US" dirty="0"/>
                        <a:t>980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60830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FDF6C7C-2185-4EC0-8B50-9B87117F7328}"/>
              </a:ext>
            </a:extLst>
          </p:cNvPr>
          <p:cNvSpPr/>
          <p:nvPr/>
        </p:nvSpPr>
        <p:spPr>
          <a:xfrm>
            <a:off x="711200" y="2583934"/>
            <a:ext cx="33380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SELECT</a:t>
            </a:r>
            <a:r>
              <a:rPr lang="en-US" sz="2400" dirty="0"/>
              <a:t> * </a:t>
            </a:r>
            <a:r>
              <a:rPr lang="en-US" sz="2400" dirty="0">
                <a:solidFill>
                  <a:srgbClr val="0070C0"/>
                </a:solidFill>
              </a:rPr>
              <a:t>FROM</a:t>
            </a:r>
            <a:r>
              <a:rPr lang="en-US" sz="2400" dirty="0"/>
              <a:t> laptop;</a:t>
            </a:r>
            <a:endParaRPr lang="ru-RU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669E8F-0BC4-4C9C-949A-D84773911C3F}"/>
              </a:ext>
            </a:extLst>
          </p:cNvPr>
          <p:cNvSpPr/>
          <p:nvPr/>
        </p:nvSpPr>
        <p:spPr>
          <a:xfrm>
            <a:off x="4439001" y="528833"/>
            <a:ext cx="432399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dirty="0"/>
              <a:t>Таблица</a:t>
            </a:r>
            <a:r>
              <a:rPr lang="en-US" sz="4400" dirty="0"/>
              <a:t> “laptop”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921244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6295AB-12E7-4528-9A73-F06B3EA9138A}"/>
              </a:ext>
            </a:extLst>
          </p:cNvPr>
          <p:cNvSpPr txBox="1"/>
          <p:nvPr/>
        </p:nvSpPr>
        <p:spPr>
          <a:xfrm>
            <a:off x="781349" y="2720051"/>
            <a:ext cx="503498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SELECT</a:t>
            </a:r>
            <a:r>
              <a:rPr lang="ru-RU" altLang="ru-RU" sz="2400" dirty="0">
                <a:latin typeface="+mj-lt"/>
              </a:rPr>
              <a:t> speed</a:t>
            </a:r>
            <a:r>
              <a:rPr lang="en-US" altLang="ru-RU" sz="2400" dirty="0">
                <a:latin typeface="+mj-lt"/>
              </a:rPr>
              <a:t>, </a:t>
            </a:r>
            <a:r>
              <a:rPr lang="ru-RU" altLang="ru-RU" sz="2400" dirty="0">
                <a:latin typeface="+mj-lt"/>
              </a:rPr>
              <a:t>ram</a:t>
            </a:r>
            <a:endParaRPr lang="en-US" altLang="ru-RU" sz="2400" dirty="0"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FROM</a:t>
            </a:r>
            <a:r>
              <a:rPr lang="ru-RU" altLang="ru-RU" sz="2400" dirty="0">
                <a:latin typeface="+mj-lt"/>
              </a:rPr>
              <a:t> </a:t>
            </a:r>
            <a:r>
              <a:rPr lang="en-US" altLang="ru-RU" sz="2400" dirty="0">
                <a:latin typeface="+mj-lt"/>
              </a:rPr>
              <a:t>laptop;</a:t>
            </a:r>
            <a:endParaRPr lang="ru-RU" altLang="ru-RU" sz="2400" dirty="0">
              <a:latin typeface="+mj-lt"/>
            </a:endParaRPr>
          </a:p>
          <a:p>
            <a:endParaRPr lang="ru-RU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67E33AD-35E4-4B88-9DD7-F6EDDFA9C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205628"/>
              </p:ext>
            </p:extLst>
          </p:nvPr>
        </p:nvGraphicFramePr>
        <p:xfrm>
          <a:off x="4810366" y="1759938"/>
          <a:ext cx="2011944" cy="4432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972">
                  <a:extLst>
                    <a:ext uri="{9D8B030D-6E8A-4147-A177-3AD203B41FA5}">
                      <a16:colId xmlns:a16="http://schemas.microsoft.com/office/drawing/2014/main" val="3472812332"/>
                    </a:ext>
                  </a:extLst>
                </a:gridCol>
                <a:gridCol w="1005972">
                  <a:extLst>
                    <a:ext uri="{9D8B030D-6E8A-4147-A177-3AD203B41FA5}">
                      <a16:colId xmlns:a16="http://schemas.microsoft.com/office/drawing/2014/main" val="2103523720"/>
                    </a:ext>
                  </a:extLst>
                </a:gridCol>
              </a:tblGrid>
              <a:tr h="409222">
                <a:tc>
                  <a:txBody>
                    <a:bodyPr/>
                    <a:lstStyle/>
                    <a:p>
                      <a:r>
                        <a:rPr lang="en-US" dirty="0"/>
                        <a:t>speed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ram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137403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13487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en-US" dirty="0"/>
                        <a:t>750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093313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723408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en-US" dirty="0"/>
                        <a:t>600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91618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en-US" dirty="0"/>
                        <a:t>600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148787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en-US" dirty="0"/>
                        <a:t>750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410546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17149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en-US" dirty="0"/>
                        <a:t>450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157806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en-US" dirty="0"/>
                        <a:t>450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830133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436226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en-US" dirty="0"/>
                        <a:t>900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608304"/>
                  </a:ext>
                </a:extLst>
              </a:tr>
            </a:tbl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895E067-8E9E-400E-A648-7EA550FA324D}"/>
              </a:ext>
            </a:extLst>
          </p:cNvPr>
          <p:cNvSpPr txBox="1">
            <a:spLocks/>
          </p:cNvSpPr>
          <p:nvPr/>
        </p:nvSpPr>
        <p:spPr>
          <a:xfrm>
            <a:off x="1295402" y="551180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Таблица</a:t>
            </a:r>
            <a:r>
              <a:rPr lang="en-US" dirty="0"/>
              <a:t> “laptop”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0540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DISTINCT</a:t>
            </a:r>
            <a:endParaRPr lang="ru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1E79E7-1838-40E9-8039-EB87E3BEF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581" y="2583565"/>
            <a:ext cx="10325581" cy="3704972"/>
          </a:xfrm>
        </p:spPr>
        <p:txBody>
          <a:bodyPr>
            <a:normAutofit/>
          </a:bodyPr>
          <a:lstStyle/>
          <a:p>
            <a:r>
              <a:rPr lang="ru-RU" dirty="0"/>
              <a:t>Оператор </a:t>
            </a:r>
            <a:r>
              <a:rPr lang="ru-RU" b="1" dirty="0"/>
              <a:t>DISTINCT</a:t>
            </a:r>
            <a:r>
              <a:rPr lang="ru-RU" dirty="0"/>
              <a:t> используется для выборки только уникальных значений</a:t>
            </a:r>
            <a:r>
              <a:rPr lang="en-US" dirty="0"/>
              <a:t>	</a:t>
            </a:r>
          </a:p>
          <a:p>
            <a:r>
              <a:rPr lang="ru-RU" dirty="0"/>
              <a:t>Оператор </a:t>
            </a:r>
            <a:r>
              <a:rPr lang="ru-RU" b="1" dirty="0"/>
              <a:t>DISTINCT</a:t>
            </a:r>
            <a:r>
              <a:rPr lang="ru-RU" dirty="0"/>
              <a:t> может использоваться только с операторами </a:t>
            </a:r>
            <a:r>
              <a:rPr lang="ru-RU" b="1" dirty="0"/>
              <a:t>SELECT</a:t>
            </a:r>
            <a:r>
              <a:rPr lang="en-US" dirty="0"/>
              <a:t>								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4961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DF6C7C-2185-4EC0-8B50-9B87117F7328}"/>
              </a:ext>
            </a:extLst>
          </p:cNvPr>
          <p:cNvSpPr/>
          <p:nvPr/>
        </p:nvSpPr>
        <p:spPr>
          <a:xfrm>
            <a:off x="714997" y="2444234"/>
            <a:ext cx="41537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solidFill>
                  <a:srgbClr val="0070C0"/>
                </a:solidFill>
              </a:rPr>
              <a:t>SELECT</a:t>
            </a:r>
            <a:r>
              <a:rPr lang="ru-RU" altLang="ru-RU" sz="2400" dirty="0"/>
              <a:t> </a:t>
            </a:r>
            <a:r>
              <a:rPr lang="en-US" altLang="ru-RU" sz="2400" dirty="0">
                <a:solidFill>
                  <a:srgbClr val="0070C0"/>
                </a:solidFill>
              </a:rPr>
              <a:t>DISTINCT</a:t>
            </a:r>
            <a:r>
              <a:rPr lang="en-US" altLang="ru-RU" sz="2400" dirty="0"/>
              <a:t> speed, ram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solidFill>
                  <a:srgbClr val="0070C0"/>
                </a:solidFill>
              </a:rPr>
              <a:t>FROM</a:t>
            </a:r>
            <a:r>
              <a:rPr lang="ru-RU" altLang="ru-RU" sz="2400" dirty="0"/>
              <a:t> </a:t>
            </a:r>
            <a:r>
              <a:rPr lang="en-US" altLang="ru-RU" sz="2400" dirty="0"/>
              <a:t>laptop;</a:t>
            </a:r>
            <a:endParaRPr lang="ru-RU" altLang="ru-RU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669E8F-0BC4-4C9C-949A-D84773911C3F}"/>
              </a:ext>
            </a:extLst>
          </p:cNvPr>
          <p:cNvSpPr/>
          <p:nvPr/>
        </p:nvSpPr>
        <p:spPr>
          <a:xfrm>
            <a:off x="4439001" y="528833"/>
            <a:ext cx="432399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dirty="0"/>
              <a:t>Таблица</a:t>
            </a:r>
            <a:r>
              <a:rPr lang="en-US" sz="4400" dirty="0"/>
              <a:t> “laptop”</a:t>
            </a:r>
            <a:endParaRPr lang="ru-RU" sz="4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3B60B4-90D6-4C68-B2DC-2AD863C5A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720385"/>
              </p:ext>
            </p:extLst>
          </p:nvPr>
        </p:nvGraphicFramePr>
        <p:xfrm>
          <a:off x="5060852" y="1759938"/>
          <a:ext cx="2011944" cy="4432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972">
                  <a:extLst>
                    <a:ext uri="{9D8B030D-6E8A-4147-A177-3AD203B41FA5}">
                      <a16:colId xmlns:a16="http://schemas.microsoft.com/office/drawing/2014/main" val="3472812332"/>
                    </a:ext>
                  </a:extLst>
                </a:gridCol>
                <a:gridCol w="1005972">
                  <a:extLst>
                    <a:ext uri="{9D8B030D-6E8A-4147-A177-3AD203B41FA5}">
                      <a16:colId xmlns:a16="http://schemas.microsoft.com/office/drawing/2014/main" val="2103523720"/>
                    </a:ext>
                  </a:extLst>
                </a:gridCol>
              </a:tblGrid>
              <a:tr h="409222">
                <a:tc>
                  <a:txBody>
                    <a:bodyPr/>
                    <a:lstStyle/>
                    <a:p>
                      <a:r>
                        <a:rPr lang="en-US" dirty="0"/>
                        <a:t>speed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ram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137403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13487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en-US" dirty="0"/>
                        <a:t>750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093313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en-US" strike="sngStrike" dirty="0">
                          <a:solidFill>
                            <a:schemeClr val="accent4"/>
                          </a:solidFill>
                        </a:rPr>
                        <a:t>500</a:t>
                      </a:r>
                      <a:endParaRPr lang="ru-RU" strike="sngStrike" dirty="0">
                        <a:solidFill>
                          <a:schemeClr val="accent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trike="sngStrike" dirty="0">
                          <a:solidFill>
                            <a:schemeClr val="accent4"/>
                          </a:solidFill>
                        </a:rPr>
                        <a:t>64</a:t>
                      </a:r>
                      <a:endParaRPr lang="ru-RU" strike="sngStrike" dirty="0">
                        <a:solidFill>
                          <a:schemeClr val="accent4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723408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en-US" dirty="0"/>
                        <a:t>600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91618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en-US" strike="sngStrike" dirty="0">
                          <a:solidFill>
                            <a:schemeClr val="accent4"/>
                          </a:solidFill>
                        </a:rPr>
                        <a:t>600</a:t>
                      </a:r>
                      <a:endParaRPr lang="ru-RU" strike="sngStrike" dirty="0">
                        <a:solidFill>
                          <a:schemeClr val="accent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trike="sngStrike" dirty="0">
                          <a:solidFill>
                            <a:schemeClr val="accent4"/>
                          </a:solidFill>
                        </a:rPr>
                        <a:t>128</a:t>
                      </a:r>
                      <a:endParaRPr lang="ru-RU" strike="sngStrike" dirty="0">
                        <a:solidFill>
                          <a:schemeClr val="accent4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148787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en-US" strike="sngStrike" dirty="0">
                          <a:solidFill>
                            <a:schemeClr val="accent4"/>
                          </a:solidFill>
                        </a:rPr>
                        <a:t>750</a:t>
                      </a:r>
                      <a:endParaRPr lang="ru-RU" strike="sngStrike" dirty="0">
                        <a:solidFill>
                          <a:schemeClr val="accent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trike="sngStrike" dirty="0">
                          <a:solidFill>
                            <a:schemeClr val="accent4"/>
                          </a:solidFill>
                        </a:rPr>
                        <a:t>128</a:t>
                      </a:r>
                      <a:endParaRPr lang="ru-RU" strike="sngStrike" dirty="0">
                        <a:solidFill>
                          <a:schemeClr val="accent4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410546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17149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en-US" dirty="0"/>
                        <a:t>450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157806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en-US" dirty="0"/>
                        <a:t>450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830133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en-US" strike="sngStrike" dirty="0">
                          <a:solidFill>
                            <a:schemeClr val="accent4"/>
                          </a:solidFill>
                        </a:rPr>
                        <a:t>500</a:t>
                      </a:r>
                      <a:endParaRPr lang="ru-RU" strike="sngStrike" dirty="0">
                        <a:solidFill>
                          <a:schemeClr val="accent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trike="sngStrike" dirty="0">
                          <a:solidFill>
                            <a:schemeClr val="accent4"/>
                          </a:solidFill>
                        </a:rPr>
                        <a:t>32</a:t>
                      </a:r>
                      <a:endParaRPr lang="ru-RU" strike="sngStrike" dirty="0">
                        <a:solidFill>
                          <a:schemeClr val="accent4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436226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en-US" dirty="0"/>
                        <a:t>900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60830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030242-3477-46CD-9251-BCB485E089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073777"/>
              </p:ext>
            </p:extLst>
          </p:nvPr>
        </p:nvGraphicFramePr>
        <p:xfrm>
          <a:off x="8048866" y="1759938"/>
          <a:ext cx="2011944" cy="2969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972">
                  <a:extLst>
                    <a:ext uri="{9D8B030D-6E8A-4147-A177-3AD203B41FA5}">
                      <a16:colId xmlns:a16="http://schemas.microsoft.com/office/drawing/2014/main" val="3472812332"/>
                    </a:ext>
                  </a:extLst>
                </a:gridCol>
                <a:gridCol w="1005972">
                  <a:extLst>
                    <a:ext uri="{9D8B030D-6E8A-4147-A177-3AD203B41FA5}">
                      <a16:colId xmlns:a16="http://schemas.microsoft.com/office/drawing/2014/main" val="2103523720"/>
                    </a:ext>
                  </a:extLst>
                </a:gridCol>
              </a:tblGrid>
              <a:tr h="409222">
                <a:tc>
                  <a:txBody>
                    <a:bodyPr/>
                    <a:lstStyle/>
                    <a:p>
                      <a:r>
                        <a:rPr lang="en-US" dirty="0"/>
                        <a:t>speed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ram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137403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ru-RU" dirty="0"/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13487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ru-RU" dirty="0"/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093313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ru-RU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723408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ru-RU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91618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ru-RU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148787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ru-RU" dirty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410546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ru-RU" dirty="0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1714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10BEB46-3A65-48B1-8C43-D120FE595A80}"/>
              </a:ext>
            </a:extLst>
          </p:cNvPr>
          <p:cNvSpPr/>
          <p:nvPr/>
        </p:nvSpPr>
        <p:spPr>
          <a:xfrm>
            <a:off x="606151" y="5352534"/>
            <a:ext cx="32864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DISTINCT</a:t>
            </a:r>
            <a:r>
              <a:rPr lang="ru-RU" dirty="0"/>
              <a:t> – показывает только </a:t>
            </a:r>
            <a:endParaRPr lang="en-US" dirty="0"/>
          </a:p>
          <a:p>
            <a:r>
              <a:rPr lang="ru-RU" dirty="0"/>
              <a:t>уникальные строки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6434F6-1C79-4AFE-9782-09E1B9C1F32B}"/>
              </a:ext>
            </a:extLst>
          </p:cNvPr>
          <p:cNvSpPr txBox="1"/>
          <p:nvPr/>
        </p:nvSpPr>
        <p:spPr>
          <a:xfrm>
            <a:off x="4868698" y="1396440"/>
            <a:ext cx="217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	        </a:t>
            </a:r>
            <a:r>
              <a:rPr lang="ru-RU" b="1" dirty="0"/>
              <a:t>До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72F84B-B927-4B24-A9D1-2BB822A0AE83}"/>
              </a:ext>
            </a:extLst>
          </p:cNvPr>
          <p:cNvSpPr txBox="1"/>
          <p:nvPr/>
        </p:nvSpPr>
        <p:spPr>
          <a:xfrm>
            <a:off x="7859847" y="1402274"/>
            <a:ext cx="217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	      </a:t>
            </a:r>
            <a:r>
              <a:rPr lang="ru-RU" b="1" dirty="0"/>
              <a:t>После</a:t>
            </a:r>
          </a:p>
        </p:txBody>
      </p:sp>
    </p:spTree>
    <p:extLst>
      <p:ext uri="{BB962C8B-B14F-4D97-AF65-F5344CB8AC3E}">
        <p14:creationId xmlns:p14="http://schemas.microsoft.com/office/powerpoint/2010/main" val="16917071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ORDER BY</a:t>
            </a:r>
            <a:endParaRPr lang="ru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1E79E7-1838-40E9-8039-EB87E3BEF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581" y="2583565"/>
            <a:ext cx="10325581" cy="3704972"/>
          </a:xfrm>
        </p:spPr>
        <p:txBody>
          <a:bodyPr>
            <a:normAutofit/>
          </a:bodyPr>
          <a:lstStyle/>
          <a:p>
            <a:r>
              <a:rPr lang="ru-RU" dirty="0"/>
              <a:t>Оператор </a:t>
            </a:r>
            <a:r>
              <a:rPr lang="ru-RU" b="1" dirty="0"/>
              <a:t>ORDER BY </a:t>
            </a:r>
            <a:r>
              <a:rPr lang="ru-RU" dirty="0"/>
              <a:t>выполняет сортировку значений. </a:t>
            </a:r>
          </a:p>
          <a:p>
            <a:r>
              <a:rPr lang="ru-RU" b="1" dirty="0"/>
              <a:t>ORDER BY</a:t>
            </a:r>
            <a:r>
              <a:rPr lang="ru-RU" dirty="0"/>
              <a:t> можно применять как к числовым столбцам, так и к строковым.</a:t>
            </a:r>
            <a:r>
              <a:rPr lang="en-US" dirty="0"/>
              <a:t>						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60043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ORDER BY</a:t>
            </a:r>
            <a:endParaRPr lang="ru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1E79E7-1838-40E9-8039-EB87E3BEF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581" y="2583565"/>
            <a:ext cx="10325581" cy="3704972"/>
          </a:xfrm>
        </p:spPr>
        <p:txBody>
          <a:bodyPr>
            <a:normAutofit/>
          </a:bodyPr>
          <a:lstStyle/>
          <a:p>
            <a:r>
              <a:rPr lang="ru-RU" dirty="0"/>
              <a:t>Оператор </a:t>
            </a:r>
            <a:r>
              <a:rPr lang="ru-RU" b="1" dirty="0"/>
              <a:t>ORDER BY </a:t>
            </a:r>
            <a:r>
              <a:rPr lang="ru-RU" dirty="0"/>
              <a:t>выполняет сортировку значений. </a:t>
            </a:r>
          </a:p>
          <a:p>
            <a:r>
              <a:rPr lang="ru-RU" b="1" dirty="0"/>
              <a:t>ORDER BY</a:t>
            </a:r>
            <a:r>
              <a:rPr lang="ru-RU" dirty="0"/>
              <a:t> можно применять как к числовым столбцам, так и к строковым.</a:t>
            </a:r>
            <a:r>
              <a:rPr lang="en-US" dirty="0"/>
              <a:t>	</a:t>
            </a:r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ORDER BY ASC </a:t>
            </a:r>
            <a:r>
              <a:rPr lang="en-US" dirty="0"/>
              <a:t>– </a:t>
            </a:r>
            <a:r>
              <a:rPr lang="ru-RU" dirty="0"/>
              <a:t>сортировка по возрастанию (используется по умолчанию)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ORDER BY DESC</a:t>
            </a:r>
            <a:r>
              <a:rPr lang="ru-RU" dirty="0"/>
              <a:t> – сортировка по убыванию</a:t>
            </a:r>
            <a:r>
              <a:rPr lang="en-US" dirty="0"/>
              <a:t>						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577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DF6C7C-2185-4EC0-8B50-9B87117F7328}"/>
              </a:ext>
            </a:extLst>
          </p:cNvPr>
          <p:cNvSpPr/>
          <p:nvPr/>
        </p:nvSpPr>
        <p:spPr>
          <a:xfrm>
            <a:off x="714997" y="2444234"/>
            <a:ext cx="3972562" cy="11387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400" dirty="0">
                <a:solidFill>
                  <a:srgbClr val="0070C0"/>
                </a:solidFill>
              </a:rPr>
              <a:t> </a:t>
            </a:r>
            <a:r>
              <a:rPr lang="en-US" altLang="ru-RU" sz="2200" dirty="0">
                <a:solidFill>
                  <a:srgbClr val="0070C0"/>
                </a:solidFill>
              </a:rPr>
              <a:t>SELECT DISTINCT </a:t>
            </a:r>
            <a:r>
              <a:rPr lang="en-US" altLang="ru-RU" sz="2200" dirty="0"/>
              <a:t>speed, ram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200" dirty="0">
                <a:solidFill>
                  <a:srgbClr val="0070C0"/>
                </a:solidFill>
              </a:rPr>
              <a:t>    FROM </a:t>
            </a:r>
            <a:r>
              <a:rPr lang="en-US" altLang="ru-RU" sz="2200" dirty="0"/>
              <a:t>laptop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200" dirty="0">
                <a:solidFill>
                  <a:srgbClr val="0070C0"/>
                </a:solidFill>
              </a:rPr>
              <a:t>    ORDER BY </a:t>
            </a:r>
            <a:r>
              <a:rPr lang="en-US" altLang="ru-RU" sz="2200" dirty="0"/>
              <a:t>ram</a:t>
            </a:r>
            <a:r>
              <a:rPr lang="en-US" altLang="ru-RU" sz="2200" dirty="0">
                <a:solidFill>
                  <a:srgbClr val="0070C0"/>
                </a:solidFill>
              </a:rPr>
              <a:t> DESC</a:t>
            </a:r>
            <a:r>
              <a:rPr lang="en-US" altLang="ru-RU" sz="2200" dirty="0"/>
              <a:t>;</a:t>
            </a:r>
            <a:endParaRPr lang="ru-RU" altLang="ru-RU" sz="2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669E8F-0BC4-4C9C-949A-D84773911C3F}"/>
              </a:ext>
            </a:extLst>
          </p:cNvPr>
          <p:cNvSpPr/>
          <p:nvPr/>
        </p:nvSpPr>
        <p:spPr>
          <a:xfrm>
            <a:off x="4439001" y="528833"/>
            <a:ext cx="432399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dirty="0"/>
              <a:t>Таблица</a:t>
            </a:r>
            <a:r>
              <a:rPr lang="en-US" sz="4400" dirty="0"/>
              <a:t> “laptop”</a:t>
            </a:r>
            <a:endParaRPr lang="ru-RU" sz="4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030242-3477-46CD-9251-BCB485E089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995483"/>
              </p:ext>
            </p:extLst>
          </p:nvPr>
        </p:nvGraphicFramePr>
        <p:xfrm>
          <a:off x="5440289" y="1684404"/>
          <a:ext cx="2011944" cy="3335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972">
                  <a:extLst>
                    <a:ext uri="{9D8B030D-6E8A-4147-A177-3AD203B41FA5}">
                      <a16:colId xmlns:a16="http://schemas.microsoft.com/office/drawing/2014/main" val="3472812332"/>
                    </a:ext>
                  </a:extLst>
                </a:gridCol>
                <a:gridCol w="1005972">
                  <a:extLst>
                    <a:ext uri="{9D8B030D-6E8A-4147-A177-3AD203B41FA5}">
                      <a16:colId xmlns:a16="http://schemas.microsoft.com/office/drawing/2014/main" val="2103523720"/>
                    </a:ext>
                  </a:extLst>
                </a:gridCol>
              </a:tblGrid>
              <a:tr h="409222">
                <a:tc>
                  <a:txBody>
                    <a:bodyPr/>
                    <a:lstStyle/>
                    <a:p>
                      <a:r>
                        <a:rPr lang="en-US" dirty="0"/>
                        <a:t>speed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ram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137403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ru-RU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13487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ru-RU" dirty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093313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ru-RU" dirty="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723408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ru-RU" dirty="0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91618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ru-RU" dirty="0"/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148787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ru-RU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410546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ru-RU" dirty="0"/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17149"/>
                  </a:ext>
                </a:extLst>
              </a:tr>
              <a:tr h="365196">
                <a:tc>
                  <a:txBody>
                    <a:bodyPr/>
                    <a:lstStyle/>
                    <a:p>
                      <a:r>
                        <a:rPr lang="ru-RU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21523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B6434F6-1C79-4AFE-9782-09E1B9C1F32B}"/>
              </a:ext>
            </a:extLst>
          </p:cNvPr>
          <p:cNvSpPr txBox="1"/>
          <p:nvPr/>
        </p:nvSpPr>
        <p:spPr>
          <a:xfrm>
            <a:off x="4868698" y="1396440"/>
            <a:ext cx="217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	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72F84B-B927-4B24-A9D1-2BB822A0AE83}"/>
              </a:ext>
            </a:extLst>
          </p:cNvPr>
          <p:cNvSpPr txBox="1"/>
          <p:nvPr/>
        </p:nvSpPr>
        <p:spPr>
          <a:xfrm>
            <a:off x="7859847" y="1402274"/>
            <a:ext cx="217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3070196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WHERE</a:t>
            </a:r>
            <a:endParaRPr lang="ru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1E79E7-1838-40E9-8039-EB87E3BEF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556932"/>
            <a:ext cx="10325581" cy="370497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Оператор </a:t>
            </a:r>
            <a:r>
              <a:rPr lang="en-US" b="1" dirty="0"/>
              <a:t>WHERE</a:t>
            </a:r>
            <a:r>
              <a:rPr lang="ru-RU" dirty="0"/>
              <a:t> служит для задания дополнительного условия выборки, редактирования и удаления записей.</a:t>
            </a:r>
            <a:endParaRPr lang="en-US" dirty="0"/>
          </a:p>
          <a:p>
            <a:pPr marL="0" indent="0">
              <a:buNone/>
            </a:pPr>
            <a:endParaRPr lang="en-US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2"/>
                </a:solidFill>
              </a:rPr>
              <a:t>Структура</a:t>
            </a:r>
            <a:r>
              <a:rPr lang="en-US" b="1" dirty="0">
                <a:solidFill>
                  <a:schemeClr val="tx2"/>
                </a:solidFill>
              </a:rPr>
              <a:t>: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WHERE </a:t>
            </a:r>
            <a:r>
              <a:rPr lang="en-US" dirty="0">
                <a:solidFill>
                  <a:schemeClr val="tx1"/>
                </a:solidFill>
              </a:rPr>
              <a:t>&lt;</a:t>
            </a:r>
            <a:r>
              <a:rPr lang="ru-RU" dirty="0">
                <a:solidFill>
                  <a:schemeClr val="tx1"/>
                </a:solidFill>
              </a:rPr>
              <a:t>поле</a:t>
            </a:r>
            <a:r>
              <a:rPr lang="en-US" dirty="0">
                <a:solidFill>
                  <a:schemeClr val="tx1"/>
                </a:solidFill>
              </a:rPr>
              <a:t>&gt; = &lt;</a:t>
            </a:r>
            <a:r>
              <a:rPr lang="ru-RU" dirty="0">
                <a:solidFill>
                  <a:schemeClr val="tx1"/>
                </a:solidFill>
              </a:rPr>
              <a:t>значение</a:t>
            </a:r>
            <a:r>
              <a:rPr lang="en-US" dirty="0">
                <a:solidFill>
                  <a:schemeClr val="tx1"/>
                </a:solidFill>
              </a:rPr>
              <a:t>&gt;;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Пример</a:t>
            </a:r>
            <a:r>
              <a:rPr lang="en-US" b="1" dirty="0"/>
              <a:t>:</a:t>
            </a:r>
            <a:endParaRPr lang="ru-RU" b="1" dirty="0"/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WHERE</a:t>
            </a:r>
            <a:r>
              <a:rPr lang="ru-RU" dirty="0"/>
              <a:t> </a:t>
            </a:r>
            <a:r>
              <a:rPr lang="en-US" dirty="0"/>
              <a:t>speed = 200;		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WHERE </a:t>
            </a:r>
            <a:r>
              <a:rPr lang="en-US" dirty="0"/>
              <a:t>price &gt; 1000;</a:t>
            </a:r>
          </a:p>
          <a:p>
            <a:pPr marL="0" indent="0">
              <a:buNone/>
            </a:pPr>
            <a:r>
              <a:rPr lang="en-US" dirty="0"/>
              <a:t>								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07457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DF6C7C-2185-4EC0-8B50-9B87117F7328}"/>
              </a:ext>
            </a:extLst>
          </p:cNvPr>
          <p:cNvSpPr/>
          <p:nvPr/>
        </p:nvSpPr>
        <p:spPr>
          <a:xfrm>
            <a:off x="714997" y="2444234"/>
            <a:ext cx="3895618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200" dirty="0">
                <a:solidFill>
                  <a:srgbClr val="0070C0"/>
                </a:solidFill>
              </a:rPr>
              <a:t>SELECT DISTINCT </a:t>
            </a:r>
            <a:r>
              <a:rPr lang="en-US" altLang="ru-RU" sz="2200" dirty="0">
                <a:solidFill>
                  <a:schemeClr val="tx2"/>
                </a:solidFill>
              </a:rPr>
              <a:t>speed, ram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200" dirty="0">
                <a:solidFill>
                  <a:srgbClr val="0070C0"/>
                </a:solidFill>
              </a:rPr>
              <a:t>FROM </a:t>
            </a:r>
            <a:r>
              <a:rPr lang="en-US" altLang="ru-RU" sz="2200" dirty="0">
                <a:solidFill>
                  <a:schemeClr val="tx2"/>
                </a:solidFill>
              </a:rPr>
              <a:t>laptop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200" dirty="0">
                <a:solidFill>
                  <a:srgbClr val="0070C0"/>
                </a:solidFill>
              </a:rPr>
              <a:t>WHERE </a:t>
            </a:r>
            <a:r>
              <a:rPr lang="en-US" altLang="ru-RU" sz="2200" dirty="0">
                <a:solidFill>
                  <a:schemeClr val="tx2"/>
                </a:solidFill>
              </a:rPr>
              <a:t>speed &lt;= 500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200" dirty="0">
                <a:solidFill>
                  <a:srgbClr val="0070C0"/>
                </a:solidFill>
              </a:rPr>
              <a:t>ORDER BY </a:t>
            </a:r>
            <a:r>
              <a:rPr lang="en-US" altLang="ru-RU" sz="2200" dirty="0">
                <a:solidFill>
                  <a:schemeClr val="tx2"/>
                </a:solidFill>
              </a:rPr>
              <a:t>2</a:t>
            </a:r>
            <a:r>
              <a:rPr lang="en-US" altLang="ru-RU" sz="2200" dirty="0">
                <a:solidFill>
                  <a:srgbClr val="0070C0"/>
                </a:solidFill>
              </a:rPr>
              <a:t> DESC</a:t>
            </a:r>
            <a:r>
              <a:rPr lang="en-US" altLang="ru-RU" sz="2200" dirty="0"/>
              <a:t>;</a:t>
            </a:r>
            <a:endParaRPr lang="ru-RU" altLang="ru-RU" sz="2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669E8F-0BC4-4C9C-949A-D84773911C3F}"/>
              </a:ext>
            </a:extLst>
          </p:cNvPr>
          <p:cNvSpPr/>
          <p:nvPr/>
        </p:nvSpPr>
        <p:spPr>
          <a:xfrm>
            <a:off x="4439001" y="528833"/>
            <a:ext cx="432399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dirty="0"/>
              <a:t>Таблица</a:t>
            </a:r>
            <a:r>
              <a:rPr lang="en-US" sz="4400" dirty="0"/>
              <a:t> “laptop”</a:t>
            </a:r>
            <a:endParaRPr lang="ru-RU" sz="4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030242-3477-46CD-9251-BCB485E089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584122"/>
              </p:ext>
            </p:extLst>
          </p:nvPr>
        </p:nvGraphicFramePr>
        <p:xfrm>
          <a:off x="4780344" y="1864410"/>
          <a:ext cx="2310260" cy="4027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130">
                  <a:extLst>
                    <a:ext uri="{9D8B030D-6E8A-4147-A177-3AD203B41FA5}">
                      <a16:colId xmlns:a16="http://schemas.microsoft.com/office/drawing/2014/main" val="3472812332"/>
                    </a:ext>
                  </a:extLst>
                </a:gridCol>
                <a:gridCol w="1155130">
                  <a:extLst>
                    <a:ext uri="{9D8B030D-6E8A-4147-A177-3AD203B41FA5}">
                      <a16:colId xmlns:a16="http://schemas.microsoft.com/office/drawing/2014/main" val="2103523720"/>
                    </a:ext>
                  </a:extLst>
                </a:gridCol>
              </a:tblGrid>
              <a:tr h="445272">
                <a:tc>
                  <a:txBody>
                    <a:bodyPr/>
                    <a:lstStyle/>
                    <a:p>
                      <a:r>
                        <a:rPr lang="en-US" dirty="0"/>
                        <a:t>speed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ram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137403"/>
                  </a:ext>
                </a:extLst>
              </a:tr>
              <a:tr h="397981">
                <a:tc>
                  <a:txBody>
                    <a:bodyPr/>
                    <a:lstStyle/>
                    <a:p>
                      <a:r>
                        <a:rPr lang="ru-RU" strike="sngStrike" dirty="0">
                          <a:solidFill>
                            <a:schemeClr val="accent4"/>
                          </a:solidFill>
                        </a:rPr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sngStrike" dirty="0">
                          <a:solidFill>
                            <a:schemeClr val="accent4"/>
                          </a:solidFill>
                        </a:rPr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13487"/>
                  </a:ext>
                </a:extLst>
              </a:tr>
              <a:tr h="397981">
                <a:tc>
                  <a:txBody>
                    <a:bodyPr/>
                    <a:lstStyle/>
                    <a:p>
                      <a:r>
                        <a:rPr lang="ru-RU" strike="sngStrike" dirty="0">
                          <a:solidFill>
                            <a:schemeClr val="accent4"/>
                          </a:solidFill>
                        </a:rP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sngStrike" dirty="0">
                          <a:solidFill>
                            <a:schemeClr val="accent4"/>
                          </a:solidFill>
                        </a:rPr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093313"/>
                  </a:ext>
                </a:extLst>
              </a:tr>
              <a:tr h="397981">
                <a:tc>
                  <a:txBody>
                    <a:bodyPr/>
                    <a:lstStyle/>
                    <a:p>
                      <a:r>
                        <a:rPr lang="ru-RU" strike="sngStrike" dirty="0">
                          <a:solidFill>
                            <a:schemeClr val="accent4"/>
                          </a:solidFill>
                        </a:rP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sngStrike" dirty="0">
                          <a:solidFill>
                            <a:schemeClr val="accent4"/>
                          </a:solidFill>
                        </a:rPr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723408"/>
                  </a:ext>
                </a:extLst>
              </a:tr>
              <a:tr h="397981">
                <a:tc>
                  <a:txBody>
                    <a:bodyPr/>
                    <a:lstStyle/>
                    <a:p>
                      <a:r>
                        <a:rPr lang="ru-RU" strike="sngStrike" dirty="0">
                          <a:solidFill>
                            <a:schemeClr val="accent4"/>
                          </a:solidFill>
                        </a:rPr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sngStrike" dirty="0">
                          <a:solidFill>
                            <a:schemeClr val="accent4"/>
                          </a:solidFill>
                        </a:rPr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91618"/>
                  </a:ext>
                </a:extLst>
              </a:tr>
              <a:tr h="397981">
                <a:tc>
                  <a:txBody>
                    <a:bodyPr/>
                    <a:lstStyle/>
                    <a:p>
                      <a:r>
                        <a:rPr lang="ru-RU" dirty="0"/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148787"/>
                  </a:ext>
                </a:extLst>
              </a:tr>
              <a:tr h="397981">
                <a:tc>
                  <a:txBody>
                    <a:bodyPr/>
                    <a:lstStyle/>
                    <a:p>
                      <a:r>
                        <a:rPr lang="ru-RU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410546"/>
                  </a:ext>
                </a:extLst>
              </a:tr>
              <a:tr h="397981">
                <a:tc>
                  <a:txBody>
                    <a:bodyPr/>
                    <a:lstStyle/>
                    <a:p>
                      <a:r>
                        <a:rPr lang="ru-RU" dirty="0"/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17149"/>
                  </a:ext>
                </a:extLst>
              </a:tr>
              <a:tr h="397981">
                <a:tc>
                  <a:txBody>
                    <a:bodyPr/>
                    <a:lstStyle/>
                    <a:p>
                      <a:r>
                        <a:rPr lang="ru-RU" strike="sngStrike" dirty="0">
                          <a:solidFill>
                            <a:schemeClr val="accent4"/>
                          </a:solidFill>
                        </a:rP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trike="sngStrike" dirty="0">
                          <a:solidFill>
                            <a:schemeClr val="accent4"/>
                          </a:solidFill>
                        </a:rPr>
                        <a:t>64</a:t>
                      </a:r>
                      <a:endParaRPr lang="ru-RU" strike="sngStrike" dirty="0">
                        <a:solidFill>
                          <a:schemeClr val="accent4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215230"/>
                  </a:ext>
                </a:extLst>
              </a:tr>
              <a:tr h="397981"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47826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B6434F6-1C79-4AFE-9782-09E1B9C1F32B}"/>
              </a:ext>
            </a:extLst>
          </p:cNvPr>
          <p:cNvSpPr txBox="1"/>
          <p:nvPr/>
        </p:nvSpPr>
        <p:spPr>
          <a:xfrm>
            <a:off x="4868698" y="1396440"/>
            <a:ext cx="217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	        </a:t>
            </a:r>
            <a:r>
              <a:rPr lang="ru-RU" b="1" dirty="0"/>
              <a:t>До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72F84B-B927-4B24-A9D1-2BB822A0AE83}"/>
              </a:ext>
            </a:extLst>
          </p:cNvPr>
          <p:cNvSpPr txBox="1"/>
          <p:nvPr/>
        </p:nvSpPr>
        <p:spPr>
          <a:xfrm>
            <a:off x="8276713" y="1409287"/>
            <a:ext cx="217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	    </a:t>
            </a:r>
            <a:r>
              <a:rPr lang="ru-RU" b="1" dirty="0"/>
              <a:t>После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266F74A-A799-4AEB-971A-0EFBD2C09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537288"/>
              </p:ext>
            </p:extLst>
          </p:nvPr>
        </p:nvGraphicFramePr>
        <p:xfrm>
          <a:off x="8060386" y="1842678"/>
          <a:ext cx="2310260" cy="2463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130">
                  <a:extLst>
                    <a:ext uri="{9D8B030D-6E8A-4147-A177-3AD203B41FA5}">
                      <a16:colId xmlns:a16="http://schemas.microsoft.com/office/drawing/2014/main" val="3472812332"/>
                    </a:ext>
                  </a:extLst>
                </a:gridCol>
                <a:gridCol w="1155130">
                  <a:extLst>
                    <a:ext uri="{9D8B030D-6E8A-4147-A177-3AD203B41FA5}">
                      <a16:colId xmlns:a16="http://schemas.microsoft.com/office/drawing/2014/main" val="2103523720"/>
                    </a:ext>
                  </a:extLst>
                </a:gridCol>
              </a:tblGrid>
              <a:tr h="538363">
                <a:tc>
                  <a:txBody>
                    <a:bodyPr/>
                    <a:lstStyle/>
                    <a:p>
                      <a:r>
                        <a:rPr lang="en-US" dirty="0"/>
                        <a:t>speed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ram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137403"/>
                  </a:ext>
                </a:extLst>
              </a:tr>
              <a:tr h="481185">
                <a:tc>
                  <a:txBody>
                    <a:bodyPr/>
                    <a:lstStyle/>
                    <a:p>
                      <a:r>
                        <a:rPr lang="en-US" dirty="0"/>
                        <a:t>450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13487"/>
                  </a:ext>
                </a:extLst>
              </a:tr>
              <a:tr h="481185"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093313"/>
                  </a:ext>
                </a:extLst>
              </a:tr>
              <a:tr h="481185">
                <a:tc>
                  <a:txBody>
                    <a:bodyPr/>
                    <a:lstStyle/>
                    <a:p>
                      <a:r>
                        <a:rPr lang="en-US" dirty="0"/>
                        <a:t>450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723408"/>
                  </a:ext>
                </a:extLst>
              </a:tr>
              <a:tr h="481185"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91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029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E1BFA-D486-4D89-A28F-06E79D74E8C8}"/>
              </a:ext>
            </a:extLst>
          </p:cNvPr>
          <p:cNvSpPr txBox="1">
            <a:spLocks/>
          </p:cNvSpPr>
          <p:nvPr/>
        </p:nvSpPr>
        <p:spPr>
          <a:xfrm>
            <a:off x="1295402" y="519145"/>
            <a:ext cx="9601196" cy="130386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Предикаты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1CA33-2703-4586-879B-CB670621C910}"/>
              </a:ext>
            </a:extLst>
          </p:cNvPr>
          <p:cNvSpPr txBox="1">
            <a:spLocks/>
          </p:cNvSpPr>
          <p:nvPr/>
        </p:nvSpPr>
        <p:spPr>
          <a:xfrm>
            <a:off x="843989" y="1284790"/>
            <a:ext cx="10545500" cy="505406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900" b="1" dirty="0"/>
              <a:t>Предикаты</a:t>
            </a:r>
            <a:r>
              <a:rPr lang="ru-RU" sz="1900" dirty="0"/>
              <a:t> - выражения, принимающие какое-то значение. </a:t>
            </a:r>
          </a:p>
          <a:p>
            <a:pPr marL="0" indent="0">
              <a:buFont typeface="Arial"/>
              <a:buNone/>
            </a:pPr>
            <a:r>
              <a:rPr lang="ru-RU" sz="1900" dirty="0"/>
              <a:t>Они могут представлять собой как одно выражение, так и любую комбинацию из неограниченного количества выражений</a:t>
            </a:r>
            <a:r>
              <a:rPr lang="en-US" sz="1900" dirty="0"/>
              <a:t>.</a:t>
            </a:r>
          </a:p>
          <a:p>
            <a:pPr marL="0" indent="0">
              <a:buFont typeface="Arial"/>
              <a:buNone/>
            </a:pPr>
            <a:r>
              <a:rPr lang="ru-RU" sz="1900" b="1" dirty="0"/>
              <a:t>Предикаты</a:t>
            </a:r>
            <a:r>
              <a:rPr lang="en-US" sz="1900" b="1" dirty="0"/>
              <a:t>:</a:t>
            </a:r>
            <a:endParaRPr lang="ru-RU" sz="19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70C0"/>
                </a:solidFill>
              </a:rPr>
              <a:t>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70C0"/>
                </a:solidFill>
              </a:rPr>
              <a:t>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70C0"/>
                </a:solidFill>
              </a:rPr>
              <a:t>NOT</a:t>
            </a:r>
          </a:p>
          <a:p>
            <a:pPr marL="0" indent="0">
              <a:buNone/>
            </a:pPr>
            <a:r>
              <a:rPr lang="ru-RU" sz="1900" b="1" dirty="0"/>
              <a:t>Возможные значения предикатов</a:t>
            </a:r>
            <a:r>
              <a:rPr lang="en-US" sz="1900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TRUE (1)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FALSE (0)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NULL ()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22454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95402" y="438122"/>
            <a:ext cx="9601196" cy="1303867"/>
          </a:xfrm>
        </p:spPr>
        <p:txBody>
          <a:bodyPr>
            <a:normAutofit/>
          </a:bodyPr>
          <a:lstStyle/>
          <a:p>
            <a:r>
              <a:rPr lang="ru-RU" dirty="0"/>
              <a:t>Таблица</a:t>
            </a:r>
            <a:r>
              <a:rPr lang="en-US" dirty="0"/>
              <a:t> “Product”</a:t>
            </a:r>
            <a:endParaRPr lang="ru-RU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138A8D2-9DB2-49FF-8FD2-A7B1E46D3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30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B4613E9-2841-4F91-9752-01DBF54F9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30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C5365E-D15A-451B-89E9-A7BA205ECEEE}"/>
              </a:ext>
            </a:extLst>
          </p:cNvPr>
          <p:cNvSpPr/>
          <p:nvPr/>
        </p:nvSpPr>
        <p:spPr>
          <a:xfrm>
            <a:off x="830680" y="2619830"/>
            <a:ext cx="699380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-- модели ПК, выпускаемые производителем A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dirty="0">
              <a:solidFill>
                <a:schemeClr val="bg1">
                  <a:lumMod val="65000"/>
                </a:schemeClr>
              </a:solidFill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0070C0"/>
                </a:solidFill>
                <a:latin typeface="+mj-lt"/>
              </a:rPr>
              <a:t>SELECT</a:t>
            </a:r>
            <a:r>
              <a:rPr lang="ru-RU" altLang="ru-RU" dirty="0">
                <a:latin typeface="+mj-lt"/>
              </a:rPr>
              <a:t> maker, model, type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0070C0"/>
                </a:solidFill>
                <a:latin typeface="+mj-lt"/>
              </a:rPr>
              <a:t>FROM</a:t>
            </a:r>
            <a:r>
              <a:rPr lang="ru-RU" altLang="ru-RU" dirty="0">
                <a:latin typeface="+mj-lt"/>
              </a:rPr>
              <a:t> Product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0070C0"/>
                </a:solidFill>
                <a:latin typeface="+mj-lt"/>
              </a:rPr>
              <a:t>WHERE</a:t>
            </a:r>
            <a:r>
              <a:rPr lang="ru-RU" altLang="ru-RU" dirty="0">
                <a:latin typeface="+mj-lt"/>
              </a:rPr>
              <a:t> type='</a:t>
            </a:r>
            <a:r>
              <a:rPr lang="ru-RU" altLang="ru-RU" dirty="0">
                <a:solidFill>
                  <a:srgbClr val="FF0000"/>
                </a:solidFill>
                <a:latin typeface="+mj-lt"/>
              </a:rPr>
              <a:t>PC</a:t>
            </a:r>
            <a:r>
              <a:rPr lang="ru-RU" altLang="ru-RU" dirty="0">
                <a:latin typeface="+mj-lt"/>
              </a:rPr>
              <a:t>' </a:t>
            </a:r>
            <a:r>
              <a:rPr lang="ru-RU" altLang="ru-RU" dirty="0">
                <a:solidFill>
                  <a:srgbClr val="0070C0"/>
                </a:solidFill>
                <a:latin typeface="+mj-lt"/>
              </a:rPr>
              <a:t>AND</a:t>
            </a:r>
            <a:r>
              <a:rPr lang="ru-RU" altLang="ru-RU" dirty="0">
                <a:latin typeface="+mj-lt"/>
              </a:rPr>
              <a:t> maker='</a:t>
            </a:r>
            <a:r>
              <a:rPr lang="ru-RU" altLang="ru-RU" dirty="0">
                <a:solidFill>
                  <a:srgbClr val="FF0000"/>
                </a:solidFill>
                <a:latin typeface="+mj-lt"/>
              </a:rPr>
              <a:t>A</a:t>
            </a:r>
            <a:r>
              <a:rPr lang="ru-RU" altLang="ru-RU" dirty="0"/>
              <a:t>'</a:t>
            </a:r>
            <a:r>
              <a:rPr lang="en-US" altLang="ru-RU" dirty="0"/>
              <a:t>;</a:t>
            </a:r>
            <a:endParaRPr lang="ru-RU" altLang="ru-RU" dirty="0">
              <a:latin typeface="+mj-lt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F5C43C9-B43A-4FEA-99CC-96814FBFD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30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722282"/>
              </p:ext>
            </p:extLst>
          </p:nvPr>
        </p:nvGraphicFramePr>
        <p:xfrm>
          <a:off x="8019286" y="2715658"/>
          <a:ext cx="2877312" cy="1538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104">
                  <a:extLst>
                    <a:ext uri="{9D8B030D-6E8A-4147-A177-3AD203B41FA5}">
                      <a16:colId xmlns:a16="http://schemas.microsoft.com/office/drawing/2014/main" val="170872715"/>
                    </a:ext>
                  </a:extLst>
                </a:gridCol>
                <a:gridCol w="959104">
                  <a:extLst>
                    <a:ext uri="{9D8B030D-6E8A-4147-A177-3AD203B41FA5}">
                      <a16:colId xmlns:a16="http://schemas.microsoft.com/office/drawing/2014/main" val="4191916563"/>
                    </a:ext>
                  </a:extLst>
                </a:gridCol>
                <a:gridCol w="959104">
                  <a:extLst>
                    <a:ext uri="{9D8B030D-6E8A-4147-A177-3AD203B41FA5}">
                      <a16:colId xmlns:a16="http://schemas.microsoft.com/office/drawing/2014/main" val="993855942"/>
                    </a:ext>
                  </a:extLst>
                </a:gridCol>
              </a:tblGrid>
              <a:tr h="5129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maker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129287"/>
                  </a:ext>
                </a:extLst>
              </a:tr>
              <a:tr h="512942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PC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734925"/>
                  </a:ext>
                </a:extLst>
              </a:tr>
              <a:tr h="512942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PC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693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85641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</a:t>
            </a:r>
            <a:endParaRPr lang="ru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1E79E7-1838-40E9-8039-EB87E3BEF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581" y="2583565"/>
            <a:ext cx="10325581" cy="3704972"/>
          </a:xfrm>
        </p:spPr>
        <p:txBody>
          <a:bodyPr>
            <a:normAutofit/>
          </a:bodyPr>
          <a:lstStyle/>
          <a:p>
            <a:r>
              <a:rPr lang="ru-RU" dirty="0"/>
              <a:t>Оператор </a:t>
            </a:r>
            <a:r>
              <a:rPr lang="ru-RU" b="1" dirty="0"/>
              <a:t>IN</a:t>
            </a:r>
            <a:r>
              <a:rPr lang="ru-RU" dirty="0"/>
              <a:t> позволяет нам выбрать сразу несколько значений в столбце.</a:t>
            </a:r>
            <a:r>
              <a:rPr lang="en-US" dirty="0"/>
              <a:t>		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7359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95402" y="438122"/>
            <a:ext cx="9601196" cy="1303867"/>
          </a:xfrm>
        </p:spPr>
        <p:txBody>
          <a:bodyPr>
            <a:normAutofit/>
          </a:bodyPr>
          <a:lstStyle/>
          <a:p>
            <a:r>
              <a:rPr lang="ru-RU" dirty="0"/>
              <a:t>Таблица</a:t>
            </a:r>
            <a:r>
              <a:rPr lang="en-US" dirty="0"/>
              <a:t> “Product”</a:t>
            </a:r>
            <a:endParaRPr lang="ru-RU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138A8D2-9DB2-49FF-8FD2-A7B1E46D3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30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B4613E9-2841-4F91-9752-01DBF54F9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30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C5365E-D15A-451B-89E9-A7BA205ECEEE}"/>
              </a:ext>
            </a:extLst>
          </p:cNvPr>
          <p:cNvSpPr/>
          <p:nvPr/>
        </p:nvSpPr>
        <p:spPr>
          <a:xfrm>
            <a:off x="761232" y="2631405"/>
            <a:ext cx="682018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0070C0"/>
                </a:solidFill>
                <a:latin typeface="+mj-lt"/>
              </a:rPr>
              <a:t>SELECT</a:t>
            </a:r>
            <a:r>
              <a:rPr lang="ru-RU" altLang="ru-RU" dirty="0">
                <a:latin typeface="+mj-lt"/>
              </a:rPr>
              <a:t> </a:t>
            </a:r>
            <a:r>
              <a:rPr lang="en-US" altLang="ru-RU" dirty="0">
                <a:latin typeface="+mj-lt"/>
              </a:rPr>
              <a:t>*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0070C0"/>
                </a:solidFill>
                <a:latin typeface="+mj-lt"/>
              </a:rPr>
              <a:t>FROM</a:t>
            </a:r>
            <a:r>
              <a:rPr lang="ru-RU" altLang="ru-RU" dirty="0">
                <a:latin typeface="+mj-lt"/>
              </a:rPr>
              <a:t> Product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0070C0"/>
                </a:solidFill>
                <a:latin typeface="+mj-lt"/>
              </a:rPr>
              <a:t>WHERE</a:t>
            </a:r>
            <a:r>
              <a:rPr lang="ru-RU" altLang="ru-RU" dirty="0">
                <a:latin typeface="+mj-lt"/>
              </a:rPr>
              <a:t> type</a:t>
            </a:r>
            <a:r>
              <a:rPr lang="en-US" altLang="ru-RU" dirty="0">
                <a:latin typeface="+mj-lt"/>
              </a:rPr>
              <a:t> </a:t>
            </a:r>
            <a:r>
              <a:rPr lang="en-US" altLang="ru-RU" dirty="0">
                <a:solidFill>
                  <a:srgbClr val="0070C0"/>
                </a:solidFill>
                <a:latin typeface="+mj-lt"/>
              </a:rPr>
              <a:t>IN</a:t>
            </a:r>
            <a:r>
              <a:rPr lang="en-US" altLang="ru-RU" dirty="0">
                <a:latin typeface="+mj-lt"/>
              </a:rPr>
              <a:t>(‘</a:t>
            </a:r>
            <a:r>
              <a:rPr lang="en-US" altLang="ru-RU" dirty="0">
                <a:solidFill>
                  <a:srgbClr val="FF0000"/>
                </a:solidFill>
                <a:latin typeface="+mj-lt"/>
              </a:rPr>
              <a:t>Laptop</a:t>
            </a:r>
            <a:r>
              <a:rPr lang="en-US" altLang="ru-RU" dirty="0">
                <a:latin typeface="+mj-lt"/>
              </a:rPr>
              <a:t>’, ‘</a:t>
            </a:r>
            <a:r>
              <a:rPr lang="en-US" altLang="ru-RU" dirty="0">
                <a:solidFill>
                  <a:srgbClr val="FF0000"/>
                </a:solidFill>
                <a:latin typeface="+mj-lt"/>
              </a:rPr>
              <a:t>Printer</a:t>
            </a:r>
            <a:r>
              <a:rPr lang="en-US" altLang="ru-RU" dirty="0">
                <a:latin typeface="+mj-lt"/>
              </a:rPr>
              <a:t>’);</a:t>
            </a:r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F5C43C9-B43A-4FEA-99CC-96814FBFD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30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889862"/>
              </p:ext>
            </p:extLst>
          </p:nvPr>
        </p:nvGraphicFramePr>
        <p:xfrm>
          <a:off x="4259485" y="2830876"/>
          <a:ext cx="3190241" cy="2989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914">
                  <a:extLst>
                    <a:ext uri="{9D8B030D-6E8A-4147-A177-3AD203B41FA5}">
                      <a16:colId xmlns:a16="http://schemas.microsoft.com/office/drawing/2014/main" val="293556337"/>
                    </a:ext>
                  </a:extLst>
                </a:gridCol>
                <a:gridCol w="818490">
                  <a:extLst>
                    <a:ext uri="{9D8B030D-6E8A-4147-A177-3AD203B41FA5}">
                      <a16:colId xmlns:a16="http://schemas.microsoft.com/office/drawing/2014/main" val="3055189465"/>
                    </a:ext>
                  </a:extLst>
                </a:gridCol>
                <a:gridCol w="1659837">
                  <a:extLst>
                    <a:ext uri="{9D8B030D-6E8A-4147-A177-3AD203B41FA5}">
                      <a16:colId xmlns:a16="http://schemas.microsoft.com/office/drawing/2014/main" val="3381574598"/>
                    </a:ext>
                  </a:extLst>
                </a:gridCol>
              </a:tblGrid>
              <a:tr h="3321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maker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model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type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extLst>
                  <a:ext uri="{0D108BD9-81ED-4DB2-BD59-A6C34878D82A}">
                    <a16:rowId xmlns:a16="http://schemas.microsoft.com/office/drawing/2014/main" val="4094816290"/>
                  </a:ext>
                </a:extLst>
              </a:tr>
              <a:tr h="332122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A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1276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Printer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extLst>
                  <a:ext uri="{0D108BD9-81ED-4DB2-BD59-A6C34878D82A}">
                    <a16:rowId xmlns:a16="http://schemas.microsoft.com/office/drawing/2014/main" val="1689822234"/>
                  </a:ext>
                </a:extLst>
              </a:tr>
              <a:tr h="332122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C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1321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PC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extLst>
                  <a:ext uri="{0D108BD9-81ED-4DB2-BD59-A6C34878D82A}">
                    <a16:rowId xmlns:a16="http://schemas.microsoft.com/office/drawing/2014/main" val="941974047"/>
                  </a:ext>
                </a:extLst>
              </a:tr>
              <a:tr h="332122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A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1041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PC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extLst>
                  <a:ext uri="{0D108BD9-81ED-4DB2-BD59-A6C34878D82A}">
                    <a16:rowId xmlns:a16="http://schemas.microsoft.com/office/drawing/2014/main" val="3682703657"/>
                  </a:ext>
                </a:extLst>
              </a:tr>
              <a:tr h="332122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A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1408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PC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extLst>
                  <a:ext uri="{0D108BD9-81ED-4DB2-BD59-A6C34878D82A}">
                    <a16:rowId xmlns:a16="http://schemas.microsoft.com/office/drawing/2014/main" val="3719447700"/>
                  </a:ext>
                </a:extLst>
              </a:tr>
              <a:tr h="332122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D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1433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PC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extLst>
                  <a:ext uri="{0D108BD9-81ED-4DB2-BD59-A6C34878D82A}">
                    <a16:rowId xmlns:a16="http://schemas.microsoft.com/office/drawing/2014/main" val="4016741106"/>
                  </a:ext>
                </a:extLst>
              </a:tr>
              <a:tr h="332122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E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1434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PC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extLst>
                  <a:ext uri="{0D108BD9-81ED-4DB2-BD59-A6C34878D82A}">
                    <a16:rowId xmlns:a16="http://schemas.microsoft.com/office/drawing/2014/main" val="2771258568"/>
                  </a:ext>
                </a:extLst>
              </a:tr>
              <a:tr h="332122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B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1750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PC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extLst>
                  <a:ext uri="{0D108BD9-81ED-4DB2-BD59-A6C34878D82A}">
                    <a16:rowId xmlns:a16="http://schemas.microsoft.com/office/drawing/2014/main" val="1414648526"/>
                  </a:ext>
                </a:extLst>
              </a:tr>
              <a:tr h="332122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A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1752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Laptop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extLst>
                  <a:ext uri="{0D108BD9-81ED-4DB2-BD59-A6C34878D82A}">
                    <a16:rowId xmlns:a16="http://schemas.microsoft.com/office/drawing/2014/main" val="140219824"/>
                  </a:ext>
                </a:extLst>
              </a:tr>
            </a:tbl>
          </a:graphicData>
        </a:graphic>
      </p:graphicFrame>
      <p:graphicFrame>
        <p:nvGraphicFramePr>
          <p:cNvPr id="9" name="Таблица 3">
            <a:extLst>
              <a:ext uri="{FF2B5EF4-FFF2-40B4-BE49-F238E27FC236}">
                <a16:creationId xmlns:a16="http://schemas.microsoft.com/office/drawing/2014/main" id="{48B3C100-AEEA-4BC6-941F-80C086F2A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951849"/>
              </p:ext>
            </p:extLst>
          </p:nvPr>
        </p:nvGraphicFramePr>
        <p:xfrm>
          <a:off x="8071699" y="2898497"/>
          <a:ext cx="3190241" cy="1303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914">
                  <a:extLst>
                    <a:ext uri="{9D8B030D-6E8A-4147-A177-3AD203B41FA5}">
                      <a16:colId xmlns:a16="http://schemas.microsoft.com/office/drawing/2014/main" val="293556337"/>
                    </a:ext>
                  </a:extLst>
                </a:gridCol>
                <a:gridCol w="818490">
                  <a:extLst>
                    <a:ext uri="{9D8B030D-6E8A-4147-A177-3AD203B41FA5}">
                      <a16:colId xmlns:a16="http://schemas.microsoft.com/office/drawing/2014/main" val="3055189465"/>
                    </a:ext>
                  </a:extLst>
                </a:gridCol>
                <a:gridCol w="1659837">
                  <a:extLst>
                    <a:ext uri="{9D8B030D-6E8A-4147-A177-3AD203B41FA5}">
                      <a16:colId xmlns:a16="http://schemas.microsoft.com/office/drawing/2014/main" val="3381574598"/>
                    </a:ext>
                  </a:extLst>
                </a:gridCol>
              </a:tblGrid>
              <a:tr h="6019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maker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model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type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extLst>
                  <a:ext uri="{0D108BD9-81ED-4DB2-BD59-A6C34878D82A}">
                    <a16:rowId xmlns:a16="http://schemas.microsoft.com/office/drawing/2014/main" val="4094816290"/>
                  </a:ext>
                </a:extLst>
              </a:tr>
              <a:tr h="350978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A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1276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Printer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extLst>
                  <a:ext uri="{0D108BD9-81ED-4DB2-BD59-A6C34878D82A}">
                    <a16:rowId xmlns:a16="http://schemas.microsoft.com/office/drawing/2014/main" val="1689822234"/>
                  </a:ext>
                </a:extLst>
              </a:tr>
              <a:tr h="350978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A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1752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Laptop</a:t>
                      </a:r>
                      <a:endParaRPr lang="ru-RU" sz="1600" dirty="0"/>
                    </a:p>
                  </a:txBody>
                  <a:tcPr marL="81893" marR="81893" marT="40947" marB="40947"/>
                </a:tc>
                <a:extLst>
                  <a:ext uri="{0D108BD9-81ED-4DB2-BD59-A6C34878D82A}">
                    <a16:rowId xmlns:a16="http://schemas.microsoft.com/office/drawing/2014/main" val="14021982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9A8FAC6-9406-40A0-9EB8-8B5D24C53DC5}"/>
              </a:ext>
            </a:extLst>
          </p:cNvPr>
          <p:cNvSpPr txBox="1"/>
          <p:nvPr/>
        </p:nvSpPr>
        <p:spPr>
          <a:xfrm>
            <a:off x="4706652" y="2439336"/>
            <a:ext cx="217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	        </a:t>
            </a:r>
            <a:r>
              <a:rPr lang="ru-RU" b="1" dirty="0"/>
              <a:t>До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3EC160-6084-4677-BE8D-17ED544A7BA0}"/>
              </a:ext>
            </a:extLst>
          </p:cNvPr>
          <p:cNvSpPr txBox="1"/>
          <p:nvPr/>
        </p:nvSpPr>
        <p:spPr>
          <a:xfrm>
            <a:off x="8578858" y="2461544"/>
            <a:ext cx="217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	    </a:t>
            </a:r>
            <a:r>
              <a:rPr lang="ru-RU" b="1" dirty="0"/>
              <a:t>После</a:t>
            </a:r>
          </a:p>
        </p:txBody>
      </p:sp>
    </p:spTree>
    <p:extLst>
      <p:ext uri="{BB962C8B-B14F-4D97-AF65-F5344CB8AC3E}">
        <p14:creationId xmlns:p14="http://schemas.microsoft.com/office/powerpoint/2010/main" val="1480864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6C919-7AC2-44F9-9859-22786AA3D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9FA17-62C7-4663-AFCC-9F7A17C3D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377" y="2556931"/>
            <a:ext cx="10637134" cy="3693397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Оператор </a:t>
            </a:r>
            <a:r>
              <a:rPr lang="ru-RU" b="1" dirty="0"/>
              <a:t>INSERT</a:t>
            </a:r>
            <a:r>
              <a:rPr lang="ru-RU" dirty="0"/>
              <a:t> позволяет вносить изменения в структуру таблиц: добавлять записи и заполнять их значениями.</a:t>
            </a:r>
            <a:endParaRPr lang="en-US" dirty="0"/>
          </a:p>
          <a:p>
            <a:pPr marL="0" indent="0">
              <a:buNone/>
            </a:pPr>
            <a:r>
              <a:rPr lang="ru-RU" b="1" dirty="0"/>
              <a:t>Структура</a:t>
            </a:r>
            <a:r>
              <a:rPr lang="en-US" b="1" dirty="0"/>
              <a:t>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dirty="0">
                <a:solidFill>
                  <a:srgbClr val="0070C0"/>
                </a:solidFill>
                <a:latin typeface="+mj-lt"/>
              </a:rPr>
              <a:t>INSERT INTO </a:t>
            </a:r>
            <a:r>
              <a:rPr lang="ru-RU" altLang="ru-RU" dirty="0">
                <a:solidFill>
                  <a:schemeClr val="tx1"/>
                </a:solidFill>
                <a:latin typeface="+mj-lt"/>
              </a:rPr>
              <a:t>&lt;имя таблицы&gt;(&lt;имя столбца&gt;,</a:t>
            </a:r>
            <a:r>
              <a:rPr lang="en-US" altLang="ru-RU" dirty="0">
                <a:solidFill>
                  <a:schemeClr val="tx1"/>
                </a:solidFill>
                <a:latin typeface="+mj-lt"/>
              </a:rPr>
              <a:t> </a:t>
            </a:r>
            <a:r>
              <a:rPr lang="ru-RU" altLang="ru-RU" dirty="0">
                <a:solidFill>
                  <a:schemeClr val="tx1"/>
                </a:solidFill>
                <a:latin typeface="+mj-lt"/>
              </a:rPr>
              <a:t>...)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dirty="0">
                <a:solidFill>
                  <a:srgbClr val="0070C0"/>
                </a:solidFill>
                <a:latin typeface="+mj-lt"/>
              </a:rPr>
              <a:t>VALUES</a:t>
            </a:r>
            <a:r>
              <a:rPr lang="ru-RU" altLang="ru-RU" dirty="0">
                <a:solidFill>
                  <a:schemeClr val="tx1"/>
                </a:solidFill>
                <a:latin typeface="+mj-lt"/>
              </a:rPr>
              <a:t> (&lt;значение столбца&gt;,</a:t>
            </a:r>
            <a:r>
              <a:rPr lang="en-US" altLang="ru-RU" dirty="0">
                <a:solidFill>
                  <a:schemeClr val="tx1"/>
                </a:solidFill>
                <a:latin typeface="+mj-lt"/>
              </a:rPr>
              <a:t> </a:t>
            </a:r>
            <a:r>
              <a:rPr lang="ru-RU" altLang="ru-RU" dirty="0">
                <a:solidFill>
                  <a:schemeClr val="tx1"/>
                </a:solidFill>
                <a:latin typeface="+mj-lt"/>
              </a:rPr>
              <a:t>…)</a:t>
            </a:r>
            <a:r>
              <a:rPr lang="en-US" altLang="ru-RU" dirty="0">
                <a:solidFill>
                  <a:schemeClr val="tx1"/>
                </a:solidFill>
                <a:latin typeface="+mj-lt"/>
              </a:rPr>
              <a:t>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dirty="0">
              <a:solidFill>
                <a:schemeClr val="tx1"/>
              </a:solidFill>
              <a:latin typeface="+mj-l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b="1" dirty="0">
                <a:solidFill>
                  <a:schemeClr val="tx1"/>
                </a:solidFill>
                <a:latin typeface="+mj-lt"/>
              </a:rPr>
              <a:t>Пример</a:t>
            </a:r>
            <a:r>
              <a:rPr lang="en-US" altLang="ru-RU" b="1" dirty="0">
                <a:solidFill>
                  <a:schemeClr val="tx1"/>
                </a:solidFill>
                <a:latin typeface="+mj-lt"/>
              </a:rPr>
              <a:t>:</a:t>
            </a:r>
            <a:endParaRPr lang="ru-RU" altLang="ru-RU" b="1" dirty="0">
              <a:solidFill>
                <a:schemeClr val="tx1"/>
              </a:solidFill>
              <a:latin typeface="+mj-l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dirty="0">
                <a:solidFill>
                  <a:srgbClr val="0070C0"/>
                </a:solidFill>
              </a:rPr>
              <a:t>INSERT INTO </a:t>
            </a:r>
            <a:r>
              <a:rPr lang="en-US" altLang="ru-RU" dirty="0">
                <a:solidFill>
                  <a:schemeClr val="tx1"/>
                </a:solidFill>
              </a:rPr>
              <a:t>product </a:t>
            </a:r>
            <a:r>
              <a:rPr lang="en-US" altLang="ru-RU" dirty="0">
                <a:solidFill>
                  <a:srgbClr val="0070C0"/>
                </a:solidFill>
              </a:rPr>
              <a:t>(maker, model)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dirty="0">
                <a:solidFill>
                  <a:srgbClr val="0070C0"/>
                </a:solidFill>
              </a:rPr>
              <a:t>VALUES </a:t>
            </a:r>
            <a:r>
              <a:rPr lang="en-US" altLang="ru-RU" dirty="0">
                <a:solidFill>
                  <a:schemeClr val="tx1"/>
                </a:solidFill>
              </a:rPr>
              <a:t>(</a:t>
            </a:r>
            <a:r>
              <a:rPr lang="en-US" altLang="ru-RU" dirty="0">
                <a:solidFill>
                  <a:srgbClr val="FF0000"/>
                </a:solidFill>
              </a:rPr>
              <a:t>“A”</a:t>
            </a:r>
            <a:r>
              <a:rPr lang="en-US" altLang="ru-RU" dirty="0">
                <a:solidFill>
                  <a:schemeClr val="tx1"/>
                </a:solidFill>
              </a:rPr>
              <a:t>, </a:t>
            </a:r>
            <a:r>
              <a:rPr lang="en-US" altLang="ru-RU" dirty="0">
                <a:solidFill>
                  <a:srgbClr val="FF0000"/>
                </a:solidFill>
              </a:rPr>
              <a:t>32</a:t>
            </a:r>
            <a:r>
              <a:rPr lang="en-US" altLang="ru-RU" dirty="0">
                <a:solidFill>
                  <a:schemeClr val="tx1"/>
                </a:solidFill>
              </a:rPr>
              <a:t>);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2384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688768-DB16-4F2A-B0AE-58C0CD7ECA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9484203"/>
              </p:ext>
            </p:extLst>
          </p:nvPr>
        </p:nvGraphicFramePr>
        <p:xfrm>
          <a:off x="823733" y="2132771"/>
          <a:ext cx="10544534" cy="3784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6362">
                  <a:extLst>
                    <a:ext uri="{9D8B030D-6E8A-4147-A177-3AD203B41FA5}">
                      <a16:colId xmlns:a16="http://schemas.microsoft.com/office/drawing/2014/main" val="4241208884"/>
                    </a:ext>
                  </a:extLst>
                </a:gridCol>
                <a:gridCol w="1506362">
                  <a:extLst>
                    <a:ext uri="{9D8B030D-6E8A-4147-A177-3AD203B41FA5}">
                      <a16:colId xmlns:a16="http://schemas.microsoft.com/office/drawing/2014/main" val="196461849"/>
                    </a:ext>
                  </a:extLst>
                </a:gridCol>
                <a:gridCol w="1506362">
                  <a:extLst>
                    <a:ext uri="{9D8B030D-6E8A-4147-A177-3AD203B41FA5}">
                      <a16:colId xmlns:a16="http://schemas.microsoft.com/office/drawing/2014/main" val="737029641"/>
                    </a:ext>
                  </a:extLst>
                </a:gridCol>
                <a:gridCol w="1506362">
                  <a:extLst>
                    <a:ext uri="{9D8B030D-6E8A-4147-A177-3AD203B41FA5}">
                      <a16:colId xmlns:a16="http://schemas.microsoft.com/office/drawing/2014/main" val="4117695882"/>
                    </a:ext>
                  </a:extLst>
                </a:gridCol>
                <a:gridCol w="1506362">
                  <a:extLst>
                    <a:ext uri="{9D8B030D-6E8A-4147-A177-3AD203B41FA5}">
                      <a16:colId xmlns:a16="http://schemas.microsoft.com/office/drawing/2014/main" val="93305020"/>
                    </a:ext>
                  </a:extLst>
                </a:gridCol>
                <a:gridCol w="1506362">
                  <a:extLst>
                    <a:ext uri="{9D8B030D-6E8A-4147-A177-3AD203B41FA5}">
                      <a16:colId xmlns:a16="http://schemas.microsoft.com/office/drawing/2014/main" val="4156766790"/>
                    </a:ext>
                  </a:extLst>
                </a:gridCol>
                <a:gridCol w="1506362">
                  <a:extLst>
                    <a:ext uri="{9D8B030D-6E8A-4147-A177-3AD203B41FA5}">
                      <a16:colId xmlns:a16="http://schemas.microsoft.com/office/drawing/2014/main" val="2521197090"/>
                    </a:ext>
                  </a:extLst>
                </a:gridCol>
              </a:tblGrid>
              <a:tr h="582291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ID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effectLst/>
                        </a:rPr>
                        <a:t>PlanetName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Radius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effectLst/>
                        </a:rPr>
                        <a:t>SunSeason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effectLst/>
                        </a:rPr>
                        <a:t>OpeningYear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HavingRings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Opener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8121138"/>
                  </a:ext>
                </a:extLst>
              </a:tr>
              <a:tr h="1019008"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</a:rPr>
                        <a:t>3396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</a:rPr>
                        <a:t>687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</a:rPr>
                        <a:t>1659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Christiaan Huygens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1096973"/>
                  </a:ext>
                </a:extLst>
              </a:tr>
              <a:tr h="582291"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Saturn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</a:rPr>
                        <a:t>60268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</a:rPr>
                        <a:t>10759.22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1375839"/>
                  </a:ext>
                </a:extLst>
              </a:tr>
              <a:tr h="1019008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Neptune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24764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</a:rPr>
                        <a:t>60190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1846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John Couch Adams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6517319"/>
                  </a:ext>
                </a:extLst>
              </a:tr>
              <a:tr h="582291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Venus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6051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243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1610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Galileo Galilei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46758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3467E78-0243-4B87-AF84-9E75F71663A0}"/>
              </a:ext>
            </a:extLst>
          </p:cNvPr>
          <p:cNvSpPr txBox="1"/>
          <p:nvPr/>
        </p:nvSpPr>
        <p:spPr>
          <a:xfrm>
            <a:off x="752354" y="940340"/>
            <a:ext cx="10799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0070C0"/>
                </a:solidFill>
                <a:latin typeface="+mj-lt"/>
              </a:rPr>
              <a:t>INSERT</a:t>
            </a:r>
            <a:r>
              <a:rPr lang="ru-RU" altLang="ru-RU" sz="1400" dirty="0">
                <a:solidFill>
                  <a:srgbClr val="0070C0"/>
                </a:solidFill>
                <a:latin typeface="+mj-lt"/>
              </a:rPr>
              <a:t> </a:t>
            </a:r>
            <a:r>
              <a:rPr lang="ru-RU" altLang="ru-RU" dirty="0">
                <a:solidFill>
                  <a:srgbClr val="0070C0"/>
                </a:solidFill>
                <a:latin typeface="+mj-lt"/>
              </a:rPr>
              <a:t>INTO</a:t>
            </a:r>
            <a:r>
              <a:rPr lang="ru-RU" altLang="ru-RU" sz="1400" dirty="0">
                <a:solidFill>
                  <a:srgbClr val="0070C0"/>
                </a:solidFill>
                <a:latin typeface="+mj-lt"/>
              </a:rPr>
              <a:t> </a:t>
            </a:r>
            <a:r>
              <a:rPr lang="ru-RU" altLang="ru-RU" dirty="0">
                <a:latin typeface="+mj-lt"/>
              </a:rPr>
              <a:t>Planets (ID, PlanetName, Radius, SunSeason, OpeningYear, HavingRings, Opener)</a:t>
            </a:r>
            <a:endParaRPr lang="ru-RU" altLang="ru-RU" sz="1400" dirty="0"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0070C0"/>
                </a:solidFill>
                <a:latin typeface="+mj-lt"/>
              </a:rPr>
              <a:t>VALUES</a:t>
            </a:r>
            <a:r>
              <a:rPr lang="ru-RU" altLang="ru-RU" sz="1400" dirty="0">
                <a:latin typeface="+mj-lt"/>
              </a:rPr>
              <a:t> </a:t>
            </a:r>
            <a:r>
              <a:rPr lang="ru-RU" altLang="ru-RU" dirty="0">
                <a:latin typeface="+mj-lt"/>
              </a:rPr>
              <a:t>(</a:t>
            </a:r>
            <a:r>
              <a:rPr lang="ru-RU" altLang="ru-RU" dirty="0">
                <a:solidFill>
                  <a:srgbClr val="FF0000"/>
                </a:solidFill>
                <a:latin typeface="+mj-lt"/>
              </a:rPr>
              <a:t>4</a:t>
            </a:r>
            <a:r>
              <a:rPr lang="ru-RU" altLang="ru-RU" dirty="0">
                <a:latin typeface="+mj-lt"/>
              </a:rPr>
              <a:t>, "</a:t>
            </a:r>
            <a:r>
              <a:rPr lang="ru-RU" altLang="ru-RU" dirty="0">
                <a:solidFill>
                  <a:srgbClr val="FF0000"/>
                </a:solidFill>
                <a:latin typeface="+mj-lt"/>
              </a:rPr>
              <a:t>Venus</a:t>
            </a:r>
            <a:r>
              <a:rPr lang="ru-RU" altLang="ru-RU" dirty="0">
                <a:latin typeface="+mj-lt"/>
              </a:rPr>
              <a:t>", </a:t>
            </a:r>
            <a:r>
              <a:rPr lang="ru-RU" altLang="ru-RU" dirty="0">
                <a:solidFill>
                  <a:srgbClr val="FF0000"/>
                </a:solidFill>
                <a:latin typeface="+mj-lt"/>
              </a:rPr>
              <a:t>6051</a:t>
            </a:r>
            <a:r>
              <a:rPr lang="ru-RU" altLang="ru-RU" dirty="0">
                <a:latin typeface="+mj-lt"/>
              </a:rPr>
              <a:t>, </a:t>
            </a:r>
            <a:r>
              <a:rPr lang="ru-RU" altLang="ru-RU" dirty="0">
                <a:solidFill>
                  <a:srgbClr val="FF0000"/>
                </a:solidFill>
                <a:latin typeface="+mj-lt"/>
              </a:rPr>
              <a:t>243</a:t>
            </a:r>
            <a:r>
              <a:rPr lang="ru-RU" altLang="ru-RU" dirty="0">
                <a:latin typeface="+mj-lt"/>
              </a:rPr>
              <a:t>, </a:t>
            </a:r>
            <a:r>
              <a:rPr lang="ru-RU" altLang="ru-RU" dirty="0">
                <a:solidFill>
                  <a:srgbClr val="FF0000"/>
                </a:solidFill>
                <a:latin typeface="+mj-lt"/>
              </a:rPr>
              <a:t>1610</a:t>
            </a:r>
            <a:r>
              <a:rPr lang="ru-RU" altLang="ru-RU" dirty="0">
                <a:latin typeface="+mj-lt"/>
              </a:rPr>
              <a:t>, "</a:t>
            </a:r>
            <a:r>
              <a:rPr lang="ru-RU" altLang="ru-RU" dirty="0">
                <a:solidFill>
                  <a:srgbClr val="FF0000"/>
                </a:solidFill>
                <a:latin typeface="+mj-lt"/>
              </a:rPr>
              <a:t>No</a:t>
            </a:r>
            <a:r>
              <a:rPr lang="ru-RU" altLang="ru-RU" dirty="0">
                <a:latin typeface="+mj-lt"/>
              </a:rPr>
              <a:t>", "</a:t>
            </a:r>
            <a:r>
              <a:rPr lang="ru-RU" altLang="ru-RU" dirty="0">
                <a:solidFill>
                  <a:srgbClr val="FF0000"/>
                </a:solidFill>
                <a:latin typeface="+mj-lt"/>
              </a:rPr>
              <a:t>Galileo Galilei</a:t>
            </a:r>
            <a:r>
              <a:rPr lang="ru-RU" altLang="ru-RU" dirty="0">
                <a:latin typeface="+mj-lt"/>
              </a:rPr>
              <a:t>")</a:t>
            </a:r>
            <a:r>
              <a:rPr lang="en-US" altLang="ru-RU" dirty="0">
                <a:latin typeface="+mj-lt"/>
              </a:rPr>
              <a:t>;</a:t>
            </a:r>
            <a:endParaRPr lang="ru-RU" altLang="ru-RU" sz="40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4E38E4-808A-45E6-A587-B9A26711F9DB}"/>
              </a:ext>
            </a:extLst>
          </p:cNvPr>
          <p:cNvSpPr txBox="1"/>
          <p:nvPr/>
        </p:nvSpPr>
        <p:spPr>
          <a:xfrm>
            <a:off x="10403711" y="1763439"/>
            <a:ext cx="357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Planets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2130053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6C919-7AC2-44F9-9859-22786AA3D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</a:t>
            </a:r>
            <a:endParaRPr lang="ru-RU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F9ED9B3-CE75-49F2-89C6-DFCA41B09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250" y="2568506"/>
            <a:ext cx="10764456" cy="3542927"/>
          </a:xfrm>
        </p:spPr>
        <p:txBody>
          <a:bodyPr>
            <a:normAutofit fontScale="92500" lnSpcReduction="10000"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dirty="0">
                <a:solidFill>
                  <a:schemeClr val="tx1"/>
                </a:solidFill>
                <a:latin typeface="Garamond (Headings)"/>
              </a:rPr>
              <a:t>Оператор </a:t>
            </a:r>
            <a:r>
              <a:rPr lang="ru-RU" altLang="ru-RU" b="1" dirty="0">
                <a:solidFill>
                  <a:schemeClr val="tx1"/>
                </a:solidFill>
                <a:latin typeface="Garamond (Headings)"/>
              </a:rPr>
              <a:t>UPDATE</a:t>
            </a:r>
            <a:r>
              <a:rPr lang="ru-RU" altLang="ru-RU" dirty="0">
                <a:solidFill>
                  <a:schemeClr val="tx1"/>
                </a:solidFill>
                <a:latin typeface="Garamond (Headings)"/>
              </a:rPr>
              <a:t> используется для изменения значений в записях таблицы.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dirty="0">
              <a:solidFill>
                <a:schemeClr val="tx1"/>
              </a:solidFill>
              <a:latin typeface="Garamond (Headings)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b="1" dirty="0">
                <a:solidFill>
                  <a:schemeClr val="tx1"/>
                </a:solidFill>
                <a:latin typeface="Garamond (Headings)"/>
              </a:rPr>
              <a:t>Структура</a:t>
            </a:r>
            <a:r>
              <a:rPr lang="en-US" altLang="ru-RU" b="1" dirty="0">
                <a:solidFill>
                  <a:schemeClr val="tx1"/>
                </a:solidFill>
                <a:latin typeface="Garamond (Headings)"/>
              </a:rPr>
              <a:t>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dirty="0">
                <a:solidFill>
                  <a:srgbClr val="0070C0"/>
                </a:solidFill>
                <a:latin typeface="Garamond (Headings)"/>
              </a:rPr>
              <a:t>UPDATE</a:t>
            </a:r>
            <a:r>
              <a:rPr lang="ru-RU" altLang="ru-RU" dirty="0">
                <a:solidFill>
                  <a:schemeClr val="tx1"/>
                </a:solidFill>
                <a:latin typeface="Garamond (Headings)"/>
              </a:rPr>
              <a:t> </a:t>
            </a:r>
            <a:r>
              <a:rPr lang="en-US" altLang="ru-RU" dirty="0">
                <a:solidFill>
                  <a:schemeClr val="tx1"/>
                </a:solidFill>
                <a:latin typeface="Garamond (Headings)"/>
              </a:rPr>
              <a:t>&lt;</a:t>
            </a:r>
            <a:r>
              <a:rPr lang="ru-RU" altLang="ru-RU" dirty="0">
                <a:solidFill>
                  <a:schemeClr val="tx1"/>
                </a:solidFill>
                <a:latin typeface="Garamond (Headings)"/>
              </a:rPr>
              <a:t>имя таблицы</a:t>
            </a:r>
            <a:r>
              <a:rPr lang="en-US" altLang="ru-RU" dirty="0">
                <a:solidFill>
                  <a:schemeClr val="tx1"/>
                </a:solidFill>
                <a:latin typeface="Garamond (Headings)"/>
              </a:rPr>
              <a:t>&gt;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dirty="0">
                <a:solidFill>
                  <a:srgbClr val="0070C0"/>
                </a:solidFill>
                <a:latin typeface="Garamond (Headings)"/>
              </a:rPr>
              <a:t>SET</a:t>
            </a:r>
            <a:r>
              <a:rPr lang="ru-RU" altLang="ru-RU" dirty="0">
                <a:solidFill>
                  <a:schemeClr val="tx1"/>
                </a:solidFill>
                <a:latin typeface="Garamond (Headings)"/>
              </a:rPr>
              <a:t>  </a:t>
            </a:r>
            <a:r>
              <a:rPr lang="en-US" altLang="ru-RU" dirty="0">
                <a:solidFill>
                  <a:schemeClr val="tx1"/>
                </a:solidFill>
                <a:latin typeface="Garamond (Headings)"/>
              </a:rPr>
              <a:t>&lt;</a:t>
            </a:r>
            <a:r>
              <a:rPr lang="ru-RU" altLang="ru-RU" dirty="0">
                <a:solidFill>
                  <a:schemeClr val="tx1"/>
                </a:solidFill>
                <a:latin typeface="Garamond (Headings)"/>
              </a:rPr>
              <a:t>имя столбца</a:t>
            </a:r>
            <a:r>
              <a:rPr lang="en-US" altLang="ru-RU" dirty="0">
                <a:solidFill>
                  <a:schemeClr val="tx1"/>
                </a:solidFill>
                <a:latin typeface="Garamond (Headings)"/>
              </a:rPr>
              <a:t>&gt;</a:t>
            </a:r>
            <a:r>
              <a:rPr lang="ru-RU" altLang="ru-RU" dirty="0">
                <a:solidFill>
                  <a:schemeClr val="tx1"/>
                </a:solidFill>
                <a:latin typeface="Garamond (Headings)"/>
              </a:rPr>
              <a:t>  </a:t>
            </a:r>
            <a:r>
              <a:rPr lang="en-US" altLang="ru-RU" dirty="0">
                <a:solidFill>
                  <a:schemeClr val="tx1"/>
                </a:solidFill>
                <a:latin typeface="Garamond (Headings)"/>
              </a:rPr>
              <a:t>=</a:t>
            </a:r>
            <a:r>
              <a:rPr lang="ru-RU" altLang="ru-RU" dirty="0">
                <a:solidFill>
                  <a:schemeClr val="tx1"/>
                </a:solidFill>
                <a:latin typeface="Garamond (Headings)"/>
              </a:rPr>
              <a:t> </a:t>
            </a:r>
            <a:r>
              <a:rPr lang="en-US" altLang="ru-RU" dirty="0">
                <a:solidFill>
                  <a:schemeClr val="tx1"/>
                </a:solidFill>
                <a:latin typeface="Garamond (Headings)"/>
              </a:rPr>
              <a:t>&lt;</a:t>
            </a:r>
            <a:r>
              <a:rPr lang="ru-RU" altLang="ru-RU" dirty="0">
                <a:solidFill>
                  <a:schemeClr val="tx1"/>
                </a:solidFill>
                <a:latin typeface="Garamond (Headings)"/>
              </a:rPr>
              <a:t>значение</a:t>
            </a:r>
            <a:r>
              <a:rPr lang="en-US" altLang="ru-RU" dirty="0">
                <a:solidFill>
                  <a:schemeClr val="tx1"/>
                </a:solidFill>
                <a:latin typeface="Garamond (Headings)"/>
              </a:rPr>
              <a:t>&gt;</a:t>
            </a:r>
            <a:r>
              <a:rPr lang="ru-RU" altLang="ru-RU" dirty="0">
                <a:solidFill>
                  <a:schemeClr val="tx1"/>
                </a:solidFill>
                <a:latin typeface="Garamond (Headings)"/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dirty="0">
                <a:solidFill>
                  <a:srgbClr val="0070C0"/>
                </a:solidFill>
                <a:latin typeface="+mj-lt"/>
              </a:rPr>
              <a:t>WHERE</a:t>
            </a:r>
            <a:r>
              <a:rPr lang="en-US" altLang="ru-RU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ru-RU" dirty="0">
                <a:solidFill>
                  <a:schemeClr val="tx1"/>
                </a:solidFill>
                <a:latin typeface="Garamond (Headings)"/>
              </a:rPr>
              <a:t>&lt;</a:t>
            </a:r>
            <a:r>
              <a:rPr lang="ru-RU" altLang="ru-RU" dirty="0">
                <a:solidFill>
                  <a:schemeClr val="tx1"/>
                </a:solidFill>
                <a:latin typeface="Garamond (Headings)"/>
              </a:rPr>
              <a:t>имя столбца</a:t>
            </a:r>
            <a:r>
              <a:rPr lang="en-US" altLang="ru-RU" dirty="0">
                <a:solidFill>
                  <a:schemeClr val="tx1"/>
                </a:solidFill>
                <a:latin typeface="Garamond (Headings)"/>
              </a:rPr>
              <a:t>&gt;</a:t>
            </a:r>
            <a:r>
              <a:rPr lang="ru-RU" altLang="ru-RU" dirty="0">
                <a:solidFill>
                  <a:schemeClr val="tx1"/>
                </a:solidFill>
                <a:latin typeface="Garamond (Headings)"/>
              </a:rPr>
              <a:t>  </a:t>
            </a:r>
            <a:r>
              <a:rPr lang="en-US" altLang="ru-RU" dirty="0">
                <a:solidFill>
                  <a:schemeClr val="tx1"/>
                </a:solidFill>
                <a:latin typeface="Garamond (Headings)"/>
              </a:rPr>
              <a:t>=</a:t>
            </a:r>
            <a:r>
              <a:rPr lang="ru-RU" altLang="ru-RU" dirty="0">
                <a:solidFill>
                  <a:schemeClr val="tx1"/>
                </a:solidFill>
                <a:latin typeface="Garamond (Headings)"/>
              </a:rPr>
              <a:t> </a:t>
            </a:r>
            <a:r>
              <a:rPr lang="en-US" altLang="ru-RU" dirty="0">
                <a:solidFill>
                  <a:schemeClr val="tx1"/>
                </a:solidFill>
                <a:latin typeface="Garamond (Headings)"/>
              </a:rPr>
              <a:t>&lt;</a:t>
            </a:r>
            <a:r>
              <a:rPr lang="ru-RU" altLang="ru-RU" dirty="0">
                <a:solidFill>
                  <a:schemeClr val="tx1"/>
                </a:solidFill>
                <a:latin typeface="Garamond (Headings)"/>
              </a:rPr>
              <a:t>значение</a:t>
            </a:r>
            <a:r>
              <a:rPr lang="en-US" altLang="ru-RU" dirty="0">
                <a:solidFill>
                  <a:schemeClr val="tx1"/>
                </a:solidFill>
                <a:latin typeface="Garamond (Headings)"/>
              </a:rPr>
              <a:t>&gt;;</a:t>
            </a:r>
            <a:endParaRPr lang="en-US" altLang="ru-RU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b="1" dirty="0">
                <a:solidFill>
                  <a:schemeClr val="tx1"/>
                </a:solidFill>
                <a:latin typeface="+mj-lt"/>
              </a:rPr>
              <a:t>Пример</a:t>
            </a:r>
            <a:r>
              <a:rPr lang="en-US" altLang="ru-RU" b="1" dirty="0">
                <a:solidFill>
                  <a:schemeClr val="tx1"/>
                </a:solidFill>
                <a:latin typeface="+mj-lt"/>
              </a:rPr>
              <a:t>:</a:t>
            </a:r>
            <a:endParaRPr lang="ru-RU" altLang="ru-RU" b="1" dirty="0">
              <a:solidFill>
                <a:schemeClr val="tx1"/>
              </a:solidFill>
              <a:latin typeface="+mj-l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>
                <a:solidFill>
                  <a:srgbClr val="0070C0"/>
                </a:solidFill>
              </a:rPr>
              <a:t>UPDATE</a:t>
            </a:r>
            <a:r>
              <a:rPr lang="ru-RU" altLang="ru-RU" dirty="0"/>
              <a:t> Planets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>
                <a:solidFill>
                  <a:srgbClr val="0070C0"/>
                </a:solidFill>
              </a:rPr>
              <a:t>SET</a:t>
            </a:r>
            <a:r>
              <a:rPr lang="ru-RU" altLang="ru-RU" dirty="0"/>
              <a:t> PlanetName = '</a:t>
            </a:r>
            <a:r>
              <a:rPr lang="ru-RU" altLang="ru-RU" dirty="0">
                <a:solidFill>
                  <a:srgbClr val="FF0000"/>
                </a:solidFill>
              </a:rPr>
              <a:t>Pluton</a:t>
            </a:r>
            <a:r>
              <a:rPr lang="ru-RU" altLang="ru-RU" dirty="0"/>
              <a:t>'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>
                <a:solidFill>
                  <a:srgbClr val="0070C0"/>
                </a:solidFill>
              </a:rPr>
              <a:t>WHERE</a:t>
            </a:r>
            <a:r>
              <a:rPr lang="ru-RU" altLang="ru-RU" dirty="0"/>
              <a:t> ID = </a:t>
            </a:r>
            <a:r>
              <a:rPr lang="ru-RU" altLang="ru-RU" dirty="0">
                <a:solidFill>
                  <a:srgbClr val="FF0000"/>
                </a:solidFill>
              </a:rPr>
              <a:t>2</a:t>
            </a:r>
            <a:r>
              <a:rPr lang="en-US" altLang="ru-RU" dirty="0">
                <a:solidFill>
                  <a:schemeClr val="tx1"/>
                </a:solidFill>
              </a:rPr>
              <a:t>;</a:t>
            </a:r>
            <a:endParaRPr lang="ru-RU" altLang="ru-RU" dirty="0">
              <a:solidFill>
                <a:srgbClr val="FF0000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84553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380D37-FA74-4B87-AFC1-E49BD204FB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09962"/>
              </p:ext>
            </p:extLst>
          </p:nvPr>
        </p:nvGraphicFramePr>
        <p:xfrm>
          <a:off x="1064872" y="900010"/>
          <a:ext cx="1040564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520">
                  <a:extLst>
                    <a:ext uri="{9D8B030D-6E8A-4147-A177-3AD203B41FA5}">
                      <a16:colId xmlns:a16="http://schemas.microsoft.com/office/drawing/2014/main" val="4226348064"/>
                    </a:ext>
                  </a:extLst>
                </a:gridCol>
                <a:gridCol w="1486520">
                  <a:extLst>
                    <a:ext uri="{9D8B030D-6E8A-4147-A177-3AD203B41FA5}">
                      <a16:colId xmlns:a16="http://schemas.microsoft.com/office/drawing/2014/main" val="1750473964"/>
                    </a:ext>
                  </a:extLst>
                </a:gridCol>
                <a:gridCol w="1486520">
                  <a:extLst>
                    <a:ext uri="{9D8B030D-6E8A-4147-A177-3AD203B41FA5}">
                      <a16:colId xmlns:a16="http://schemas.microsoft.com/office/drawing/2014/main" val="1208797759"/>
                    </a:ext>
                  </a:extLst>
                </a:gridCol>
                <a:gridCol w="1486520">
                  <a:extLst>
                    <a:ext uri="{9D8B030D-6E8A-4147-A177-3AD203B41FA5}">
                      <a16:colId xmlns:a16="http://schemas.microsoft.com/office/drawing/2014/main" val="3006235385"/>
                    </a:ext>
                  </a:extLst>
                </a:gridCol>
                <a:gridCol w="1486520">
                  <a:extLst>
                    <a:ext uri="{9D8B030D-6E8A-4147-A177-3AD203B41FA5}">
                      <a16:colId xmlns:a16="http://schemas.microsoft.com/office/drawing/2014/main" val="2664222142"/>
                    </a:ext>
                  </a:extLst>
                </a:gridCol>
                <a:gridCol w="1486520">
                  <a:extLst>
                    <a:ext uri="{9D8B030D-6E8A-4147-A177-3AD203B41FA5}">
                      <a16:colId xmlns:a16="http://schemas.microsoft.com/office/drawing/2014/main" val="439872747"/>
                    </a:ext>
                  </a:extLst>
                </a:gridCol>
                <a:gridCol w="1486520">
                  <a:extLst>
                    <a:ext uri="{9D8B030D-6E8A-4147-A177-3AD203B41FA5}">
                      <a16:colId xmlns:a16="http://schemas.microsoft.com/office/drawing/2014/main" val="2958553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ID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PlanetName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Radius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effectLst/>
                        </a:rPr>
                        <a:t>SunSeason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OpeningYear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HavingRings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Opener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3862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3396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</a:rPr>
                        <a:t>687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1659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Christiaan Huygens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684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Saturn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60268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10759.22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</a:rP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234757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899F8B12-1808-4F63-B404-3D20CFE593B3}"/>
              </a:ext>
            </a:extLst>
          </p:cNvPr>
          <p:cNvSpPr/>
          <p:nvPr/>
        </p:nvSpPr>
        <p:spPr>
          <a:xfrm>
            <a:off x="1064872" y="2654818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solidFill>
                  <a:srgbClr val="0070C0"/>
                </a:solidFill>
                <a:latin typeface="+mj-lt"/>
              </a:rPr>
              <a:t>UPDATE</a:t>
            </a:r>
            <a:r>
              <a:rPr lang="ru-RU" altLang="ru-RU" sz="2000" dirty="0">
                <a:latin typeface="+mj-lt"/>
              </a:rPr>
              <a:t> Planets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solidFill>
                  <a:srgbClr val="0070C0"/>
                </a:solidFill>
                <a:latin typeface="+mj-lt"/>
              </a:rPr>
              <a:t>SET</a:t>
            </a:r>
            <a:r>
              <a:rPr lang="ru-RU" altLang="ru-RU" sz="2000" dirty="0">
                <a:latin typeface="+mj-lt"/>
              </a:rPr>
              <a:t> PlanetName = '</a:t>
            </a:r>
            <a:r>
              <a:rPr lang="ru-RU" altLang="ru-RU" sz="2000" dirty="0">
                <a:solidFill>
                  <a:srgbClr val="FF0000"/>
                </a:solidFill>
                <a:latin typeface="+mj-lt"/>
              </a:rPr>
              <a:t>Pluto</a:t>
            </a:r>
            <a:r>
              <a:rPr lang="ru-RU" altLang="ru-RU" sz="2000" dirty="0">
                <a:latin typeface="+mj-lt"/>
              </a:rPr>
              <a:t>'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solidFill>
                  <a:srgbClr val="0070C0"/>
                </a:solidFill>
                <a:latin typeface="+mj-lt"/>
              </a:rPr>
              <a:t>WHERE</a:t>
            </a:r>
            <a:r>
              <a:rPr lang="ru-RU" altLang="ru-RU" sz="2000" dirty="0">
                <a:latin typeface="+mj-lt"/>
              </a:rPr>
              <a:t> ID = </a:t>
            </a:r>
            <a:r>
              <a:rPr lang="ru-RU" altLang="ru-RU" sz="2000" dirty="0">
                <a:solidFill>
                  <a:srgbClr val="FF0000"/>
                </a:solidFill>
                <a:latin typeface="+mj-lt"/>
              </a:rPr>
              <a:t>2</a:t>
            </a:r>
            <a:r>
              <a:rPr lang="en-US" altLang="ru-RU" sz="2000" dirty="0">
                <a:latin typeface="+mj-lt"/>
              </a:rPr>
              <a:t>;</a:t>
            </a:r>
            <a:endParaRPr lang="ru-RU" altLang="ru-RU" sz="2000" dirty="0">
              <a:solidFill>
                <a:srgbClr val="FF0000"/>
              </a:solidFill>
              <a:latin typeface="+mj-lt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8AD0D4F-947A-4413-BE8C-FD1CF00EE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556469"/>
              </p:ext>
            </p:extLst>
          </p:nvPr>
        </p:nvGraphicFramePr>
        <p:xfrm>
          <a:off x="1022432" y="4043529"/>
          <a:ext cx="1040564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520">
                  <a:extLst>
                    <a:ext uri="{9D8B030D-6E8A-4147-A177-3AD203B41FA5}">
                      <a16:colId xmlns:a16="http://schemas.microsoft.com/office/drawing/2014/main" val="4226348064"/>
                    </a:ext>
                  </a:extLst>
                </a:gridCol>
                <a:gridCol w="1486520">
                  <a:extLst>
                    <a:ext uri="{9D8B030D-6E8A-4147-A177-3AD203B41FA5}">
                      <a16:colId xmlns:a16="http://schemas.microsoft.com/office/drawing/2014/main" val="1750473964"/>
                    </a:ext>
                  </a:extLst>
                </a:gridCol>
                <a:gridCol w="1486520">
                  <a:extLst>
                    <a:ext uri="{9D8B030D-6E8A-4147-A177-3AD203B41FA5}">
                      <a16:colId xmlns:a16="http://schemas.microsoft.com/office/drawing/2014/main" val="1208797759"/>
                    </a:ext>
                  </a:extLst>
                </a:gridCol>
                <a:gridCol w="1486520">
                  <a:extLst>
                    <a:ext uri="{9D8B030D-6E8A-4147-A177-3AD203B41FA5}">
                      <a16:colId xmlns:a16="http://schemas.microsoft.com/office/drawing/2014/main" val="3006235385"/>
                    </a:ext>
                  </a:extLst>
                </a:gridCol>
                <a:gridCol w="1486520">
                  <a:extLst>
                    <a:ext uri="{9D8B030D-6E8A-4147-A177-3AD203B41FA5}">
                      <a16:colId xmlns:a16="http://schemas.microsoft.com/office/drawing/2014/main" val="2664222142"/>
                    </a:ext>
                  </a:extLst>
                </a:gridCol>
                <a:gridCol w="1486520">
                  <a:extLst>
                    <a:ext uri="{9D8B030D-6E8A-4147-A177-3AD203B41FA5}">
                      <a16:colId xmlns:a16="http://schemas.microsoft.com/office/drawing/2014/main" val="439872747"/>
                    </a:ext>
                  </a:extLst>
                </a:gridCol>
                <a:gridCol w="1486520">
                  <a:extLst>
                    <a:ext uri="{9D8B030D-6E8A-4147-A177-3AD203B41FA5}">
                      <a16:colId xmlns:a16="http://schemas.microsoft.com/office/drawing/2014/main" val="2958553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ID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PlanetName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Radius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effectLst/>
                        </a:rPr>
                        <a:t>SunSeason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OpeningYear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HavingRings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Opener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3862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Mars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3396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687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1659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Christiaan Huygens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684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Pluto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60268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10759.22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</a:rP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234757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6359B0A-4743-46ED-A3AE-D170BE5FCD4C}"/>
              </a:ext>
            </a:extLst>
          </p:cNvPr>
          <p:cNvSpPr/>
          <p:nvPr/>
        </p:nvSpPr>
        <p:spPr>
          <a:xfrm>
            <a:off x="10567701" y="530678"/>
            <a:ext cx="902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Planets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9011636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98F96-F51E-4CB5-87E8-60905CC3F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DB188-EDD4-4141-99AE-36B26C8CB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ru-RU" b="1" dirty="0"/>
              <a:t>LIMIT</a:t>
            </a:r>
            <a:r>
              <a:rPr lang="ru-RU" dirty="0"/>
              <a:t> позволяет вывести указанное число строк из таблицы. </a:t>
            </a:r>
            <a:endParaRPr lang="en-US" dirty="0"/>
          </a:p>
          <a:p>
            <a:r>
              <a:rPr lang="ru-RU" dirty="0"/>
              <a:t>Оператор </a:t>
            </a:r>
            <a:r>
              <a:rPr lang="en-US" b="1" dirty="0"/>
              <a:t>LIMIT</a:t>
            </a:r>
            <a:r>
              <a:rPr lang="ru-RU" dirty="0"/>
              <a:t> записывается всегда в конце запроса.</a:t>
            </a:r>
            <a:endParaRPr lang="en-US" dirty="0"/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60666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380D37-FA74-4B87-AFC1-E49BD204FB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893555"/>
              </p:ext>
            </p:extLst>
          </p:nvPr>
        </p:nvGraphicFramePr>
        <p:xfrm>
          <a:off x="1064872" y="900010"/>
          <a:ext cx="10394062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866">
                  <a:extLst>
                    <a:ext uri="{9D8B030D-6E8A-4147-A177-3AD203B41FA5}">
                      <a16:colId xmlns:a16="http://schemas.microsoft.com/office/drawing/2014/main" val="4226348064"/>
                    </a:ext>
                  </a:extLst>
                </a:gridCol>
                <a:gridCol w="1484866">
                  <a:extLst>
                    <a:ext uri="{9D8B030D-6E8A-4147-A177-3AD203B41FA5}">
                      <a16:colId xmlns:a16="http://schemas.microsoft.com/office/drawing/2014/main" val="1750473964"/>
                    </a:ext>
                  </a:extLst>
                </a:gridCol>
                <a:gridCol w="1484866">
                  <a:extLst>
                    <a:ext uri="{9D8B030D-6E8A-4147-A177-3AD203B41FA5}">
                      <a16:colId xmlns:a16="http://schemas.microsoft.com/office/drawing/2014/main" val="1208797759"/>
                    </a:ext>
                  </a:extLst>
                </a:gridCol>
                <a:gridCol w="1484866">
                  <a:extLst>
                    <a:ext uri="{9D8B030D-6E8A-4147-A177-3AD203B41FA5}">
                      <a16:colId xmlns:a16="http://schemas.microsoft.com/office/drawing/2014/main" val="3006235385"/>
                    </a:ext>
                  </a:extLst>
                </a:gridCol>
                <a:gridCol w="1484866">
                  <a:extLst>
                    <a:ext uri="{9D8B030D-6E8A-4147-A177-3AD203B41FA5}">
                      <a16:colId xmlns:a16="http://schemas.microsoft.com/office/drawing/2014/main" val="2664222142"/>
                    </a:ext>
                  </a:extLst>
                </a:gridCol>
                <a:gridCol w="1484866">
                  <a:extLst>
                    <a:ext uri="{9D8B030D-6E8A-4147-A177-3AD203B41FA5}">
                      <a16:colId xmlns:a16="http://schemas.microsoft.com/office/drawing/2014/main" val="439872747"/>
                    </a:ext>
                  </a:extLst>
                </a:gridCol>
                <a:gridCol w="1484866">
                  <a:extLst>
                    <a:ext uri="{9D8B030D-6E8A-4147-A177-3AD203B41FA5}">
                      <a16:colId xmlns:a16="http://schemas.microsoft.com/office/drawing/2014/main" val="2958553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ID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PlanetName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Radius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effectLst/>
                        </a:rPr>
                        <a:t>SunSeason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OpeningYear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effectLst/>
                        </a:rPr>
                        <a:t>HavingRings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Opener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3862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3396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687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1659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Christiaan Huygens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684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</a:rPr>
                        <a:t>Saturn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60268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10759.22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</a:rP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234757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899F8B12-1808-4F63-B404-3D20CFE593B3}"/>
              </a:ext>
            </a:extLst>
          </p:cNvPr>
          <p:cNvSpPr/>
          <p:nvPr/>
        </p:nvSpPr>
        <p:spPr>
          <a:xfrm>
            <a:off x="1064872" y="2654818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solidFill>
                  <a:srgbClr val="0070C0"/>
                </a:solidFill>
                <a:latin typeface="+mj-lt"/>
              </a:rPr>
              <a:t>UPDATE</a:t>
            </a:r>
            <a:r>
              <a:rPr lang="ru-RU" altLang="ru-RU" sz="2000" dirty="0">
                <a:latin typeface="+mj-lt"/>
              </a:rPr>
              <a:t> Planets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solidFill>
                  <a:srgbClr val="0070C0"/>
                </a:solidFill>
                <a:latin typeface="+mj-lt"/>
              </a:rPr>
              <a:t>SET</a:t>
            </a:r>
            <a:r>
              <a:rPr lang="ru-RU" altLang="ru-RU" sz="2000" dirty="0">
                <a:latin typeface="+mj-lt"/>
              </a:rPr>
              <a:t> </a:t>
            </a:r>
            <a:r>
              <a:rPr lang="en-US" altLang="ru-RU" sz="2000" dirty="0" err="1">
                <a:latin typeface="+mj-lt"/>
              </a:rPr>
              <a:t>HavingRings</a:t>
            </a:r>
            <a:r>
              <a:rPr lang="en-US" altLang="ru-RU" sz="2000" dirty="0">
                <a:latin typeface="+mj-lt"/>
              </a:rPr>
              <a:t> = '</a:t>
            </a:r>
            <a:r>
              <a:rPr lang="en-US" altLang="ru-RU" sz="2000" dirty="0">
                <a:solidFill>
                  <a:srgbClr val="FF0000"/>
                </a:solidFill>
                <a:latin typeface="+mj-lt"/>
              </a:rPr>
              <a:t>No</a:t>
            </a:r>
            <a:r>
              <a:rPr lang="en-US" altLang="ru-RU" sz="2000" dirty="0">
                <a:latin typeface="+mj-lt"/>
              </a:rPr>
              <a:t>', ID = </a:t>
            </a:r>
            <a:r>
              <a:rPr lang="en-US" altLang="ru-RU" sz="2000" dirty="0"/>
              <a:t>'</a:t>
            </a:r>
            <a:r>
              <a:rPr lang="en-US" altLang="ru-RU" sz="2000" dirty="0">
                <a:solidFill>
                  <a:srgbClr val="FF0000"/>
                </a:solidFill>
                <a:latin typeface="+mj-lt"/>
              </a:rPr>
              <a:t>NULL</a:t>
            </a:r>
            <a:r>
              <a:rPr lang="en-US" altLang="ru-RU" sz="2000" dirty="0"/>
              <a:t>'</a:t>
            </a:r>
            <a:endParaRPr lang="en-US" altLang="ru-RU" sz="2000" dirty="0">
              <a:solidFill>
                <a:srgbClr val="FF0000"/>
              </a:solidFill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000" dirty="0">
                <a:solidFill>
                  <a:srgbClr val="0070C0"/>
                </a:solidFill>
                <a:latin typeface="+mj-lt"/>
              </a:rPr>
              <a:t>LIMIT</a:t>
            </a:r>
            <a:r>
              <a:rPr lang="en-US" altLang="ru-RU" sz="2000" dirty="0">
                <a:latin typeface="+mj-lt"/>
              </a:rPr>
              <a:t> </a:t>
            </a:r>
            <a:r>
              <a:rPr lang="en-US" altLang="ru-RU" sz="2000" dirty="0">
                <a:solidFill>
                  <a:srgbClr val="FF0000"/>
                </a:solidFill>
                <a:latin typeface="+mj-lt"/>
              </a:rPr>
              <a:t>2</a:t>
            </a:r>
            <a:r>
              <a:rPr lang="en-US" altLang="ru-RU" sz="2000" dirty="0">
                <a:latin typeface="+mj-lt"/>
              </a:rPr>
              <a:t>;</a:t>
            </a:r>
            <a:endParaRPr lang="ru-RU" altLang="ru-RU" sz="2000" dirty="0">
              <a:solidFill>
                <a:srgbClr val="FF0000"/>
              </a:solidFill>
              <a:latin typeface="+mj-lt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8AD0D4F-947A-4413-BE8C-FD1CF00EE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874103"/>
              </p:ext>
            </p:extLst>
          </p:nvPr>
        </p:nvGraphicFramePr>
        <p:xfrm>
          <a:off x="1022431" y="4043529"/>
          <a:ext cx="10436503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929">
                  <a:extLst>
                    <a:ext uri="{9D8B030D-6E8A-4147-A177-3AD203B41FA5}">
                      <a16:colId xmlns:a16="http://schemas.microsoft.com/office/drawing/2014/main" val="4226348064"/>
                    </a:ext>
                  </a:extLst>
                </a:gridCol>
                <a:gridCol w="1490929">
                  <a:extLst>
                    <a:ext uri="{9D8B030D-6E8A-4147-A177-3AD203B41FA5}">
                      <a16:colId xmlns:a16="http://schemas.microsoft.com/office/drawing/2014/main" val="1750473964"/>
                    </a:ext>
                  </a:extLst>
                </a:gridCol>
                <a:gridCol w="1490929">
                  <a:extLst>
                    <a:ext uri="{9D8B030D-6E8A-4147-A177-3AD203B41FA5}">
                      <a16:colId xmlns:a16="http://schemas.microsoft.com/office/drawing/2014/main" val="1208797759"/>
                    </a:ext>
                  </a:extLst>
                </a:gridCol>
                <a:gridCol w="1490929">
                  <a:extLst>
                    <a:ext uri="{9D8B030D-6E8A-4147-A177-3AD203B41FA5}">
                      <a16:colId xmlns:a16="http://schemas.microsoft.com/office/drawing/2014/main" val="3006235385"/>
                    </a:ext>
                  </a:extLst>
                </a:gridCol>
                <a:gridCol w="1490929">
                  <a:extLst>
                    <a:ext uri="{9D8B030D-6E8A-4147-A177-3AD203B41FA5}">
                      <a16:colId xmlns:a16="http://schemas.microsoft.com/office/drawing/2014/main" val="2664222142"/>
                    </a:ext>
                  </a:extLst>
                </a:gridCol>
                <a:gridCol w="1490929">
                  <a:extLst>
                    <a:ext uri="{9D8B030D-6E8A-4147-A177-3AD203B41FA5}">
                      <a16:colId xmlns:a16="http://schemas.microsoft.com/office/drawing/2014/main" val="439872747"/>
                    </a:ext>
                  </a:extLst>
                </a:gridCol>
                <a:gridCol w="1490929">
                  <a:extLst>
                    <a:ext uri="{9D8B030D-6E8A-4147-A177-3AD203B41FA5}">
                      <a16:colId xmlns:a16="http://schemas.microsoft.com/office/drawing/2014/main" val="2958553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ID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PlanetName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Radius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effectLst/>
                        </a:rPr>
                        <a:t>SunSeason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OpeningYear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effectLst/>
                        </a:rPr>
                        <a:t>HavingRings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Opener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3862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NULL</a:t>
                      </a:r>
                      <a:endParaRPr lang="ru-RU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Mars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3396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687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1659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Christiaan Huygens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684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NULL</a:t>
                      </a:r>
                      <a:endParaRPr lang="ru-RU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</a:rPr>
                        <a:t>Saturn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60268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10759.22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</a:rP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23475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F81E18B2-78BE-4592-959D-9996C0063A8B}"/>
              </a:ext>
            </a:extLst>
          </p:cNvPr>
          <p:cNvSpPr/>
          <p:nvPr/>
        </p:nvSpPr>
        <p:spPr>
          <a:xfrm>
            <a:off x="10675722" y="530678"/>
            <a:ext cx="902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Planets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2112799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9485-782A-4281-BB6D-9B8FB9116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127EB-3DB3-4576-9A04-1933411D0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Оператор </a:t>
            </a:r>
            <a:r>
              <a:rPr lang="ru-RU" b="1" dirty="0"/>
              <a:t>DELETE</a:t>
            </a:r>
            <a:r>
              <a:rPr lang="ru-RU" dirty="0"/>
              <a:t> удаляет строки базовых таблиц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dirty="0">
                <a:solidFill>
                  <a:srgbClr val="0070C0"/>
                </a:solidFill>
                <a:latin typeface="+mj-lt"/>
              </a:rPr>
              <a:t>DELETE</a:t>
            </a:r>
            <a:r>
              <a:rPr lang="ru-RU" altLang="ru-RU" dirty="0">
                <a:solidFill>
                  <a:schemeClr val="tx1"/>
                </a:solidFill>
                <a:latin typeface="+mj-lt"/>
              </a:rPr>
              <a:t> FROM &lt;имя таблицы &gt;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dirty="0">
                <a:solidFill>
                  <a:srgbClr val="0070C0"/>
                </a:solidFill>
                <a:latin typeface="+mj-lt"/>
              </a:rPr>
              <a:t>WHERE</a:t>
            </a:r>
            <a:r>
              <a:rPr lang="ru-RU" altLang="ru-RU" dirty="0">
                <a:solidFill>
                  <a:schemeClr val="tx1"/>
                </a:solidFill>
                <a:latin typeface="+mj-lt"/>
              </a:rPr>
              <a:t> &lt;предикат&gt;</a:t>
            </a:r>
            <a:r>
              <a:rPr lang="en-US" altLang="ru-RU" dirty="0">
                <a:solidFill>
                  <a:schemeClr val="tx1"/>
                </a:solidFill>
                <a:latin typeface="+mj-lt"/>
              </a:rPr>
              <a:t>;</a:t>
            </a:r>
            <a:endParaRPr lang="ru-RU" altLang="ru-RU" dirty="0">
              <a:solidFill>
                <a:schemeClr val="tx1"/>
              </a:solidFill>
              <a:latin typeface="+mj-lt"/>
            </a:endParaRPr>
          </a:p>
          <a:p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2ECDF5C-9346-4608-856A-4E126F966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30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2069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380D37-FA74-4B87-AFC1-E49BD204FB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435946"/>
              </p:ext>
            </p:extLst>
          </p:nvPr>
        </p:nvGraphicFramePr>
        <p:xfrm>
          <a:off x="1064872" y="932646"/>
          <a:ext cx="10394062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866">
                  <a:extLst>
                    <a:ext uri="{9D8B030D-6E8A-4147-A177-3AD203B41FA5}">
                      <a16:colId xmlns:a16="http://schemas.microsoft.com/office/drawing/2014/main" val="4226348064"/>
                    </a:ext>
                  </a:extLst>
                </a:gridCol>
                <a:gridCol w="1484866">
                  <a:extLst>
                    <a:ext uri="{9D8B030D-6E8A-4147-A177-3AD203B41FA5}">
                      <a16:colId xmlns:a16="http://schemas.microsoft.com/office/drawing/2014/main" val="1750473964"/>
                    </a:ext>
                  </a:extLst>
                </a:gridCol>
                <a:gridCol w="1484866">
                  <a:extLst>
                    <a:ext uri="{9D8B030D-6E8A-4147-A177-3AD203B41FA5}">
                      <a16:colId xmlns:a16="http://schemas.microsoft.com/office/drawing/2014/main" val="1208797759"/>
                    </a:ext>
                  </a:extLst>
                </a:gridCol>
                <a:gridCol w="1484866">
                  <a:extLst>
                    <a:ext uri="{9D8B030D-6E8A-4147-A177-3AD203B41FA5}">
                      <a16:colId xmlns:a16="http://schemas.microsoft.com/office/drawing/2014/main" val="3006235385"/>
                    </a:ext>
                  </a:extLst>
                </a:gridCol>
                <a:gridCol w="1484866">
                  <a:extLst>
                    <a:ext uri="{9D8B030D-6E8A-4147-A177-3AD203B41FA5}">
                      <a16:colId xmlns:a16="http://schemas.microsoft.com/office/drawing/2014/main" val="2664222142"/>
                    </a:ext>
                  </a:extLst>
                </a:gridCol>
                <a:gridCol w="1484866">
                  <a:extLst>
                    <a:ext uri="{9D8B030D-6E8A-4147-A177-3AD203B41FA5}">
                      <a16:colId xmlns:a16="http://schemas.microsoft.com/office/drawing/2014/main" val="439872747"/>
                    </a:ext>
                  </a:extLst>
                </a:gridCol>
                <a:gridCol w="1484866">
                  <a:extLst>
                    <a:ext uri="{9D8B030D-6E8A-4147-A177-3AD203B41FA5}">
                      <a16:colId xmlns:a16="http://schemas.microsoft.com/office/drawing/2014/main" val="2958553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ID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PlanetName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Radius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effectLst/>
                        </a:rPr>
                        <a:t>SunSeason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OpeningYear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effectLst/>
                        </a:rPr>
                        <a:t>HavingRings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Opener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3862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3396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687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1659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Christiaan Huygens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684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Saturn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effectLst/>
                        </a:rPr>
                        <a:t>60268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effectLst/>
                        </a:rPr>
                        <a:t>10759.22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effectLst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effectLst/>
                        </a:rP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234757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899F8B12-1808-4F63-B404-3D20CFE593B3}"/>
              </a:ext>
            </a:extLst>
          </p:cNvPr>
          <p:cNvSpPr/>
          <p:nvPr/>
        </p:nvSpPr>
        <p:spPr>
          <a:xfrm>
            <a:off x="1064872" y="2654818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000" dirty="0">
                <a:solidFill>
                  <a:srgbClr val="0070C0"/>
                </a:solidFill>
                <a:latin typeface="+mj-lt"/>
              </a:rPr>
              <a:t>DELETE</a:t>
            </a:r>
            <a:r>
              <a:rPr lang="en-US" altLang="ru-RU" sz="2000" dirty="0">
                <a:latin typeface="+mj-lt"/>
              </a:rPr>
              <a:t> FROM Planets</a:t>
            </a:r>
            <a:endParaRPr lang="ru-RU" altLang="ru-RU" sz="2000" dirty="0"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000" dirty="0">
                <a:solidFill>
                  <a:srgbClr val="0070C0"/>
                </a:solidFill>
                <a:latin typeface="+mj-lt"/>
              </a:rPr>
              <a:t>WHERE</a:t>
            </a:r>
            <a:r>
              <a:rPr lang="en-US" altLang="ru-RU" sz="2000" dirty="0">
                <a:latin typeface="+mj-lt"/>
              </a:rPr>
              <a:t> ID = </a:t>
            </a:r>
            <a:r>
              <a:rPr lang="en-US" altLang="ru-RU" sz="2000" dirty="0">
                <a:solidFill>
                  <a:srgbClr val="FF0000"/>
                </a:solidFill>
                <a:latin typeface="+mj-lt"/>
              </a:rPr>
              <a:t>2</a:t>
            </a:r>
            <a:r>
              <a:rPr lang="en-US" altLang="ru-RU" sz="2000" dirty="0">
                <a:latin typeface="+mj-lt"/>
              </a:rPr>
              <a:t>;</a:t>
            </a:r>
            <a:endParaRPr lang="ru-RU" altLang="ru-RU" sz="2000" dirty="0">
              <a:solidFill>
                <a:srgbClr val="FF0000"/>
              </a:solidFill>
              <a:latin typeface="+mj-lt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8AD0D4F-947A-4413-BE8C-FD1CF00EE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961512"/>
              </p:ext>
            </p:extLst>
          </p:nvPr>
        </p:nvGraphicFramePr>
        <p:xfrm>
          <a:off x="1022431" y="4043529"/>
          <a:ext cx="10436503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929">
                  <a:extLst>
                    <a:ext uri="{9D8B030D-6E8A-4147-A177-3AD203B41FA5}">
                      <a16:colId xmlns:a16="http://schemas.microsoft.com/office/drawing/2014/main" val="4226348064"/>
                    </a:ext>
                  </a:extLst>
                </a:gridCol>
                <a:gridCol w="1490929">
                  <a:extLst>
                    <a:ext uri="{9D8B030D-6E8A-4147-A177-3AD203B41FA5}">
                      <a16:colId xmlns:a16="http://schemas.microsoft.com/office/drawing/2014/main" val="1750473964"/>
                    </a:ext>
                  </a:extLst>
                </a:gridCol>
                <a:gridCol w="1490929">
                  <a:extLst>
                    <a:ext uri="{9D8B030D-6E8A-4147-A177-3AD203B41FA5}">
                      <a16:colId xmlns:a16="http://schemas.microsoft.com/office/drawing/2014/main" val="1208797759"/>
                    </a:ext>
                  </a:extLst>
                </a:gridCol>
                <a:gridCol w="1490929">
                  <a:extLst>
                    <a:ext uri="{9D8B030D-6E8A-4147-A177-3AD203B41FA5}">
                      <a16:colId xmlns:a16="http://schemas.microsoft.com/office/drawing/2014/main" val="3006235385"/>
                    </a:ext>
                  </a:extLst>
                </a:gridCol>
                <a:gridCol w="1490929">
                  <a:extLst>
                    <a:ext uri="{9D8B030D-6E8A-4147-A177-3AD203B41FA5}">
                      <a16:colId xmlns:a16="http://schemas.microsoft.com/office/drawing/2014/main" val="2664222142"/>
                    </a:ext>
                  </a:extLst>
                </a:gridCol>
                <a:gridCol w="1490929">
                  <a:extLst>
                    <a:ext uri="{9D8B030D-6E8A-4147-A177-3AD203B41FA5}">
                      <a16:colId xmlns:a16="http://schemas.microsoft.com/office/drawing/2014/main" val="439872747"/>
                    </a:ext>
                  </a:extLst>
                </a:gridCol>
                <a:gridCol w="1490929">
                  <a:extLst>
                    <a:ext uri="{9D8B030D-6E8A-4147-A177-3AD203B41FA5}">
                      <a16:colId xmlns:a16="http://schemas.microsoft.com/office/drawing/2014/main" val="2958553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ID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PlanetName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Radius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effectLst/>
                        </a:rPr>
                        <a:t>SunSeason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OpeningYear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effectLst/>
                        </a:rPr>
                        <a:t>HavingRings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Opener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3862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</a:rPr>
                        <a:t>1</a:t>
                      </a:r>
                      <a:endParaRPr lang="ru-RU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Mars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3396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687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1659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Christiaan Huygens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68459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2BF569E-C139-48EE-AFE2-753D52558BC8}"/>
              </a:ext>
            </a:extLst>
          </p:cNvPr>
          <p:cNvSpPr/>
          <p:nvPr/>
        </p:nvSpPr>
        <p:spPr>
          <a:xfrm>
            <a:off x="10675722" y="530678"/>
            <a:ext cx="902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Planets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8929470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9485-782A-4281-BB6D-9B8FB9116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Удаление и добавление столбцов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127EB-3DB3-4576-9A04-1933411D0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206" y="2556931"/>
            <a:ext cx="10822328" cy="3623949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ALTER TABLE </a:t>
            </a:r>
            <a:r>
              <a:rPr lang="en-US" sz="1800" dirty="0"/>
              <a:t>&lt;</a:t>
            </a:r>
            <a:r>
              <a:rPr lang="ru-RU" sz="1800" dirty="0"/>
              <a:t>имя таблицы</a:t>
            </a:r>
            <a:r>
              <a:rPr lang="en-US" sz="1800" dirty="0"/>
              <a:t>&gt; </a:t>
            </a:r>
            <a:r>
              <a:rPr lang="en-US" sz="1800" dirty="0">
                <a:solidFill>
                  <a:srgbClr val="0070C0"/>
                </a:solidFill>
              </a:rPr>
              <a:t>DROP</a:t>
            </a:r>
            <a:r>
              <a:rPr lang="en-US" sz="1800" dirty="0"/>
              <a:t> &lt;</a:t>
            </a:r>
            <a:r>
              <a:rPr lang="ru-RU" sz="1800" dirty="0"/>
              <a:t>имя столбца</a:t>
            </a:r>
            <a:r>
              <a:rPr lang="en-US" sz="1800" dirty="0"/>
              <a:t>&gt;;</a:t>
            </a:r>
            <a:endParaRPr lang="ru-RU" sz="1800" dirty="0"/>
          </a:p>
          <a:p>
            <a:r>
              <a:rPr lang="en-US" sz="1800" dirty="0">
                <a:solidFill>
                  <a:srgbClr val="0070C0"/>
                </a:solidFill>
              </a:rPr>
              <a:t>ALTER TABLE </a:t>
            </a:r>
            <a:r>
              <a:rPr lang="en-US" sz="1800" dirty="0"/>
              <a:t>&lt;</a:t>
            </a:r>
            <a:r>
              <a:rPr lang="ru-RU" sz="1800" dirty="0"/>
              <a:t>имя таблицы</a:t>
            </a:r>
            <a:r>
              <a:rPr lang="en-US" sz="1800" dirty="0"/>
              <a:t>&gt; </a:t>
            </a:r>
            <a:r>
              <a:rPr lang="en-US" sz="1800" dirty="0">
                <a:solidFill>
                  <a:srgbClr val="0070C0"/>
                </a:solidFill>
              </a:rPr>
              <a:t>ADD</a:t>
            </a:r>
            <a:r>
              <a:rPr lang="en-US" sz="1800" dirty="0"/>
              <a:t> &lt;</a:t>
            </a:r>
            <a:r>
              <a:rPr lang="ru-RU" sz="1800" dirty="0"/>
              <a:t>имя столбца</a:t>
            </a:r>
            <a:r>
              <a:rPr lang="en-US" sz="1800" dirty="0"/>
              <a:t>&gt; &lt;</a:t>
            </a:r>
            <a:r>
              <a:rPr lang="ru-RU" sz="1800" dirty="0"/>
              <a:t>тип данных</a:t>
            </a:r>
            <a:r>
              <a:rPr lang="en-US" sz="1800" dirty="0"/>
              <a:t>&gt; </a:t>
            </a:r>
            <a:r>
              <a:rPr lang="en-US" sz="1800" dirty="0">
                <a:solidFill>
                  <a:srgbClr val="0070C0"/>
                </a:solidFill>
              </a:rPr>
              <a:t>FIRST</a:t>
            </a:r>
            <a:r>
              <a:rPr lang="en-US" sz="1800" dirty="0">
                <a:solidFill>
                  <a:schemeClr val="tx1"/>
                </a:solidFill>
              </a:rPr>
              <a:t>;</a:t>
            </a:r>
            <a:endParaRPr lang="en-US" sz="1800" dirty="0">
              <a:solidFill>
                <a:srgbClr val="0070C0"/>
              </a:solidFill>
            </a:endParaRPr>
          </a:p>
          <a:p>
            <a:r>
              <a:rPr lang="en-US" sz="1800" dirty="0">
                <a:solidFill>
                  <a:srgbClr val="0070C0"/>
                </a:solidFill>
              </a:rPr>
              <a:t>ALTER TABLE </a:t>
            </a:r>
            <a:r>
              <a:rPr lang="en-US" sz="1800" dirty="0"/>
              <a:t>&lt;</a:t>
            </a:r>
            <a:r>
              <a:rPr lang="ru-RU" sz="1800" dirty="0"/>
              <a:t>имя таблицы</a:t>
            </a:r>
            <a:r>
              <a:rPr lang="en-US" sz="1800" dirty="0"/>
              <a:t>&gt; </a:t>
            </a:r>
            <a:r>
              <a:rPr lang="en-US" sz="1800" dirty="0">
                <a:solidFill>
                  <a:srgbClr val="0070C0"/>
                </a:solidFill>
              </a:rPr>
              <a:t>ADD </a:t>
            </a:r>
            <a:r>
              <a:rPr lang="en-US" sz="1800" dirty="0"/>
              <a:t>&lt;</a:t>
            </a:r>
            <a:r>
              <a:rPr lang="ru-RU" sz="1800" dirty="0"/>
              <a:t>имя столбца</a:t>
            </a:r>
            <a:r>
              <a:rPr lang="en-US" sz="1800" dirty="0"/>
              <a:t>&gt;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/>
              <a:t>&lt;</a:t>
            </a:r>
            <a:r>
              <a:rPr lang="ru-RU" sz="1800" dirty="0"/>
              <a:t>тип данных</a:t>
            </a:r>
            <a:r>
              <a:rPr lang="en-US" sz="1800" dirty="0"/>
              <a:t>&gt;</a:t>
            </a:r>
            <a:r>
              <a:rPr lang="en-US" sz="1800" dirty="0">
                <a:solidFill>
                  <a:srgbClr val="0070C0"/>
                </a:solidFill>
              </a:rPr>
              <a:t> NOT NULL DEFAULT </a:t>
            </a:r>
            <a:r>
              <a:rPr lang="en-US" sz="1800" dirty="0">
                <a:solidFill>
                  <a:schemeClr val="tx1"/>
                </a:solidFill>
              </a:rPr>
              <a:t>&lt;</a:t>
            </a:r>
            <a:r>
              <a:rPr lang="ru-RU" sz="1800" dirty="0">
                <a:solidFill>
                  <a:schemeClr val="tx1"/>
                </a:solidFill>
              </a:rPr>
              <a:t>значение</a:t>
            </a:r>
            <a:r>
              <a:rPr lang="en-US" sz="1800" dirty="0">
                <a:solidFill>
                  <a:schemeClr val="tx1"/>
                </a:solidFill>
              </a:rPr>
              <a:t>&gt;;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FIRST</a:t>
            </a:r>
            <a:r>
              <a:rPr lang="en-US" sz="1800" dirty="0">
                <a:solidFill>
                  <a:schemeClr val="tx1"/>
                </a:solidFill>
              </a:rPr>
              <a:t> – </a:t>
            </a:r>
            <a:r>
              <a:rPr lang="ru-RU" sz="1800" dirty="0">
                <a:solidFill>
                  <a:schemeClr val="tx1"/>
                </a:solidFill>
              </a:rPr>
              <a:t>добавление столбца в начало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NOT NULL DEFAULT </a:t>
            </a:r>
            <a:r>
              <a:rPr lang="en-US" sz="1800" dirty="0">
                <a:solidFill>
                  <a:schemeClr val="tx1"/>
                </a:solidFill>
              </a:rPr>
              <a:t>– </a:t>
            </a:r>
            <a:r>
              <a:rPr lang="ru-RU" sz="1800" dirty="0">
                <a:solidFill>
                  <a:schemeClr val="tx1"/>
                </a:solidFill>
              </a:rPr>
              <a:t>создание столбца без </a:t>
            </a:r>
            <a:r>
              <a:rPr lang="en-US" sz="1800" dirty="0">
                <a:solidFill>
                  <a:srgbClr val="0070C0"/>
                </a:solidFill>
              </a:rPr>
              <a:t>NULL</a:t>
            </a:r>
            <a:endParaRPr lang="ru-RU" sz="1800" dirty="0">
              <a:solidFill>
                <a:srgbClr val="0070C0"/>
              </a:solidFill>
            </a:endParaRP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2ECDF5C-9346-4608-856A-4E126F966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30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2662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1196" cy="1303867"/>
          </a:xfrm>
        </p:spPr>
        <p:txBody>
          <a:bodyPr>
            <a:normAutofit/>
          </a:bodyPr>
          <a:lstStyle/>
          <a:p>
            <a:r>
              <a:rPr lang="ru-RU" dirty="0"/>
              <a:t>Сложение, минимум и максимум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EEE5097-8E72-45A5-8F1E-3EE418A72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710703"/>
          </a:xfrm>
        </p:spPr>
        <p:txBody>
          <a:bodyPr/>
          <a:lstStyle/>
          <a:p>
            <a:r>
              <a:rPr lang="ru-RU" altLang="ru-RU" dirty="0">
                <a:solidFill>
                  <a:srgbClr val="0070C0"/>
                </a:solidFill>
                <a:latin typeface="+mj-lt"/>
              </a:rPr>
              <a:t>SELECT SUM</a:t>
            </a:r>
            <a:r>
              <a:rPr lang="en-US" altLang="ru-RU" dirty="0">
                <a:solidFill>
                  <a:schemeClr val="tx1"/>
                </a:solidFill>
                <a:latin typeface="+mj-lt"/>
              </a:rPr>
              <a:t>(&lt;</a:t>
            </a:r>
            <a:r>
              <a:rPr lang="ru-RU" altLang="ru-RU" dirty="0">
                <a:solidFill>
                  <a:schemeClr val="tx1"/>
                </a:solidFill>
                <a:latin typeface="+mj-lt"/>
              </a:rPr>
              <a:t>имя столбца</a:t>
            </a:r>
            <a:r>
              <a:rPr lang="en-US" altLang="ru-RU" dirty="0">
                <a:solidFill>
                  <a:schemeClr val="tx1"/>
                </a:solidFill>
                <a:latin typeface="+mj-lt"/>
              </a:rPr>
              <a:t>&gt;) </a:t>
            </a:r>
            <a:r>
              <a:rPr lang="en-US" altLang="ru-RU" dirty="0">
                <a:solidFill>
                  <a:srgbClr val="0070C0"/>
                </a:solidFill>
                <a:latin typeface="+mj-lt"/>
              </a:rPr>
              <a:t>FROM</a:t>
            </a:r>
            <a:r>
              <a:rPr lang="en-US" altLang="ru-RU" dirty="0">
                <a:solidFill>
                  <a:schemeClr val="tx1"/>
                </a:solidFill>
                <a:latin typeface="+mj-lt"/>
              </a:rPr>
              <a:t> &lt;</a:t>
            </a:r>
            <a:r>
              <a:rPr lang="ru-RU" altLang="ru-RU" dirty="0">
                <a:solidFill>
                  <a:schemeClr val="tx1"/>
                </a:solidFill>
                <a:latin typeface="+mj-lt"/>
              </a:rPr>
              <a:t>имя таблицы</a:t>
            </a:r>
            <a:r>
              <a:rPr lang="en-US" altLang="ru-RU" dirty="0">
                <a:solidFill>
                  <a:schemeClr val="tx1"/>
                </a:solidFill>
                <a:latin typeface="+mj-lt"/>
              </a:rPr>
              <a:t>&gt;;</a:t>
            </a:r>
            <a:endParaRPr lang="ru-RU" altLang="ru-RU" dirty="0">
              <a:solidFill>
                <a:schemeClr val="tx1"/>
              </a:solidFill>
              <a:latin typeface="+mj-lt"/>
            </a:endParaRPr>
          </a:p>
          <a:p>
            <a:r>
              <a:rPr lang="ru-RU" altLang="ru-RU" dirty="0">
                <a:solidFill>
                  <a:srgbClr val="0070C0"/>
                </a:solidFill>
                <a:latin typeface="+mj-lt"/>
              </a:rPr>
              <a:t>SELECT </a:t>
            </a:r>
            <a:r>
              <a:rPr lang="en-US" altLang="ru-RU" dirty="0">
                <a:solidFill>
                  <a:srgbClr val="0070C0"/>
                </a:solidFill>
                <a:latin typeface="+mj-lt"/>
              </a:rPr>
              <a:t>MIN</a:t>
            </a:r>
            <a:r>
              <a:rPr lang="en-US" altLang="ru-RU" dirty="0">
                <a:solidFill>
                  <a:schemeClr val="tx1"/>
                </a:solidFill>
                <a:latin typeface="+mj-lt"/>
              </a:rPr>
              <a:t>(&lt;</a:t>
            </a:r>
            <a:r>
              <a:rPr lang="ru-RU" altLang="ru-RU" dirty="0">
                <a:solidFill>
                  <a:schemeClr val="tx1"/>
                </a:solidFill>
                <a:latin typeface="+mj-lt"/>
              </a:rPr>
              <a:t>имя столбца</a:t>
            </a:r>
            <a:r>
              <a:rPr lang="en-US" altLang="ru-RU" dirty="0">
                <a:solidFill>
                  <a:schemeClr val="tx1"/>
                </a:solidFill>
                <a:latin typeface="+mj-lt"/>
              </a:rPr>
              <a:t>&gt;)</a:t>
            </a:r>
            <a:r>
              <a:rPr lang="ru-RU" altLang="ru-RU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altLang="ru-RU" dirty="0">
                <a:solidFill>
                  <a:srgbClr val="0070C0"/>
                </a:solidFill>
              </a:rPr>
              <a:t>FROM</a:t>
            </a:r>
            <a:r>
              <a:rPr lang="en-US" altLang="ru-RU" dirty="0">
                <a:solidFill>
                  <a:schemeClr val="tx1"/>
                </a:solidFill>
              </a:rPr>
              <a:t> &lt;</a:t>
            </a:r>
            <a:r>
              <a:rPr lang="ru-RU" altLang="ru-RU" dirty="0">
                <a:solidFill>
                  <a:schemeClr val="tx1"/>
                </a:solidFill>
              </a:rPr>
              <a:t>имя таблицы</a:t>
            </a:r>
            <a:r>
              <a:rPr lang="en-US" altLang="ru-RU" dirty="0">
                <a:solidFill>
                  <a:schemeClr val="tx1"/>
                </a:solidFill>
              </a:rPr>
              <a:t>&gt;;</a:t>
            </a:r>
            <a:endParaRPr lang="ru-RU" altLang="ru-RU" dirty="0">
              <a:solidFill>
                <a:schemeClr val="tx1"/>
              </a:solidFill>
              <a:latin typeface="+mj-lt"/>
            </a:endParaRPr>
          </a:p>
          <a:p>
            <a:r>
              <a:rPr lang="ru-RU" altLang="ru-RU" dirty="0">
                <a:solidFill>
                  <a:srgbClr val="0070C0"/>
                </a:solidFill>
                <a:latin typeface="+mj-lt"/>
              </a:rPr>
              <a:t>SELECT MAX</a:t>
            </a:r>
            <a:r>
              <a:rPr lang="en-US" altLang="ru-RU" dirty="0">
                <a:solidFill>
                  <a:schemeClr val="tx1"/>
                </a:solidFill>
                <a:latin typeface="+mj-lt"/>
              </a:rPr>
              <a:t>(&lt;</a:t>
            </a:r>
            <a:r>
              <a:rPr lang="ru-RU" altLang="ru-RU" dirty="0">
                <a:solidFill>
                  <a:schemeClr val="tx1"/>
                </a:solidFill>
                <a:latin typeface="+mj-lt"/>
              </a:rPr>
              <a:t>имя столбца</a:t>
            </a:r>
            <a:r>
              <a:rPr lang="en-US" altLang="ru-RU" dirty="0">
                <a:solidFill>
                  <a:schemeClr val="tx1"/>
                </a:solidFill>
                <a:latin typeface="+mj-lt"/>
              </a:rPr>
              <a:t>&gt;)</a:t>
            </a:r>
            <a:r>
              <a:rPr lang="ru-RU" altLang="ru-RU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altLang="ru-RU" dirty="0">
                <a:solidFill>
                  <a:srgbClr val="0070C0"/>
                </a:solidFill>
              </a:rPr>
              <a:t>FROM</a:t>
            </a:r>
            <a:r>
              <a:rPr lang="en-US" altLang="ru-RU" dirty="0">
                <a:solidFill>
                  <a:schemeClr val="tx1"/>
                </a:solidFill>
              </a:rPr>
              <a:t> &lt;</a:t>
            </a:r>
            <a:r>
              <a:rPr lang="ru-RU" altLang="ru-RU" dirty="0">
                <a:solidFill>
                  <a:schemeClr val="tx1"/>
                </a:solidFill>
              </a:rPr>
              <a:t>имя таблицы</a:t>
            </a:r>
            <a:r>
              <a:rPr lang="en-US" altLang="ru-RU" dirty="0">
                <a:solidFill>
                  <a:schemeClr val="tx1"/>
                </a:solidFill>
              </a:rPr>
              <a:t>&gt;;</a:t>
            </a:r>
            <a:endParaRPr lang="ru-RU" altLang="ru-RU" dirty="0">
              <a:solidFill>
                <a:schemeClr val="tx1"/>
              </a:solidFill>
              <a:latin typeface="+mj-lt"/>
            </a:endParaRPr>
          </a:p>
          <a:p>
            <a:endParaRPr lang="ru-RU" altLang="ru-RU" sz="4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dirty="0"/>
              <a:t>*без пробела между оператором и скобками</a:t>
            </a:r>
          </a:p>
        </p:txBody>
      </p:sp>
    </p:spTree>
    <p:extLst>
      <p:ext uri="{BB962C8B-B14F-4D97-AF65-F5344CB8AC3E}">
        <p14:creationId xmlns:p14="http://schemas.microsoft.com/office/powerpoint/2010/main" val="13721082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A728A-8689-47FB-8FC7-9BC391642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KEY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F954F-D6FD-438D-B876-38D947695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ru-RU" b="1" dirty="0"/>
              <a:t>PRIMARY KEY </a:t>
            </a:r>
            <a:r>
              <a:rPr lang="ru-RU" dirty="0"/>
              <a:t>(Первичный ключ) </a:t>
            </a:r>
            <a:r>
              <a:rPr lang="en-US" dirty="0"/>
              <a:t>- </a:t>
            </a:r>
            <a:r>
              <a:rPr lang="ru-RU" dirty="0"/>
              <a:t> это параметр, который устанавливается для однозначной идентификации той или иной записи в таблице. </a:t>
            </a:r>
            <a:endParaRPr lang="en-US" dirty="0"/>
          </a:p>
          <a:p>
            <a:r>
              <a:rPr lang="ru-RU" dirty="0"/>
              <a:t>Значения </a:t>
            </a:r>
            <a:r>
              <a:rPr lang="ru-RU" b="1" dirty="0"/>
              <a:t>PRIMARY KEY </a:t>
            </a:r>
            <a:r>
              <a:rPr lang="ru-RU" dirty="0"/>
              <a:t>должны быть всегда уникальны, а так же не содержать значений NULL.</a:t>
            </a:r>
          </a:p>
        </p:txBody>
      </p:sp>
    </p:spTree>
    <p:extLst>
      <p:ext uri="{BB962C8B-B14F-4D97-AF65-F5344CB8AC3E}">
        <p14:creationId xmlns:p14="http://schemas.microsoft.com/office/powerpoint/2010/main" val="29801467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A728A-8689-47FB-8FC7-9BC391642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KEY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F954F-D6FD-438D-B876-38D947695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Пример</a:t>
            </a:r>
            <a:r>
              <a:rPr lang="en-US" b="1" dirty="0"/>
              <a:t>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dirty="0">
                <a:solidFill>
                  <a:srgbClr val="0070C0"/>
                </a:solidFill>
                <a:latin typeface="+mj-lt"/>
              </a:rPr>
              <a:t>CREATE</a:t>
            </a:r>
            <a:r>
              <a:rPr lang="ru-RU" altLang="ru-RU" sz="1800" dirty="0">
                <a:solidFill>
                  <a:srgbClr val="0070C0"/>
                </a:solidFill>
                <a:latin typeface="+mj-lt"/>
              </a:rPr>
              <a:t> </a:t>
            </a:r>
            <a:r>
              <a:rPr lang="ru-RU" altLang="ru-RU" dirty="0">
                <a:solidFill>
                  <a:srgbClr val="0070C0"/>
                </a:solidFill>
                <a:latin typeface="+mj-lt"/>
              </a:rPr>
              <a:t>TABLE</a:t>
            </a:r>
            <a:r>
              <a:rPr lang="ru-RU" altLang="ru-RU" sz="18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altLang="ru-RU" dirty="0">
                <a:solidFill>
                  <a:schemeClr val="tx1"/>
                </a:solidFill>
                <a:latin typeface="+mj-lt"/>
              </a:rPr>
              <a:t>my_table</a:t>
            </a:r>
            <a:r>
              <a:rPr lang="ru-RU" altLang="ru-RU" dirty="0">
                <a:solidFill>
                  <a:schemeClr val="tx1"/>
                </a:solidFill>
                <a:latin typeface="+mj-lt"/>
              </a:rPr>
              <a:t>(</a:t>
            </a:r>
            <a:endParaRPr lang="ru-RU" altLang="ru-RU" sz="1800" dirty="0">
              <a:solidFill>
                <a:schemeClr val="tx1"/>
              </a:solidFill>
              <a:latin typeface="+mj-l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dirty="0">
                <a:solidFill>
                  <a:schemeClr val="tx1"/>
                </a:solidFill>
                <a:latin typeface="+mj-lt"/>
              </a:rPr>
              <a:t>i</a:t>
            </a:r>
            <a:r>
              <a:rPr lang="ru-RU" altLang="ru-RU" dirty="0">
                <a:solidFill>
                  <a:schemeClr val="tx1"/>
                </a:solidFill>
                <a:latin typeface="+mj-lt"/>
              </a:rPr>
              <a:t>d </a:t>
            </a:r>
            <a:r>
              <a:rPr lang="en-US" altLang="ru-RU" dirty="0">
                <a:solidFill>
                  <a:srgbClr val="0070C0"/>
                </a:solidFill>
                <a:latin typeface="+mj-lt"/>
              </a:rPr>
              <a:t>INT</a:t>
            </a:r>
            <a:r>
              <a:rPr lang="en-US" altLang="ru-RU" dirty="0">
                <a:solidFill>
                  <a:schemeClr val="tx1"/>
                </a:solidFill>
                <a:latin typeface="+mj-lt"/>
              </a:rPr>
              <a:t>(3)</a:t>
            </a:r>
            <a:r>
              <a:rPr lang="ru-RU" altLang="ru-RU" dirty="0">
                <a:solidFill>
                  <a:schemeClr val="tx1"/>
                </a:solidFill>
                <a:latin typeface="+mj-lt"/>
              </a:rPr>
              <a:t>,</a:t>
            </a:r>
            <a:endParaRPr lang="en-US" altLang="ru-RU" dirty="0">
              <a:solidFill>
                <a:schemeClr val="tx1"/>
              </a:solidFill>
              <a:latin typeface="+mj-l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dirty="0">
                <a:solidFill>
                  <a:schemeClr val="tx1"/>
                </a:solidFill>
                <a:latin typeface="+mj-lt"/>
              </a:rPr>
              <a:t>name </a:t>
            </a:r>
            <a:r>
              <a:rPr lang="en-US" altLang="ru-RU" dirty="0">
                <a:solidFill>
                  <a:srgbClr val="0070C0"/>
                </a:solidFill>
                <a:latin typeface="+mj-lt"/>
              </a:rPr>
              <a:t>CHAR</a:t>
            </a:r>
            <a:r>
              <a:rPr lang="en-US" altLang="ru-RU" dirty="0">
                <a:solidFill>
                  <a:schemeClr val="tx1"/>
                </a:solidFill>
                <a:latin typeface="+mj-lt"/>
              </a:rPr>
              <a:t>(10),</a:t>
            </a:r>
            <a:endParaRPr lang="ru-RU" altLang="ru-RU" dirty="0">
              <a:solidFill>
                <a:schemeClr val="tx1"/>
              </a:solidFill>
              <a:latin typeface="+mj-l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dirty="0">
                <a:solidFill>
                  <a:srgbClr val="0070C0"/>
                </a:solidFill>
                <a:latin typeface="+mj-lt"/>
              </a:rPr>
              <a:t>PRIMARY</a:t>
            </a:r>
            <a:r>
              <a:rPr lang="ru-RU" altLang="ru-RU" sz="1800" dirty="0">
                <a:solidFill>
                  <a:srgbClr val="0070C0"/>
                </a:solidFill>
                <a:latin typeface="+mj-lt"/>
              </a:rPr>
              <a:t> </a:t>
            </a:r>
            <a:r>
              <a:rPr lang="ru-RU" altLang="ru-RU" dirty="0">
                <a:solidFill>
                  <a:srgbClr val="0070C0"/>
                </a:solidFill>
                <a:latin typeface="+mj-lt"/>
              </a:rPr>
              <a:t>KEY</a:t>
            </a:r>
            <a:r>
              <a:rPr lang="ru-RU" altLang="ru-RU" sz="1800" dirty="0">
                <a:solidFill>
                  <a:srgbClr val="0070C0"/>
                </a:solidFill>
                <a:latin typeface="+mj-lt"/>
              </a:rPr>
              <a:t> </a:t>
            </a:r>
            <a:r>
              <a:rPr lang="ru-RU" altLang="ru-RU" dirty="0">
                <a:solidFill>
                  <a:schemeClr val="tx1"/>
                </a:solidFill>
                <a:latin typeface="+mj-lt"/>
              </a:rPr>
              <a:t>(</a:t>
            </a:r>
            <a:r>
              <a:rPr lang="en-US" altLang="ru-RU" dirty="0" err="1">
                <a:solidFill>
                  <a:schemeClr val="tx1"/>
                </a:solidFill>
                <a:latin typeface="+mj-lt"/>
              </a:rPr>
              <a:t>i</a:t>
            </a:r>
            <a:r>
              <a:rPr lang="ru-RU" altLang="ru-RU" dirty="0">
                <a:solidFill>
                  <a:schemeClr val="tx1"/>
                </a:solidFill>
                <a:latin typeface="+mj-lt"/>
              </a:rPr>
              <a:t>d)</a:t>
            </a:r>
            <a:endParaRPr lang="ru-RU" altLang="ru-RU" sz="1800" dirty="0">
              <a:solidFill>
                <a:schemeClr val="tx1"/>
              </a:solidFill>
              <a:latin typeface="+mj-l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dirty="0">
                <a:solidFill>
                  <a:schemeClr val="tx1"/>
                </a:solidFill>
                <a:latin typeface="+mj-lt"/>
              </a:rPr>
              <a:t>)</a:t>
            </a:r>
            <a:endParaRPr lang="ru-RU" altLang="ru-RU" sz="4800" dirty="0">
              <a:solidFill>
                <a:schemeClr val="tx1"/>
              </a:solidFill>
              <a:latin typeface="+mj-lt"/>
            </a:endParaRPr>
          </a:p>
          <a:p>
            <a:pPr marL="0" indent="0">
              <a:buNone/>
            </a:pPr>
            <a:r>
              <a:rPr lang="en-US" dirty="0"/>
              <a:t> </a:t>
            </a:r>
            <a:endParaRPr lang="ru-R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FDEE2F-CDA9-486D-A67B-3AF8BC85A7E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362217" y="3185074"/>
          <a:ext cx="44253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694">
                  <a:extLst>
                    <a:ext uri="{9D8B030D-6E8A-4147-A177-3AD203B41FA5}">
                      <a16:colId xmlns:a16="http://schemas.microsoft.com/office/drawing/2014/main" val="314854662"/>
                    </a:ext>
                  </a:extLst>
                </a:gridCol>
                <a:gridCol w="2212694">
                  <a:extLst>
                    <a:ext uri="{9D8B030D-6E8A-4147-A177-3AD203B41FA5}">
                      <a16:colId xmlns:a16="http://schemas.microsoft.com/office/drawing/2014/main" val="4973630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Id*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969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Alex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78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Alex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016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825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5231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JOIN: INNER, LEFT, FULL</a:t>
            </a:r>
            <a:endParaRPr lang="ru-R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9BE93F-EAB7-4C78-A3BA-EF713DBAD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Оператор языка SQL, который является реализацией операции соединения.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Входит в предложение </a:t>
            </a:r>
            <a:r>
              <a:rPr lang="ru-RU" dirty="0">
                <a:solidFill>
                  <a:srgbClr val="0070C0"/>
                </a:solidFill>
              </a:rPr>
              <a:t>FROM</a:t>
            </a:r>
            <a:r>
              <a:rPr lang="ru-RU" dirty="0">
                <a:solidFill>
                  <a:schemeClr val="tx1"/>
                </a:solidFill>
              </a:rPr>
              <a:t> операторов </a:t>
            </a:r>
            <a:r>
              <a:rPr lang="ru-RU" dirty="0">
                <a:solidFill>
                  <a:srgbClr val="0070C0"/>
                </a:solidFill>
              </a:rPr>
              <a:t>SELECT</a:t>
            </a:r>
            <a:r>
              <a:rPr lang="ru-RU" dirty="0">
                <a:solidFill>
                  <a:schemeClr val="tx1"/>
                </a:solidFill>
              </a:rPr>
              <a:t>, </a:t>
            </a:r>
            <a:r>
              <a:rPr lang="ru-RU" dirty="0">
                <a:solidFill>
                  <a:srgbClr val="0070C0"/>
                </a:solidFill>
              </a:rPr>
              <a:t>UPDATE</a:t>
            </a:r>
            <a:r>
              <a:rPr lang="ru-RU" dirty="0">
                <a:solidFill>
                  <a:schemeClr val="tx1"/>
                </a:solidFill>
              </a:rPr>
              <a:t> и </a:t>
            </a:r>
            <a:r>
              <a:rPr lang="ru-RU" dirty="0">
                <a:solidFill>
                  <a:srgbClr val="0070C0"/>
                </a:solidFill>
              </a:rPr>
              <a:t>DELETE</a:t>
            </a:r>
            <a:r>
              <a:rPr lang="ru-RU" dirty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468603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E6ECF3-0A4C-40CE-9B0A-9C1DC92E3A3C}"/>
              </a:ext>
            </a:extLst>
          </p:cNvPr>
          <p:cNvSpPr txBox="1"/>
          <p:nvPr/>
        </p:nvSpPr>
        <p:spPr>
          <a:xfrm>
            <a:off x="4653022" y="544011"/>
            <a:ext cx="39353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INNER JOIN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CE0212-39F8-4D28-80A9-A1233D1E27EF}"/>
              </a:ext>
            </a:extLst>
          </p:cNvPr>
          <p:cNvSpPr txBox="1"/>
          <p:nvPr/>
        </p:nvSpPr>
        <p:spPr>
          <a:xfrm>
            <a:off x="833377" y="3938286"/>
            <a:ext cx="810643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+mj-lt"/>
              </a:rPr>
              <a:t>Структура</a:t>
            </a:r>
            <a:r>
              <a:rPr lang="en-US" sz="2400" b="1" dirty="0">
                <a:latin typeface="+mj-lt"/>
              </a:rPr>
              <a:t>:</a:t>
            </a:r>
            <a:endParaRPr lang="en-US" sz="2400" dirty="0"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SELECT</a:t>
            </a:r>
            <a:r>
              <a:rPr lang="en-US" altLang="ru-RU" sz="2400" dirty="0">
                <a:latin typeface="+mj-lt"/>
              </a:rPr>
              <a:t> </a:t>
            </a:r>
            <a:r>
              <a:rPr lang="ru-RU" altLang="ru-RU" sz="2400" dirty="0">
                <a:latin typeface="+mj-lt"/>
              </a:rPr>
              <a:t> </a:t>
            </a:r>
            <a:r>
              <a:rPr lang="en-US" altLang="ru-RU" sz="2400" dirty="0">
                <a:latin typeface="+mj-lt"/>
              </a:rPr>
              <a:t>&lt;</a:t>
            </a:r>
            <a:r>
              <a:rPr lang="ru-RU" altLang="ru-RU" sz="2400" dirty="0">
                <a:latin typeface="+mj-lt"/>
              </a:rPr>
              <a:t>имя столбца</a:t>
            </a:r>
            <a:r>
              <a:rPr lang="en-US" altLang="ru-RU" sz="2400" dirty="0">
                <a:latin typeface="+mj-lt"/>
              </a:rPr>
              <a:t>&gt;, …</a:t>
            </a:r>
            <a:endParaRPr lang="ru-RU" altLang="ru-RU" sz="2400" dirty="0">
              <a:latin typeface="+mj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FROM</a:t>
            </a:r>
            <a:r>
              <a:rPr lang="en-US" altLang="ru-RU" sz="2400" dirty="0">
                <a:latin typeface="+mj-lt"/>
              </a:rPr>
              <a:t> &lt;</a:t>
            </a:r>
            <a:r>
              <a:rPr lang="ru-RU" altLang="ru-RU" sz="2400" dirty="0">
                <a:latin typeface="+mj-lt"/>
              </a:rPr>
              <a:t>таблица1</a:t>
            </a:r>
            <a:r>
              <a:rPr lang="en-US" altLang="ru-RU" sz="2400" dirty="0">
                <a:latin typeface="+mj-lt"/>
              </a:rPr>
              <a:t>&gt;</a:t>
            </a:r>
            <a:r>
              <a:rPr lang="ru-RU" altLang="ru-RU" sz="2400" dirty="0">
                <a:latin typeface="+mj-lt"/>
              </a:rPr>
              <a:t> </a:t>
            </a: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INNER JOIN </a:t>
            </a:r>
            <a:r>
              <a:rPr lang="en-US" altLang="ru-RU" sz="2400" dirty="0">
                <a:latin typeface="+mj-lt"/>
              </a:rPr>
              <a:t>&lt;</a:t>
            </a:r>
            <a:r>
              <a:rPr lang="ru-RU" altLang="ru-RU" sz="2400" dirty="0">
                <a:latin typeface="+mj-lt"/>
              </a:rPr>
              <a:t>таблица</a:t>
            </a:r>
            <a:r>
              <a:rPr lang="en-US" altLang="ru-RU" sz="2400" dirty="0">
                <a:latin typeface="+mj-lt"/>
              </a:rPr>
              <a:t>2&gt;</a:t>
            </a:r>
            <a:endParaRPr lang="ru-RU" altLang="ru-RU" sz="2400" dirty="0">
              <a:latin typeface="+mj-lt"/>
            </a:endParaRPr>
          </a:p>
          <a:p>
            <a:r>
              <a:rPr lang="en-US" sz="2400" dirty="0">
                <a:solidFill>
                  <a:srgbClr val="0070C0"/>
                </a:solidFill>
                <a:latin typeface="+mj-lt"/>
              </a:rPr>
              <a:t>ON</a:t>
            </a:r>
            <a:r>
              <a:rPr lang="ru-RU" sz="2400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&lt;</a:t>
            </a:r>
            <a:r>
              <a:rPr lang="ru-RU" sz="2400" dirty="0">
                <a:latin typeface="+mj-lt"/>
              </a:rPr>
              <a:t>таблица1.имя столбца = </a:t>
            </a:r>
            <a:r>
              <a:rPr lang="ru-RU" sz="2400" dirty="0"/>
              <a:t>таблица2.имя столбца</a:t>
            </a:r>
            <a:r>
              <a:rPr lang="en-US" sz="2400" dirty="0">
                <a:latin typeface="+mj-lt"/>
              </a:rPr>
              <a:t>&gt;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F26DA6-0249-4621-9E56-93F24E656C33}"/>
              </a:ext>
            </a:extLst>
          </p:cNvPr>
          <p:cNvSpPr txBox="1"/>
          <p:nvPr/>
        </p:nvSpPr>
        <p:spPr>
          <a:xfrm>
            <a:off x="833377" y="1313452"/>
            <a:ext cx="106139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Оператор </a:t>
            </a:r>
            <a:r>
              <a:rPr lang="ru-RU" sz="2400" b="1" dirty="0"/>
              <a:t>INNER JOIN </a:t>
            </a:r>
            <a:r>
              <a:rPr lang="ru-RU" sz="2400" dirty="0"/>
              <a:t>формирует таблицу из записей двух или нескольких таблиц. </a:t>
            </a:r>
            <a:endParaRPr lang="en-US" sz="2400" dirty="0"/>
          </a:p>
          <a:p>
            <a:endParaRPr lang="en-US" sz="2400" dirty="0"/>
          </a:p>
          <a:p>
            <a:r>
              <a:rPr lang="ru-RU" sz="2400" dirty="0"/>
              <a:t>Каждая строка из первой (левой) таблицы, сопоставляется с каждой строкой из второй (правой) таблицы, после чего происходит проверка условия</a:t>
            </a:r>
            <a:r>
              <a:rPr lang="en-US" sz="2400" dirty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4560802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791D6F-9345-429D-B0C8-F493ACCFAA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CF1410-BD76-4CAD-ACE7-035C9F1FE88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03199" y="395800"/>
          <a:ext cx="498225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458">
                  <a:extLst>
                    <a:ext uri="{9D8B030D-6E8A-4147-A177-3AD203B41FA5}">
                      <a16:colId xmlns:a16="http://schemas.microsoft.com/office/drawing/2014/main" val="2575525420"/>
                    </a:ext>
                  </a:extLst>
                </a:gridCol>
                <a:gridCol w="3820801">
                  <a:extLst>
                    <a:ext uri="{9D8B030D-6E8A-4147-A177-3AD203B41FA5}">
                      <a16:colId xmlns:a16="http://schemas.microsoft.com/office/drawing/2014/main" val="19564081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AuthorID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effectLst/>
                        </a:rPr>
                        <a:t>AuthorName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3990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Bruce Eckel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6680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Robert Lafore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6568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Andrew Tanenbaum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415639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98C1048-307B-4F70-8FB7-88409D371F83}"/>
              </a:ext>
            </a:extLst>
          </p:cNvPr>
          <p:cNvGraphicFramePr>
            <a:graphicFrameLocks noGrp="1"/>
          </p:cNvGraphicFramePr>
          <p:nvPr/>
        </p:nvGraphicFramePr>
        <p:xfrm>
          <a:off x="5805349" y="395800"/>
          <a:ext cx="498225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507">
                  <a:extLst>
                    <a:ext uri="{9D8B030D-6E8A-4147-A177-3AD203B41FA5}">
                      <a16:colId xmlns:a16="http://schemas.microsoft.com/office/drawing/2014/main" val="2514274353"/>
                    </a:ext>
                  </a:extLst>
                </a:gridCol>
                <a:gridCol w="3919750">
                  <a:extLst>
                    <a:ext uri="{9D8B030D-6E8A-4147-A177-3AD203B41FA5}">
                      <a16:colId xmlns:a16="http://schemas.microsoft.com/office/drawing/2014/main" val="6659752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BookID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effectLst/>
                        </a:rPr>
                        <a:t>BookName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3540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Modern Operating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7453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Thinking in Java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9258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Computer Architecture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5780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Programming in Scala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4194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DBC9E95-3A91-419B-84CE-B1FBFD98958D}"/>
              </a:ext>
            </a:extLst>
          </p:cNvPr>
          <p:cNvSpPr txBox="1"/>
          <p:nvPr/>
        </p:nvSpPr>
        <p:spPr>
          <a:xfrm>
            <a:off x="527291" y="2324713"/>
            <a:ext cx="68985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SELECT</a:t>
            </a:r>
            <a:r>
              <a:rPr lang="ru-RU" altLang="ru-RU" dirty="0">
                <a:solidFill>
                  <a:srgbClr val="0070C0"/>
                </a:solidFill>
                <a:latin typeface="+mj-lt"/>
              </a:rPr>
              <a:t> </a:t>
            </a: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*</a:t>
            </a:r>
            <a:endParaRPr lang="ru-RU" altLang="ru-RU" dirty="0">
              <a:solidFill>
                <a:srgbClr val="0070C0"/>
              </a:solidFill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FROM</a:t>
            </a:r>
            <a:r>
              <a:rPr lang="ru-RU" altLang="ru-RU" dirty="0">
                <a:latin typeface="+mj-lt"/>
              </a:rPr>
              <a:t> </a:t>
            </a:r>
            <a:r>
              <a:rPr lang="ru-RU" altLang="ru-RU" sz="2400" dirty="0">
                <a:latin typeface="+mj-lt"/>
              </a:rPr>
              <a:t>Authors </a:t>
            </a: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INNER</a:t>
            </a:r>
            <a:r>
              <a:rPr lang="ru-RU" altLang="ru-RU" dirty="0">
                <a:solidFill>
                  <a:srgbClr val="0070C0"/>
                </a:solidFill>
                <a:latin typeface="+mj-lt"/>
              </a:rPr>
              <a:t> </a:t>
            </a: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JOIN</a:t>
            </a:r>
            <a:r>
              <a:rPr lang="ru-RU" altLang="ru-RU" dirty="0">
                <a:solidFill>
                  <a:srgbClr val="0070C0"/>
                </a:solidFill>
                <a:latin typeface="+mj-lt"/>
              </a:rPr>
              <a:t> </a:t>
            </a:r>
            <a:r>
              <a:rPr lang="ru-RU" altLang="ru-RU" sz="2400" dirty="0">
                <a:latin typeface="+mj-lt"/>
              </a:rPr>
              <a:t>Books</a:t>
            </a:r>
            <a:endParaRPr lang="ru-RU" altLang="ru-RU" dirty="0"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ON</a:t>
            </a:r>
            <a:r>
              <a:rPr lang="ru-RU" altLang="ru-RU" dirty="0">
                <a:latin typeface="+mj-lt"/>
              </a:rPr>
              <a:t> </a:t>
            </a:r>
            <a:r>
              <a:rPr lang="ru-RU" altLang="ru-RU" sz="2400" dirty="0">
                <a:latin typeface="+mj-lt"/>
              </a:rPr>
              <a:t>Authors.AuthorID = Books.BookID</a:t>
            </a:r>
            <a:endParaRPr lang="ru-RU" altLang="ru-RU" sz="4800" dirty="0">
              <a:latin typeface="+mj-lt"/>
            </a:endParaRPr>
          </a:p>
          <a:p>
            <a:endParaRPr lang="ru-RU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87671CD-5B65-43A9-AFB7-31ECB08D90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322873"/>
              </p:ext>
            </p:extLst>
          </p:nvPr>
        </p:nvGraphicFramePr>
        <p:xfrm>
          <a:off x="289368" y="4104914"/>
          <a:ext cx="1138948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80">
                  <a:extLst>
                    <a:ext uri="{9D8B030D-6E8A-4147-A177-3AD203B41FA5}">
                      <a16:colId xmlns:a16="http://schemas.microsoft.com/office/drawing/2014/main" val="4038293072"/>
                    </a:ext>
                  </a:extLst>
                </a:gridCol>
                <a:gridCol w="3227622">
                  <a:extLst>
                    <a:ext uri="{9D8B030D-6E8A-4147-A177-3AD203B41FA5}">
                      <a16:colId xmlns:a16="http://schemas.microsoft.com/office/drawing/2014/main" val="3178194523"/>
                    </a:ext>
                  </a:extLst>
                </a:gridCol>
                <a:gridCol w="2459913">
                  <a:extLst>
                    <a:ext uri="{9D8B030D-6E8A-4147-A177-3AD203B41FA5}">
                      <a16:colId xmlns:a16="http://schemas.microsoft.com/office/drawing/2014/main" val="2023368883"/>
                    </a:ext>
                  </a:extLst>
                </a:gridCol>
                <a:gridCol w="2847372">
                  <a:extLst>
                    <a:ext uri="{9D8B030D-6E8A-4147-A177-3AD203B41FA5}">
                      <a16:colId xmlns:a16="http://schemas.microsoft.com/office/drawing/2014/main" val="19752441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Authors.AuthorID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Authors.AuthorName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effectLst/>
                        </a:rPr>
                        <a:t>Books.BookID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effectLst/>
                        </a:rPr>
                        <a:t>Books.BookName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8030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Bruce Eckel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Thinking in Java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0915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Andrew Tanenbaum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Modern Operating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4642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Andrew Tanenbaum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Computer Architecture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9088627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6F81EC61-5E01-4BC0-B9AA-EEE416BCC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440" y="59698"/>
            <a:ext cx="103021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latin typeface="+mj-lt"/>
              </a:rPr>
              <a:t>Authors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D7F832F-6A0F-4FE9-BAC9-564D3B633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1438" y="59698"/>
            <a:ext cx="86594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b="1" dirty="0">
                <a:latin typeface="+mj-lt"/>
              </a:rPr>
              <a:t>Books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06822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E6ECF3-0A4C-40CE-9B0A-9C1DC92E3A3C}"/>
              </a:ext>
            </a:extLst>
          </p:cNvPr>
          <p:cNvSpPr txBox="1"/>
          <p:nvPr/>
        </p:nvSpPr>
        <p:spPr>
          <a:xfrm>
            <a:off x="4653022" y="544011"/>
            <a:ext cx="39353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LEFT JOIN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CE0212-39F8-4D28-80A9-A1233D1E27EF}"/>
              </a:ext>
            </a:extLst>
          </p:cNvPr>
          <p:cNvSpPr txBox="1"/>
          <p:nvPr/>
        </p:nvSpPr>
        <p:spPr>
          <a:xfrm>
            <a:off x="833377" y="4467330"/>
            <a:ext cx="991748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+mj-lt"/>
              </a:rPr>
              <a:t>Структура</a:t>
            </a:r>
            <a:r>
              <a:rPr lang="en-US" sz="2400" b="1" dirty="0">
                <a:latin typeface="+mj-lt"/>
              </a:rPr>
              <a:t>:</a:t>
            </a:r>
            <a:endParaRPr lang="en-US" sz="2400" dirty="0"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SELECT</a:t>
            </a:r>
            <a:r>
              <a:rPr lang="en-US" altLang="ru-RU" sz="2400" dirty="0">
                <a:latin typeface="+mj-lt"/>
              </a:rPr>
              <a:t> </a:t>
            </a:r>
            <a:r>
              <a:rPr lang="ru-RU" altLang="ru-RU" sz="2400" dirty="0">
                <a:latin typeface="+mj-lt"/>
              </a:rPr>
              <a:t> </a:t>
            </a:r>
            <a:r>
              <a:rPr lang="en-US" altLang="ru-RU" sz="2400" dirty="0">
                <a:latin typeface="+mj-lt"/>
              </a:rPr>
              <a:t>&lt;</a:t>
            </a:r>
            <a:r>
              <a:rPr lang="ru-RU" altLang="ru-RU" sz="2400" dirty="0">
                <a:latin typeface="+mj-lt"/>
              </a:rPr>
              <a:t>имя столбца</a:t>
            </a:r>
            <a:r>
              <a:rPr lang="en-US" altLang="ru-RU" sz="2400" dirty="0">
                <a:latin typeface="+mj-lt"/>
              </a:rPr>
              <a:t>&gt;, …</a:t>
            </a:r>
            <a:endParaRPr lang="ru-RU" altLang="ru-RU" sz="2400" dirty="0">
              <a:latin typeface="+mj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FROM</a:t>
            </a:r>
            <a:r>
              <a:rPr lang="en-US" altLang="ru-RU" sz="2400" dirty="0">
                <a:latin typeface="+mj-lt"/>
              </a:rPr>
              <a:t> &lt;</a:t>
            </a:r>
            <a:r>
              <a:rPr lang="ru-RU" altLang="ru-RU" sz="2400" dirty="0">
                <a:latin typeface="+mj-lt"/>
              </a:rPr>
              <a:t>таблица1</a:t>
            </a:r>
            <a:r>
              <a:rPr lang="en-US" altLang="ru-RU" sz="2400" dirty="0">
                <a:latin typeface="+mj-lt"/>
              </a:rPr>
              <a:t>&gt;</a:t>
            </a:r>
            <a:r>
              <a:rPr lang="ru-RU" altLang="ru-RU" sz="2400" dirty="0">
                <a:latin typeface="+mj-lt"/>
              </a:rPr>
              <a:t> </a:t>
            </a:r>
            <a:r>
              <a:rPr lang="en-US" altLang="ru-RU" sz="2400" dirty="0">
                <a:solidFill>
                  <a:srgbClr val="0070C0"/>
                </a:solidFill>
                <a:latin typeface="+mj-lt"/>
              </a:rPr>
              <a:t>LEFT OUTER</a:t>
            </a: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 JOIN </a:t>
            </a:r>
            <a:r>
              <a:rPr lang="en-US" altLang="ru-RU" sz="2400" dirty="0">
                <a:latin typeface="+mj-lt"/>
              </a:rPr>
              <a:t>&lt;</a:t>
            </a:r>
            <a:r>
              <a:rPr lang="ru-RU" altLang="ru-RU" sz="2400" dirty="0">
                <a:latin typeface="+mj-lt"/>
              </a:rPr>
              <a:t>таблица</a:t>
            </a:r>
            <a:r>
              <a:rPr lang="en-US" altLang="ru-RU" sz="2400" dirty="0">
                <a:latin typeface="+mj-lt"/>
              </a:rPr>
              <a:t>2&gt;</a:t>
            </a:r>
            <a:endParaRPr lang="ru-RU" altLang="ru-RU" sz="2400" dirty="0">
              <a:latin typeface="+mj-lt"/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ON</a:t>
            </a:r>
            <a:r>
              <a:rPr lang="ru-RU" sz="2400" dirty="0"/>
              <a:t> </a:t>
            </a:r>
            <a:r>
              <a:rPr lang="en-US" sz="2400" dirty="0"/>
              <a:t>&lt;</a:t>
            </a:r>
            <a:r>
              <a:rPr lang="ru-RU" sz="2400" dirty="0"/>
              <a:t>таблица1.имя столбца = таблица2.имя столбца</a:t>
            </a:r>
            <a:r>
              <a:rPr lang="en-US" sz="2400" dirty="0"/>
              <a:t>&gt;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F26DA6-0249-4621-9E56-93F24E656C33}"/>
              </a:ext>
            </a:extLst>
          </p:cNvPr>
          <p:cNvSpPr txBox="1"/>
          <p:nvPr/>
        </p:nvSpPr>
        <p:spPr>
          <a:xfrm>
            <a:off x="833377" y="1313452"/>
            <a:ext cx="106139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Оператор </a:t>
            </a:r>
            <a:r>
              <a:rPr lang="ru-RU" sz="2400" b="1" dirty="0"/>
              <a:t>LEFT JOIN </a:t>
            </a:r>
            <a:r>
              <a:rPr lang="ru-RU" sz="2400" dirty="0"/>
              <a:t>осуществляет формирование таблицы из записей двух или нескольких таблиц</a:t>
            </a:r>
            <a:r>
              <a:rPr lang="en-US" sz="2400" dirty="0"/>
              <a:t>.</a:t>
            </a:r>
            <a:endParaRPr lang="ru-RU" sz="2400" dirty="0"/>
          </a:p>
          <a:p>
            <a:endParaRPr lang="en-US" sz="2400" dirty="0"/>
          </a:p>
          <a:p>
            <a:r>
              <a:rPr lang="ru-RU" sz="2400" b="1" dirty="0"/>
              <a:t>Логика работы оператора</a:t>
            </a:r>
            <a:r>
              <a:rPr lang="en-US" sz="2400" b="1" dirty="0"/>
              <a:t>:</a:t>
            </a:r>
            <a:endParaRPr lang="ru-RU" sz="2400" b="1" dirty="0"/>
          </a:p>
          <a:p>
            <a:pPr marL="457200" indent="-457200">
              <a:buAutoNum type="arabicPeriod"/>
            </a:pPr>
            <a:r>
              <a:rPr lang="ru-RU" sz="2400" dirty="0"/>
              <a:t>Сравниваются записи левой таблицы с правой</a:t>
            </a:r>
          </a:p>
          <a:p>
            <a:pPr marL="457200" indent="-457200">
              <a:buAutoNum type="arabicPeriod"/>
            </a:pPr>
            <a:r>
              <a:rPr lang="ru-RU" sz="2400" dirty="0"/>
              <a:t>В случае совпадения – формируется запись</a:t>
            </a:r>
          </a:p>
          <a:p>
            <a:pPr marL="457200" indent="-457200">
              <a:buAutoNum type="arabicPeriod"/>
            </a:pPr>
            <a:r>
              <a:rPr lang="ru-RU" sz="2400" dirty="0"/>
              <a:t>В случае не совпадения – проставляется значение </a:t>
            </a:r>
            <a:r>
              <a:rPr lang="en-US" sz="2400" dirty="0"/>
              <a:t>NULL</a:t>
            </a:r>
            <a:endParaRPr lang="ru-RU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821192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791D6F-9345-429D-B0C8-F493ACCFAA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CF1410-BD76-4CAD-ACE7-035C9F1FE885}"/>
              </a:ext>
            </a:extLst>
          </p:cNvPr>
          <p:cNvGraphicFramePr>
            <a:graphicFrameLocks noGrp="1"/>
          </p:cNvGraphicFramePr>
          <p:nvPr/>
        </p:nvGraphicFramePr>
        <p:xfrm>
          <a:off x="203199" y="395800"/>
          <a:ext cx="498225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458">
                  <a:extLst>
                    <a:ext uri="{9D8B030D-6E8A-4147-A177-3AD203B41FA5}">
                      <a16:colId xmlns:a16="http://schemas.microsoft.com/office/drawing/2014/main" val="2575525420"/>
                    </a:ext>
                  </a:extLst>
                </a:gridCol>
                <a:gridCol w="3820801">
                  <a:extLst>
                    <a:ext uri="{9D8B030D-6E8A-4147-A177-3AD203B41FA5}">
                      <a16:colId xmlns:a16="http://schemas.microsoft.com/office/drawing/2014/main" val="19564081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AuthorID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effectLst/>
                        </a:rPr>
                        <a:t>AuthorName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3990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Bruce Eckel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6680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Robert Lafore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6568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Andrew Tanenbaum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415639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98C1048-307B-4F70-8FB7-88409D371F83}"/>
              </a:ext>
            </a:extLst>
          </p:cNvPr>
          <p:cNvGraphicFramePr>
            <a:graphicFrameLocks noGrp="1"/>
          </p:cNvGraphicFramePr>
          <p:nvPr/>
        </p:nvGraphicFramePr>
        <p:xfrm>
          <a:off x="5805349" y="395800"/>
          <a:ext cx="498225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507">
                  <a:extLst>
                    <a:ext uri="{9D8B030D-6E8A-4147-A177-3AD203B41FA5}">
                      <a16:colId xmlns:a16="http://schemas.microsoft.com/office/drawing/2014/main" val="2514274353"/>
                    </a:ext>
                  </a:extLst>
                </a:gridCol>
                <a:gridCol w="3919750">
                  <a:extLst>
                    <a:ext uri="{9D8B030D-6E8A-4147-A177-3AD203B41FA5}">
                      <a16:colId xmlns:a16="http://schemas.microsoft.com/office/drawing/2014/main" val="6659752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BookID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effectLst/>
                        </a:rPr>
                        <a:t>BookName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3540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Modern Operating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7453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Thinking in Java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9258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Computer Architecture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5780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Programming in Scala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4194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DBC9E95-3A91-419B-84CE-B1FBFD98958D}"/>
              </a:ext>
            </a:extLst>
          </p:cNvPr>
          <p:cNvSpPr txBox="1"/>
          <p:nvPr/>
        </p:nvSpPr>
        <p:spPr>
          <a:xfrm>
            <a:off x="527291" y="2324713"/>
            <a:ext cx="68985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SELECT</a:t>
            </a:r>
            <a:r>
              <a:rPr lang="ru-RU" altLang="ru-RU" dirty="0">
                <a:solidFill>
                  <a:srgbClr val="0070C0"/>
                </a:solidFill>
                <a:latin typeface="+mj-lt"/>
              </a:rPr>
              <a:t> </a:t>
            </a: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*</a:t>
            </a:r>
            <a:endParaRPr lang="ru-RU" altLang="ru-RU" dirty="0">
              <a:solidFill>
                <a:srgbClr val="0070C0"/>
              </a:solidFill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FROM</a:t>
            </a:r>
            <a:r>
              <a:rPr lang="ru-RU" altLang="ru-RU" dirty="0">
                <a:latin typeface="+mj-lt"/>
              </a:rPr>
              <a:t> </a:t>
            </a:r>
            <a:r>
              <a:rPr lang="ru-RU" altLang="ru-RU" sz="2400" dirty="0">
                <a:latin typeface="+mj-lt"/>
              </a:rPr>
              <a:t>Authors </a:t>
            </a:r>
            <a:r>
              <a:rPr lang="en-US" altLang="ru-RU" sz="2400" dirty="0">
                <a:solidFill>
                  <a:srgbClr val="0070C0"/>
                </a:solidFill>
              </a:rPr>
              <a:t>LEFT OUTER</a:t>
            </a:r>
            <a:r>
              <a:rPr lang="ru-RU" altLang="ru-RU" sz="2400" dirty="0">
                <a:solidFill>
                  <a:srgbClr val="0070C0"/>
                </a:solidFill>
              </a:rPr>
              <a:t> JOIN </a:t>
            </a:r>
            <a:r>
              <a:rPr lang="ru-RU" altLang="ru-RU" sz="2400" dirty="0">
                <a:latin typeface="+mj-lt"/>
              </a:rPr>
              <a:t>Books</a:t>
            </a:r>
            <a:endParaRPr lang="ru-RU" altLang="ru-RU" dirty="0"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ON</a:t>
            </a:r>
            <a:r>
              <a:rPr lang="ru-RU" altLang="ru-RU" dirty="0">
                <a:latin typeface="+mj-lt"/>
              </a:rPr>
              <a:t> </a:t>
            </a:r>
            <a:r>
              <a:rPr lang="ru-RU" altLang="ru-RU" sz="2400" dirty="0">
                <a:latin typeface="+mj-lt"/>
              </a:rPr>
              <a:t>Authors.AuthorID = Books.BookID</a:t>
            </a:r>
            <a:endParaRPr lang="ru-RU" altLang="ru-RU" sz="4800" dirty="0">
              <a:latin typeface="+mj-lt"/>
            </a:endParaRPr>
          </a:p>
          <a:p>
            <a:endParaRPr lang="ru-RU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87671CD-5B65-43A9-AFB7-31ECB08D90C9}"/>
              </a:ext>
            </a:extLst>
          </p:cNvPr>
          <p:cNvGraphicFramePr>
            <a:graphicFrameLocks noGrp="1"/>
          </p:cNvGraphicFramePr>
          <p:nvPr/>
        </p:nvGraphicFramePr>
        <p:xfrm>
          <a:off x="289368" y="4104914"/>
          <a:ext cx="1138948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80">
                  <a:extLst>
                    <a:ext uri="{9D8B030D-6E8A-4147-A177-3AD203B41FA5}">
                      <a16:colId xmlns:a16="http://schemas.microsoft.com/office/drawing/2014/main" val="4038293072"/>
                    </a:ext>
                  </a:extLst>
                </a:gridCol>
                <a:gridCol w="3227622">
                  <a:extLst>
                    <a:ext uri="{9D8B030D-6E8A-4147-A177-3AD203B41FA5}">
                      <a16:colId xmlns:a16="http://schemas.microsoft.com/office/drawing/2014/main" val="3178194523"/>
                    </a:ext>
                  </a:extLst>
                </a:gridCol>
                <a:gridCol w="2459913">
                  <a:extLst>
                    <a:ext uri="{9D8B030D-6E8A-4147-A177-3AD203B41FA5}">
                      <a16:colId xmlns:a16="http://schemas.microsoft.com/office/drawing/2014/main" val="2023368883"/>
                    </a:ext>
                  </a:extLst>
                </a:gridCol>
                <a:gridCol w="2847372">
                  <a:extLst>
                    <a:ext uri="{9D8B030D-6E8A-4147-A177-3AD203B41FA5}">
                      <a16:colId xmlns:a16="http://schemas.microsoft.com/office/drawing/2014/main" val="19752441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Authors.AuthorID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Authors.AuthorName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Books.BookID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Books.BookName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8030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Bruce Eckel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Thinking in Java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0915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Robert Lafore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4642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Andrew Tanenbaum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Modern Operating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9088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Andrew Tanenbaum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Computer Architecture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9866341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6F81EC61-5E01-4BC0-B9AA-EEE416BCC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440" y="59698"/>
            <a:ext cx="103021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latin typeface="+mj-lt"/>
              </a:rPr>
              <a:t>Authors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D7F832F-6A0F-4FE9-BAC9-564D3B633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1438" y="59698"/>
            <a:ext cx="86594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b="1" dirty="0">
                <a:latin typeface="+mj-lt"/>
              </a:rPr>
              <a:t>Books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50311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E6ECF3-0A4C-40CE-9B0A-9C1DC92E3A3C}"/>
              </a:ext>
            </a:extLst>
          </p:cNvPr>
          <p:cNvSpPr txBox="1"/>
          <p:nvPr/>
        </p:nvSpPr>
        <p:spPr>
          <a:xfrm>
            <a:off x="4653022" y="544011"/>
            <a:ext cx="39353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FULL JOIN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CE0212-39F8-4D28-80A9-A1233D1E27EF}"/>
              </a:ext>
            </a:extLst>
          </p:cNvPr>
          <p:cNvSpPr txBox="1"/>
          <p:nvPr/>
        </p:nvSpPr>
        <p:spPr>
          <a:xfrm>
            <a:off x="833377" y="4467330"/>
            <a:ext cx="1052524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+mj-lt"/>
              </a:rPr>
              <a:t>Структура</a:t>
            </a:r>
            <a:r>
              <a:rPr lang="en-US" sz="2400" b="1" dirty="0">
                <a:latin typeface="+mj-lt"/>
              </a:rPr>
              <a:t>:</a:t>
            </a:r>
            <a:endParaRPr lang="en-US" sz="2400" dirty="0"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SELECT</a:t>
            </a:r>
            <a:r>
              <a:rPr lang="en-US" altLang="ru-RU" sz="2400" dirty="0">
                <a:latin typeface="+mj-lt"/>
              </a:rPr>
              <a:t> </a:t>
            </a:r>
            <a:r>
              <a:rPr lang="ru-RU" altLang="ru-RU" sz="2400" dirty="0">
                <a:latin typeface="+mj-lt"/>
              </a:rPr>
              <a:t> </a:t>
            </a:r>
            <a:r>
              <a:rPr lang="en-US" altLang="ru-RU" sz="2400" dirty="0">
                <a:latin typeface="+mj-lt"/>
              </a:rPr>
              <a:t>&lt;</a:t>
            </a:r>
            <a:r>
              <a:rPr lang="ru-RU" altLang="ru-RU" sz="2400" dirty="0">
                <a:latin typeface="+mj-lt"/>
              </a:rPr>
              <a:t>имя столбца</a:t>
            </a:r>
            <a:r>
              <a:rPr lang="en-US" altLang="ru-RU" sz="2400" dirty="0">
                <a:latin typeface="+mj-lt"/>
              </a:rPr>
              <a:t>&gt;, …</a:t>
            </a:r>
            <a:endParaRPr lang="ru-RU" altLang="ru-RU" sz="2400" dirty="0">
              <a:latin typeface="+mj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FROM</a:t>
            </a:r>
            <a:r>
              <a:rPr lang="en-US" altLang="ru-RU" sz="2400" dirty="0">
                <a:latin typeface="+mj-lt"/>
              </a:rPr>
              <a:t> &lt;</a:t>
            </a:r>
            <a:r>
              <a:rPr lang="ru-RU" altLang="ru-RU" sz="2400" dirty="0">
                <a:latin typeface="+mj-lt"/>
              </a:rPr>
              <a:t>таблица1</a:t>
            </a:r>
            <a:r>
              <a:rPr lang="en-US" altLang="ru-RU" sz="2400" dirty="0">
                <a:latin typeface="+mj-lt"/>
              </a:rPr>
              <a:t>&gt;</a:t>
            </a:r>
            <a:r>
              <a:rPr lang="ru-RU" altLang="ru-RU" sz="2400" dirty="0">
                <a:latin typeface="+mj-lt"/>
              </a:rPr>
              <a:t> </a:t>
            </a:r>
            <a:r>
              <a:rPr lang="en-US" altLang="ru-RU" sz="2400" dirty="0">
                <a:solidFill>
                  <a:srgbClr val="0070C0"/>
                </a:solidFill>
                <a:latin typeface="+mj-lt"/>
              </a:rPr>
              <a:t>FULL OUTER</a:t>
            </a: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 JOIN </a:t>
            </a:r>
            <a:r>
              <a:rPr lang="en-US" altLang="ru-RU" sz="2400" dirty="0">
                <a:latin typeface="+mj-lt"/>
              </a:rPr>
              <a:t>&lt;</a:t>
            </a:r>
            <a:r>
              <a:rPr lang="ru-RU" altLang="ru-RU" sz="2400" dirty="0">
                <a:latin typeface="+mj-lt"/>
              </a:rPr>
              <a:t>таблица</a:t>
            </a:r>
            <a:r>
              <a:rPr lang="en-US" altLang="ru-RU" sz="2400" dirty="0">
                <a:latin typeface="+mj-lt"/>
              </a:rPr>
              <a:t>2&gt;</a:t>
            </a:r>
            <a:endParaRPr lang="ru-RU" altLang="ru-RU" sz="2400" dirty="0">
              <a:latin typeface="+mj-lt"/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ON</a:t>
            </a:r>
            <a:r>
              <a:rPr lang="ru-RU" sz="2400" dirty="0"/>
              <a:t> </a:t>
            </a:r>
            <a:r>
              <a:rPr lang="en-US" sz="2400" dirty="0"/>
              <a:t>&lt;</a:t>
            </a:r>
            <a:r>
              <a:rPr lang="ru-RU" sz="2400" dirty="0"/>
              <a:t>таблица1.имя столбца = таблица2.имя столбца</a:t>
            </a:r>
            <a:r>
              <a:rPr lang="en-US" sz="2400" dirty="0"/>
              <a:t>&gt;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F26DA6-0249-4621-9E56-93F24E656C33}"/>
              </a:ext>
            </a:extLst>
          </p:cNvPr>
          <p:cNvSpPr txBox="1"/>
          <p:nvPr/>
        </p:nvSpPr>
        <p:spPr>
          <a:xfrm>
            <a:off x="833377" y="1182231"/>
            <a:ext cx="106139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Оператор </a:t>
            </a:r>
            <a:r>
              <a:rPr lang="ru-RU" sz="2400" b="1" dirty="0"/>
              <a:t>FULL JOIN </a:t>
            </a:r>
            <a:r>
              <a:rPr lang="ru-RU" sz="2400" dirty="0"/>
              <a:t>осуществляет формирование таблицы из записей двух или нескольких таблиц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ru-RU" sz="2400" b="1" dirty="0"/>
              <a:t>Логика работы оператора</a:t>
            </a:r>
            <a:r>
              <a:rPr lang="en-US" sz="2400" b="1" dirty="0"/>
              <a:t>:</a:t>
            </a:r>
            <a:endParaRPr lang="ru-RU" sz="2400" b="1" dirty="0"/>
          </a:p>
          <a:p>
            <a:pPr marL="457200" indent="-457200">
              <a:buAutoNum type="arabicPeriod"/>
            </a:pPr>
            <a:r>
              <a:rPr lang="ru-RU" sz="2400" dirty="0"/>
              <a:t>Сравниваются записи таблиц</a:t>
            </a:r>
          </a:p>
          <a:p>
            <a:pPr marL="457200" indent="-457200">
              <a:buAutoNum type="arabicPeriod"/>
            </a:pPr>
            <a:r>
              <a:rPr lang="ru-RU" sz="2400" dirty="0"/>
              <a:t>В случае совпадения – формируется запись</a:t>
            </a:r>
          </a:p>
          <a:p>
            <a:pPr marL="457200" indent="-457200">
              <a:buAutoNum type="arabicPeriod"/>
            </a:pPr>
            <a:r>
              <a:rPr lang="ru-RU" sz="2400" dirty="0"/>
              <a:t>В случае не совпадения – проставляется значение </a:t>
            </a:r>
            <a:r>
              <a:rPr lang="en-US" sz="2400" dirty="0"/>
              <a:t>NULL</a:t>
            </a:r>
            <a:endParaRPr lang="ru-RU" sz="2400" dirty="0"/>
          </a:p>
          <a:p>
            <a:r>
              <a:rPr lang="ru-RU" sz="2400" dirty="0"/>
              <a:t>При отсутвии сравнения записи, проставится значение</a:t>
            </a:r>
            <a:r>
              <a:rPr lang="en-US" sz="2400" dirty="0"/>
              <a:t> NULL</a:t>
            </a:r>
            <a:endParaRPr lang="ru-RU" sz="2400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7124725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791D6F-9345-429D-B0C8-F493ACCFAA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CF1410-BD76-4CAD-ACE7-035C9F1FE885}"/>
              </a:ext>
            </a:extLst>
          </p:cNvPr>
          <p:cNvGraphicFramePr>
            <a:graphicFrameLocks noGrp="1"/>
          </p:cNvGraphicFramePr>
          <p:nvPr/>
        </p:nvGraphicFramePr>
        <p:xfrm>
          <a:off x="203199" y="395800"/>
          <a:ext cx="498225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458">
                  <a:extLst>
                    <a:ext uri="{9D8B030D-6E8A-4147-A177-3AD203B41FA5}">
                      <a16:colId xmlns:a16="http://schemas.microsoft.com/office/drawing/2014/main" val="2575525420"/>
                    </a:ext>
                  </a:extLst>
                </a:gridCol>
                <a:gridCol w="3820801">
                  <a:extLst>
                    <a:ext uri="{9D8B030D-6E8A-4147-A177-3AD203B41FA5}">
                      <a16:colId xmlns:a16="http://schemas.microsoft.com/office/drawing/2014/main" val="19564081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AuthorID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effectLst/>
                        </a:rPr>
                        <a:t>AuthorName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3990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Bruce Eckel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6680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Robert Lafore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6568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Andrew Tanenbaum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415639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98C1048-307B-4F70-8FB7-88409D371F83}"/>
              </a:ext>
            </a:extLst>
          </p:cNvPr>
          <p:cNvGraphicFramePr>
            <a:graphicFrameLocks noGrp="1"/>
          </p:cNvGraphicFramePr>
          <p:nvPr/>
        </p:nvGraphicFramePr>
        <p:xfrm>
          <a:off x="5805349" y="395800"/>
          <a:ext cx="498225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507">
                  <a:extLst>
                    <a:ext uri="{9D8B030D-6E8A-4147-A177-3AD203B41FA5}">
                      <a16:colId xmlns:a16="http://schemas.microsoft.com/office/drawing/2014/main" val="2514274353"/>
                    </a:ext>
                  </a:extLst>
                </a:gridCol>
                <a:gridCol w="3919750">
                  <a:extLst>
                    <a:ext uri="{9D8B030D-6E8A-4147-A177-3AD203B41FA5}">
                      <a16:colId xmlns:a16="http://schemas.microsoft.com/office/drawing/2014/main" val="6659752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BookID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effectLst/>
                        </a:rPr>
                        <a:t>BookName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3540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Modern Operating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7453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Thinking in Java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9258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Computer Architecture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5780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Programming in Scala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04194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DBC9E95-3A91-419B-84CE-B1FBFD98958D}"/>
              </a:ext>
            </a:extLst>
          </p:cNvPr>
          <p:cNvSpPr txBox="1"/>
          <p:nvPr/>
        </p:nvSpPr>
        <p:spPr>
          <a:xfrm>
            <a:off x="527291" y="2324713"/>
            <a:ext cx="68985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SELECT</a:t>
            </a:r>
            <a:r>
              <a:rPr lang="ru-RU" altLang="ru-RU" dirty="0">
                <a:solidFill>
                  <a:srgbClr val="0070C0"/>
                </a:solidFill>
                <a:latin typeface="+mj-lt"/>
              </a:rPr>
              <a:t> </a:t>
            </a: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*</a:t>
            </a:r>
            <a:endParaRPr lang="ru-RU" altLang="ru-RU" dirty="0">
              <a:solidFill>
                <a:srgbClr val="0070C0"/>
              </a:solidFill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FROM</a:t>
            </a:r>
            <a:r>
              <a:rPr lang="ru-RU" altLang="ru-RU" dirty="0">
                <a:latin typeface="+mj-lt"/>
              </a:rPr>
              <a:t> </a:t>
            </a:r>
            <a:r>
              <a:rPr lang="ru-RU" altLang="ru-RU" sz="2400" dirty="0">
                <a:latin typeface="+mj-lt"/>
              </a:rPr>
              <a:t>Authors </a:t>
            </a:r>
            <a:r>
              <a:rPr lang="en-US" altLang="ru-RU" sz="2400" dirty="0">
                <a:solidFill>
                  <a:srgbClr val="0070C0"/>
                </a:solidFill>
              </a:rPr>
              <a:t>FULL OUTER</a:t>
            </a:r>
            <a:r>
              <a:rPr lang="ru-RU" altLang="ru-RU" sz="2400" dirty="0">
                <a:solidFill>
                  <a:srgbClr val="0070C0"/>
                </a:solidFill>
              </a:rPr>
              <a:t> JOIN</a:t>
            </a:r>
            <a:r>
              <a:rPr lang="en-US" altLang="ru-RU" sz="2400" dirty="0">
                <a:solidFill>
                  <a:srgbClr val="0070C0"/>
                </a:solidFill>
              </a:rPr>
              <a:t> </a:t>
            </a:r>
            <a:r>
              <a:rPr lang="ru-RU" altLang="ru-RU" sz="2400" dirty="0">
                <a:latin typeface="+mj-lt"/>
              </a:rPr>
              <a:t>Books</a:t>
            </a:r>
            <a:endParaRPr lang="ru-RU" altLang="ru-RU" dirty="0"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solidFill>
                  <a:srgbClr val="0070C0"/>
                </a:solidFill>
                <a:latin typeface="+mj-lt"/>
              </a:rPr>
              <a:t>ON</a:t>
            </a:r>
            <a:r>
              <a:rPr lang="ru-RU" altLang="ru-RU" dirty="0">
                <a:latin typeface="+mj-lt"/>
              </a:rPr>
              <a:t> </a:t>
            </a:r>
            <a:r>
              <a:rPr lang="ru-RU" altLang="ru-RU" sz="2400" dirty="0">
                <a:latin typeface="+mj-lt"/>
              </a:rPr>
              <a:t>Authors.AuthorID = Books.BookID</a:t>
            </a:r>
            <a:endParaRPr lang="ru-RU" altLang="ru-RU" sz="4800" dirty="0">
              <a:latin typeface="+mj-lt"/>
            </a:endParaRPr>
          </a:p>
          <a:p>
            <a:endParaRPr lang="ru-RU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87671CD-5B65-43A9-AFB7-31ECB08D90C9}"/>
              </a:ext>
            </a:extLst>
          </p:cNvPr>
          <p:cNvGraphicFramePr>
            <a:graphicFrameLocks noGrp="1"/>
          </p:cNvGraphicFramePr>
          <p:nvPr/>
        </p:nvGraphicFramePr>
        <p:xfrm>
          <a:off x="289368" y="4104914"/>
          <a:ext cx="1138948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80">
                  <a:extLst>
                    <a:ext uri="{9D8B030D-6E8A-4147-A177-3AD203B41FA5}">
                      <a16:colId xmlns:a16="http://schemas.microsoft.com/office/drawing/2014/main" val="4038293072"/>
                    </a:ext>
                  </a:extLst>
                </a:gridCol>
                <a:gridCol w="3227622">
                  <a:extLst>
                    <a:ext uri="{9D8B030D-6E8A-4147-A177-3AD203B41FA5}">
                      <a16:colId xmlns:a16="http://schemas.microsoft.com/office/drawing/2014/main" val="3178194523"/>
                    </a:ext>
                  </a:extLst>
                </a:gridCol>
                <a:gridCol w="2459913">
                  <a:extLst>
                    <a:ext uri="{9D8B030D-6E8A-4147-A177-3AD203B41FA5}">
                      <a16:colId xmlns:a16="http://schemas.microsoft.com/office/drawing/2014/main" val="2023368883"/>
                    </a:ext>
                  </a:extLst>
                </a:gridCol>
                <a:gridCol w="2847372">
                  <a:extLst>
                    <a:ext uri="{9D8B030D-6E8A-4147-A177-3AD203B41FA5}">
                      <a16:colId xmlns:a16="http://schemas.microsoft.com/office/drawing/2014/main" val="19752441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Authors.AuthorID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Authors.AuthorName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Books.BookID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Books.BookName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8030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Bruce Eckel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Thinking in Java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0915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Robert Lafore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4642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Andrew Tanenbaum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Modern Operating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9088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Andrew Tanenbaum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Computer Architecture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9866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Programming in Scala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09970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6F81EC61-5E01-4BC0-B9AA-EEE416BCC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440" y="59698"/>
            <a:ext cx="103021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latin typeface="+mj-lt"/>
              </a:rPr>
              <a:t>Authors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D7F832F-6A0F-4FE9-BAC9-564D3B633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1438" y="59698"/>
            <a:ext cx="86594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b="1" dirty="0">
                <a:latin typeface="+mj-lt"/>
              </a:rPr>
              <a:t>Books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22774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BF12F-E229-44D7-8B91-8114E6766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Домашнее задание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C64B5-31D4-4AA8-9357-F008DD66C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Выполнить задание по </a:t>
            </a:r>
            <a:r>
              <a:rPr lang="en-US" dirty="0"/>
              <a:t>SQL</a:t>
            </a:r>
            <a:r>
              <a:rPr lang="ru-RU" dirty="0"/>
              <a:t> </a:t>
            </a:r>
            <a:endParaRPr lang="en-US" dirty="0"/>
          </a:p>
          <a:p>
            <a:r>
              <a:rPr lang="ru-RU" dirty="0"/>
              <a:t>Файл с заданием будет находится в папке 6</a:t>
            </a:r>
            <a:r>
              <a:rPr lang="en-US" dirty="0"/>
              <a:t>-</a:t>
            </a:r>
            <a:r>
              <a:rPr lang="ru-RU" dirty="0"/>
              <a:t>го занятия на </a:t>
            </a:r>
            <a:r>
              <a:rPr lang="en-US" dirty="0"/>
              <a:t>google disk</a:t>
            </a:r>
            <a:r>
              <a:rPr lang="ru-RU" dirty="0"/>
              <a:t>.</a:t>
            </a:r>
          </a:p>
        </p:txBody>
      </p:sp>
      <p:pic>
        <p:nvPicPr>
          <p:cNvPr id="4" name="Рисунок 2">
            <a:extLst>
              <a:ext uri="{FF2B5EF4-FFF2-40B4-BE49-F238E27FC236}">
                <a16:creationId xmlns:a16="http://schemas.microsoft.com/office/drawing/2014/main" id="{2334C1FB-A31A-4A10-AE1C-06FDF782E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2348" y="5024088"/>
            <a:ext cx="1568497" cy="112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5992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8411</TotalTime>
  <Words>1990</Words>
  <Application>Microsoft Office PowerPoint</Application>
  <PresentationFormat>Widescreen</PresentationFormat>
  <Paragraphs>822</Paragraphs>
  <Slides>50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Arial Unicode MS</vt:lpstr>
      <vt:lpstr>Calibri</vt:lpstr>
      <vt:lpstr>Garamond</vt:lpstr>
      <vt:lpstr>Garamond (Headings)</vt:lpstr>
      <vt:lpstr>Натуральные материалы</vt:lpstr>
      <vt:lpstr>Урок 6</vt:lpstr>
      <vt:lpstr>PowerPoint Presentation</vt:lpstr>
      <vt:lpstr>PowerPoint Presentation</vt:lpstr>
      <vt:lpstr>Как это можно использовать в тестировании?</vt:lpstr>
      <vt:lpstr>Типы данных в SQL</vt:lpstr>
      <vt:lpstr>PowerPoint Presentation</vt:lpstr>
      <vt:lpstr>PowerPoint Presentation</vt:lpstr>
      <vt:lpstr>PowerPoint Presentation</vt:lpstr>
      <vt:lpstr>SQL</vt:lpstr>
      <vt:lpstr>Создаем базу данных</vt:lpstr>
      <vt:lpstr>PowerPoint Presentation</vt:lpstr>
      <vt:lpstr>Создаем таблицу</vt:lpstr>
      <vt:lpstr>PowerPoint Presentation</vt:lpstr>
      <vt:lpstr>PowerPoint Presentation</vt:lpstr>
      <vt:lpstr>PowerPoint Presentation</vt:lpstr>
      <vt:lpstr>Основы SQL</vt:lpstr>
      <vt:lpstr>SELECT</vt:lpstr>
      <vt:lpstr>PowerPoint Presentation</vt:lpstr>
      <vt:lpstr>PowerPoint Presentation</vt:lpstr>
      <vt:lpstr>DISTINCT</vt:lpstr>
      <vt:lpstr>PowerPoint Presentation</vt:lpstr>
      <vt:lpstr>ORDER BY</vt:lpstr>
      <vt:lpstr>ORDER BY</vt:lpstr>
      <vt:lpstr>PowerPoint Presentation</vt:lpstr>
      <vt:lpstr>WHERE</vt:lpstr>
      <vt:lpstr>PowerPoint Presentation</vt:lpstr>
      <vt:lpstr>PowerPoint Presentation</vt:lpstr>
      <vt:lpstr>Таблица “Product”</vt:lpstr>
      <vt:lpstr>IN</vt:lpstr>
      <vt:lpstr>Таблица “Product”</vt:lpstr>
      <vt:lpstr>INSERT</vt:lpstr>
      <vt:lpstr>PowerPoint Presentation</vt:lpstr>
      <vt:lpstr>UPDATE</vt:lpstr>
      <vt:lpstr>PowerPoint Presentation</vt:lpstr>
      <vt:lpstr>LIMIT</vt:lpstr>
      <vt:lpstr>PowerPoint Presentation</vt:lpstr>
      <vt:lpstr>DELETE</vt:lpstr>
      <vt:lpstr>PowerPoint Presentation</vt:lpstr>
      <vt:lpstr>Удаление и добавление столбцов</vt:lpstr>
      <vt:lpstr>Сложение, минимум и максимум</vt:lpstr>
      <vt:lpstr>PRIMARY KEY</vt:lpstr>
      <vt:lpstr>PRIMARY KEY</vt:lpstr>
      <vt:lpstr>JOIN: INNER, LEFT, FULL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Домашнее задание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6</dc:title>
  <dc:creator>Пользователь Windows</dc:creator>
  <cp:lastModifiedBy>Vladimir Vladimir</cp:lastModifiedBy>
  <cp:revision>503</cp:revision>
  <dcterms:created xsi:type="dcterms:W3CDTF">2019-01-27T06:35:38Z</dcterms:created>
  <dcterms:modified xsi:type="dcterms:W3CDTF">2020-12-16T10:13:32Z</dcterms:modified>
</cp:coreProperties>
</file>