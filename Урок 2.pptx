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74" r:id="rId5"/>
    <p:sldId id="263" r:id="rId6"/>
    <p:sldId id="264" r:id="rId7"/>
    <p:sldId id="267" r:id="rId8"/>
    <p:sldId id="268" r:id="rId9"/>
    <p:sldId id="269" r:id="rId10"/>
    <p:sldId id="271" r:id="rId11"/>
    <p:sldId id="278" r:id="rId12"/>
    <p:sldId id="368" r:id="rId13"/>
    <p:sldId id="276" r:id="rId14"/>
    <p:sldId id="277" r:id="rId15"/>
    <p:sldId id="279" r:id="rId16"/>
    <p:sldId id="281" r:id="rId17"/>
    <p:sldId id="280" r:id="rId18"/>
    <p:sldId id="282" r:id="rId19"/>
    <p:sldId id="283" r:id="rId20"/>
    <p:sldId id="284" r:id="rId21"/>
    <p:sldId id="285" r:id="rId22"/>
    <p:sldId id="298" r:id="rId23"/>
    <p:sldId id="290" r:id="rId24"/>
    <p:sldId id="291" r:id="rId25"/>
    <p:sldId id="289" r:id="rId26"/>
    <p:sldId id="294" r:id="rId27"/>
    <p:sldId id="293" r:id="rId28"/>
    <p:sldId id="299" r:id="rId29"/>
    <p:sldId id="301" r:id="rId30"/>
    <p:sldId id="302" r:id="rId31"/>
    <p:sldId id="304" r:id="rId32"/>
    <p:sldId id="306" r:id="rId33"/>
    <p:sldId id="307" r:id="rId34"/>
    <p:sldId id="315" r:id="rId35"/>
    <p:sldId id="311" r:id="rId36"/>
    <p:sldId id="310" r:id="rId37"/>
    <p:sldId id="314" r:id="rId38"/>
    <p:sldId id="316" r:id="rId39"/>
    <p:sldId id="317" r:id="rId40"/>
    <p:sldId id="308" r:id="rId41"/>
    <p:sldId id="320" r:id="rId42"/>
    <p:sldId id="319" r:id="rId43"/>
    <p:sldId id="325" r:id="rId44"/>
    <p:sldId id="323" r:id="rId45"/>
    <p:sldId id="326" r:id="rId46"/>
    <p:sldId id="329" r:id="rId47"/>
    <p:sldId id="328" r:id="rId48"/>
    <p:sldId id="332" r:id="rId49"/>
    <p:sldId id="333" r:id="rId50"/>
    <p:sldId id="334" r:id="rId51"/>
    <p:sldId id="335" r:id="rId52"/>
    <p:sldId id="343" r:id="rId53"/>
    <p:sldId id="338" r:id="rId54"/>
    <p:sldId id="341" r:id="rId55"/>
    <p:sldId id="340" r:id="rId56"/>
    <p:sldId id="342" r:id="rId57"/>
    <p:sldId id="366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9964"/>
    <a:srgbClr val="B8B8B8"/>
    <a:srgbClr val="6E8A28"/>
    <a:srgbClr val="F8F8F8"/>
    <a:srgbClr val="E2426A"/>
    <a:srgbClr val="AB5B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4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11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62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959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58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54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38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04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99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73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458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003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014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097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483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70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9F31F9-5FDA-4B26-B874-6BA0004F0957}" type="datetimeFigureOut">
              <a:rPr lang="ru-RU" smtClean="0"/>
              <a:t>22.01.2021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AA7B9A0-5975-42C2-BAD3-01B3BC927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8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a/chromium.org/chromedriver/downloads" TargetMode="External"/><Relationship Id="rId2" Type="http://schemas.openxmlformats.org/officeDocument/2006/relationships/hyperlink" Target="https://www.google.com/intl/ru_ru/chrome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ametkinapolyah.ru/zametki-o-poleznyx-programmax/path-v-windows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sites.google.com/a/chromium.org/chromedriver/downloads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mail.ru/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mail.ru/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jsbin.com/toperuvoke/edit?html,css,output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google.ru/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Js5Gel41XaV8-VAxI3iBG4UEiGTKbNsu?usp=sharing" TargetMode="Externa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source-demo.orangehrmlive.com/" TargetMode="Externa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ushplace.com/" TargetMode="Externa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vm1u5WLR6hVCh5vEA" TargetMode="External"/><Relationship Id="rId2" Type="http://schemas.openxmlformats.org/officeDocument/2006/relationships/hyperlink" Target="https://forms.gle/rotJs7MGGD7MeJJ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C1A4-09B7-472D-A89F-D9817657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Урок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5C35B-F6DF-43BB-AD24-785A0E8999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Поиск элементов, написание </a:t>
            </a:r>
            <a:r>
              <a:rPr lang="en-US" dirty="0"/>
              <a:t>CSS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586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F2DA-44B1-4327-867C-DB7B5907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2-го занятия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BFCB4-9C97-4836-B3E4-541A6E424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Установка</a:t>
            </a:r>
            <a:r>
              <a:rPr lang="en-US" dirty="0"/>
              <a:t> Selenium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Установка драйвера для браузера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Запуск скрипта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Структура веб-страниц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Практикуемся в написании </a:t>
            </a:r>
            <a:r>
              <a:rPr lang="en-US" dirty="0"/>
              <a:t>css</a:t>
            </a:r>
            <a:r>
              <a:rPr lang="ru-RU" dirty="0"/>
              <a:t> селекторов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Поиск элементов с помощью </a:t>
            </a:r>
            <a:r>
              <a:rPr lang="en-US" dirty="0"/>
              <a:t>selenium webdriver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6171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51AA-4D96-41C7-9F30-465787FE0B94}"/>
              </a:ext>
            </a:extLst>
          </p:cNvPr>
          <p:cNvSpPr txBox="1">
            <a:spLocks/>
          </p:cNvSpPr>
          <p:nvPr/>
        </p:nvSpPr>
        <p:spPr>
          <a:xfrm>
            <a:off x="1295402" y="502739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Что такое</a:t>
            </a:r>
            <a:r>
              <a:rPr lang="en-US" dirty="0"/>
              <a:t> Selenium</a:t>
            </a:r>
            <a:r>
              <a:rPr lang="ru-RU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7652-B673-4845-9272-CB1BAA9CE62B}"/>
              </a:ext>
            </a:extLst>
          </p:cNvPr>
          <p:cNvSpPr txBox="1">
            <a:spLocks/>
          </p:cNvSpPr>
          <p:nvPr/>
        </p:nvSpPr>
        <p:spPr>
          <a:xfrm>
            <a:off x="763480" y="1473852"/>
            <a:ext cx="10133117" cy="3318936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Selenium – это проект, в рамках которого разрабатывается серия программных продуктов</a:t>
            </a:r>
            <a:r>
              <a:rPr lang="ru-RU" sz="1800" dirty="0"/>
              <a:t> с открытым исходным кодом</a:t>
            </a:r>
            <a:r>
              <a:rPr lang="en-US" sz="1800" dirty="0"/>
              <a:t>. </a:t>
            </a:r>
            <a:r>
              <a:rPr lang="ru-RU" sz="1800" dirty="0"/>
              <a:t>В рамках проекта </a:t>
            </a:r>
            <a:r>
              <a:rPr lang="en-US" sz="1800" dirty="0"/>
              <a:t>Selenium</a:t>
            </a:r>
            <a:r>
              <a:rPr lang="ru-RU" sz="1800" dirty="0"/>
              <a:t>, можно выделить несколько инструментов</a:t>
            </a:r>
            <a:r>
              <a:rPr lang="en-US" sz="1800" dirty="0"/>
              <a:t>:</a:t>
            </a:r>
            <a:endParaRPr lang="ru-RU" sz="1800" dirty="0"/>
          </a:p>
          <a:p>
            <a:r>
              <a:rPr lang="en-US" sz="1800" dirty="0"/>
              <a:t>Selenium WebDriver</a:t>
            </a:r>
          </a:p>
          <a:p>
            <a:r>
              <a:rPr lang="en-US" sz="1800" dirty="0"/>
              <a:t>Selenium Grid</a:t>
            </a:r>
          </a:p>
          <a:p>
            <a:r>
              <a:rPr lang="en-US" sz="1800" dirty="0"/>
              <a:t>Selenium Server</a:t>
            </a:r>
          </a:p>
          <a:p>
            <a:r>
              <a:rPr lang="en-US" sz="1800" dirty="0"/>
              <a:t>Selenium IDE</a:t>
            </a:r>
            <a:endParaRPr lang="ru-RU" sz="1800" dirty="0"/>
          </a:p>
          <a:p>
            <a:pPr marL="0" indent="0">
              <a:buFont typeface="Arial"/>
              <a:buNone/>
            </a:pPr>
            <a:endParaRPr lang="ru-RU" sz="1800" dirty="0"/>
          </a:p>
          <a:p>
            <a:pPr marL="0" indent="0">
              <a:buFont typeface="Arial"/>
              <a:buNone/>
            </a:pPr>
            <a:r>
              <a:rPr lang="ru-RU" sz="1800" dirty="0"/>
              <a:t>В данном курсе будем вести работу с </a:t>
            </a:r>
            <a:r>
              <a:rPr lang="en-US" sz="1800" b="1" dirty="0"/>
              <a:t>Selenium WebDriver</a:t>
            </a:r>
            <a:endParaRPr lang="ru-RU" sz="1800" b="1" dirty="0"/>
          </a:p>
          <a:p>
            <a:pPr marL="0" indent="0">
              <a:buNone/>
            </a:pPr>
            <a:endParaRPr lang="ru-RU" sz="18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u-RU" sz="18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u-RU" sz="14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chemeClr val="bg1">
                    <a:lumMod val="50000"/>
                  </a:schemeClr>
                </a:solidFill>
              </a:rPr>
              <a:t>Примечание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2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если смотрите презентацию с гугл диска(не скачивая), то возможны небольшие проблемы</a:t>
            </a:r>
          </a:p>
          <a:p>
            <a:pPr marL="0" indent="0">
              <a:buNone/>
            </a:pP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с вёрсткой некоторых слайдов.</a:t>
            </a:r>
            <a:endParaRPr lang="ru-RU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1EEDA-70E0-4369-A987-3B54B42C1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560" y="4783935"/>
            <a:ext cx="1736272" cy="157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2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ABFB2B4-FD98-48C4-B042-87D693B88D19}"/>
              </a:ext>
            </a:extLst>
          </p:cNvPr>
          <p:cNvSpPr txBox="1">
            <a:spLocks/>
          </p:cNvSpPr>
          <p:nvPr/>
        </p:nvSpPr>
        <p:spPr>
          <a:xfrm>
            <a:off x="1295402" y="476101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Что такое</a:t>
            </a:r>
            <a:r>
              <a:rPr lang="en-US" dirty="0"/>
              <a:t> Selenium WebDriver</a:t>
            </a:r>
            <a:r>
              <a:rPr lang="ru-RU" dirty="0"/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DDB584-0617-4E11-9439-B2D718A44412}"/>
              </a:ext>
            </a:extLst>
          </p:cNvPr>
          <p:cNvSpPr txBox="1">
            <a:spLocks/>
          </p:cNvSpPr>
          <p:nvPr/>
        </p:nvSpPr>
        <p:spPr>
          <a:xfrm>
            <a:off x="763481" y="1296302"/>
            <a:ext cx="10670958" cy="331893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600" b="1" dirty="0"/>
              <a:t>WebDriver </a:t>
            </a:r>
            <a:r>
              <a:rPr lang="ru-RU" sz="1600" dirty="0"/>
              <a:t>– это драйвер браузера, который позволяет различным другим программам взаимодействовать с браузером, управлять его поведением, получать от браузера какие-то данные и заставлять браузер выполнять какие-то команды. </a:t>
            </a:r>
          </a:p>
          <a:p>
            <a:r>
              <a:rPr lang="ru-RU" sz="1600" dirty="0"/>
              <a:t>Этот инструмент выделяют как основной в проекте </a:t>
            </a:r>
            <a:r>
              <a:rPr lang="en-US" sz="1600" dirty="0"/>
              <a:t>Selenium</a:t>
            </a:r>
            <a:r>
              <a:rPr lang="ru-RU" sz="1600" dirty="0"/>
              <a:t>. Когда говорят просто</a:t>
            </a:r>
            <a:r>
              <a:rPr lang="en-US" sz="1600" dirty="0"/>
              <a:t> Selenium</a:t>
            </a:r>
            <a:r>
              <a:rPr lang="ru-RU" sz="1600" dirty="0"/>
              <a:t> - часто имеют ввиду его</a:t>
            </a:r>
          </a:p>
          <a:p>
            <a:r>
              <a:rPr lang="ru-RU" sz="1600" dirty="0"/>
              <a:t>Стоит отметить, что работу с браузерными драйверами можно вести на различных языках программирования</a:t>
            </a:r>
            <a:endParaRPr lang="en-US" sz="1600" dirty="0"/>
          </a:p>
          <a:p>
            <a:pPr marL="0" indent="0">
              <a:buFont typeface="Arial"/>
              <a:buNone/>
            </a:pPr>
            <a:endParaRPr lang="ru-RU" sz="1600" dirty="0"/>
          </a:p>
          <a:p>
            <a:pPr marL="0" indent="0">
              <a:buFont typeface="Arial"/>
              <a:buNone/>
            </a:pPr>
            <a:endParaRPr lang="ru-RU" sz="1600" dirty="0"/>
          </a:p>
          <a:p>
            <a:pPr marL="0" indent="0">
              <a:buFont typeface="Arial"/>
              <a:buNone/>
            </a:pPr>
            <a:r>
              <a:rPr lang="ru-RU" sz="1600" dirty="0"/>
              <a:t>В курсе</a:t>
            </a:r>
            <a:r>
              <a:rPr lang="en-US" sz="1600" dirty="0"/>
              <a:t> </a:t>
            </a:r>
            <a:r>
              <a:rPr lang="ru-RU" sz="1600" dirty="0"/>
              <a:t>будет вестись работа со следующим набором инструментов</a:t>
            </a:r>
            <a:r>
              <a:rPr lang="en-US" sz="1600" dirty="0"/>
              <a:t>:</a:t>
            </a:r>
            <a:endParaRPr lang="ru-RU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6E5860-3047-49B4-A3D3-179043B17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220" y="3497801"/>
            <a:ext cx="3829213" cy="27520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266BAE-A1F8-4498-B9D0-3B57E09C4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61" y="3755621"/>
            <a:ext cx="5907765" cy="115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1295400" y="512147"/>
            <a:ext cx="9601200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/>
              <a:t>Установка</a:t>
            </a:r>
            <a:r>
              <a:rPr lang="en-US"/>
              <a:t> Selenium</a:t>
            </a:r>
            <a:r>
              <a:rPr lang="ru-RU"/>
              <a:t> для</a:t>
            </a:r>
            <a:r>
              <a:rPr lang="en-US"/>
              <a:t> Python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63481" y="1163815"/>
            <a:ext cx="10588100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На прошлом уроке мы изучили основы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 Python</a:t>
            </a: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. Для того чтобы написать авто-тесты для сайта и выполнить их в браузере, кроме 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Python</a:t>
            </a: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, нам потребуется ещё библиотека 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Selenium</a:t>
            </a: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 и драйвер для взаимодействия с браузером.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sz="1800" u="sng" dirty="0">
                <a:solidFill>
                  <a:schemeClr val="tx1"/>
                </a:solidFill>
                <a:latin typeface="Garamond (Body)"/>
              </a:rPr>
              <a:t>Установим библиотеку с помощью терминала в </a:t>
            </a:r>
            <a:r>
              <a:rPr lang="en-US" altLang="ru-RU" sz="1800" u="sng" dirty="0">
                <a:solidFill>
                  <a:schemeClr val="tx1"/>
                </a:solidFill>
                <a:latin typeface="Garamond (Body)"/>
              </a:rPr>
              <a:t>PyCharm:</a:t>
            </a:r>
            <a:endParaRPr lang="ru-RU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Откройте 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PyCharm</a:t>
            </a: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Перейдите на вкладку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 Terminal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Введите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:</a:t>
            </a: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 </a:t>
            </a:r>
            <a:r>
              <a:rPr lang="ru-RU" altLang="ru-RU" sz="1800" b="1" dirty="0">
                <a:solidFill>
                  <a:schemeClr val="tx1"/>
                </a:solidFill>
                <a:latin typeface="Garamond (Body)"/>
              </a:rPr>
              <a:t>pip install selenium==3.14.0</a:t>
            </a:r>
            <a:endParaRPr lang="en-US" altLang="ru-RU" sz="1800" b="1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Для проверки что всё установилось, введите в терминале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: </a:t>
            </a:r>
            <a:r>
              <a:rPr lang="en-US" altLang="ru-RU" sz="1800" b="1" dirty="0">
                <a:solidFill>
                  <a:schemeClr val="tx1"/>
                </a:solidFill>
                <a:latin typeface="Garamond (Body)"/>
              </a:rPr>
              <a:t>pip list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     </a:t>
            </a: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В списке окна терминала должен появиться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 </a:t>
            </a:r>
            <a:r>
              <a:rPr lang="en-US" altLang="ru-RU" sz="1800" u="sng" dirty="0">
                <a:solidFill>
                  <a:schemeClr val="tx1"/>
                </a:solidFill>
                <a:latin typeface="Garamond (Body)"/>
              </a:rPr>
              <a:t>selenium 3.14.0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Если возникает ошибка</a:t>
            </a:r>
            <a:r>
              <a:rPr lang="en-US" altLang="ru-RU" sz="1400" dirty="0">
                <a:solidFill>
                  <a:schemeClr val="tx1"/>
                </a:solidFill>
                <a:latin typeface="Garamond (Body)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на 3-м шаге</a:t>
            </a:r>
            <a:r>
              <a:rPr lang="en-US" altLang="ru-RU" sz="1400" dirty="0">
                <a:solidFill>
                  <a:schemeClr val="tx1"/>
                </a:solidFill>
                <a:latin typeface="Garamond (Body)"/>
              </a:rPr>
              <a:t>,</a:t>
            </a: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 попробуйте просто ввести </a:t>
            </a:r>
            <a:r>
              <a:rPr lang="en-US" altLang="ru-RU" sz="1400" b="1" dirty="0">
                <a:solidFill>
                  <a:schemeClr val="tx1"/>
                </a:solidFill>
                <a:latin typeface="Garamond (Body)"/>
              </a:rPr>
              <a:t>pip install selenium</a:t>
            </a: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B52F2-3BD4-408E-975B-911771824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212" y="2148396"/>
            <a:ext cx="3391270" cy="409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0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Установка драйвера для браузера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54603" y="1163815"/>
            <a:ext cx="10596978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sz="1800" dirty="0"/>
              <a:t>По статистике, самый популярный браузер в мире это </a:t>
            </a:r>
            <a:r>
              <a:rPr lang="en-US" sz="1800" dirty="0"/>
              <a:t>Chrome</a:t>
            </a:r>
            <a:r>
              <a:rPr lang="ru-RU" sz="1800" dirty="0"/>
              <a:t>, поэтому, на практике будет использовать драйвер для </a:t>
            </a:r>
            <a:r>
              <a:rPr lang="en-US" sz="1800" dirty="0"/>
              <a:t>Chrome</a:t>
            </a:r>
            <a:r>
              <a:rPr lang="ru-RU" sz="1800" dirty="0"/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2808DE-C97B-4D7A-A90D-3D68E1147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323" y="2288774"/>
            <a:ext cx="6986725" cy="393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06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452765" y="512147"/>
            <a:ext cx="11283519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Установка драйвера для браузера</a:t>
            </a:r>
            <a:r>
              <a:rPr lang="en-US" sz="4200" dirty="0"/>
              <a:t>: Windows</a:t>
            </a:r>
            <a:r>
              <a:rPr lang="ru-RU" sz="4200" dirty="0"/>
              <a:t>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72357" y="1316215"/>
            <a:ext cx="10731623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Если у Вас нет браузера 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Chrome</a:t>
            </a: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, тогда скачайте его с оф. сайта </a:t>
            </a:r>
            <a:r>
              <a:rPr lang="en-US" sz="1800" dirty="0">
                <a:hlinkClick r:id="rId2"/>
              </a:rPr>
              <a:t>https://www.google.com/intl/ru_ru/chrome/</a:t>
            </a: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342900" indent="-342900">
              <a:buFont typeface="+mj-lt"/>
              <a:buAutoNum type="arabicPeriod"/>
            </a:pPr>
            <a:endParaRPr lang="ru-RU" sz="1800" dirty="0"/>
          </a:p>
          <a:p>
            <a:pPr marL="342900" indent="-342900">
              <a:buFont typeface="+mj-lt"/>
              <a:buAutoNum type="arabicPeriod"/>
            </a:pPr>
            <a:r>
              <a:rPr lang="ru-RU" sz="1800" dirty="0"/>
              <a:t>Узнайте свою версию </a:t>
            </a:r>
            <a:r>
              <a:rPr lang="en-US" sz="1800" dirty="0"/>
              <a:t>Chrome: </a:t>
            </a:r>
            <a:r>
              <a:rPr lang="ru-RU" sz="1800" dirty="0"/>
              <a:t>в браузере, введите в строке адреса</a:t>
            </a:r>
            <a:r>
              <a:rPr lang="en-US" sz="1800" dirty="0"/>
              <a:t>: </a:t>
            </a:r>
            <a:r>
              <a:rPr lang="en-US" sz="1800" b="1" dirty="0"/>
              <a:t>chrome://version/</a:t>
            </a:r>
            <a:endParaRPr lang="ru-RU" sz="1800" b="1" dirty="0"/>
          </a:p>
          <a:p>
            <a:pPr marL="342900" indent="-342900">
              <a:buFont typeface="+mj-lt"/>
              <a:buAutoNum type="arabicPeriod"/>
            </a:pPr>
            <a:r>
              <a:rPr lang="ru-RU" sz="1800" dirty="0"/>
              <a:t>Скачайте с сайта </a:t>
            </a:r>
            <a:r>
              <a:rPr lang="en-US" sz="1800" dirty="0">
                <a:hlinkClick r:id="rId3"/>
              </a:rPr>
              <a:t>https://sites.google.com/a/chromium.org/chromedriver/downloads</a:t>
            </a:r>
            <a:r>
              <a:rPr lang="en-US" sz="1800" dirty="0"/>
              <a:t> </a:t>
            </a:r>
            <a:r>
              <a:rPr lang="ru-RU" sz="1800" dirty="0"/>
              <a:t>драйвер для вашей версии браузера. Разархивируйте скачанный файл.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/>
              <a:t>Создайте на диске </a:t>
            </a:r>
            <a:r>
              <a:rPr lang="en-US" sz="1800" dirty="0"/>
              <a:t>C: </a:t>
            </a:r>
            <a:r>
              <a:rPr lang="ru-RU" sz="1800" dirty="0"/>
              <a:t>папку </a:t>
            </a:r>
            <a:r>
              <a:rPr lang="en-US" sz="1800" dirty="0"/>
              <a:t>chromedriver </a:t>
            </a:r>
            <a:r>
              <a:rPr lang="ru-RU" sz="1800" dirty="0"/>
              <a:t>и переместите разархивированный ранее файл </a:t>
            </a:r>
            <a:r>
              <a:rPr lang="en-US" sz="1800" dirty="0"/>
              <a:t>chromedriver.exe </a:t>
            </a:r>
            <a:r>
              <a:rPr lang="ru-RU" sz="1800" dirty="0"/>
              <a:t>в папку </a:t>
            </a:r>
            <a:r>
              <a:rPr lang="en-US" sz="1800" dirty="0"/>
              <a:t>C:\chromedriver.</a:t>
            </a:r>
          </a:p>
          <a:p>
            <a:pPr marL="0" indent="0">
              <a:buNone/>
            </a:pPr>
            <a:endParaRPr lang="ru-RU" sz="1800" dirty="0"/>
          </a:p>
          <a:p>
            <a:r>
              <a:rPr lang="ru-RU" sz="1800" dirty="0"/>
              <a:t>Осталось добавить в системную переменную </a:t>
            </a:r>
            <a:r>
              <a:rPr lang="en-US" sz="1800" dirty="0"/>
              <a:t>PATH </a:t>
            </a:r>
            <a:r>
              <a:rPr lang="ru-RU" sz="1800" dirty="0"/>
              <a:t>папку </a:t>
            </a:r>
            <a:r>
              <a:rPr lang="en-US" sz="1800" dirty="0"/>
              <a:t>C:\chromedriver. </a:t>
            </a: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ru-RU" altLang="ru-RU" sz="1800" dirty="0">
                <a:solidFill>
                  <a:schemeClr val="tx1"/>
                </a:solidFill>
                <a:latin typeface="Garamond (Body)"/>
              </a:rPr>
              <a:t>На следующем слайде слайде будет инструкция к </a:t>
            </a:r>
            <a:r>
              <a:rPr lang="en-US" altLang="ru-RU" sz="1800" dirty="0">
                <a:solidFill>
                  <a:schemeClr val="tx1"/>
                </a:solidFill>
                <a:latin typeface="Garamond (Body)"/>
              </a:rPr>
              <a:t>Windows 10, 8</a:t>
            </a: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sz="1400" dirty="0"/>
              <a:t>Как это сделать версиях </a:t>
            </a:r>
            <a:r>
              <a:rPr lang="en-US" sz="1400" dirty="0"/>
              <a:t>Windows</a:t>
            </a:r>
            <a:r>
              <a:rPr lang="ru-RU" sz="1400" dirty="0"/>
              <a:t> 7 и ниже</a:t>
            </a:r>
            <a:r>
              <a:rPr lang="en-US" sz="1400" dirty="0"/>
              <a:t> </a:t>
            </a:r>
            <a:r>
              <a:rPr lang="ru-RU" sz="1400" dirty="0"/>
              <a:t>описано здесь: </a:t>
            </a:r>
            <a:r>
              <a:rPr lang="en-US" sz="1400" dirty="0">
                <a:hlinkClick r:id="rId4"/>
              </a:rPr>
              <a:t>https://zametkinapolyah.ru/zametki-o-poleznyx-programmax/path-v-windows.html</a:t>
            </a: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Важно</a:t>
            </a:r>
            <a:r>
              <a:rPr lang="en-US" altLang="ru-RU" sz="1400" dirty="0">
                <a:solidFill>
                  <a:schemeClr val="tx1"/>
                </a:solidFill>
                <a:latin typeface="Garamond (Body)"/>
              </a:rPr>
              <a:t>:</a:t>
            </a: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 папку из примера в инструкции добавлять не нужно, только лишь нашу папку </a:t>
            </a:r>
            <a:r>
              <a:rPr lang="en-US" sz="1400" dirty="0"/>
              <a:t>C:\chromedriver. </a:t>
            </a: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858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Установка драйвера для браузера</a:t>
            </a:r>
            <a:r>
              <a:rPr lang="en-US" sz="4200" dirty="0"/>
              <a:t>: Windows</a:t>
            </a:r>
            <a:r>
              <a:rPr lang="ru-RU" sz="4200" dirty="0"/>
              <a:t>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72357" y="1316215"/>
            <a:ext cx="10731623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base">
              <a:buFont typeface="+mj-lt"/>
              <a:buAutoNum type="arabicPeriod"/>
            </a:pPr>
            <a:r>
              <a:rPr lang="ru-RU" sz="1600" dirty="0"/>
              <a:t>Открываем поиск и пишем: «</a:t>
            </a:r>
            <a:r>
              <a:rPr lang="ru-RU" sz="1600" b="1" dirty="0"/>
              <a:t>Система</a:t>
            </a:r>
            <a:r>
              <a:rPr lang="ru-RU" sz="1600" dirty="0"/>
              <a:t>». Нажимаем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ru-RU" sz="1600" dirty="0"/>
              <a:t>Появится окно, в левом верхнем углу которого есть небольшое меню и пункт «</a:t>
            </a:r>
            <a:r>
              <a:rPr lang="ru-RU" sz="1600" b="1" dirty="0"/>
              <a:t>Дополнительные параметры системы</a:t>
            </a:r>
            <a:r>
              <a:rPr lang="ru-RU" sz="1600" dirty="0"/>
              <a:t>».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ru-RU" sz="1600" dirty="0"/>
              <a:t>Появится окно поменьше, в нижнем правом углу есть кнопка «</a:t>
            </a:r>
            <a:r>
              <a:rPr lang="ru-RU" sz="1600" b="1" dirty="0"/>
              <a:t>Переменные среды...</a:t>
            </a:r>
            <a:r>
              <a:rPr lang="ru-RU" sz="1600" dirty="0"/>
              <a:t>».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ru-RU" sz="1600" b="1" dirty="0"/>
              <a:t>Нас интересует переменная PATH</a:t>
            </a:r>
            <a:r>
              <a:rPr lang="ru-RU" sz="1600" dirty="0"/>
              <a:t>, которая находится в разделе «</a:t>
            </a:r>
            <a:r>
              <a:rPr lang="ru-RU" sz="1600" b="1" dirty="0"/>
              <a:t>Системные переменные</a:t>
            </a:r>
            <a:r>
              <a:rPr lang="ru-RU" sz="1600" dirty="0"/>
              <a:t>», нажимаем на нее два раза.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ru-RU" sz="1600" dirty="0"/>
              <a:t>Появится </a:t>
            </a:r>
            <a:r>
              <a:rPr lang="ru-RU" sz="1600" b="1" dirty="0"/>
              <a:t>окно для редактирования значений переменной PATH</a:t>
            </a:r>
            <a:r>
              <a:rPr lang="ru-RU" sz="1600" dirty="0"/>
              <a:t>, чтобы добавить новое значение воспользуйтесь кнопкой «</a:t>
            </a:r>
            <a:r>
              <a:rPr lang="ru-RU" sz="1600" b="1" dirty="0"/>
              <a:t>Создать</a:t>
            </a:r>
            <a:r>
              <a:rPr lang="ru-RU" sz="1600" dirty="0"/>
              <a:t>».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ru-RU" sz="1600" dirty="0"/>
              <a:t>Введите в новую строку путь к ChromeDriver - </a:t>
            </a:r>
            <a:r>
              <a:rPr lang="ru-RU" sz="1600" b="1" dirty="0"/>
              <a:t>C:\chromedriver</a:t>
            </a:r>
            <a:r>
              <a:rPr lang="ru-RU" sz="1600" dirty="0"/>
              <a:t>. Нажмите Enter. У вас должна появится строка с указанным путем. После чего нажмите кнопку «</a:t>
            </a:r>
            <a:r>
              <a:rPr lang="ru-RU" sz="1600" b="1" dirty="0"/>
              <a:t>Ок</a:t>
            </a:r>
            <a:r>
              <a:rPr lang="ru-RU" sz="1600" dirty="0"/>
              <a:t>» и закройте все остальные окна</a:t>
            </a:r>
            <a:r>
              <a:rPr lang="ru-RU" sz="1800" dirty="0"/>
              <a:t>.</a:t>
            </a:r>
            <a:endParaRPr lang="en-US" sz="1800" dirty="0"/>
          </a:p>
          <a:p>
            <a:pPr marL="0" indent="0" fontAlgn="base">
              <a:buNone/>
            </a:pPr>
            <a:endParaRPr lang="ru-RU" sz="1600" dirty="0"/>
          </a:p>
          <a:p>
            <a:pPr marL="0" indent="0" fontAlgn="base">
              <a:buNone/>
            </a:pPr>
            <a:r>
              <a:rPr lang="ru-RU" sz="1600" dirty="0"/>
              <a:t>Отлично! Теперь всё готово для полноценной работы с первыми авто-тестами.</a:t>
            </a:r>
          </a:p>
          <a:p>
            <a:pPr marL="0" indent="0" fontAlgn="base">
              <a:buNone/>
            </a:pPr>
            <a:r>
              <a:rPr lang="ru-RU" sz="1600" dirty="0"/>
              <a:t>На всякий случай, для корректной работы перезапустите </a:t>
            </a:r>
            <a:r>
              <a:rPr lang="en-US" sz="1600" dirty="0"/>
              <a:t>PyCharm.</a:t>
            </a:r>
            <a:endParaRPr lang="ru-RU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84223-941A-4E4F-98FD-71BC21C36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59" y="1292786"/>
            <a:ext cx="1048745" cy="34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405AE3-43DD-468F-B43F-D122EF3EC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165" y="4181406"/>
            <a:ext cx="2294877" cy="217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5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Установка драйвера для браузера</a:t>
            </a:r>
            <a:r>
              <a:rPr lang="en-US" sz="4200" dirty="0"/>
              <a:t>: macOS</a:t>
            </a:r>
            <a:r>
              <a:rPr lang="ru-RU" sz="4200" dirty="0"/>
              <a:t>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72357" y="1316215"/>
            <a:ext cx="10731623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ru-RU" sz="1600" dirty="0"/>
              <a:t>Сперва, необходимо установить программу wget для загрузки файлов по сети. Для этого должен быть установлён </a:t>
            </a:r>
            <a:r>
              <a:rPr lang="en-US" sz="1600" dirty="0"/>
              <a:t>homebrew (</a:t>
            </a:r>
            <a:r>
              <a:rPr lang="ru-RU" sz="1600" dirty="0"/>
              <a:t>по идее должен быть уже установлен, если Вы установили </a:t>
            </a:r>
            <a:r>
              <a:rPr lang="en-US" sz="1600" dirty="0"/>
              <a:t>python</a:t>
            </a:r>
            <a:r>
              <a:rPr lang="ru-RU" sz="1600" dirty="0"/>
              <a:t> по инструкции из 1-го урока)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Откройте</a:t>
            </a:r>
            <a:r>
              <a:rPr lang="en-US" sz="1600" dirty="0"/>
              <a:t> </a:t>
            </a:r>
            <a:r>
              <a:rPr lang="ru-RU" sz="1600" dirty="0"/>
              <a:t>терминал в </a:t>
            </a:r>
            <a:r>
              <a:rPr lang="en-US" sz="1600" dirty="0"/>
              <a:t>mac: Applications -&gt; Utilities -&gt; Terminal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В терминале, введите команду</a:t>
            </a:r>
            <a:r>
              <a:rPr lang="en-US" sz="1600" dirty="0"/>
              <a:t> "</a:t>
            </a:r>
            <a:r>
              <a:rPr lang="ru-RU" sz="1600" b="1" dirty="0"/>
              <a:t>brew install wget</a:t>
            </a:r>
            <a:r>
              <a:rPr lang="en-US" sz="1600" dirty="0"/>
              <a:t>"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Узнайте свою версию </a:t>
            </a:r>
            <a:r>
              <a:rPr lang="en-US" sz="1600" dirty="0"/>
              <a:t>Chrome: </a:t>
            </a:r>
            <a:r>
              <a:rPr lang="ru-RU" sz="1600" dirty="0"/>
              <a:t>в браузере, введите в строке адреса</a:t>
            </a:r>
            <a:r>
              <a:rPr lang="en-US" sz="1600" dirty="0"/>
              <a:t>: </a:t>
            </a:r>
            <a:r>
              <a:rPr lang="en-US" sz="1600" b="1" dirty="0"/>
              <a:t>chrome://version/</a:t>
            </a:r>
            <a:r>
              <a:rPr lang="en-US" sz="1600" dirty="0"/>
              <a:t> 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Откройте сайт </a:t>
            </a:r>
            <a:r>
              <a:rPr lang="en-US" sz="1600" dirty="0">
                <a:hlinkClick r:id="rId2"/>
              </a:rPr>
              <a:t>https://sites.google.com/a/chromium.org/chromedriver/downloads</a:t>
            </a:r>
            <a:r>
              <a:rPr lang="en-US" sz="1600" dirty="0"/>
              <a:t> </a:t>
            </a:r>
            <a:r>
              <a:rPr lang="ru-RU" sz="1600" dirty="0"/>
              <a:t>и скопируйте ссылку на ту версию ChromeDriver, которая соответствует версии вашего браузера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В терминале введите</a:t>
            </a:r>
            <a:r>
              <a:rPr lang="en-US" sz="1600" dirty="0"/>
              <a:t>:</a:t>
            </a:r>
            <a:r>
              <a:rPr lang="ru-RU" sz="1600" dirty="0"/>
              <a:t> </a:t>
            </a:r>
            <a:r>
              <a:rPr lang="da-DK" sz="1600" b="1" dirty="0"/>
              <a:t>wget</a:t>
            </a:r>
            <a:r>
              <a:rPr lang="ru-RU" sz="1600" b="1" dirty="0"/>
              <a:t>  скопированная ссылка	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#</a:t>
            </a:r>
            <a:r>
              <a:rPr lang="ru-RU" sz="1400" dirty="0">
                <a:solidFill>
                  <a:schemeClr val="bg1">
                    <a:lumMod val="65000"/>
                  </a:schemeClr>
                </a:solidFill>
              </a:rPr>
              <a:t> эта команда должна скачать файл</a:t>
            </a:r>
          </a:p>
          <a:p>
            <a:pPr marL="0" indent="0">
              <a:buNone/>
            </a:pPr>
            <a:endParaRPr lang="ru-RU" sz="1400" b="1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E38ABB-1BE4-4C0A-B04F-BED917C5E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31" y="3602981"/>
            <a:ext cx="3498465" cy="184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11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Установка драйвера для браузера</a:t>
            </a:r>
            <a:r>
              <a:rPr lang="en-US" sz="4200" dirty="0"/>
              <a:t>: macOS</a:t>
            </a:r>
            <a:r>
              <a:rPr lang="ru-RU" sz="4200" dirty="0"/>
              <a:t>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72357" y="1316215"/>
            <a:ext cx="10731623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ru-RU" sz="1600" dirty="0"/>
              <a:t>Разархивируйте скачанный файл и переместите его в папку /usr/local/bin, чтобы он был глобально доступен в вашей системе. 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ru-RU" sz="1600" dirty="0"/>
              <a:t>В терминале введите</a:t>
            </a:r>
            <a:r>
              <a:rPr lang="en-US" sz="1600" dirty="0"/>
              <a:t> </a:t>
            </a:r>
            <a:r>
              <a:rPr lang="ru-RU" sz="1600" dirty="0"/>
              <a:t>в две строки</a:t>
            </a:r>
            <a:r>
              <a:rPr lang="en-US" sz="1600" dirty="0"/>
              <a:t>: </a:t>
            </a:r>
            <a:r>
              <a:rPr lang="en-US" sz="1400" b="1" dirty="0"/>
              <a:t>unzip chromedriver_mac64.zip</a:t>
            </a:r>
          </a:p>
          <a:p>
            <a:pPr marL="0" indent="0">
              <a:buNone/>
            </a:pPr>
            <a:r>
              <a:rPr lang="en-US" sz="1400" dirty="0"/>
              <a:t>				        </a:t>
            </a:r>
            <a:r>
              <a:rPr lang="ru-RU" sz="1400" dirty="0"/>
              <a:t>                        </a:t>
            </a:r>
            <a:r>
              <a:rPr lang="en-US" sz="1400" b="1" dirty="0" err="1"/>
              <a:t>sudo</a:t>
            </a:r>
            <a:r>
              <a:rPr lang="en-US" sz="1400" b="1" dirty="0"/>
              <a:t> mv chromedriver /</a:t>
            </a:r>
            <a:r>
              <a:rPr lang="en-US" sz="1400" b="1" dirty="0" err="1"/>
              <a:t>usr</a:t>
            </a:r>
            <a:r>
              <a:rPr lang="en-US" sz="1400" b="1" dirty="0"/>
              <a:t>/local/bin</a:t>
            </a:r>
            <a:endParaRPr lang="ru-RU" sz="1400" b="1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Для проверки что всё получилось, введите в терминале</a:t>
            </a:r>
            <a:r>
              <a:rPr lang="en-US" sz="1600" dirty="0"/>
              <a:t>: </a:t>
            </a:r>
            <a:r>
              <a:rPr lang="en-US" sz="1600" b="1" dirty="0"/>
              <a:t>chromedriver –version </a:t>
            </a:r>
            <a:r>
              <a:rPr lang="en-US" sz="1600" dirty="0"/>
              <a:t>(</a:t>
            </a:r>
            <a:r>
              <a:rPr lang="ru-RU" sz="1600" dirty="0"/>
              <a:t>должна отобразиться версия драйвера)</a:t>
            </a:r>
            <a:endParaRPr lang="ru-RU" sz="1600" b="1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sz="1400" dirty="0"/>
              <a:t>Если версия драйвера отобразилась, тогда всё отлично!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b="1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sz="1400" b="1" dirty="0"/>
              <a:t>При возникновении ошибки</a:t>
            </a:r>
            <a:r>
              <a:rPr lang="en-US" sz="1400" b="1" dirty="0"/>
              <a:t>:</a:t>
            </a:r>
            <a:endParaRPr lang="ru-RU" sz="1400" b="1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sz="1400" dirty="0"/>
              <a:t>-bash: chromedriver: command not found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sz="1400" dirty="0"/>
              <a:t>Необходимо проверить папку /usr/local/bin на наличие файла chromedriver. Если файла там нет, то нужно повторить команды, описанные выше.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fontAlgn="base">
              <a:buNone/>
            </a:pPr>
            <a:r>
              <a:rPr lang="ru-RU" sz="1400" dirty="0"/>
              <a:t>Отлично! Теперь всё готово для полноценной работы с первыми авто-тестами.</a:t>
            </a:r>
          </a:p>
          <a:p>
            <a:pPr marL="0" indent="0" fontAlgn="base">
              <a:buNone/>
            </a:pPr>
            <a:r>
              <a:rPr lang="ru-RU" sz="1400" dirty="0"/>
              <a:t>На всякий случай, для корректной работы перезапустите </a:t>
            </a:r>
            <a:r>
              <a:rPr lang="en-US" sz="1400" dirty="0"/>
              <a:t>PyCharm.</a:t>
            </a: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743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Создадим новый </a:t>
            </a:r>
            <a:r>
              <a:rPr lang="en-US" sz="4200" dirty="0"/>
              <a:t>python</a:t>
            </a:r>
            <a:r>
              <a:rPr lang="ru-RU" sz="4200" dirty="0"/>
              <a:t> файл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72357" y="1316215"/>
            <a:ext cx="10731623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Для удобства, можно создать новый файл</a:t>
            </a:r>
            <a:r>
              <a:rPr lang="en-US" sz="1600" dirty="0"/>
              <a:t> python</a:t>
            </a:r>
            <a:r>
              <a:rPr lang="ru-RU" sz="1600" dirty="0"/>
              <a:t>, в котором будет храниться код по 2-му уроку, для этого, вспомним как это можно сделать. Нажмите правой кнопкой мыши на название вашей папки и создайте новый файл, например</a:t>
            </a:r>
            <a:r>
              <a:rPr lang="en-US" sz="1600" dirty="0"/>
              <a:t>: "lesson_2"</a:t>
            </a: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6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Garamond (Body)"/>
              </a:rPr>
              <a:t>В дальнейшем, для некоторых больших заданий по уроку, можно также создавать отдельные файлы для них(</a:t>
            </a:r>
            <a:r>
              <a:rPr lang="en-US" altLang="ru-RU" sz="1600" dirty="0">
                <a:solidFill>
                  <a:schemeClr val="tx1"/>
                </a:solidFill>
                <a:latin typeface="Garamond (Body)"/>
              </a:rPr>
              <a:t>lesson_2_1</a:t>
            </a:r>
            <a:r>
              <a:rPr lang="ru-RU" altLang="ru-RU" sz="1600" dirty="0">
                <a:solidFill>
                  <a:schemeClr val="tx1"/>
                </a:solidFill>
                <a:latin typeface="Garamond (Body)"/>
              </a:rPr>
              <a:t> и тд)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Garamond (Body)"/>
              </a:rPr>
              <a:t>Можно хранить и по-другому, главное чтобы было удобно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6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Garamond (Body)"/>
              </a:rPr>
              <a:t>Напоминание как запускать файл</a:t>
            </a:r>
            <a:r>
              <a:rPr lang="en-US" altLang="ru-RU" sz="1600" dirty="0">
                <a:solidFill>
                  <a:schemeClr val="tx1"/>
                </a:solidFill>
                <a:latin typeface="Garamond (Body)"/>
              </a:rPr>
              <a:t>:</a:t>
            </a:r>
            <a:endParaRPr lang="ru-RU" altLang="ru-RU" sz="1600" dirty="0">
              <a:solidFill>
                <a:schemeClr val="tx1"/>
              </a:solidFill>
              <a:latin typeface="Garamond (Body)"/>
            </a:endParaRPr>
          </a:p>
          <a:p>
            <a:r>
              <a:rPr lang="ru-RU" sz="1600" dirty="0"/>
              <a:t>Для запуска, нажмите правой кнопкой мыши на файл</a:t>
            </a:r>
            <a:r>
              <a:rPr lang="en-US" sz="1600" dirty="0"/>
              <a:t> "lesson_</a:t>
            </a:r>
            <a:r>
              <a:rPr lang="ru-RU" sz="1600" dirty="0"/>
              <a:t>2</a:t>
            </a:r>
            <a:r>
              <a:rPr lang="en-US" sz="1600" dirty="0"/>
              <a:t>.py"</a:t>
            </a:r>
            <a:r>
              <a:rPr lang="ru-RU" sz="1600" dirty="0"/>
              <a:t> </a:t>
            </a:r>
            <a:r>
              <a:rPr lang="en-US" sz="1600" dirty="0"/>
              <a:t>-&gt; Run "lesson_</a:t>
            </a:r>
            <a:r>
              <a:rPr lang="ru-RU" sz="1600" dirty="0"/>
              <a:t>2</a:t>
            </a:r>
            <a:r>
              <a:rPr lang="en-US" sz="1600" dirty="0"/>
              <a:t>.</a:t>
            </a:r>
            <a:r>
              <a:rPr lang="en-US" sz="1600" dirty="0" err="1"/>
              <a:t>py</a:t>
            </a:r>
            <a:r>
              <a:rPr lang="en-US" sz="1600" dirty="0"/>
              <a:t>"</a:t>
            </a:r>
            <a:endParaRPr lang="ru-RU" sz="1600" dirty="0"/>
          </a:p>
          <a:p>
            <a:r>
              <a:rPr lang="ru-RU" sz="1600" dirty="0"/>
              <a:t>Запустить команду, можно также</a:t>
            </a:r>
            <a:r>
              <a:rPr lang="en-US" sz="1600" dirty="0"/>
              <a:t> </a:t>
            </a:r>
            <a:r>
              <a:rPr lang="ru-RU" sz="1600" dirty="0"/>
              <a:t>используя </a:t>
            </a:r>
            <a:r>
              <a:rPr lang="en-US" sz="1600" dirty="0"/>
              <a:t>CTRL + SHIFT + F10</a:t>
            </a:r>
            <a:r>
              <a:rPr lang="ru-RU" sz="1600" dirty="0"/>
              <a:t> </a:t>
            </a:r>
            <a:r>
              <a:rPr lang="ru-RU" sz="1600" i="1" dirty="0"/>
              <a:t>(сработает после первого ручного запуска через мышку)</a:t>
            </a:r>
          </a:p>
          <a:p>
            <a:r>
              <a:rPr lang="ru-RU" sz="1600" dirty="0"/>
              <a:t>Или нажав на иконку </a:t>
            </a:r>
            <a:r>
              <a:rPr lang="en-US" sz="1600" dirty="0"/>
              <a:t>"</a:t>
            </a:r>
            <a:r>
              <a:rPr lang="ru-RU" sz="1600" dirty="0"/>
              <a:t>зеленая кнопка </a:t>
            </a:r>
            <a:r>
              <a:rPr lang="en-US" sz="1600" dirty="0"/>
              <a:t>play"</a:t>
            </a:r>
            <a:r>
              <a:rPr lang="ru-RU" sz="1600" dirty="0"/>
              <a:t> в верху справа</a:t>
            </a:r>
          </a:p>
          <a:p>
            <a:endParaRPr lang="ru-RU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0E9EC-5612-42C4-9DFD-E241C9275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77" y="1834214"/>
            <a:ext cx="5325123" cy="160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2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Перед запуском автотеста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72357" y="1316215"/>
            <a:ext cx="10731623" cy="511269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В дальнейшем будем запускать много авто-тестов, если вдруг при</a:t>
            </a:r>
            <a:r>
              <a:rPr lang="en-US" sz="1600" dirty="0"/>
              <a:t> </a:t>
            </a:r>
            <a:r>
              <a:rPr lang="ru-RU" sz="1600" dirty="0"/>
              <a:t>первом запуске возникнет ошибка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b="1" dirty="0" err="1"/>
              <a:t>ModuleNotFoundError</a:t>
            </a:r>
            <a:r>
              <a:rPr lang="en-US" sz="1600" b="1" dirty="0"/>
              <a:t>: No module named 'selenium’</a:t>
            </a:r>
            <a:endParaRPr lang="ru-RU" sz="1600" b="1" dirty="0"/>
          </a:p>
          <a:p>
            <a:pPr marL="0" indent="0">
              <a:buNone/>
            </a:pPr>
            <a:r>
              <a:rPr lang="ru-RU" sz="1600" dirty="0"/>
              <a:t> </a:t>
            </a:r>
          </a:p>
          <a:p>
            <a:pPr marL="0" indent="0">
              <a:buNone/>
            </a:pPr>
            <a:r>
              <a:rPr lang="ru-RU" sz="1600" u="sng" dirty="0"/>
              <a:t>Тогда</a:t>
            </a:r>
            <a:r>
              <a:rPr lang="en-US" sz="1600" u="sng" dirty="0"/>
              <a:t>:</a:t>
            </a:r>
            <a:endParaRPr lang="ru-RU" sz="1600" u="sng" dirty="0"/>
          </a:p>
          <a:p>
            <a:pPr marL="342900" indent="-342900">
              <a:buAutoNum type="arabicPeriod"/>
            </a:pPr>
            <a:r>
              <a:rPr lang="ru-RU" sz="1600" dirty="0"/>
              <a:t>В нижем левом углу перейдите на вкладку </a:t>
            </a:r>
            <a:r>
              <a:rPr lang="en-US" sz="1600" dirty="0"/>
              <a:t>"Terminal"</a:t>
            </a:r>
            <a:endParaRPr lang="ru-RU" sz="1600" dirty="0"/>
          </a:p>
          <a:p>
            <a:pPr marL="342900" indent="-342900">
              <a:buAutoNum type="arabicPeriod"/>
            </a:pPr>
            <a:endParaRPr lang="ru-RU" sz="1600" dirty="0"/>
          </a:p>
          <a:p>
            <a:pPr marL="342900" indent="-342900">
              <a:buAutoNum type="arabicPeriod"/>
            </a:pPr>
            <a:endParaRPr lang="ru-RU" sz="1600" dirty="0"/>
          </a:p>
          <a:p>
            <a:pPr marL="342900" indent="-342900">
              <a:buAutoNum type="arabicPeriod"/>
            </a:pPr>
            <a:endParaRPr lang="ru-RU" sz="1600" dirty="0"/>
          </a:p>
          <a:p>
            <a:pPr marL="342900" indent="-342900">
              <a:buAutoNum type="arabicPeriod"/>
            </a:pPr>
            <a:endParaRPr lang="ru-RU" sz="1600" dirty="0"/>
          </a:p>
          <a:p>
            <a:pPr marL="342900" indent="-342900">
              <a:buAutoNum type="arabicPeriod"/>
            </a:pPr>
            <a:endParaRPr lang="ru-RU" sz="1600" dirty="0"/>
          </a:p>
          <a:p>
            <a:pPr marL="342900" indent="-342900">
              <a:buAutoNum type="arabicPeriod"/>
            </a:pPr>
            <a:endParaRPr lang="ru-RU" sz="1600" dirty="0"/>
          </a:p>
          <a:p>
            <a:pPr marL="342900" indent="-342900">
              <a:buAutoNum type="arabicPeriod"/>
            </a:pPr>
            <a:r>
              <a:rPr lang="ru-RU" sz="1600" dirty="0"/>
              <a:t>Введите </a:t>
            </a:r>
            <a:r>
              <a:rPr lang="en-US" sz="1600" b="1" dirty="0"/>
              <a:t>pip install selenium</a:t>
            </a:r>
            <a:r>
              <a:rPr lang="ru-RU" sz="1600" b="1" dirty="0"/>
              <a:t> </a:t>
            </a:r>
            <a:r>
              <a:rPr lang="ru-RU" sz="1600" dirty="0"/>
              <a:t>(если не сработает, введите </a:t>
            </a:r>
            <a:r>
              <a:rPr lang="en-US" sz="1600" b="1" dirty="0"/>
              <a:t>pip3 install selenium</a:t>
            </a:r>
            <a:r>
              <a:rPr lang="ru-RU" sz="1600" dirty="0"/>
              <a:t>) и нажмите </a:t>
            </a:r>
            <a:r>
              <a:rPr lang="en-US" sz="1600" b="1" dirty="0"/>
              <a:t>Enter</a:t>
            </a:r>
            <a:endParaRPr lang="ru-RU" sz="1600" b="1" dirty="0"/>
          </a:p>
          <a:p>
            <a:pPr marL="342900" indent="-342900">
              <a:buAutoNum type="arabicPeriod"/>
            </a:pPr>
            <a:r>
              <a:rPr lang="ru-RU" sz="1600" dirty="0"/>
              <a:t>После ввода команды должен начаться процесс установки</a:t>
            </a:r>
          </a:p>
          <a:p>
            <a:pPr marL="342900" indent="-342900">
              <a:buAutoNum type="arabicPeriod"/>
            </a:pPr>
            <a:r>
              <a:rPr lang="ru-RU" sz="1600" dirty="0"/>
              <a:t>По завершению перезайдите в </a:t>
            </a:r>
            <a:r>
              <a:rPr lang="en-US" sz="1600" dirty="0"/>
              <a:t>Pycharm</a:t>
            </a:r>
            <a:r>
              <a:rPr lang="ru-RU" sz="1600" dirty="0"/>
              <a:t> и снова запустите авто-тест</a:t>
            </a:r>
          </a:p>
          <a:p>
            <a:pPr marL="0" indent="0">
              <a:buNone/>
            </a:pPr>
            <a:endParaRPr lang="ru-RU" sz="1600" b="1" dirty="0"/>
          </a:p>
          <a:p>
            <a:pPr marL="0" indent="0">
              <a:buNone/>
            </a:pPr>
            <a:endParaRPr lang="ru-RU" sz="1600" b="1" dirty="0"/>
          </a:p>
          <a:p>
            <a:pPr marL="0" indent="0">
              <a:buNone/>
            </a:pPr>
            <a:endParaRPr lang="ru-RU" sz="1600" b="1" dirty="0"/>
          </a:p>
          <a:p>
            <a:pPr marL="0" indent="0">
              <a:buNone/>
            </a:pPr>
            <a:endParaRPr lang="ru-RU" sz="1600" b="1" dirty="0"/>
          </a:p>
          <a:p>
            <a:pPr marL="0" indent="0">
              <a:buNone/>
            </a:pPr>
            <a:r>
              <a:rPr lang="ru-RU" sz="1600" b="1" dirty="0"/>
              <a:t>Настало время написать свой первый авто-тест</a:t>
            </a:r>
            <a:r>
              <a:rPr lang="en-US" sz="1600" b="1" dirty="0"/>
              <a:t> </a:t>
            </a:r>
            <a:r>
              <a:rPr lang="en-US" sz="1600" b="1" dirty="0">
                <a:sym typeface="Wingdings" panose="05000000000000000000" pitchFamily="2" charset="2"/>
              </a:rPr>
              <a:t>: )</a:t>
            </a:r>
            <a:r>
              <a:rPr lang="ru-RU" sz="1600" b="1" dirty="0">
                <a:sym typeface="Wingdings" panose="05000000000000000000" pitchFamily="2" charset="2"/>
              </a:rPr>
              <a:t> скопируйте код из следующего слайда и запустите файл.</a:t>
            </a:r>
            <a:endParaRPr lang="ru-RU" sz="1600" b="1" dirty="0"/>
          </a:p>
          <a:p>
            <a:endParaRPr lang="ru-RU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4DE06-D466-422B-8024-87EA8F3A7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60" y="2563527"/>
            <a:ext cx="5033715" cy="154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30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Запустим первый авто-тест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B817F0B-F22A-4EB5-BDD5-1AE84CB83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86" y="1072277"/>
            <a:ext cx="8109912" cy="5170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Импортируем webdriver(набор команд для управления браузером)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selenium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webdriver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Вызываем драйвер браузера. После этой команды вы должны увидеть новое открытое окно браузера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driver = webdriver.Chrome()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Команда time.sleep устанавливает паузу в 5 секунд, чтобы мы успели увидеть, что происходит в браузере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time.sleep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Метод get сообщает браузеру, что нужно открыть сайт по указанной ссылке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driver.get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"https://google.ru"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time.sleep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Метод find_element_by_xpath позволяет найти нужный элемент на сайте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Обсудим его чуть позже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Ищем элемент поля поиска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textfield = driver.find_element_by_xpath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"//input[@name='q']"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Напишем текст в поле поиска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textfield.send_keys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"погода на завтра"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time.sleep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Укажем путь к кнопке поиска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submit_button = driver.find_element_by_xpath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"//div[@class='tfB0Bf']//input[@name='btnK']"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Нажмём на кнопку поиска с помощью команды .click()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submit_button.click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10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После нажатия на кнопку должны появиться результаты поиска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time.sleep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Добавим команду, с помощью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которой браузер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будет сам закрываться после проведения теста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driver.quit()</a:t>
            </a:r>
            <a:endParaRPr kumimoji="0" lang="ru-RU" altLang="ru-R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349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Структура веб-страницы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659906" y="1316215"/>
            <a:ext cx="11049739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Для понимания того, как взаимодействовать с элементами на сайте, нам нужно сначала понять структуру веб-страницы</a:t>
            </a:r>
            <a:r>
              <a:rPr lang="en-US" sz="1600" b="1" dirty="0"/>
              <a:t>:</a:t>
            </a:r>
            <a:endParaRPr lang="ru-RU" sz="1600" b="1" dirty="0"/>
          </a:p>
          <a:p>
            <a:r>
              <a:rPr lang="ru-RU" sz="1600" dirty="0"/>
              <a:t>Любая страница в интернете представляет собой </a:t>
            </a:r>
            <a:r>
              <a:rPr lang="ru-RU" sz="1600" b="1" dirty="0"/>
              <a:t>html</a:t>
            </a:r>
            <a:r>
              <a:rPr lang="ru-RU" sz="1600" dirty="0"/>
              <a:t>-файл, в котором с помощью языка разметки HTML описана её структура.</a:t>
            </a:r>
          </a:p>
          <a:p>
            <a:r>
              <a:rPr lang="ru-RU" sz="1600" dirty="0"/>
              <a:t>Для определения отображения </a:t>
            </a:r>
            <a:r>
              <a:rPr lang="en-US" sz="1600" dirty="0"/>
              <a:t>HTML-</a:t>
            </a:r>
            <a:r>
              <a:rPr lang="ru-RU" sz="1600" dirty="0"/>
              <a:t>документов используется </a:t>
            </a:r>
            <a:r>
              <a:rPr lang="en-US" sz="1600" b="1" dirty="0"/>
              <a:t>CSS</a:t>
            </a:r>
            <a:r>
              <a:rPr lang="ru-RU" alt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(</a:t>
            </a:r>
            <a:r>
              <a:rPr lang="ru-RU" altLang="ru-RU" sz="1600" b="1" dirty="0">
                <a:solidFill>
                  <a:srgbClr val="333333"/>
                </a:solidFill>
                <a:cs typeface="Arial" panose="020B0604020202020204" pitchFamily="34" charset="0"/>
              </a:rPr>
              <a:t>C</a:t>
            </a:r>
            <a:r>
              <a:rPr lang="ru-RU" alt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ascading </a:t>
            </a:r>
            <a:r>
              <a:rPr lang="ru-RU" altLang="ru-RU" sz="1600" b="1" dirty="0">
                <a:solidFill>
                  <a:srgbClr val="333333"/>
                </a:solidFill>
                <a:cs typeface="Arial" panose="020B0604020202020204" pitchFamily="34" charset="0"/>
              </a:rPr>
              <a:t>S</a:t>
            </a:r>
            <a:r>
              <a:rPr lang="ru-RU" alt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tyle </a:t>
            </a:r>
            <a:r>
              <a:rPr lang="ru-RU" altLang="ru-RU" sz="1600" b="1" dirty="0">
                <a:solidFill>
                  <a:srgbClr val="333333"/>
                </a:solidFill>
                <a:cs typeface="Arial" panose="020B0604020202020204" pitchFamily="34" charset="0"/>
              </a:rPr>
              <a:t>S</a:t>
            </a:r>
            <a:r>
              <a:rPr lang="ru-RU" alt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heets)</a:t>
            </a:r>
            <a:r>
              <a:rPr lang="en-US" altLang="ru-RU" sz="1600" dirty="0">
                <a:solidFill>
                  <a:srgbClr val="333333"/>
                </a:solidFill>
                <a:cs typeface="Arial" panose="020B0604020202020204" pitchFamily="34" charset="0"/>
              </a:rPr>
              <a:t> </a:t>
            </a:r>
            <a:endParaRPr lang="ru-RU" sz="1600" b="1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ru-RU" sz="1600" dirty="0"/>
              <a:t>Также, практически все сайты используют язык </a:t>
            </a:r>
            <a:r>
              <a:rPr lang="ru-RU" sz="1600" b="1" dirty="0"/>
              <a:t>JavaScript</a:t>
            </a:r>
            <a:r>
              <a:rPr lang="ru-RU" sz="1600" dirty="0"/>
              <a:t>, который позволяет сделать веб-страницу интерактивной, т.е. реагировать на действия пользователя, запрашивать у пользователя данные и возвращать их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sz="1600" dirty="0"/>
              <a:t> Умея описывать путь к элементу на странице, мы можем найти такой элемент и выполнить с ним необходимые действия, например, отправить текст в текстовое поле или нажать на кнопку.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Далее  рассмотрим несколько способов поиска элементов внутри страницы:</a:t>
            </a:r>
          </a:p>
          <a:p>
            <a:r>
              <a:rPr lang="ru-RU" sz="1600" dirty="0"/>
              <a:t>Поиск с помощью CSS-селекторов, когда путь к элементу описывается через синтаксис CSS. Селектор - это описание пути к элементу на странице.</a:t>
            </a:r>
          </a:p>
          <a:p>
            <a:r>
              <a:rPr lang="ru-RU" sz="1600" dirty="0"/>
              <a:t>Поиск с помощью указания значений тегов или атрибутов элементов: ID, class, и т.д.</a:t>
            </a:r>
          </a:p>
          <a:p>
            <a:r>
              <a:rPr lang="ru-RU" sz="1600" dirty="0"/>
              <a:t>Поиск с помощью языка запросов XPath.</a:t>
            </a:r>
          </a:p>
          <a:p>
            <a:pPr marL="0" indent="0">
              <a:buNone/>
            </a:pPr>
            <a:r>
              <a:rPr lang="ru-RU" sz="1600" dirty="0"/>
              <a:t>Очень удобно искать элементы с помощью CSS-селекторов. Можно покрыть почти все ситуации и код выглядит читабельным, но в реальности в разных случаях может понадобиться использовать и другие методы поиска.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sz="16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6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0833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Структура веб-страницы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Мы уже знаем, что  язык CSS используется для описания внешнего вида страницы, которая написана с помощью языка разметки HTML. </a:t>
            </a:r>
          </a:p>
          <a:p>
            <a:pPr marL="0" indent="0">
              <a:buNone/>
            </a:pPr>
            <a:r>
              <a:rPr lang="ru-RU" sz="1600" dirty="0"/>
              <a:t>Если мы хотим сказать браузеру, что какую-то кнопку мы хотим сделать зелёной, мы сначала должны задать правило, которое позволяет выделить эту кнопку среди других элементов. Например, это можно сделать с помощью CSS-селектора. Селектор однозначно выделит кнопку среди других элементов html-страницы, а стиль color задаст кнопке цвет green. Синтаксис такого выражения в CSS-файле выглядит так: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>
                <a:solidFill>
                  <a:srgbClr val="0070C0"/>
                </a:solidFill>
              </a:rPr>
              <a:t>button</a:t>
            </a:r>
            <a:r>
              <a:rPr lang="ru-RU" sz="1600" dirty="0"/>
              <a:t> {</a:t>
            </a:r>
          </a:p>
          <a:p>
            <a:pPr marL="0" indent="0">
              <a:buNone/>
            </a:pPr>
            <a:r>
              <a:rPr lang="ru-RU" sz="1600" dirty="0"/>
              <a:t>  color: green;</a:t>
            </a:r>
          </a:p>
          <a:p>
            <a:pPr marL="0" indent="0">
              <a:buNone/>
            </a:pPr>
            <a:r>
              <a:rPr lang="ru-RU" sz="1600" dirty="0"/>
              <a:t>}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button - это селектор, выражение color: green задает цвет элементу button.</a:t>
            </a:r>
          </a:p>
          <a:p>
            <a:pPr marL="0" indent="0">
              <a:buNone/>
            </a:pPr>
            <a:r>
              <a:rPr lang="ru-RU" sz="1600" dirty="0"/>
              <a:t>Знание правил написания CSS-селекторов понадобится и нам, чтобы искать элементы на HTML-странице и взаимодействовать с ними.</a:t>
            </a:r>
          </a:p>
          <a:p>
            <a:pPr marL="0" indent="0">
              <a:buNone/>
            </a:pPr>
            <a:r>
              <a:rPr lang="ru-RU" sz="1600" dirty="0"/>
              <a:t>Также нам понадобится знание трёх особенностей языка HTML: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200" dirty="0"/>
              <a:t>    Страница на языке HTML состоит из элементов, начало и конец элемента задаются с помощью специальных пометок – тегов (tag)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200" dirty="0"/>
              <a:t>    У тегов есть атрибуты, которые определяют свойства элементов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200" dirty="0"/>
              <a:t>    Страница на языке HTML имеет иерархическую структуру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1178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Структура веб-страницы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659906" y="1316215"/>
            <a:ext cx="11049739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/>
              <a:t>HTML-документ представлен в виде дерева элементов.</a:t>
            </a:r>
          </a:p>
          <a:p>
            <a:r>
              <a:rPr lang="ru-RU" sz="1400" b="1" dirty="0"/>
              <a:t>Дерево документа</a:t>
            </a:r>
            <a:r>
              <a:rPr lang="ru-RU" sz="1400" dirty="0"/>
              <a:t> (document tree) — это схема построения документа, которая показывает связи между различными элементами страницы: порядок следования и вложенность элементов. </a:t>
            </a:r>
            <a:endParaRPr lang="en-US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sz="1400" dirty="0"/>
              <a:t>В этом примере пока достаточно понять структуру, содержимое вскоре обсудим.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0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sz="1400" dirty="0"/>
              <a:t>HTML</a:t>
            </a:r>
            <a:r>
              <a:rPr lang="ru-RU" sz="1400" dirty="0"/>
              <a:t> код на странице			                 Иерархическая структура кода в виде дерева(от корневого элемента </a:t>
            </a:r>
            <a:r>
              <a:rPr lang="en-US" sz="1400" dirty="0"/>
              <a:t>html</a:t>
            </a:r>
            <a:r>
              <a:rPr lang="ru-RU" sz="1400" dirty="0"/>
              <a:t> отходят 				                 ветви, заканчивающимися </a:t>
            </a:r>
            <a:r>
              <a:rPr lang="ru-RU" sz="1400" b="1" dirty="0"/>
              <a:t>тегами</a:t>
            </a:r>
            <a:r>
              <a:rPr lang="ru-RU" sz="1400" dirty="0"/>
              <a:t>			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F53F8-EB4F-47AE-B08C-63B8B4B3E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06" y="3423887"/>
            <a:ext cx="4114800" cy="2810205"/>
          </a:xfrm>
          <a:prstGeom prst="rect">
            <a:avLst/>
          </a:prstGeom>
        </p:spPr>
      </p:pic>
      <p:pic>
        <p:nvPicPr>
          <p:cNvPr id="6" name="image290.png" descr="vf-html-document-tree.png">
            <a:extLst>
              <a:ext uri="{FF2B5EF4-FFF2-40B4-BE49-F238E27FC236}">
                <a16:creationId xmlns:a16="http://schemas.microsoft.com/office/drawing/2014/main" id="{DD993454-92BD-40BE-823D-D7387915557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184558" y="3429000"/>
            <a:ext cx="5045383" cy="281020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8247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Структура веб-страницы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1. </a:t>
            </a:r>
            <a:r>
              <a:rPr lang="ru-RU" sz="1600" b="1" dirty="0"/>
              <a:t>Tag – элемент или тег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Начало и конец элементов обрамляются специальными словами – тегами (tag). Задача тегов – обозначить, какой именно тип информации на странице они представляют (картинка, текст, блок, ссылка и так далее). Например: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E2426A"/>
                </a:solidFill>
              </a:rPr>
              <a:t>&lt;p&gt;</a:t>
            </a:r>
            <a:r>
              <a:rPr lang="ru-RU" sz="1600" dirty="0"/>
              <a:t>Здесь написан </a:t>
            </a:r>
            <a:r>
              <a:rPr lang="ru-RU" sz="1600" dirty="0">
                <a:solidFill>
                  <a:schemeClr val="tx1"/>
                </a:solidFill>
              </a:rPr>
              <a:t>текст.</a:t>
            </a:r>
            <a:r>
              <a:rPr lang="ru-RU" sz="1600" dirty="0">
                <a:solidFill>
                  <a:srgbClr val="E2426A"/>
                </a:solidFill>
              </a:rPr>
              <a:t>&lt;/p&gt;</a:t>
            </a:r>
          </a:p>
          <a:p>
            <a:pPr marL="0" indent="0">
              <a:buNone/>
            </a:pPr>
            <a:r>
              <a:rPr lang="ru-RU" sz="1600" dirty="0"/>
              <a:t>В первом примере элемент обозначен открывающим (&lt;p&gt;) и закрывающим (&lt;/p&gt;) тегами, между тегами помещён текст, который увидит пользователь. 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ru-RU" sz="1600" b="1" dirty="0"/>
              <a:t>2. Attribute – атрибуты или свойства элемента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Элементам можно задавать различные стандартные свойства, а также создавать собственные свойства или атрибуты. Атрибуты обычно имеют вид: </a:t>
            </a:r>
            <a:r>
              <a:rPr lang="ru-RU" sz="1600" b="1" dirty="0"/>
              <a:t>имя="значение". </a:t>
            </a:r>
            <a:r>
              <a:rPr lang="ru-RU" sz="1600" dirty="0"/>
              <a:t>Иногда знак "=" и значение могут быть опущены или значение может быть пустой строкой: </a:t>
            </a:r>
            <a:r>
              <a:rPr lang="ru-RU" sz="1600" b="1" dirty="0"/>
              <a:t>имя=""</a:t>
            </a:r>
            <a:r>
              <a:rPr lang="ru-RU" sz="1600" dirty="0"/>
              <a:t>.</a:t>
            </a:r>
          </a:p>
          <a:p>
            <a:pPr marL="0" indent="0">
              <a:buNone/>
            </a:pPr>
            <a:r>
              <a:rPr lang="ru-RU" sz="1600" dirty="0"/>
              <a:t>В примере ниже помимо тегов и текста добавлен еще атрибут </a:t>
            </a:r>
            <a:r>
              <a:rPr lang="ru-RU" sz="1600" b="1" dirty="0"/>
              <a:t>href</a:t>
            </a:r>
            <a:r>
              <a:rPr lang="ru-RU" sz="1600" dirty="0"/>
              <a:t>, который задаёт ссылку для тега </a:t>
            </a:r>
            <a:r>
              <a:rPr lang="ru-RU" sz="1600" dirty="0">
                <a:solidFill>
                  <a:srgbClr val="0070C0"/>
                </a:solidFill>
              </a:rPr>
              <a:t>&lt;a&gt;</a:t>
            </a:r>
            <a:r>
              <a:rPr lang="ru-RU" sz="1600" dirty="0"/>
              <a:t>, на которую будет вести текст внутри тега.</a:t>
            </a:r>
          </a:p>
          <a:p>
            <a:pPr marL="0" indent="0">
              <a:buNone/>
            </a:pPr>
            <a:r>
              <a:rPr lang="ru-RU" sz="1600" b="1" dirty="0">
                <a:solidFill>
                  <a:srgbClr val="E2426A"/>
                </a:solidFill>
              </a:rPr>
              <a:t>&lt;html&gt;</a:t>
            </a:r>
            <a:endParaRPr lang="ru-RU" sz="1600" dirty="0"/>
          </a:p>
          <a:p>
            <a:pPr marL="0" indent="0">
              <a:buNone/>
            </a:pPr>
            <a:r>
              <a:rPr lang="ru-RU" sz="1600" dirty="0">
                <a:solidFill>
                  <a:srgbClr val="E2426A"/>
                </a:solidFill>
              </a:rPr>
              <a:t>&lt;a </a:t>
            </a:r>
            <a:r>
              <a:rPr lang="ru-RU" sz="1600" dirty="0">
                <a:solidFill>
                  <a:schemeClr val="tx1"/>
                </a:solidFill>
              </a:rPr>
              <a:t>href</a:t>
            </a:r>
            <a:r>
              <a:rPr lang="ru-RU" sz="1600" dirty="0">
                <a:solidFill>
                  <a:srgbClr val="6E8A28"/>
                </a:solidFill>
              </a:rPr>
              <a:t>="/about"&gt;</a:t>
            </a:r>
            <a:r>
              <a:rPr lang="ru-RU" sz="1600" dirty="0"/>
              <a:t>Посмотреть подробнее</a:t>
            </a:r>
            <a:r>
              <a:rPr lang="ru-RU" sz="1600" dirty="0">
                <a:solidFill>
                  <a:srgbClr val="E2426A"/>
                </a:solidFill>
              </a:rPr>
              <a:t>&lt;/a&gt; </a:t>
            </a:r>
          </a:p>
        </p:txBody>
      </p:sp>
    </p:spTree>
    <p:extLst>
      <p:ext uri="{BB962C8B-B14F-4D97-AF65-F5344CB8AC3E}">
        <p14:creationId xmlns:p14="http://schemas.microsoft.com/office/powerpoint/2010/main" val="250694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Структура веб-страницы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2.1. Атрибут class</a:t>
            </a:r>
          </a:p>
          <a:p>
            <a:pPr marL="0" indent="0">
              <a:buNone/>
            </a:pPr>
            <a:r>
              <a:rPr lang="ru-RU" sz="1600" dirty="0"/>
              <a:t>Классы чаще всего используют для задания правил вёрстки с помощью CSS: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>
                <a:solidFill>
                  <a:srgbClr val="E2426A"/>
                </a:solidFill>
              </a:rPr>
              <a:t>&lt;div </a:t>
            </a:r>
            <a:r>
              <a:rPr lang="ru-RU" sz="1600" dirty="0"/>
              <a:t>class=</a:t>
            </a:r>
            <a:r>
              <a:rPr lang="ru-RU" sz="1600" dirty="0">
                <a:solidFill>
                  <a:srgbClr val="6E8A28"/>
                </a:solidFill>
              </a:rPr>
              <a:t>"simple-text main"</a:t>
            </a:r>
            <a:r>
              <a:rPr lang="ru-RU" sz="1600" dirty="0"/>
              <a:t>&gt;Здесь написан текст.</a:t>
            </a:r>
            <a:r>
              <a:rPr lang="ru-RU" sz="1600" dirty="0">
                <a:solidFill>
                  <a:srgbClr val="E2426A"/>
                </a:solidFill>
              </a:rPr>
              <a:t>&lt;/div&gt;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элементу задано два класса: simple-text и main.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										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      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два, потому что между названиями стоит пробел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tx2"/>
                </a:solidFill>
              </a:rPr>
              <a:t>2.2. Атрибут name </a:t>
            </a:r>
            <a:endParaRPr lang="ru-RU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2"/>
                </a:solidFill>
              </a:rPr>
              <a:t>Свойство name, например, используется для задания якоря (закладки) в html-странице. Этот атрибут тоже можно использовать в качестве селектора для поиска элемента:</a:t>
            </a:r>
          </a:p>
          <a:p>
            <a:pPr marL="0" indent="0">
              <a:buNone/>
            </a:pPr>
            <a:endParaRPr lang="ru-RU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tx2"/>
                </a:solidFill>
              </a:rPr>
              <a:t>  </a:t>
            </a:r>
            <a:r>
              <a:rPr lang="ru-RU" sz="1600" dirty="0">
                <a:solidFill>
                  <a:srgbClr val="E2426A"/>
                </a:solidFill>
              </a:rPr>
              <a:t>&lt;a </a:t>
            </a:r>
            <a:r>
              <a:rPr lang="ru-RU" sz="1600" dirty="0">
                <a:solidFill>
                  <a:schemeClr val="tx2"/>
                </a:solidFill>
              </a:rPr>
              <a:t>name=</a:t>
            </a:r>
            <a:r>
              <a:rPr lang="ru-RU" sz="1600" dirty="0">
                <a:solidFill>
                  <a:srgbClr val="6E8A28"/>
                </a:solidFill>
              </a:rPr>
              <a:t>"top"</a:t>
            </a:r>
            <a:r>
              <a:rPr lang="ru-RU" sz="1600" dirty="0">
                <a:solidFill>
                  <a:srgbClr val="E2426A"/>
                </a:solidFill>
              </a:rPr>
              <a:t>&gt;&lt;/a&gt;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2"/>
                </a:solidFill>
              </a:rPr>
              <a:t>  </a:t>
            </a:r>
            <a:r>
              <a:rPr lang="ru-RU" sz="1600" dirty="0">
                <a:solidFill>
                  <a:srgbClr val="E2426A"/>
                </a:solidFill>
              </a:rPr>
              <a:t>&lt;p&gt;</a:t>
            </a:r>
            <a:r>
              <a:rPr lang="ru-RU" sz="1600" dirty="0">
                <a:solidFill>
                  <a:schemeClr val="tx2"/>
                </a:solidFill>
              </a:rPr>
              <a:t>Длинный текст</a:t>
            </a:r>
            <a:r>
              <a:rPr lang="ru-RU" sz="1600" dirty="0">
                <a:solidFill>
                  <a:srgbClr val="E2426A"/>
                </a:solidFill>
              </a:rPr>
              <a:t>&lt;/p&gt;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2"/>
                </a:solidFill>
              </a:rPr>
              <a:t>  ...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tx2"/>
                </a:solidFill>
              </a:rPr>
              <a:t>  </a:t>
            </a:r>
            <a:r>
              <a:rPr lang="ru-RU" sz="1600" dirty="0">
                <a:solidFill>
                  <a:srgbClr val="E2426A"/>
                </a:solidFill>
              </a:rPr>
              <a:t>&lt;p&gt;&lt;a</a:t>
            </a:r>
            <a:r>
              <a:rPr lang="ru-RU" sz="1600" dirty="0">
                <a:solidFill>
                  <a:schemeClr val="tx2"/>
                </a:solidFill>
              </a:rPr>
              <a:t> href</a:t>
            </a:r>
            <a:r>
              <a:rPr lang="ru-RU" sz="1600" dirty="0">
                <a:solidFill>
                  <a:schemeClr val="tx1"/>
                </a:solidFill>
              </a:rPr>
              <a:t>=</a:t>
            </a:r>
            <a:r>
              <a:rPr lang="ru-RU" sz="1600" dirty="0">
                <a:solidFill>
                  <a:srgbClr val="6E8A28"/>
                </a:solidFill>
              </a:rPr>
              <a:t>"#top"</a:t>
            </a:r>
            <a:r>
              <a:rPr lang="ru-RU" sz="1600" dirty="0">
                <a:solidFill>
                  <a:srgbClr val="E2426A"/>
                </a:solidFill>
              </a:rPr>
              <a:t>&gt;</a:t>
            </a:r>
            <a:r>
              <a:rPr lang="ru-RU" sz="1600" dirty="0">
                <a:solidFill>
                  <a:schemeClr val="tx2"/>
                </a:solidFill>
              </a:rPr>
              <a:t>Наверх</a:t>
            </a:r>
            <a:r>
              <a:rPr lang="ru-RU" sz="1600" dirty="0">
                <a:solidFill>
                  <a:srgbClr val="E2426A"/>
                </a:solidFill>
              </a:rPr>
              <a:t>&lt;/a&gt;&lt;/p&gt; </a:t>
            </a:r>
          </a:p>
        </p:txBody>
      </p:sp>
    </p:spTree>
    <p:extLst>
      <p:ext uri="{BB962C8B-B14F-4D97-AF65-F5344CB8AC3E}">
        <p14:creationId xmlns:p14="http://schemas.microsoft.com/office/powerpoint/2010/main" val="1932027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Структура веб-страницы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2.3. Атрибут id</a:t>
            </a:r>
          </a:p>
          <a:p>
            <a:pPr marL="0" indent="0">
              <a:buNone/>
            </a:pPr>
            <a:r>
              <a:rPr lang="ru-RU" sz="1600" b="1" dirty="0"/>
              <a:t>id</a:t>
            </a:r>
            <a:r>
              <a:rPr lang="ru-RU" sz="1600" dirty="0"/>
              <a:t> – уникальный указатель на элемент. Значение id в общем случае не должно повторяться в пределах страницы: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>
                <a:solidFill>
                  <a:srgbClr val="E2426A"/>
                </a:solidFill>
              </a:rPr>
              <a:t>&lt;button </a:t>
            </a:r>
            <a:r>
              <a:rPr lang="ru-RU" sz="1600" dirty="0"/>
              <a:t>id=</a:t>
            </a:r>
            <a:r>
              <a:rPr lang="ru-RU" sz="1600" dirty="0">
                <a:solidFill>
                  <a:srgbClr val="6E8A28"/>
                </a:solidFill>
              </a:rPr>
              <a:t>"save_button"</a:t>
            </a:r>
            <a:r>
              <a:rPr lang="ru-RU" sz="1600" dirty="0">
                <a:solidFill>
                  <a:srgbClr val="E2426A"/>
                </a:solidFill>
              </a:rPr>
              <a:t>&gt;</a:t>
            </a:r>
            <a:r>
              <a:rPr lang="ru-RU" sz="1600" dirty="0"/>
              <a:t>Сохранить</a:t>
            </a:r>
            <a:r>
              <a:rPr lang="ru-RU" sz="1600" dirty="0">
                <a:solidFill>
                  <a:srgbClr val="E2426A"/>
                </a:solidFill>
              </a:rPr>
              <a:t>&lt;/button&gt;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b="1" dirty="0"/>
              <a:t>Интересный момент</a:t>
            </a:r>
            <a:r>
              <a:rPr lang="en-US" sz="1600" b="1" dirty="0"/>
              <a:t>: </a:t>
            </a:r>
            <a:r>
              <a:rPr lang="ru-RU" sz="1600" dirty="0"/>
              <a:t>в современных JavaScript-фреймворках id-атрибуты чаще всего генерируются динамически самим фреймворком, поэтому </a:t>
            </a:r>
            <a:r>
              <a:rPr lang="ru-RU" sz="1600" u="sng" dirty="0"/>
              <a:t>они изменяются каждый раз при перезагрузке страницы </a:t>
            </a:r>
            <a:r>
              <a:rPr lang="ru-RU" sz="1600" dirty="0"/>
              <a:t>и совершенно нечитабельны, например: id=“</a:t>
            </a:r>
            <a:r>
              <a:rPr lang="en-US" sz="1600" dirty="0" err="1"/>
              <a:t>kyvr</a:t>
            </a:r>
            <a:r>
              <a:rPr lang="ru-RU" sz="1600" dirty="0"/>
              <a:t>sp</a:t>
            </a:r>
            <a:r>
              <a:rPr lang="en-US" sz="1600" dirty="0"/>
              <a:t>g</a:t>
            </a:r>
            <a:r>
              <a:rPr lang="ru-RU" sz="1600" dirty="0"/>
              <a:t>fd". </a:t>
            </a:r>
          </a:p>
          <a:p>
            <a:r>
              <a:rPr lang="ru-RU" sz="1600" dirty="0"/>
              <a:t>В таких случаях вам придется пользоваться другими селекторами или использовать собственные data-атрибуты, об этом узнаем далее. </a:t>
            </a:r>
          </a:p>
          <a:p>
            <a:r>
              <a:rPr lang="ru-RU" sz="1600" dirty="0"/>
              <a:t>Названия классов также могут генерироваться автоматически. Поэтому используйте простое правило: если увидите сложночитаемое значение атрибута или если значение атрибута меняется при перезагрузке страницы, то не используйте его.</a:t>
            </a:r>
          </a:p>
          <a:p>
            <a:r>
              <a:rPr lang="ru-RU" sz="1600" dirty="0"/>
              <a:t>В дальнейших примерах протестируем статические страницы, поэтому пока что вы смело можете использовать описанные здесь CSS-селекторы.</a:t>
            </a:r>
            <a:endParaRPr lang="ru-RU" sz="1600" dirty="0">
              <a:solidFill>
                <a:srgbClr val="E2426A"/>
              </a:solidFill>
            </a:endParaRPr>
          </a:p>
          <a:p>
            <a:pPr marL="0" indent="0">
              <a:buNone/>
            </a:pP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2218858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Структура веб-страницы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840419" y="1163815"/>
            <a:ext cx="1051116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/>
              <a:t>3. Иерархия в HTML-документах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HTML-документ часто сравнивают с моделью семейного древа, в котором есть родители, дети, братья, предки и потомки. Такое сравнение допустимо благодаря возможности вкладывать одни элементы в другие. Вложенные (дочерние) элементы могут, в свою очередь, содержать свои дочерние элементы, следовательно, глубина вложения элементов может быть любой.</a:t>
            </a:r>
          </a:p>
          <a:p>
            <a:pPr marL="0" indent="0">
              <a:buNone/>
            </a:pPr>
            <a:r>
              <a:rPr lang="ru-RU" sz="1200" u="sng" dirty="0"/>
              <a:t>Давайте разберёмся с терминологией данного древа:</a:t>
            </a:r>
            <a:endParaRPr lang="ru-RU" sz="1200" dirty="0"/>
          </a:p>
          <a:p>
            <a:r>
              <a:rPr lang="ru-RU" sz="1200" dirty="0"/>
              <a:t>потомок элемента X – элемент любой степени вложенности внутри элемента X;</a:t>
            </a:r>
          </a:p>
          <a:p>
            <a:r>
              <a:rPr lang="ru-RU" sz="1200" dirty="0"/>
              <a:t>ребёнок или дочерний элемент — прямой потомок (т.е. элемент на первом уровне вложенности);</a:t>
            </a:r>
          </a:p>
          <a:p>
            <a:r>
              <a:rPr lang="ru-RU" sz="1200" dirty="0"/>
              <a:t>предок элемента Y – любой элемент X, который включает себя элемент Y;</a:t>
            </a:r>
          </a:p>
          <a:p>
            <a:r>
              <a:rPr lang="ru-RU" sz="1200" dirty="0"/>
              <a:t>родитель — это прямой предок (т.е. элемент, который расположен выше строго на 1 уровень);</a:t>
            </a:r>
          </a:p>
          <a:p>
            <a:r>
              <a:rPr lang="ru-RU" sz="1200" dirty="0"/>
              <a:t>братский или соседний элемент – элемент X, который расположен на одном уровне иерархии с элементом Y. Элементы X и Y имеют одного родителя.</a:t>
            </a:r>
          </a:p>
          <a:p>
            <a:pPr marL="0" indent="0">
              <a:buNone/>
            </a:pPr>
            <a:endParaRPr lang="ru-RU" sz="1600" dirty="0"/>
          </a:p>
        </p:txBody>
      </p:sp>
      <p:pic>
        <p:nvPicPr>
          <p:cNvPr id="6" name="image176.png" descr="vf-parent-child.png">
            <a:extLst>
              <a:ext uri="{FF2B5EF4-FFF2-40B4-BE49-F238E27FC236}">
                <a16:creationId xmlns:a16="http://schemas.microsoft.com/office/drawing/2014/main" id="{13F9BD94-936B-4778-94C8-AC486A21046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40419" y="4044430"/>
            <a:ext cx="4762500" cy="212407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63211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Структура веб-страницы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ru-RU" sz="1400" dirty="0"/>
              <a:t>Для работы с элементами, нам нужно открыть код элемента в браузере</a:t>
            </a:r>
            <a:r>
              <a:rPr lang="en-US" sz="1400" dirty="0"/>
              <a:t>:</a:t>
            </a:r>
            <a:endParaRPr lang="ru-RU" sz="1400" dirty="0"/>
          </a:p>
          <a:p>
            <a:pPr marL="0" indent="0">
              <a:buClr>
                <a:schemeClr val="accent1"/>
              </a:buClr>
              <a:buNone/>
            </a:pPr>
            <a:r>
              <a:rPr lang="ru-RU" sz="1400" b="1" dirty="0"/>
              <a:t>Алгоритм просмотра кода элемента</a:t>
            </a:r>
            <a:r>
              <a:rPr lang="en-US" sz="1400" b="1" dirty="0"/>
              <a:t> </a:t>
            </a:r>
            <a:r>
              <a:rPr lang="ru-RU" sz="1400" b="1" dirty="0"/>
              <a:t>(кнопки, иконки, текста и т.д.)</a:t>
            </a:r>
            <a:r>
              <a:rPr lang="en-US" sz="1400" b="1" dirty="0"/>
              <a:t>:</a:t>
            </a:r>
            <a:endParaRPr lang="ru-RU" sz="1400" b="1" dirty="0"/>
          </a:p>
          <a:p>
            <a:pPr marL="342900" indent="-342900">
              <a:buClr>
                <a:schemeClr val="accent1"/>
              </a:buClr>
              <a:buAutoNum type="arabicPeriod"/>
            </a:pPr>
            <a:r>
              <a:rPr lang="ru-RU" sz="1400" dirty="0"/>
              <a:t>Навести курсор на элемент</a:t>
            </a:r>
          </a:p>
          <a:p>
            <a:pPr marL="342900" indent="-342900">
              <a:buClr>
                <a:schemeClr val="accent1"/>
              </a:buClr>
              <a:buAutoNum type="arabicPeriod"/>
            </a:pPr>
            <a:r>
              <a:rPr lang="ru-RU" sz="1400" dirty="0"/>
              <a:t>Нажать правой кнопкой мыши</a:t>
            </a:r>
          </a:p>
          <a:p>
            <a:pPr marL="342900" indent="-342900">
              <a:buClr>
                <a:schemeClr val="accent1"/>
              </a:buClr>
              <a:buAutoNum type="arabicPeriod"/>
            </a:pPr>
            <a:r>
              <a:rPr lang="ru-RU" sz="1400" dirty="0"/>
              <a:t>Выбрать опцию </a:t>
            </a:r>
            <a:r>
              <a:rPr lang="en-US" sz="1400" dirty="0"/>
              <a:t>“</a:t>
            </a:r>
            <a:r>
              <a:rPr lang="ru-RU" sz="1400" dirty="0"/>
              <a:t>Просмотреть код</a:t>
            </a:r>
            <a:r>
              <a:rPr lang="en-US" sz="1400" dirty="0"/>
              <a:t>”</a:t>
            </a:r>
            <a:endParaRPr lang="ru-RU" sz="1400" dirty="0"/>
          </a:p>
          <a:p>
            <a:pPr marL="0" indent="0">
              <a:buClr>
                <a:schemeClr val="accent1"/>
              </a:buClr>
              <a:buNone/>
            </a:pPr>
            <a:r>
              <a:rPr lang="ru-RU" sz="1400" dirty="0"/>
              <a:t>Результат</a:t>
            </a:r>
            <a:r>
              <a:rPr lang="en-US" sz="1400" dirty="0"/>
              <a:t>:</a:t>
            </a:r>
            <a:r>
              <a:rPr lang="ru-RU" sz="1400" dirty="0"/>
              <a:t> откроется вкладка </a:t>
            </a:r>
            <a:r>
              <a:rPr lang="en-US" sz="1400" dirty="0"/>
              <a:t>Elements</a:t>
            </a:r>
            <a:r>
              <a:rPr lang="ru-RU" sz="1400" dirty="0"/>
              <a:t>, строка с кодом выбранного элемента подсвечена синим цветом</a:t>
            </a:r>
            <a:r>
              <a:rPr lang="ru-RU" sz="1200" dirty="0"/>
              <a:t>.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Note:</a:t>
            </a:r>
            <a:r>
              <a:rPr lang="ru-RU" sz="1200" dirty="0"/>
              <a:t> можно использовать и другие варианты открытия вкладки</a:t>
            </a:r>
            <a:r>
              <a:rPr lang="en-US" sz="1200" dirty="0"/>
              <a:t> Elements: </a:t>
            </a:r>
            <a:r>
              <a:rPr lang="en-US" sz="1200" b="1" dirty="0"/>
              <a:t>F12</a:t>
            </a:r>
            <a:r>
              <a:rPr lang="en-US" sz="1200" dirty="0"/>
              <a:t> </a:t>
            </a:r>
            <a:r>
              <a:rPr lang="ru-RU" sz="1200" dirty="0"/>
              <a:t>или </a:t>
            </a:r>
            <a:r>
              <a:rPr lang="en-US" sz="1200" b="1" dirty="0"/>
              <a:t>CTRL </a:t>
            </a:r>
            <a:r>
              <a:rPr lang="en-US" sz="1200" dirty="0"/>
              <a:t>+ </a:t>
            </a:r>
            <a:r>
              <a:rPr lang="en-US" sz="1200" b="1" dirty="0"/>
              <a:t>SHIFT </a:t>
            </a:r>
            <a:r>
              <a:rPr lang="en-US" sz="1200" dirty="0"/>
              <a:t>+</a:t>
            </a:r>
            <a:r>
              <a:rPr lang="en-US" sz="1200" b="1" dirty="0"/>
              <a:t> I </a:t>
            </a:r>
            <a:endParaRPr lang="ru-RU" sz="1200" b="1" dirty="0"/>
          </a:p>
          <a:p>
            <a:pPr marL="0" indent="0">
              <a:buNone/>
            </a:pPr>
            <a:endParaRPr lang="ru-RU" sz="1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844624-EC15-4BF8-A1CC-61DE27432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31" y="3445052"/>
            <a:ext cx="6039608" cy="27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53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Определяем тег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ru-RU" sz="1400" dirty="0"/>
              <a:t>Зайдите на сайт</a:t>
            </a:r>
            <a:r>
              <a:rPr lang="en-US" sz="1400" dirty="0"/>
              <a:t>: </a:t>
            </a:r>
            <a:r>
              <a:rPr lang="en-US" sz="1400" dirty="0">
                <a:hlinkClick r:id="rId2"/>
              </a:rPr>
              <a:t>https://mail.ru</a:t>
            </a:r>
            <a:endParaRPr lang="en-US" sz="1400" dirty="0"/>
          </a:p>
          <a:p>
            <a:pPr marL="0" indent="0">
              <a:buClr>
                <a:schemeClr val="accent1"/>
              </a:buClr>
              <a:buNone/>
            </a:pPr>
            <a:r>
              <a:rPr lang="ru-RU" sz="1400" dirty="0"/>
              <a:t>Попробуйте определить тег для кнопки</a:t>
            </a:r>
            <a:r>
              <a:rPr lang="en-US" sz="1400" dirty="0"/>
              <a:t> “</a:t>
            </a:r>
            <a:r>
              <a:rPr lang="ru-RU" sz="1400" dirty="0"/>
              <a:t>Найти</a:t>
            </a:r>
            <a:r>
              <a:rPr lang="en-US" sz="1400" dirty="0"/>
              <a:t>”</a:t>
            </a:r>
            <a:r>
              <a:rPr lang="ru-RU" sz="1400" dirty="0"/>
              <a:t> (код на вкладке </a:t>
            </a:r>
            <a:r>
              <a:rPr lang="en-US" sz="1400" dirty="0"/>
              <a:t>elements)</a:t>
            </a:r>
            <a:endParaRPr lang="ru-RU" sz="1400" dirty="0"/>
          </a:p>
          <a:p>
            <a:pPr marL="0" indent="0">
              <a:buClr>
                <a:schemeClr val="accent1"/>
              </a:buClr>
              <a:buNone/>
            </a:pPr>
            <a:r>
              <a:rPr lang="ru-RU" sz="1400" dirty="0"/>
              <a:t>Варианты для выбора</a:t>
            </a:r>
            <a:r>
              <a:rPr lang="en-US" sz="1400" dirty="0"/>
              <a:t>:</a:t>
            </a:r>
            <a:endParaRPr lang="ru-RU" sz="1400" dirty="0"/>
          </a:p>
          <a:p>
            <a:r>
              <a:rPr lang="en-US" sz="1200" b="1" dirty="0"/>
              <a:t>name</a:t>
            </a:r>
          </a:p>
          <a:p>
            <a:r>
              <a:rPr lang="en-US" sz="1200" b="1" dirty="0" err="1"/>
              <a:t>search_btn</a:t>
            </a:r>
            <a:endParaRPr lang="en-US" sz="1200" b="1" dirty="0"/>
          </a:p>
          <a:p>
            <a:r>
              <a:rPr lang="en-US" sz="1200" b="1" dirty="0"/>
              <a:t>value</a:t>
            </a:r>
          </a:p>
          <a:p>
            <a:r>
              <a:rPr lang="en-US" sz="1200" b="1" dirty="0"/>
              <a:t>type</a:t>
            </a:r>
          </a:p>
          <a:p>
            <a:r>
              <a:rPr lang="en-US" sz="1200" b="1" dirty="0"/>
              <a:t>button</a:t>
            </a:r>
          </a:p>
          <a:p>
            <a:r>
              <a:rPr lang="en-US" sz="1200" b="1" dirty="0"/>
              <a:t>input</a:t>
            </a:r>
          </a:p>
          <a:p>
            <a:r>
              <a:rPr lang="en-US" sz="1200" b="1" dirty="0"/>
              <a:t>class </a:t>
            </a:r>
            <a:endParaRPr lang="ru-RU" sz="1200" b="1" dirty="0"/>
          </a:p>
          <a:p>
            <a:pPr marL="0" indent="0">
              <a:buNone/>
            </a:pPr>
            <a:r>
              <a:rPr lang="ru-RU" sz="1200" dirty="0"/>
              <a:t>Ниже и правее от ответа белым шрифтом написан верный вариант(можете его сделать другим шрифтом или скопировать в блокнот. Попробуйте сначала самостоятельно ответить на вопрос. </a:t>
            </a:r>
          </a:p>
          <a:p>
            <a:pPr marL="0" indent="0">
              <a:buNone/>
            </a:pPr>
            <a:endParaRPr lang="ru-RU" sz="1200" b="1" dirty="0"/>
          </a:p>
          <a:p>
            <a:pPr marL="0" indent="0">
              <a:buNone/>
            </a:pPr>
            <a:endParaRPr lang="ru-RU" sz="1200" b="1" dirty="0"/>
          </a:p>
          <a:p>
            <a:pPr marL="0" indent="0">
              <a:buNone/>
            </a:pPr>
            <a:r>
              <a:rPr lang="ru-RU" sz="1200" dirty="0"/>
              <a:t>ответ серого цвета</a:t>
            </a:r>
          </a:p>
          <a:p>
            <a:pPr marL="0" indent="0">
              <a:buNone/>
            </a:pPr>
            <a:endParaRPr lang="ru-RU" sz="1200" b="1" dirty="0">
              <a:solidFill>
                <a:srgbClr val="F8F8F8"/>
              </a:solidFill>
            </a:endParaRPr>
          </a:p>
          <a:p>
            <a:pPr marL="0" indent="0">
              <a:buNone/>
            </a:pPr>
            <a:r>
              <a:rPr lang="ru-RU" sz="1200" b="1" dirty="0"/>
              <a:t>Ответ</a:t>
            </a:r>
            <a:r>
              <a:rPr lang="en-US" sz="1200" b="1" dirty="0"/>
              <a:t>:</a:t>
            </a:r>
            <a:r>
              <a:rPr lang="en-US" sz="1200" b="1" dirty="0">
                <a:solidFill>
                  <a:srgbClr val="F8F8F8"/>
                </a:solidFill>
              </a:rPr>
              <a:t>button</a:t>
            </a:r>
            <a:endParaRPr lang="ru-RU" sz="1200" b="1" dirty="0"/>
          </a:p>
          <a:p>
            <a:pPr marL="0" indent="0">
              <a:buNone/>
            </a:pPr>
            <a:endParaRPr lang="ru-RU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936794-F53A-4A29-A6DA-8472EF08F4B5}"/>
              </a:ext>
            </a:extLst>
          </p:cNvPr>
          <p:cNvCxnSpPr/>
          <p:nvPr/>
        </p:nvCxnSpPr>
        <p:spPr>
          <a:xfrm>
            <a:off x="1136073" y="5698836"/>
            <a:ext cx="240145" cy="286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798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5" y="-70181"/>
            <a:ext cx="10910656" cy="651668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/>
              <a:t>Шпаргалка </a:t>
            </a:r>
            <a:r>
              <a:rPr lang="en-US" sz="3200" dirty="0"/>
              <a:t>HTML &amp; CSS</a:t>
            </a:r>
            <a:endParaRPr lang="ru-RU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en-US" sz="1400" dirty="0" err="1"/>
              <a:t>gh</a:t>
            </a:r>
            <a:endParaRPr lang="ru-RU" sz="1200" b="1" dirty="0">
              <a:solidFill>
                <a:srgbClr val="F8F8F8"/>
              </a:solidFill>
            </a:endParaRPr>
          </a:p>
          <a:p>
            <a:endParaRPr lang="ru-RU" sz="1200" b="1" dirty="0"/>
          </a:p>
          <a:p>
            <a:pPr marL="0" indent="0">
              <a:buNone/>
            </a:pPr>
            <a:endParaRPr lang="ru-RU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49CBB0-B96C-4D93-B3F1-D9526FAE7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883"/>
            <a:ext cx="5779362" cy="64141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B10474-98BF-445F-9140-A1704688D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362" y="443883"/>
            <a:ext cx="5917566" cy="641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1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Основные атрибуты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ru-RU" sz="1400" dirty="0"/>
              <a:t>Напоследок, важно понять, </a:t>
            </a:r>
            <a:r>
              <a:rPr lang="ru-RU" sz="1400"/>
              <a:t>что в </a:t>
            </a:r>
            <a:r>
              <a:rPr lang="en-US" sz="1400" dirty="0"/>
              <a:t>HTML-</a:t>
            </a:r>
            <a:r>
              <a:rPr lang="ru-RU" sz="1400" dirty="0"/>
              <a:t>странице есть теги, а у них могут быть свои атрибуты</a:t>
            </a:r>
            <a:r>
              <a:rPr lang="en-US" sz="1400" dirty="0"/>
              <a:t> (</a:t>
            </a:r>
            <a:r>
              <a:rPr lang="ru-RU" sz="1400" dirty="0"/>
              <a:t>они идут после тега)</a:t>
            </a:r>
            <a:endParaRPr lang="en-US" sz="1400" dirty="0"/>
          </a:p>
          <a:p>
            <a:pPr marL="0" indent="0">
              <a:buClr>
                <a:schemeClr val="accent1"/>
              </a:buClr>
              <a:buNone/>
            </a:pPr>
            <a:r>
              <a:rPr lang="ru-RU" sz="1400" u="sng" dirty="0"/>
              <a:t>Список часто встречаемых атрибутов</a:t>
            </a:r>
            <a:r>
              <a:rPr lang="en-US" sz="1400" u="sng" dirty="0"/>
              <a:t>:</a:t>
            </a:r>
          </a:p>
          <a:p>
            <a:r>
              <a:rPr lang="en-US" sz="1400" b="1" dirty="0"/>
              <a:t>c</a:t>
            </a:r>
            <a:r>
              <a:rPr lang="ru-RU" sz="1400" b="1" dirty="0"/>
              <a:t>lass </a:t>
            </a:r>
            <a:r>
              <a:rPr lang="ru-RU" sz="1400" dirty="0"/>
              <a:t>-</a:t>
            </a:r>
            <a:r>
              <a:rPr lang="ru-RU" sz="1400" b="1" dirty="0"/>
              <a:t> </a:t>
            </a:r>
            <a:r>
              <a:rPr lang="ru-RU" sz="1400" dirty="0"/>
              <a:t>задает стилевой класс, который позволяет связать определенный тег со стилевым оформлением</a:t>
            </a:r>
            <a:endParaRPr lang="en-US" sz="1400" b="1" dirty="0"/>
          </a:p>
          <a:p>
            <a:r>
              <a:rPr lang="en-US" sz="1400" b="1" dirty="0"/>
              <a:t>name </a:t>
            </a:r>
            <a:r>
              <a:rPr lang="en-US" sz="1400" dirty="0"/>
              <a:t>-</a:t>
            </a:r>
            <a:r>
              <a:rPr lang="en-US" sz="1400" b="1" dirty="0"/>
              <a:t> </a:t>
            </a:r>
            <a:r>
              <a:rPr lang="ru-RU" sz="1400" dirty="0"/>
              <a:t>используется для определения якоря внутри страницы</a:t>
            </a:r>
          </a:p>
          <a:p>
            <a:r>
              <a:rPr lang="ru-RU" sz="1400" b="1" dirty="0"/>
              <a:t>id</a:t>
            </a:r>
            <a:r>
              <a:rPr lang="ru-RU" sz="1400" dirty="0"/>
              <a:t> </a:t>
            </a:r>
            <a:r>
              <a:rPr lang="en-US" sz="1400" dirty="0"/>
              <a:t>- </a:t>
            </a:r>
            <a:r>
              <a:rPr lang="ru-RU" sz="1400" dirty="0"/>
              <a:t>универсальный атрибут, представляет собой уникальный идентификатор элемента на странице </a:t>
            </a:r>
            <a:endParaRPr lang="en-US" sz="1400" dirty="0"/>
          </a:p>
          <a:p>
            <a:r>
              <a:rPr lang="en-US" sz="1400" b="1" dirty="0"/>
              <a:t>src</a:t>
            </a:r>
            <a:r>
              <a:rPr lang="en-US" sz="1400" dirty="0"/>
              <a:t> - </a:t>
            </a:r>
            <a:r>
              <a:rPr lang="ru-RU" sz="1400" dirty="0"/>
              <a:t>для тега &lt;img&gt; задает ссылку на источник изображения </a:t>
            </a:r>
          </a:p>
          <a:p>
            <a:r>
              <a:rPr lang="ru-RU" sz="1400" b="1" dirty="0"/>
              <a:t>href</a:t>
            </a:r>
            <a:r>
              <a:rPr lang="ru-RU" sz="1400" dirty="0"/>
              <a:t> </a:t>
            </a:r>
            <a:r>
              <a:rPr lang="en-US" sz="1400" dirty="0"/>
              <a:t>- </a:t>
            </a:r>
            <a:r>
              <a:rPr lang="ru-RU" sz="1400" dirty="0"/>
              <a:t>для тега &lt;a&gt; задаёт адрес ссылки </a:t>
            </a:r>
          </a:p>
          <a:p>
            <a:r>
              <a:rPr lang="ru-RU" sz="1400" b="1" dirty="0"/>
              <a:t>target</a:t>
            </a:r>
            <a:r>
              <a:rPr lang="ru-RU" sz="1400" dirty="0"/>
              <a:t> </a:t>
            </a:r>
            <a:r>
              <a:rPr lang="en-US" sz="1400" dirty="0"/>
              <a:t> - </a:t>
            </a:r>
            <a:r>
              <a:rPr lang="ru-RU" sz="1400" dirty="0"/>
              <a:t>для тега &lt;a&gt; указывает, как именно открыть ссылку: в текущем окне или в новом </a:t>
            </a:r>
          </a:p>
          <a:p>
            <a:r>
              <a:rPr lang="ru-RU" sz="1400" b="1" dirty="0"/>
              <a:t>title</a:t>
            </a:r>
            <a:r>
              <a:rPr lang="ru-RU" sz="1400" dirty="0"/>
              <a:t> </a:t>
            </a:r>
            <a:r>
              <a:rPr lang="en-US" sz="1400" dirty="0"/>
              <a:t>-</a:t>
            </a:r>
            <a:r>
              <a:rPr lang="ru-RU" sz="1400" dirty="0"/>
              <a:t>универсальный атрибут, задаёт всплывающую подсказку по наведению на элемент</a:t>
            </a:r>
            <a:endParaRPr lang="en-US" sz="1400" dirty="0"/>
          </a:p>
          <a:p>
            <a:r>
              <a:rPr lang="ru-RU" sz="1400" b="1" dirty="0"/>
              <a:t>placeholder</a:t>
            </a:r>
            <a:r>
              <a:rPr lang="ru-RU" sz="1400" dirty="0"/>
              <a:t> </a:t>
            </a:r>
            <a:r>
              <a:rPr lang="en-US" sz="1400" dirty="0"/>
              <a:t>- </a:t>
            </a:r>
            <a:r>
              <a:rPr lang="ru-RU" sz="1400" dirty="0"/>
              <a:t>для тега &lt;input&gt; добавляет текст внутри текстового поля, который исчезает при получении фокуса </a:t>
            </a:r>
          </a:p>
          <a:p>
            <a:r>
              <a:rPr lang="ru-RU" sz="1400" b="1" dirty="0"/>
              <a:t>required </a:t>
            </a:r>
            <a:r>
              <a:rPr lang="en-US" sz="1400" dirty="0"/>
              <a:t>- </a:t>
            </a:r>
            <a:r>
              <a:rPr lang="ru-RU" sz="1400" dirty="0"/>
              <a:t>для тега &lt;input&gt; помечает поле как обязательное для заполнения </a:t>
            </a:r>
          </a:p>
          <a:p>
            <a:r>
              <a:rPr lang="ru-RU" sz="1400" b="1" dirty="0"/>
              <a:t>type</a:t>
            </a:r>
            <a:r>
              <a:rPr lang="ru-RU" sz="1400" dirty="0"/>
              <a:t> </a:t>
            </a:r>
            <a:r>
              <a:rPr lang="en-US" sz="1400" dirty="0"/>
              <a:t>- </a:t>
            </a:r>
            <a:r>
              <a:rPr lang="ru-RU" sz="1400" dirty="0"/>
              <a:t>для тега &lt;input&gt; указывает, какой тип информации будет вводиться пользователем </a:t>
            </a:r>
          </a:p>
          <a:p>
            <a:r>
              <a:rPr lang="ru-RU" sz="1400" b="1" dirty="0"/>
              <a:t>checked</a:t>
            </a:r>
            <a:r>
              <a:rPr lang="ru-RU" sz="1400" dirty="0"/>
              <a:t> </a:t>
            </a:r>
            <a:r>
              <a:rPr lang="en-US" sz="1400" dirty="0"/>
              <a:t>- </a:t>
            </a:r>
            <a:r>
              <a:rPr lang="ru-RU" sz="1400" dirty="0"/>
              <a:t>для тега &lt;input&gt; указывает на то, выбран ли заранее флажок-переключатель </a:t>
            </a:r>
          </a:p>
          <a:p>
            <a:r>
              <a:rPr lang="ru-RU" sz="1400" b="1" dirty="0"/>
              <a:t>disabled</a:t>
            </a:r>
            <a:r>
              <a:rPr lang="ru-RU" sz="1400" dirty="0"/>
              <a:t> </a:t>
            </a:r>
            <a:r>
              <a:rPr lang="en-US" sz="1400" dirty="0"/>
              <a:t>- </a:t>
            </a:r>
            <a:r>
              <a:rPr lang="ru-RU" sz="1400" dirty="0"/>
              <a:t>для тега &lt;button&gt; указывает на то, что кнопка заблокирована </a:t>
            </a:r>
          </a:p>
          <a:p>
            <a:pPr marL="0" indent="0">
              <a:buNone/>
            </a:pPr>
            <a:r>
              <a:rPr lang="ru-RU" sz="1400" dirty="0"/>
              <a:t> </a:t>
            </a:r>
          </a:p>
          <a:p>
            <a:endParaRPr lang="ru-RU" sz="1400" dirty="0"/>
          </a:p>
          <a:p>
            <a:pPr marL="0" indent="0">
              <a:buNone/>
            </a:pP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1634367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Определяем атрибуты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ru-RU" sz="1400" dirty="0"/>
              <a:t>Зайдите на сайт</a:t>
            </a:r>
            <a:r>
              <a:rPr lang="en-US" sz="1400" dirty="0"/>
              <a:t>: </a:t>
            </a:r>
            <a:r>
              <a:rPr lang="en-US" sz="1400" dirty="0">
                <a:hlinkClick r:id="rId2"/>
              </a:rPr>
              <a:t>https://mail.ru</a:t>
            </a:r>
            <a:endParaRPr lang="en-US" sz="1400" dirty="0"/>
          </a:p>
          <a:p>
            <a:pPr marL="0" indent="0">
              <a:buClr>
                <a:schemeClr val="accent1"/>
              </a:buClr>
              <a:buNone/>
            </a:pPr>
            <a:r>
              <a:rPr lang="ru-RU" sz="1400" dirty="0"/>
              <a:t>Попробуйте определить атрибуты для кнопки</a:t>
            </a:r>
            <a:r>
              <a:rPr lang="en-US" sz="1400" dirty="0"/>
              <a:t> “</a:t>
            </a:r>
            <a:r>
              <a:rPr lang="ru-RU" sz="1400" dirty="0"/>
              <a:t>Найти</a:t>
            </a:r>
            <a:r>
              <a:rPr lang="en-US" sz="1400" dirty="0"/>
              <a:t>”</a:t>
            </a:r>
            <a:endParaRPr lang="ru-RU" sz="1400" dirty="0"/>
          </a:p>
          <a:p>
            <a:pPr marL="0" indent="0">
              <a:buClr>
                <a:schemeClr val="accent1"/>
              </a:buClr>
              <a:buNone/>
            </a:pPr>
            <a:r>
              <a:rPr lang="ru-RU" sz="1400" dirty="0"/>
              <a:t>Варианты для выбора</a:t>
            </a:r>
            <a:r>
              <a:rPr lang="en-US" sz="1400" dirty="0"/>
              <a:t>:</a:t>
            </a:r>
            <a:endParaRPr lang="ru-RU" sz="1400" dirty="0"/>
          </a:p>
          <a:p>
            <a:r>
              <a:rPr lang="en-US" sz="1200" b="1" dirty="0"/>
              <a:t>id</a:t>
            </a:r>
          </a:p>
          <a:p>
            <a:r>
              <a:rPr lang="en-US" sz="1200" b="1" dirty="0"/>
              <a:t>name</a:t>
            </a:r>
          </a:p>
          <a:p>
            <a:r>
              <a:rPr lang="en-US" sz="1200" b="1" dirty="0"/>
              <a:t>sf.chk</a:t>
            </a:r>
          </a:p>
          <a:p>
            <a:r>
              <a:rPr lang="en-US" sz="1200" b="1" dirty="0"/>
              <a:t>value</a:t>
            </a:r>
          </a:p>
          <a:p>
            <a:r>
              <a:rPr lang="en-US" sz="1200" b="1" dirty="0"/>
              <a:t>type</a:t>
            </a:r>
          </a:p>
          <a:p>
            <a:r>
              <a:rPr lang="en-US" sz="1200" b="1" dirty="0"/>
              <a:t>tabindex</a:t>
            </a:r>
          </a:p>
          <a:p>
            <a:r>
              <a:rPr lang="en-US" sz="1200" b="1" dirty="0"/>
              <a:t>input</a:t>
            </a:r>
          </a:p>
          <a:p>
            <a:r>
              <a:rPr lang="en-US" sz="1200" b="1" dirty="0"/>
              <a:t>class </a:t>
            </a:r>
            <a:endParaRPr lang="ru-RU" sz="1200" b="1" dirty="0"/>
          </a:p>
          <a:p>
            <a:pPr marL="0" indent="0">
              <a:buNone/>
            </a:pPr>
            <a:r>
              <a:rPr lang="ru-RU" sz="1200" dirty="0"/>
              <a:t>Ниже и правее от ответа белым шрифтом написан верный вариант(можете его сделать другим шрифтом или скопировать в блокнот. Попробуйте сначала самостоятельно ответить на вопрос. </a:t>
            </a:r>
          </a:p>
          <a:p>
            <a:pPr marL="0" indent="0">
              <a:buNone/>
            </a:pPr>
            <a:endParaRPr lang="ru-RU" sz="1200" b="1" dirty="0"/>
          </a:p>
          <a:p>
            <a:pPr marL="0" indent="0">
              <a:buNone/>
            </a:pPr>
            <a:endParaRPr lang="ru-RU" sz="1200" b="1" dirty="0"/>
          </a:p>
          <a:p>
            <a:pPr marL="0" indent="0">
              <a:buNone/>
            </a:pPr>
            <a:r>
              <a:rPr lang="ru-RU" sz="1200" dirty="0"/>
              <a:t>ответ серого цвета</a:t>
            </a:r>
          </a:p>
          <a:p>
            <a:pPr marL="0" indent="0">
              <a:buNone/>
            </a:pPr>
            <a:endParaRPr lang="ru-RU" sz="1200" b="1" dirty="0">
              <a:solidFill>
                <a:srgbClr val="F8F8F8"/>
              </a:solidFill>
            </a:endParaRPr>
          </a:p>
          <a:p>
            <a:pPr marL="0" indent="0">
              <a:buNone/>
            </a:pPr>
            <a:r>
              <a:rPr lang="ru-RU" sz="1200" b="1" dirty="0"/>
              <a:t>Ответ</a:t>
            </a:r>
            <a:r>
              <a:rPr lang="en-US" sz="1200" b="1" dirty="0"/>
              <a:t>:</a:t>
            </a:r>
            <a:r>
              <a:rPr lang="en-US" sz="1200" b="1" dirty="0">
                <a:solidFill>
                  <a:srgbClr val="F8F8F8"/>
                </a:solidFill>
              </a:rPr>
              <a:t>id, class, type, tabindex</a:t>
            </a:r>
            <a:endParaRPr lang="ru-RU" sz="1200" b="1" dirty="0"/>
          </a:p>
          <a:p>
            <a:pPr marL="0" indent="0">
              <a:buNone/>
            </a:pPr>
            <a:endParaRPr lang="ru-RU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936794-F53A-4A29-A6DA-8472EF08F4B5}"/>
              </a:ext>
            </a:extLst>
          </p:cNvPr>
          <p:cNvCxnSpPr/>
          <p:nvPr/>
        </p:nvCxnSpPr>
        <p:spPr>
          <a:xfrm>
            <a:off x="1136073" y="5698836"/>
            <a:ext cx="240145" cy="286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881006-000B-407A-B452-351427BF635F}"/>
              </a:ext>
            </a:extLst>
          </p:cNvPr>
          <p:cNvCxnSpPr>
            <a:cxnSpLocks/>
          </p:cNvCxnSpPr>
          <p:nvPr/>
        </p:nvCxnSpPr>
        <p:spPr>
          <a:xfrm flipH="1">
            <a:off x="2744409" y="5694185"/>
            <a:ext cx="158590" cy="249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307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Практика по тегам и атрибутам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6565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/>
              <a:t>В этой задаче вы опишете несколько элементов самостоятельно, чтобы еще лучше ориентироваться в устройстве HTML-странички.</a:t>
            </a:r>
          </a:p>
          <a:p>
            <a:pPr marL="0" indent="0">
              <a:buNone/>
            </a:pPr>
            <a:r>
              <a:rPr lang="ru-RU" sz="1300" dirty="0"/>
              <a:t>Предлагаем вам сверстать небольшую веб-страничку о своем питомце или о любом другом зверьке, которой вы хотели бы поделиться с миром.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300" dirty="0"/>
              <a:t>Откройте сайт</a:t>
            </a:r>
            <a:r>
              <a:rPr lang="en-US" sz="1300" dirty="0"/>
              <a:t>:</a:t>
            </a:r>
            <a:r>
              <a:rPr lang="ru-RU" sz="1300" dirty="0"/>
              <a:t> </a:t>
            </a:r>
            <a:r>
              <a:rPr lang="en-US" sz="1300" dirty="0">
                <a:hlinkClick r:id="rId2"/>
              </a:rPr>
              <a:t>https://jsbin.com/toperuvoke/edit?html,css,output</a:t>
            </a:r>
            <a:r>
              <a:rPr lang="ru-RU" sz="1300" dirty="0"/>
              <a:t> 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ru-RU" sz="1300" b="1" dirty="0"/>
              <a:t>Скопируйте код ниже на сайт в часть</a:t>
            </a:r>
            <a:r>
              <a:rPr lang="en-US" sz="1300" b="1" dirty="0"/>
              <a:t> HTML</a:t>
            </a:r>
            <a:r>
              <a:rPr lang="ru-RU" sz="1300" dirty="0"/>
              <a:t>			 </a:t>
            </a:r>
            <a:r>
              <a:rPr lang="ru-RU" sz="1300" b="1" dirty="0"/>
              <a:t>Скопируйте код ниже  на сайт в часть</a:t>
            </a:r>
            <a:r>
              <a:rPr lang="en-US" sz="1300" b="1" dirty="0"/>
              <a:t> CSS</a:t>
            </a:r>
            <a:endParaRPr lang="ru-RU" sz="1300" b="1" dirty="0"/>
          </a:p>
          <a:p>
            <a:pPr marL="0" indent="0">
              <a:buClr>
                <a:schemeClr val="accent1"/>
              </a:buClr>
              <a:buNone/>
            </a:pPr>
            <a:r>
              <a:rPr lang="en-US" sz="1300" dirty="0"/>
              <a:t>&lt;!DOCTYPE HTML&gt;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300" dirty="0"/>
              <a:t>&lt;html&gt;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300" dirty="0"/>
              <a:t> &lt;body&gt;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300" dirty="0"/>
              <a:t>  &lt;h1&gt;Look at my awesome pet:&lt;/h1&gt;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300" dirty="0"/>
              <a:t>  &lt;img </a:t>
            </a:r>
            <a:r>
              <a:rPr lang="en-US" sz="1300" dirty="0" err="1"/>
              <a:t>src</a:t>
            </a:r>
            <a:r>
              <a:rPr lang="en-US" sz="1300" dirty="0"/>
              <a:t>=""&gt;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300" dirty="0"/>
              <a:t>  &lt;div&gt;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300" dirty="0"/>
          </a:p>
          <a:p>
            <a:pPr marL="0" indent="0">
              <a:buClr>
                <a:schemeClr val="accent1"/>
              </a:buClr>
              <a:buNone/>
            </a:pPr>
            <a:r>
              <a:rPr lang="en-US" sz="1300" dirty="0"/>
              <a:t>  &lt;/div&gt;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300" dirty="0"/>
              <a:t> &lt;/body&gt;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300" dirty="0"/>
              <a:t>&lt;/html&gt;</a:t>
            </a:r>
            <a:endParaRPr lang="ru-RU" sz="1300" dirty="0"/>
          </a:p>
          <a:p>
            <a:pPr marL="342900" indent="-342900">
              <a:buFont typeface="+mj-lt"/>
              <a:buAutoNum type="arabicPeriod" startAt="3"/>
            </a:pPr>
            <a:r>
              <a:rPr lang="ru-RU" sz="1400" dirty="0"/>
              <a:t>Прочтите вторую часть задания с объяснениями на следующем слайде</a:t>
            </a:r>
          </a:p>
          <a:p>
            <a:pPr marL="0" indent="0">
              <a:buNone/>
            </a:pPr>
            <a:endParaRPr lang="ru-RU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A4BB4-F7AE-493E-ACA6-C9A4177A88C1}"/>
              </a:ext>
            </a:extLst>
          </p:cNvPr>
          <p:cNvSpPr txBox="1"/>
          <p:nvPr/>
        </p:nvSpPr>
        <p:spPr>
          <a:xfrm>
            <a:off x="5778624" y="2691177"/>
            <a:ext cx="1944949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1300" dirty="0"/>
              <a:t>.picture  {</a:t>
            </a:r>
          </a:p>
          <a:p>
            <a:pPr>
              <a:buClr>
                <a:schemeClr val="accent1"/>
              </a:buClr>
            </a:pPr>
            <a:r>
              <a:rPr lang="en-US" sz="1300" dirty="0"/>
              <a:t>    width:100%;</a:t>
            </a:r>
          </a:p>
          <a:p>
            <a:pPr>
              <a:buClr>
                <a:schemeClr val="accent1"/>
              </a:buClr>
            </a:pPr>
            <a:r>
              <a:rPr lang="en-US" sz="1300" dirty="0"/>
              <a:t>    max-width:200px;</a:t>
            </a:r>
          </a:p>
          <a:p>
            <a:pPr>
              <a:buClr>
                <a:schemeClr val="accent1"/>
              </a:buClr>
            </a:pPr>
            <a:r>
              <a:rPr lang="en-US" sz="1300" dirty="0"/>
              <a:t>}</a:t>
            </a:r>
          </a:p>
          <a:p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3376843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Практика по тегам и атрибутам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/>
              <a:t>Для удобства, ниже кода в </a:t>
            </a:r>
            <a:r>
              <a:rPr lang="en-US" sz="1400" dirty="0"/>
              <a:t>html </a:t>
            </a:r>
            <a:r>
              <a:rPr lang="ru-RU" sz="1400" dirty="0"/>
              <a:t>части скопируйте себе чек-лист (текст в кавычках ниже)</a:t>
            </a:r>
            <a:r>
              <a:rPr lang="en-US" sz="1400" dirty="0"/>
              <a:t>: </a:t>
            </a:r>
            <a:endParaRPr lang="ru-RU" sz="1400" dirty="0"/>
          </a:p>
          <a:p>
            <a:pPr marL="0" indent="0">
              <a:buNone/>
            </a:pPr>
            <a:r>
              <a:rPr lang="en-US" sz="1400" b="1" dirty="0"/>
              <a:t>“</a:t>
            </a:r>
            <a:r>
              <a:rPr lang="ru-RU" sz="1400" dirty="0"/>
              <a:t>&lt;!--Добавьте элемент-картинку с классом </a:t>
            </a:r>
            <a:r>
              <a:rPr lang="en-US" sz="1400" dirty="0"/>
              <a:t>picture</a:t>
            </a:r>
          </a:p>
          <a:p>
            <a:pPr marL="0" indent="0">
              <a:buNone/>
            </a:pPr>
            <a:r>
              <a:rPr lang="ru-RU" sz="1400" dirty="0"/>
              <a:t>Добавить элементу </a:t>
            </a:r>
            <a:r>
              <a:rPr lang="en-US" sz="1400" dirty="0"/>
              <a:t>div </a:t>
            </a:r>
            <a:r>
              <a:rPr lang="ru-RU" sz="1400" dirty="0"/>
              <a:t>атрибут </a:t>
            </a:r>
            <a:r>
              <a:rPr lang="en-US" sz="1400" dirty="0"/>
              <a:t>name </a:t>
            </a:r>
            <a:r>
              <a:rPr lang="ru-RU" sz="1400" dirty="0"/>
              <a:t>со значением </a:t>
            </a:r>
            <a:r>
              <a:rPr lang="en-US" sz="1400" dirty="0"/>
              <a:t>about</a:t>
            </a:r>
          </a:p>
          <a:p>
            <a:pPr marL="0" indent="0">
              <a:buNone/>
            </a:pPr>
            <a:r>
              <a:rPr lang="ru-RU" sz="1400" dirty="0"/>
              <a:t>Добавить элементу </a:t>
            </a:r>
            <a:r>
              <a:rPr lang="en-US" sz="1400" dirty="0"/>
              <a:t>div </a:t>
            </a:r>
            <a:r>
              <a:rPr lang="ru-RU" sz="1400" dirty="0"/>
              <a:t>потомка-заголовок с тегом </a:t>
            </a:r>
            <a:r>
              <a:rPr lang="en-US" sz="1400" dirty="0"/>
              <a:t>h3 </a:t>
            </a:r>
            <a:r>
              <a:rPr lang="ru-RU" sz="1400" dirty="0"/>
              <a:t>и потомка-текст с тегом </a:t>
            </a:r>
            <a:r>
              <a:rPr lang="en-US" sz="1400" dirty="0"/>
              <a:t>p</a:t>
            </a:r>
          </a:p>
          <a:p>
            <a:pPr marL="0" indent="0">
              <a:buNone/>
            </a:pPr>
            <a:r>
              <a:rPr lang="ru-RU" sz="1400" dirty="0"/>
              <a:t>Добавить элементу-заголовку </a:t>
            </a:r>
            <a:r>
              <a:rPr lang="en-US" sz="1400" dirty="0"/>
              <a:t>h3 </a:t>
            </a:r>
            <a:r>
              <a:rPr lang="ru-RU" sz="1400" dirty="0"/>
              <a:t>атрибут </a:t>
            </a:r>
            <a:r>
              <a:rPr lang="en-US" sz="1400" dirty="0"/>
              <a:t>id </a:t>
            </a:r>
            <a:r>
              <a:rPr lang="ru-RU" sz="1400" dirty="0"/>
              <a:t>со значением </a:t>
            </a:r>
            <a:r>
              <a:rPr lang="en-US" sz="1400" dirty="0"/>
              <a:t>pet-name</a:t>
            </a:r>
          </a:p>
          <a:p>
            <a:pPr marL="0" indent="0">
              <a:buNone/>
            </a:pPr>
            <a:r>
              <a:rPr lang="ru-RU" sz="1400" dirty="0"/>
              <a:t>Добавить элементу с текстом (&lt;</a:t>
            </a:r>
            <a:r>
              <a:rPr lang="en-US" sz="1400" dirty="0"/>
              <a:t>p&gt;) </a:t>
            </a:r>
            <a:r>
              <a:rPr lang="ru-RU" sz="1400" dirty="0"/>
              <a:t>атрибут </a:t>
            </a:r>
            <a:r>
              <a:rPr lang="en-US" sz="1400" dirty="0"/>
              <a:t>title</a:t>
            </a:r>
            <a:r>
              <a:rPr lang="ru-RU" sz="1400" dirty="0"/>
              <a:t>, в с описанием питомца</a:t>
            </a:r>
            <a:r>
              <a:rPr lang="en-US" sz="1400" b="1" dirty="0"/>
              <a:t>”</a:t>
            </a:r>
            <a:endParaRPr lang="ru-RU" sz="1400" b="1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Прямо под заголовком найдите элемент с тегом</a:t>
            </a:r>
            <a:r>
              <a:rPr lang="ru-RU" sz="1400" b="1" dirty="0"/>
              <a:t> img</a:t>
            </a:r>
            <a:r>
              <a:rPr lang="ru-RU" sz="1400" dirty="0"/>
              <a:t>. Это элемент, в котором будет отрисовываться картинка. Добавьте ему атрибут </a:t>
            </a:r>
            <a:r>
              <a:rPr lang="ru-RU" sz="1400" b="1" dirty="0"/>
              <a:t>class</a:t>
            </a:r>
            <a:r>
              <a:rPr lang="ru-RU" sz="1400" dirty="0"/>
              <a:t> со значением "picture". 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В теге </a:t>
            </a:r>
            <a:r>
              <a:rPr lang="en-US" sz="1400" b="1" dirty="0"/>
              <a:t>img</a:t>
            </a:r>
            <a:r>
              <a:rPr lang="ru-RU" sz="1400" dirty="0"/>
              <a:t>, атрибуту </a:t>
            </a:r>
            <a:r>
              <a:rPr lang="ru-RU" sz="1400" b="1" dirty="0"/>
              <a:t>src</a:t>
            </a:r>
            <a:r>
              <a:rPr lang="ru-RU" sz="1400" dirty="0"/>
              <a:t> добавьте значение: вставьте в кавычки ссылку на своё изображение.</a:t>
            </a:r>
          </a:p>
          <a:p>
            <a:pPr marL="0" indent="0">
              <a:buNone/>
            </a:pPr>
            <a:r>
              <a:rPr lang="ru-RU" sz="1400" dirty="0"/>
              <a:t> Или можно взять готовую ссылку</a:t>
            </a:r>
            <a:r>
              <a:rPr lang="en-US" sz="1400" dirty="0"/>
              <a:t>: https://avatars.mds.yandex.net/get-pdb/1997607/71bee5d0-909b-419b-a2f6-2fd2a03f92e6/s1200?</a:t>
            </a:r>
            <a:endParaRPr lang="ru-RU" sz="1400" dirty="0"/>
          </a:p>
          <a:p>
            <a:pPr marL="342900" indent="-342900">
              <a:buFont typeface="+mj-lt"/>
              <a:buAutoNum type="arabicPeriod" startAt="3"/>
            </a:pPr>
            <a:r>
              <a:rPr lang="ru-RU" sz="1400" dirty="0"/>
              <a:t>Прямо под элементом-картинкой вы найдете элемент-разделитель с тегом </a:t>
            </a:r>
            <a:r>
              <a:rPr lang="ru-RU" sz="1400" b="1" dirty="0"/>
              <a:t>div</a:t>
            </a:r>
            <a:r>
              <a:rPr lang="ru-RU" sz="1400" dirty="0"/>
              <a:t>. Добавьте этому элементу атрибут name со значением "about".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ru-RU" sz="1400" dirty="0"/>
              <a:t>Добавьте этому элементу потомка. Это будет заголовок: добавьте элемент с тегом </a:t>
            </a:r>
            <a:r>
              <a:rPr lang="ru-RU" sz="1400" b="1" dirty="0"/>
              <a:t>h3</a:t>
            </a:r>
            <a:r>
              <a:rPr lang="ru-RU" sz="1400" dirty="0"/>
              <a:t>. </a:t>
            </a:r>
          </a:p>
          <a:p>
            <a:pPr marL="0" indent="0">
              <a:buNone/>
            </a:pPr>
            <a:r>
              <a:rPr lang="ru-RU" sz="1400" dirty="0"/>
              <a:t> Не забудьте открывающий и закрывающий тег. Добавьте этому элементу атрибут </a:t>
            </a:r>
            <a:r>
              <a:rPr lang="ru-RU" sz="1400" b="1" dirty="0"/>
              <a:t>id</a:t>
            </a:r>
            <a:r>
              <a:rPr lang="ru-RU" sz="1400" dirty="0"/>
              <a:t> со значением</a:t>
            </a:r>
            <a:r>
              <a:rPr lang="ru-RU" sz="1400" b="1" dirty="0"/>
              <a:t> pet-name</a:t>
            </a:r>
            <a:r>
              <a:rPr lang="ru-RU" sz="1400" dirty="0"/>
              <a:t>. Внутри тега напишите имя или название животного.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ru-RU" sz="1400" dirty="0"/>
              <a:t>Добавьте еще одного потомка элементу </a:t>
            </a:r>
            <a:r>
              <a:rPr lang="ru-RU" sz="1400" b="1" dirty="0"/>
              <a:t>div</a:t>
            </a:r>
            <a:r>
              <a:rPr lang="ru-RU" sz="1400" dirty="0"/>
              <a:t>, на этот раз это будет текст, поэтому используйте тег </a:t>
            </a:r>
            <a:r>
              <a:rPr lang="ru-RU" sz="1400" b="1" dirty="0"/>
              <a:t>p</a:t>
            </a:r>
            <a:r>
              <a:rPr lang="ru-RU" sz="1400" dirty="0"/>
              <a:t>. Добавьте ему атрибут </a:t>
            </a:r>
            <a:r>
              <a:rPr lang="en-US" sz="1400" b="1" dirty="0"/>
              <a:t>title</a:t>
            </a:r>
            <a:r>
              <a:rPr lang="ru-RU" sz="1400" dirty="0"/>
              <a:t>, в значении этого атрибута напишите пару слов про своего питомца.</a:t>
            </a:r>
            <a:endParaRPr lang="en-US" sz="1400" b="1" dirty="0"/>
          </a:p>
          <a:p>
            <a:pPr marL="0" indent="0">
              <a:buClr>
                <a:schemeClr val="accent1"/>
              </a:buClr>
              <a:buNone/>
            </a:pPr>
            <a:r>
              <a:rPr lang="ru-RU" sz="1400" b="1" dirty="0"/>
              <a:t>Если после выполнения шагов вы увидели картинку с заголовком, с именем питомца внизу, тогда всё отлично</a:t>
            </a:r>
            <a:r>
              <a:rPr lang="en-US" sz="1400" b="1" dirty="0"/>
              <a:t> : )</a:t>
            </a:r>
            <a:endParaRPr lang="ru-RU" sz="1400" b="1" dirty="0"/>
          </a:p>
          <a:p>
            <a:pPr marL="0" indent="0">
              <a:buClr>
                <a:schemeClr val="accent1"/>
              </a:buClr>
              <a:buNone/>
            </a:pPr>
            <a:endParaRPr lang="en-US" sz="1400" dirty="0"/>
          </a:p>
          <a:p>
            <a:r>
              <a:rPr lang="ru-RU" sz="1400" dirty="0"/>
              <a:t>Выполненную работу рекомендуется где-нибудь сохранить, будет вопрос в тесте.</a:t>
            </a:r>
          </a:p>
          <a:p>
            <a:endParaRPr lang="ru-RU" sz="1400" dirty="0"/>
          </a:p>
          <a:p>
            <a:pPr marL="0" indent="0">
              <a:buNone/>
            </a:pPr>
            <a:endParaRPr lang="ru-RU" sz="1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32C57-F7C0-475A-A71D-7E32CCD16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44" y="1240752"/>
            <a:ext cx="3491882" cy="17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80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В Selenium есть 8 методов которые помогут в поиске HTML элементов:</a:t>
            </a:r>
          </a:p>
          <a:p>
            <a:r>
              <a:rPr lang="en-US" sz="1600" dirty="0"/>
              <a:t>find_element_by_id()</a:t>
            </a:r>
          </a:p>
          <a:p>
            <a:r>
              <a:rPr lang="en-US" sz="1600" dirty="0"/>
              <a:t>find_element_by_name()</a:t>
            </a:r>
          </a:p>
          <a:p>
            <a:r>
              <a:rPr lang="en-US" sz="1600" dirty="0"/>
              <a:t>find_element_by_xpath()</a:t>
            </a:r>
          </a:p>
          <a:p>
            <a:r>
              <a:rPr lang="en-US" sz="1600" dirty="0"/>
              <a:t>find_element_by_link_text()</a:t>
            </a:r>
          </a:p>
          <a:p>
            <a:r>
              <a:rPr lang="en-US" sz="1600" dirty="0"/>
              <a:t>find_element_by_partial_link_text()</a:t>
            </a:r>
          </a:p>
          <a:p>
            <a:r>
              <a:rPr lang="en-US" sz="1600" dirty="0"/>
              <a:t>find_element_by_tag_name()</a:t>
            </a:r>
          </a:p>
          <a:p>
            <a:r>
              <a:rPr lang="en-US" sz="1600" dirty="0"/>
              <a:t>find_element_by_class_name()</a:t>
            </a:r>
          </a:p>
          <a:p>
            <a:r>
              <a:rPr lang="en-US" sz="1600" dirty="0" err="1"/>
              <a:t>find_element_by_css_selector</a:t>
            </a:r>
            <a:r>
              <a:rPr lang="en-US" sz="1600" dirty="0"/>
              <a:t>()</a:t>
            </a:r>
            <a:endParaRPr lang="ru-RU" sz="1600" dirty="0"/>
          </a:p>
          <a:p>
            <a:endParaRPr lang="ru-RU" sz="1600" dirty="0"/>
          </a:p>
          <a:p>
            <a:pPr marL="0" indent="0">
              <a:buNone/>
            </a:pPr>
            <a:r>
              <a:rPr lang="ru-RU" sz="1600" dirty="0"/>
              <a:t>Далее попрактикуемся с каждым из них</a:t>
            </a:r>
            <a:endParaRPr lang="en-US" sz="1600" dirty="0"/>
          </a:p>
          <a:p>
            <a:endParaRPr lang="ru-RU" sz="1400" dirty="0"/>
          </a:p>
          <a:p>
            <a:pPr marL="0" indent="0">
              <a:buNone/>
            </a:pP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731570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элементов в браузере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/>
              <a:t>Для начала, нужно найти локатор на сайте в </a:t>
            </a:r>
            <a:r>
              <a:rPr lang="en-US" sz="1200" b="1" dirty="0"/>
              <a:t>html</a:t>
            </a:r>
            <a:r>
              <a:rPr lang="ru-RU" sz="1200" b="1" dirty="0"/>
              <a:t> части</a:t>
            </a:r>
            <a:r>
              <a:rPr lang="en-US" sz="1200" b="1" dirty="0"/>
              <a:t>: (</a:t>
            </a:r>
            <a:r>
              <a:rPr lang="ru-RU" sz="1200" b="1" dirty="0"/>
              <a:t>как открыть</a:t>
            </a:r>
            <a:r>
              <a:rPr lang="en-US" sz="1200" b="1" dirty="0"/>
              <a:t> html</a:t>
            </a:r>
            <a:r>
              <a:rPr lang="ru-RU" sz="1200" b="1" dirty="0"/>
              <a:t> часть обсуждали пару слайдов назад)</a:t>
            </a:r>
          </a:p>
          <a:p>
            <a:pPr marL="0" indent="0">
              <a:buNone/>
            </a:pPr>
            <a:r>
              <a:rPr lang="ru-RU" sz="1200" dirty="0"/>
              <a:t>Давайте зайдём на </a:t>
            </a:r>
            <a:r>
              <a:rPr lang="en-US" sz="1200" dirty="0">
                <a:hlinkClick r:id="rId2"/>
              </a:rPr>
              <a:t>https://google.ru</a:t>
            </a:r>
            <a:r>
              <a:rPr lang="en-US" sz="1200" dirty="0"/>
              <a:t> </a:t>
            </a:r>
            <a:r>
              <a:rPr lang="ru-RU" sz="1200" dirty="0"/>
              <a:t>и откроем строчку кода элемента (нажав на элемент правой кнопкой – просмотреть код). После этого нажмём </a:t>
            </a:r>
            <a:r>
              <a:rPr lang="en-US" sz="1200" b="1" dirty="0"/>
              <a:t>CTLF + F</a:t>
            </a:r>
            <a:r>
              <a:rPr lang="ru-RU" sz="1200" b="1" dirty="0"/>
              <a:t> </a:t>
            </a:r>
            <a:r>
              <a:rPr lang="ru-RU" sz="1200" dirty="0"/>
              <a:t>(откроется строка поиска)</a:t>
            </a:r>
            <a:r>
              <a:rPr lang="ru-RU" sz="1600" b="1" dirty="0"/>
              <a:t> </a:t>
            </a:r>
            <a:endParaRPr lang="ru-RU" sz="1400" dirty="0"/>
          </a:p>
          <a:p>
            <a:pPr marL="0" indent="0">
              <a:buNone/>
            </a:pPr>
            <a:endParaRPr lang="ru-RU" sz="1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42E2C-86A4-4226-9B19-F2DB91F40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217" y="1775319"/>
            <a:ext cx="6638025" cy="45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47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элемента по</a:t>
            </a:r>
            <a:r>
              <a:rPr lang="en-US" sz="4200" dirty="0"/>
              <a:t> id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594804" y="1227435"/>
            <a:ext cx="10857387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/>
              <a:t>Теперь попытаемся найти селектор логотипа гугл, используя поиск по </a:t>
            </a:r>
            <a:r>
              <a:rPr lang="en-US" sz="1200" b="1" dirty="0"/>
              <a:t>id</a:t>
            </a:r>
            <a:r>
              <a:rPr lang="ru-RU" sz="1200" b="1" dirty="0"/>
              <a:t>. </a:t>
            </a:r>
            <a:r>
              <a:rPr lang="ru-RU" sz="1200" dirty="0"/>
              <a:t>Мы видим что в выделенной строке кода(изначально серого цвета) есть </a:t>
            </a:r>
            <a:r>
              <a:rPr lang="ru-RU" sz="1200" b="1" dirty="0"/>
              <a:t>id=</a:t>
            </a:r>
            <a:r>
              <a:rPr lang="en-US" sz="1200" b="1" dirty="0"/>
              <a:t>"hplogo</a:t>
            </a:r>
            <a:r>
              <a:rPr lang="ru-RU" sz="1200" b="1" dirty="0"/>
              <a:t>"</a:t>
            </a:r>
            <a:r>
              <a:rPr lang="ru-RU" sz="1200" dirty="0"/>
              <a:t>,</a:t>
            </a:r>
            <a:r>
              <a:rPr lang="ru-RU" sz="1200" b="1" dirty="0"/>
              <a:t>    </a:t>
            </a:r>
            <a:r>
              <a:rPr lang="ru-RU" sz="1200" dirty="0"/>
              <a:t>а значит, мы однозначно можем найти его с помощью селектора </a:t>
            </a:r>
            <a:r>
              <a:rPr lang="ru-RU" sz="1200" b="1" dirty="0"/>
              <a:t>#</a:t>
            </a:r>
            <a:r>
              <a:rPr lang="en-US" sz="1200" b="1" dirty="0"/>
              <a:t>hplogo</a:t>
            </a:r>
            <a:r>
              <a:rPr lang="ru-RU" sz="1200" dirty="0"/>
              <a:t>(знак </a:t>
            </a:r>
            <a:r>
              <a:rPr lang="ru-RU" sz="1200" b="1" dirty="0"/>
              <a:t>#</a:t>
            </a:r>
            <a:r>
              <a:rPr lang="ru-RU" sz="1200" dirty="0"/>
              <a:t> означает, что мы ищем по </a:t>
            </a:r>
            <a:r>
              <a:rPr lang="ru-RU" sz="1200" b="1" dirty="0"/>
              <a:t>id</a:t>
            </a:r>
            <a:r>
              <a:rPr lang="ru-RU" sz="1200" dirty="0"/>
              <a:t> со значением </a:t>
            </a:r>
            <a:r>
              <a:rPr lang="en-US" sz="1200" b="1" dirty="0"/>
              <a:t>hplogo</a:t>
            </a:r>
            <a:r>
              <a:rPr lang="ru-RU" sz="1200" dirty="0"/>
              <a:t>).</a:t>
            </a:r>
            <a:r>
              <a:rPr lang="ru-RU" sz="1200" b="1" dirty="0"/>
              <a:t> </a:t>
            </a:r>
            <a:r>
              <a:rPr lang="ru-RU" sz="1200" dirty="0"/>
              <a:t>Далее строка окрасится в жёлтый.</a:t>
            </a:r>
            <a:endParaRPr lang="ru-RU" sz="1200" b="1" dirty="0"/>
          </a:p>
          <a:p>
            <a:pPr marL="0" indent="0">
              <a:buNone/>
            </a:pPr>
            <a:r>
              <a:rPr lang="ru-RU" sz="1200" dirty="0"/>
              <a:t>В браузере, мы убедились в правильности подобранного селектора, и далее его можно будет использовать в написаниии авто-тестов, но об этом чуть позже.</a:t>
            </a:r>
            <a:endParaRPr lang="ru-RU" sz="1400" dirty="0"/>
          </a:p>
          <a:p>
            <a:pPr marL="0" indent="0">
              <a:buNone/>
            </a:pPr>
            <a:endParaRPr lang="ru-RU" sz="1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5B6B5-54AD-4DED-A396-845014F82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5" y="2042601"/>
            <a:ext cx="7657907" cy="429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27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элемента</a:t>
            </a:r>
            <a:r>
              <a:rPr lang="en-US" sz="4200" dirty="0"/>
              <a:t> </a:t>
            </a:r>
            <a:r>
              <a:rPr lang="ru-RU" sz="4200" dirty="0"/>
              <a:t>по значению атрибута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594804" y="1227435"/>
            <a:ext cx="10857387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/>
              <a:t>В прошлом примере мы подобрали селектор по</a:t>
            </a:r>
            <a:r>
              <a:rPr lang="en-US" sz="1200" b="1" dirty="0"/>
              <a:t> id</a:t>
            </a:r>
            <a:r>
              <a:rPr lang="ru-RU" sz="1200" b="1" dirty="0"/>
              <a:t> с помощью специального знака  </a:t>
            </a:r>
            <a:r>
              <a:rPr lang="en-US" sz="1200" b="1" dirty="0"/>
              <a:t>“#”</a:t>
            </a:r>
            <a:r>
              <a:rPr lang="ru-RU" sz="1200" b="1" dirty="0"/>
              <a:t>. </a:t>
            </a:r>
            <a:r>
              <a:rPr lang="ru-RU" sz="1200" dirty="0"/>
              <a:t>Что такое </a:t>
            </a:r>
            <a:r>
              <a:rPr lang="en-US" sz="1200" b="1" dirty="0"/>
              <a:t>id</a:t>
            </a:r>
            <a:r>
              <a:rPr lang="en-US" sz="1200" dirty="0"/>
              <a:t>?</a:t>
            </a:r>
            <a:r>
              <a:rPr lang="ru-RU" sz="1200" dirty="0"/>
              <a:t> Это атрибут, и мы можем также найти его, используя поиск по атрибуту. Для поиска по атрибуту, будет использоваться следующая конструкция</a:t>
            </a:r>
            <a:r>
              <a:rPr lang="en-US" sz="1200" dirty="0"/>
              <a:t>: “ </a:t>
            </a:r>
            <a:r>
              <a:rPr lang="en-US" sz="1200" b="1" dirty="0"/>
              <a:t>[</a:t>
            </a:r>
            <a:r>
              <a:rPr lang="ru-RU" sz="1200" b="1" dirty="0"/>
              <a:t>атрибут=</a:t>
            </a:r>
            <a:r>
              <a:rPr lang="en-US" sz="1200" b="1" dirty="0"/>
              <a:t>"</a:t>
            </a:r>
            <a:r>
              <a:rPr lang="ru-RU" sz="1200" b="1" dirty="0"/>
              <a:t>значение</a:t>
            </a:r>
            <a:r>
              <a:rPr lang="en-US" sz="1200" b="1" dirty="0"/>
              <a:t>"] </a:t>
            </a:r>
            <a:r>
              <a:rPr lang="en-US" sz="1200" dirty="0"/>
              <a:t>“.</a:t>
            </a:r>
            <a:endParaRPr lang="ru-RU" sz="1200" b="1" dirty="0"/>
          </a:p>
          <a:p>
            <a:pPr marL="0" indent="0">
              <a:buNone/>
            </a:pPr>
            <a:r>
              <a:rPr lang="ru-RU" sz="1200" dirty="0"/>
              <a:t>Можно переписать поиск по </a:t>
            </a:r>
            <a:r>
              <a:rPr lang="en-US" sz="1200" dirty="0"/>
              <a:t>id</a:t>
            </a:r>
            <a:r>
              <a:rPr lang="ru-RU" sz="1200" dirty="0"/>
              <a:t> в следующем виде</a:t>
            </a:r>
            <a:r>
              <a:rPr lang="en-US" sz="1200" dirty="0"/>
              <a:t>:</a:t>
            </a:r>
            <a:r>
              <a:rPr lang="ru-RU" sz="1200" dirty="0"/>
              <a:t> </a:t>
            </a:r>
            <a:r>
              <a:rPr lang="en-US" sz="1200" b="1" dirty="0"/>
              <a:t>[id="hplogo"]</a:t>
            </a:r>
            <a:r>
              <a:rPr lang="ru-RU" sz="1200" b="1" dirty="0"/>
              <a:t> </a:t>
            </a:r>
            <a:r>
              <a:rPr lang="ru-RU" sz="1200" dirty="0"/>
              <a:t>вместо</a:t>
            </a:r>
            <a:r>
              <a:rPr lang="en-US" sz="1200" dirty="0"/>
              <a:t> </a:t>
            </a:r>
            <a:r>
              <a:rPr lang="en-US" sz="1200" b="1" dirty="0"/>
              <a:t>#id</a:t>
            </a:r>
            <a:r>
              <a:rPr lang="ru-RU" sz="1200" dirty="0"/>
              <a:t>. Конечно, для поиска по </a:t>
            </a:r>
            <a:r>
              <a:rPr lang="en-US" sz="1200" b="1" dirty="0"/>
              <a:t>id</a:t>
            </a:r>
            <a:r>
              <a:rPr lang="en-US" sz="1200" dirty="0"/>
              <a:t>,</a:t>
            </a:r>
            <a:r>
              <a:rPr lang="ru-RU" sz="1200" dirty="0"/>
              <a:t> удобнее использовать более короткий вариант</a:t>
            </a:r>
            <a:r>
              <a:rPr lang="en-US" sz="1200" dirty="0"/>
              <a:t>(</a:t>
            </a:r>
            <a:r>
              <a:rPr lang="en-US" sz="1200" b="1" dirty="0"/>
              <a:t>#id</a:t>
            </a:r>
            <a:r>
              <a:rPr lang="en-US" sz="1200" dirty="0"/>
              <a:t>)</a:t>
            </a:r>
            <a:r>
              <a:rPr lang="ru-RU" sz="1200" dirty="0"/>
              <a:t>, но, если нам нужно найти другие атрибуты, тогда такая запись будет весьма кстати. Например, если бы не было </a:t>
            </a:r>
            <a:r>
              <a:rPr lang="en-US" sz="1200" b="1" dirty="0"/>
              <a:t>id</a:t>
            </a:r>
            <a:r>
              <a:rPr lang="en-US" sz="1200" dirty="0"/>
              <a:t>,</a:t>
            </a:r>
            <a:r>
              <a:rPr lang="ru-RU" sz="1200" dirty="0"/>
              <a:t> то это лого можно найти по другому атрибуту (например</a:t>
            </a:r>
            <a:r>
              <a:rPr lang="en-US" sz="1200" dirty="0"/>
              <a:t> </a:t>
            </a:r>
            <a:r>
              <a:rPr lang="en-US" sz="1200" b="1" dirty="0"/>
              <a:t>alt</a:t>
            </a:r>
            <a:r>
              <a:rPr lang="en-US" sz="1200" dirty="0"/>
              <a:t>)</a:t>
            </a:r>
            <a:r>
              <a:rPr lang="ru-RU" sz="1200" b="1" dirty="0"/>
              <a:t> </a:t>
            </a:r>
          </a:p>
          <a:p>
            <a:pPr marL="0" indent="0">
              <a:buNone/>
            </a:pPr>
            <a:r>
              <a:rPr lang="en-US" sz="1200" b="1" dirty="0"/>
              <a:t>[id="hplogo"]</a:t>
            </a:r>
            <a:r>
              <a:rPr lang="ru-RU" sz="1200" b="1" dirty="0"/>
              <a:t> </a:t>
            </a:r>
            <a:r>
              <a:rPr lang="ru-RU" sz="1200" dirty="0"/>
              <a:t> - нашли логотип по атрибуту </a:t>
            </a:r>
            <a:r>
              <a:rPr lang="en-US" sz="1200" b="1" dirty="0"/>
              <a:t>id						[alt="Google"]</a:t>
            </a:r>
            <a:r>
              <a:rPr lang="ru-RU" sz="1200" b="1" dirty="0"/>
              <a:t> </a:t>
            </a:r>
            <a:r>
              <a:rPr lang="ru-RU" sz="1200" dirty="0"/>
              <a:t> - нашли логотип по атрибуту </a:t>
            </a:r>
            <a:r>
              <a:rPr lang="en-US" sz="1200" b="1" dirty="0"/>
              <a:t>alt</a:t>
            </a:r>
            <a:endParaRPr lang="ru-RU" sz="1200" b="1" dirty="0"/>
          </a:p>
          <a:p>
            <a:pPr marL="0" indent="0">
              <a:buNone/>
            </a:pPr>
            <a:endParaRPr lang="ru-RU" sz="1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A011B-9456-4BE2-9CFA-9C0460C47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20" y="2530772"/>
            <a:ext cx="4159147" cy="3694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0BB404-D44D-485C-9D19-C1DA2F462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694" y="2530772"/>
            <a:ext cx="4159146" cy="369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10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элемента</a:t>
            </a:r>
            <a:r>
              <a:rPr lang="en-US" sz="4200" dirty="0"/>
              <a:t> </a:t>
            </a:r>
            <a:r>
              <a:rPr lang="ru-RU" sz="4200" dirty="0"/>
              <a:t>по </a:t>
            </a:r>
            <a:r>
              <a:rPr lang="en-US" sz="4200" dirty="0"/>
              <a:t>name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594804" y="1227435"/>
            <a:ext cx="10857387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Этот вариант поиска является разновидностью поиска по значению атрибута и записывается так же: </a:t>
            </a:r>
            <a:r>
              <a:rPr lang="ru-RU" sz="1200" b="1" dirty="0"/>
              <a:t>[name=“значение"]</a:t>
            </a:r>
            <a:r>
              <a:rPr lang="ru-RU" sz="1200" dirty="0"/>
              <a:t>.</a:t>
            </a:r>
          </a:p>
          <a:p>
            <a:pPr marL="0" indent="0">
              <a:buNone/>
            </a:pPr>
            <a:r>
              <a:rPr lang="ru-RU" sz="1200" dirty="0"/>
              <a:t>Этот вариант очень часто используется и его выделяют как отдельный вид поиска элементов в Selenium WebDriver.</a:t>
            </a:r>
          </a:p>
          <a:p>
            <a:pPr marL="0" indent="0">
              <a:buNone/>
            </a:pPr>
            <a:endParaRPr lang="ru-RU" sz="1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59F1B-CCB0-400C-AAC3-595020026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09" y="1815484"/>
            <a:ext cx="4159147" cy="36944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224EF0F-1CF2-4B73-A6A2-E32016E607C5}"/>
              </a:ext>
            </a:extLst>
          </p:cNvPr>
          <p:cNvSpPr txBox="1">
            <a:spLocks/>
          </p:cNvSpPr>
          <p:nvPr/>
        </p:nvSpPr>
        <p:spPr>
          <a:xfrm>
            <a:off x="2669940" y="2090873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800" dirty="0"/>
              <a:t>Поиск элемента</a:t>
            </a:r>
            <a:r>
              <a:rPr lang="en-US" sz="2800" dirty="0"/>
              <a:t> </a:t>
            </a:r>
            <a:r>
              <a:rPr lang="ru-RU" sz="2800" dirty="0"/>
              <a:t>по </a:t>
            </a:r>
            <a:r>
              <a:rPr lang="en-US" sz="2800" dirty="0" err="1"/>
              <a:t>tag_name</a:t>
            </a:r>
            <a:endParaRPr lang="ru-RU" sz="2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64ADCC-9404-4121-90D0-AB7FBE77099D}"/>
              </a:ext>
            </a:extLst>
          </p:cNvPr>
          <p:cNvSpPr txBox="1">
            <a:spLocks/>
          </p:cNvSpPr>
          <p:nvPr/>
        </p:nvSpPr>
        <p:spPr>
          <a:xfrm>
            <a:off x="5885895" y="2689275"/>
            <a:ext cx="4749553" cy="106740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Формально, можно найти элемент используя название его тега. Для этого нужно просто ввести его название, например</a:t>
            </a:r>
            <a:r>
              <a:rPr lang="en-US" sz="1200" dirty="0"/>
              <a:t>: </a:t>
            </a:r>
            <a:r>
              <a:rPr lang="en-US" sz="1200" b="1" dirty="0"/>
              <a:t>button</a:t>
            </a:r>
            <a:endParaRPr lang="ru-RU" sz="1200" b="1" dirty="0"/>
          </a:p>
          <a:p>
            <a:pPr marL="0" indent="0">
              <a:buNone/>
            </a:pPr>
            <a:r>
              <a:rPr lang="ru-RU" sz="1200" dirty="0"/>
              <a:t>Такой вариант редко используется, так как обычно он будет находить много тегов на странице</a:t>
            </a:r>
            <a:endParaRPr lang="ru-RU" sz="1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E9D7AA-37EC-4382-99CA-35BF8F7F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234" y="3662686"/>
            <a:ext cx="5129351" cy="254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12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элемента</a:t>
            </a:r>
            <a:r>
              <a:rPr lang="en-US" sz="4200" dirty="0"/>
              <a:t> </a:t>
            </a:r>
            <a:r>
              <a:rPr lang="ru-RU" sz="4200" dirty="0"/>
              <a:t>по </a:t>
            </a:r>
            <a:r>
              <a:rPr lang="en-US" sz="4200" dirty="0"/>
              <a:t>class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Поиск по классу можно записать так же: </a:t>
            </a:r>
            <a:r>
              <a:rPr lang="ru-RU" sz="1200" b="1" dirty="0"/>
              <a:t>[</a:t>
            </a:r>
            <a:r>
              <a:rPr lang="en-US" sz="1200" b="1" dirty="0"/>
              <a:t>class</a:t>
            </a:r>
            <a:r>
              <a:rPr lang="ru-RU" sz="1200" b="1" dirty="0"/>
              <a:t>=</a:t>
            </a:r>
            <a:r>
              <a:rPr lang="en-US" sz="1200" b="1" dirty="0"/>
              <a:t>"</a:t>
            </a:r>
            <a:r>
              <a:rPr lang="ru-RU" sz="1200" b="1" dirty="0"/>
              <a:t>значение"]</a:t>
            </a:r>
            <a:r>
              <a:rPr lang="ru-RU" sz="1200" dirty="0"/>
              <a:t>, так как он тоже является атрибутом, но для них имеется свой короткий способ поиска</a:t>
            </a:r>
            <a:r>
              <a:rPr lang="en-US" sz="1200" dirty="0"/>
              <a:t>: </a:t>
            </a:r>
            <a:r>
              <a:rPr lang="en-US" sz="1200" b="1" dirty="0"/>
              <a:t>.class</a:t>
            </a:r>
            <a:endParaRPr lang="ru-RU" sz="1200" b="1" dirty="0"/>
          </a:p>
          <a:p>
            <a:pPr marL="0" indent="0">
              <a:buNone/>
            </a:pPr>
            <a:r>
              <a:rPr lang="ru-RU" sz="1200" dirty="0"/>
              <a:t>Например</a:t>
            </a:r>
            <a:r>
              <a:rPr lang="en-US" sz="1200" dirty="0"/>
              <a:t>:</a:t>
            </a:r>
            <a:r>
              <a:rPr lang="ru-RU" sz="1200" dirty="0"/>
              <a:t> есть код </a:t>
            </a:r>
            <a:r>
              <a:rPr lang="en-US" sz="1200" dirty="0">
                <a:solidFill>
                  <a:srgbClr val="0070C0"/>
                </a:solidFill>
              </a:rPr>
              <a:t>&lt;input </a:t>
            </a:r>
            <a:r>
              <a:rPr lang="en-US" sz="1200" dirty="0"/>
              <a:t>class=“</a:t>
            </a:r>
            <a:r>
              <a:rPr lang="en-US" sz="1200" dirty="0">
                <a:solidFill>
                  <a:srgbClr val="6E8A28"/>
                </a:solidFill>
              </a:rPr>
              <a:t>myclass1 myclass2</a:t>
            </a:r>
            <a:r>
              <a:rPr lang="en-US" sz="1200" dirty="0"/>
              <a:t>" maxlength="</a:t>
            </a:r>
            <a:r>
              <a:rPr lang="en-US" sz="1200" dirty="0">
                <a:solidFill>
                  <a:srgbClr val="6E8A28"/>
                </a:solidFill>
              </a:rPr>
              <a:t>2048</a:t>
            </a:r>
            <a:r>
              <a:rPr lang="en-US" sz="1200" dirty="0"/>
              <a:t>" name="</a:t>
            </a:r>
            <a:r>
              <a:rPr lang="en-US" sz="1200" dirty="0">
                <a:solidFill>
                  <a:srgbClr val="6E8A28"/>
                </a:solidFill>
              </a:rPr>
              <a:t>q</a:t>
            </a:r>
            <a:r>
              <a:rPr lang="en-US" sz="1200" dirty="0"/>
              <a:t>" type="</a:t>
            </a:r>
            <a:r>
              <a:rPr lang="en-US" sz="1200" dirty="0">
                <a:solidFill>
                  <a:srgbClr val="6E8A28"/>
                </a:solidFill>
              </a:rPr>
              <a:t>text</a:t>
            </a:r>
            <a:r>
              <a:rPr lang="en-US" sz="1200" dirty="0"/>
              <a:t>"</a:t>
            </a:r>
            <a:r>
              <a:rPr lang="en-US" sz="1200" dirty="0">
                <a:solidFill>
                  <a:srgbClr val="0070C0"/>
                </a:solidFill>
              </a:rPr>
              <a:t>&gt;</a:t>
            </a:r>
            <a:endParaRPr lang="ru-RU" sz="1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200" dirty="0">
                <a:solidFill>
                  <a:schemeClr val="tx1"/>
                </a:solidFill>
              </a:rPr>
              <a:t>Элементу </a:t>
            </a:r>
            <a:r>
              <a:rPr lang="en-US" sz="1200" b="1" dirty="0">
                <a:solidFill>
                  <a:srgbClr val="0070C0"/>
                </a:solidFill>
              </a:rPr>
              <a:t>input</a:t>
            </a:r>
            <a:r>
              <a:rPr lang="ru-RU" sz="1200" dirty="0">
                <a:solidFill>
                  <a:schemeClr val="tx1"/>
                </a:solidFill>
              </a:rPr>
              <a:t> задано два класса 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en-US" sz="1200" b="1" dirty="0">
                <a:solidFill>
                  <a:srgbClr val="6E8A28"/>
                </a:solidFill>
              </a:rPr>
              <a:t>myclass1</a:t>
            </a:r>
            <a:r>
              <a:rPr lang="ru-RU" sz="1200" dirty="0">
                <a:solidFill>
                  <a:schemeClr val="tx1"/>
                </a:solidFill>
              </a:rPr>
              <a:t> и </a:t>
            </a:r>
            <a:r>
              <a:rPr lang="en-US" sz="1200" b="1" dirty="0">
                <a:solidFill>
                  <a:srgbClr val="6E8A28"/>
                </a:solidFill>
              </a:rPr>
              <a:t>myclass2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;</a:t>
            </a:r>
            <a:r>
              <a:rPr lang="ru-RU" sz="1200" dirty="0">
                <a:solidFill>
                  <a:schemeClr val="tx1"/>
                </a:solidFill>
              </a:rPr>
              <a:t> они разделены пробелом, поэтому это 2 класса</a:t>
            </a:r>
            <a:r>
              <a:rPr lang="en-US" sz="1200" dirty="0">
                <a:solidFill>
                  <a:schemeClr val="tx1"/>
                </a:solidFill>
              </a:rPr>
              <a:t>)</a:t>
            </a:r>
            <a:endParaRPr lang="ru-RU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200" dirty="0"/>
              <a:t>Вариант </a:t>
            </a:r>
            <a:r>
              <a:rPr lang="ru-RU" sz="1200" b="1" dirty="0"/>
              <a:t>[class=</a:t>
            </a:r>
            <a:r>
              <a:rPr lang="en-US" sz="1200" b="1" dirty="0"/>
              <a:t>"myclass1"</a:t>
            </a:r>
            <a:r>
              <a:rPr lang="ru-RU" sz="1200" b="1" dirty="0"/>
              <a:t>]</a:t>
            </a:r>
            <a:r>
              <a:rPr lang="ru-RU" sz="1200" dirty="0"/>
              <a:t> не найдет нам этот элемент, так как он ищет по точному совпадению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400"/>
              </a:spcAft>
              <a:buNone/>
            </a:pPr>
            <a:r>
              <a:rPr lang="ru-RU" sz="1200" dirty="0"/>
              <a:t>Чтобы найти элемент, нужно будет написать </a:t>
            </a:r>
            <a:r>
              <a:rPr lang="ru-RU" sz="1200" b="1" dirty="0"/>
              <a:t>[class=</a:t>
            </a:r>
            <a:r>
              <a:rPr lang="en-US" sz="1200" b="1" dirty="0"/>
              <a:t>"myclass1</a:t>
            </a:r>
            <a:r>
              <a:rPr lang="ru-RU" sz="1200" b="1" dirty="0"/>
              <a:t> </a:t>
            </a:r>
            <a:r>
              <a:rPr lang="en-US" sz="1200" b="1" dirty="0"/>
              <a:t>myclass2"</a:t>
            </a:r>
            <a:r>
              <a:rPr lang="ru-RU" sz="1200" b="1" dirty="0"/>
              <a:t>]</a:t>
            </a:r>
            <a:r>
              <a:rPr lang="ru-RU" sz="1200" dirty="0"/>
              <a:t>, порядок классов при этом важен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400"/>
              </a:spcAft>
              <a:buNone/>
            </a:pPr>
            <a:r>
              <a:rPr lang="ru-RU" sz="1200" dirty="0">
                <a:solidFill>
                  <a:schemeClr val="tx1"/>
                </a:solidFill>
              </a:rPr>
              <a:t>Можно написать короче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200" b="1" dirty="0">
                <a:solidFill>
                  <a:schemeClr val="tx1"/>
                </a:solidFill>
              </a:rPr>
              <a:t>myclass1 </a:t>
            </a:r>
            <a:r>
              <a:rPr lang="en-US" sz="1200" dirty="0">
                <a:solidFill>
                  <a:schemeClr val="tx1"/>
                </a:solidFill>
              </a:rPr>
              <a:t> - </a:t>
            </a:r>
            <a:r>
              <a:rPr lang="ru-RU" sz="1200" dirty="0">
                <a:solidFill>
                  <a:schemeClr val="tx1"/>
                </a:solidFill>
              </a:rPr>
              <a:t>такая запись позволит найти элемент, </a:t>
            </a:r>
            <a:r>
              <a:rPr lang="ru-RU" sz="1200" dirty="0"/>
              <a:t>так как она ищет простое вхождение класса в элемент</a:t>
            </a:r>
          </a:p>
          <a:p>
            <a:pPr marL="0" indent="0">
              <a:spcBef>
                <a:spcPts val="184"/>
              </a:spcBef>
              <a:spcAft>
                <a:spcPts val="400"/>
              </a:spcAft>
              <a:buNone/>
            </a:pPr>
            <a:r>
              <a:rPr lang="ru-RU" sz="1200" dirty="0">
                <a:solidFill>
                  <a:schemeClr val="tx1"/>
                </a:solidFill>
              </a:rPr>
              <a:t>Бывает такое, что на страничке может найтись несколько одинаковых названий классов, тогда мы можем уточнить запись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200" b="1" dirty="0">
                <a:solidFill>
                  <a:schemeClr val="tx1"/>
                </a:solidFill>
              </a:rPr>
              <a:t>myclass1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200" b="1" dirty="0">
                <a:solidFill>
                  <a:schemeClr val="tx1"/>
                </a:solidFill>
              </a:rPr>
              <a:t>myclass2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b="1" dirty="0">
                <a:solidFill>
                  <a:schemeClr val="bg1">
                    <a:lumMod val="50000"/>
                  </a:schemeClr>
                </a:solidFill>
              </a:rPr>
              <a:t> важно отметить, что в поиске классов нужно использовать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 “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ru-RU" sz="1200" b="1" dirty="0">
                <a:solidFill>
                  <a:schemeClr val="bg1">
                    <a:lumMod val="50000"/>
                  </a:schemeClr>
                </a:solidFill>
              </a:rPr>
              <a:t> и помнить про отсутствие пробелов, чувствительность к регистру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2F6484-F7B5-4274-B6BE-79700DA26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09" y="3915052"/>
            <a:ext cx="4453248" cy="2950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7EFDF9-17D0-4DD0-BF96-7ED0E6F00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367" y="3911113"/>
            <a:ext cx="4453247" cy="295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88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Повторение структы страницы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/>
              <a:t>Для того чтобы было легче разобраться в особенностях следующего метода поиска, вспомним ещё раз иерархию и названия отношений элементов</a:t>
            </a:r>
            <a:r>
              <a:rPr lang="en-US" sz="1200" b="1" dirty="0"/>
              <a:t>:</a:t>
            </a:r>
            <a:endParaRPr lang="ru-RU" sz="1200" b="1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80AC4-F758-49C1-B895-C3BD50645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09" y="1589885"/>
            <a:ext cx="5178772" cy="4718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2CDC5D-ABBA-416D-A376-B855E0E90A0F}"/>
              </a:ext>
            </a:extLst>
          </p:cNvPr>
          <p:cNvSpPr txBox="1"/>
          <p:nvPr/>
        </p:nvSpPr>
        <p:spPr>
          <a:xfrm>
            <a:off x="6144895" y="1589885"/>
            <a:ext cx="53072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Какие элементы являются </a:t>
            </a:r>
            <a:r>
              <a:rPr lang="ru-RU" sz="1200" b="1" u="sng" dirty="0"/>
              <a:t>потомками</a:t>
            </a:r>
            <a:r>
              <a:rPr lang="ru-RU" sz="1200" b="1" dirty="0"/>
              <a:t> элемента</a:t>
            </a:r>
            <a:r>
              <a:rPr lang="en-US" sz="1200" b="1" dirty="0"/>
              <a:t> “html”?</a:t>
            </a:r>
            <a:endParaRPr lang="ru-RU" sz="1200" b="1" dirty="0"/>
          </a:p>
          <a:p>
            <a:r>
              <a:rPr lang="ru-RU" sz="1200" dirty="0"/>
              <a:t>Это все остальные 8 элементов в этом коде</a:t>
            </a:r>
            <a:r>
              <a:rPr lang="en-US" sz="1200" dirty="0"/>
              <a:t>.</a:t>
            </a:r>
            <a:endParaRPr lang="ru-RU" sz="1200" dirty="0"/>
          </a:p>
          <a:p>
            <a:endParaRPr lang="ru-RU" sz="1200" dirty="0"/>
          </a:p>
          <a:p>
            <a:r>
              <a:rPr lang="ru-RU" sz="1200" b="1" dirty="0"/>
              <a:t>Какие элементы можно назвать </a:t>
            </a:r>
            <a:r>
              <a:rPr lang="ru-RU" sz="1200" b="1" u="sng" dirty="0"/>
              <a:t>дочерними</a:t>
            </a:r>
            <a:r>
              <a:rPr lang="ru-RU" sz="1200" b="1" dirty="0"/>
              <a:t> (</a:t>
            </a:r>
            <a:r>
              <a:rPr lang="en-US" sz="1200" b="1" dirty="0"/>
              <a:t>child) </a:t>
            </a:r>
            <a:r>
              <a:rPr lang="ru-RU" sz="1200" b="1" dirty="0"/>
              <a:t>элементами для элемента </a:t>
            </a:r>
            <a:r>
              <a:rPr lang="en-US" sz="1200" b="1" dirty="0"/>
              <a:t>“html”</a:t>
            </a:r>
            <a:endParaRPr lang="ru-RU" sz="1200" b="1" dirty="0"/>
          </a:p>
          <a:p>
            <a:r>
              <a:rPr lang="ru-RU" sz="1200" dirty="0"/>
              <a:t>Только элементы</a:t>
            </a:r>
            <a:r>
              <a:rPr lang="en-US" sz="1200" dirty="0"/>
              <a:t>: “head”</a:t>
            </a:r>
            <a:r>
              <a:rPr lang="ru-RU" sz="1200" dirty="0"/>
              <a:t> и </a:t>
            </a:r>
            <a:r>
              <a:rPr lang="en-US" sz="1200" dirty="0"/>
              <a:t>“body”</a:t>
            </a:r>
            <a:r>
              <a:rPr lang="ru-RU" sz="1200" dirty="0"/>
              <a:t>.</a:t>
            </a:r>
          </a:p>
          <a:p>
            <a:endParaRPr lang="en-US" sz="1200" dirty="0"/>
          </a:p>
          <a:p>
            <a:r>
              <a:rPr lang="ru-RU" sz="1200" b="1" dirty="0"/>
              <a:t>Какие элементы являются </a:t>
            </a:r>
            <a:r>
              <a:rPr lang="ru-RU" sz="1200" b="1" u="sng" dirty="0"/>
              <a:t>предками</a:t>
            </a:r>
            <a:r>
              <a:rPr lang="ru-RU" sz="1200" b="1" dirty="0"/>
              <a:t> элемента</a:t>
            </a:r>
            <a:r>
              <a:rPr lang="en-US" sz="1200" b="1" dirty="0"/>
              <a:t> h1? </a:t>
            </a:r>
            <a:endParaRPr lang="ru-RU" sz="1200" b="1" dirty="0"/>
          </a:p>
          <a:p>
            <a:r>
              <a:rPr lang="ru-RU" sz="1200" dirty="0"/>
              <a:t>Это элементы</a:t>
            </a:r>
            <a:r>
              <a:rPr lang="en-US" sz="1200" dirty="0"/>
              <a:t>: “body”</a:t>
            </a:r>
            <a:r>
              <a:rPr lang="ru-RU" sz="1200" dirty="0"/>
              <a:t> и</a:t>
            </a:r>
            <a:r>
              <a:rPr lang="en-US" sz="1200" dirty="0"/>
              <a:t> “html”</a:t>
            </a:r>
            <a:r>
              <a:rPr lang="ru-RU" sz="1200" dirty="0"/>
              <a:t>.</a:t>
            </a:r>
          </a:p>
          <a:p>
            <a:endParaRPr lang="en-US" sz="1200" dirty="0"/>
          </a:p>
          <a:p>
            <a:r>
              <a:rPr lang="ru-RU" sz="1200" b="1" dirty="0"/>
              <a:t>Какой элемент является </a:t>
            </a:r>
            <a:r>
              <a:rPr lang="ru-RU" sz="1200" b="1" u="sng" dirty="0"/>
              <a:t>родителем</a:t>
            </a:r>
            <a:r>
              <a:rPr lang="ru-RU" sz="1200" b="1" dirty="0"/>
              <a:t> элемента </a:t>
            </a:r>
            <a:r>
              <a:rPr lang="en-US" sz="1200" b="1" dirty="0"/>
              <a:t>h1? </a:t>
            </a:r>
            <a:endParaRPr lang="ru-RU" sz="1200" b="1" dirty="0"/>
          </a:p>
          <a:p>
            <a:r>
              <a:rPr lang="ru-RU" sz="1200" dirty="0"/>
              <a:t>Только элемент </a:t>
            </a:r>
            <a:r>
              <a:rPr lang="en-US" sz="1200" dirty="0"/>
              <a:t>”body”.</a:t>
            </a:r>
            <a:endParaRPr lang="ru-RU" sz="1200" dirty="0"/>
          </a:p>
          <a:p>
            <a:endParaRPr lang="en-US" sz="1200" dirty="0"/>
          </a:p>
          <a:p>
            <a:r>
              <a:rPr lang="ru-RU" sz="1200" b="1" dirty="0"/>
              <a:t>Какой элемент мы можем назвать </a:t>
            </a:r>
            <a:r>
              <a:rPr lang="ru-RU" sz="1200" b="1" u="sng" dirty="0"/>
              <a:t>сестринским или соседним </a:t>
            </a:r>
            <a:r>
              <a:rPr lang="ru-RU" sz="1200" b="1" dirty="0"/>
              <a:t>элементом для элемента </a:t>
            </a:r>
            <a:r>
              <a:rPr lang="en-US" sz="1200" b="1" dirty="0"/>
              <a:t>title?</a:t>
            </a:r>
            <a:endParaRPr lang="ru-RU" sz="1200" b="1" dirty="0"/>
          </a:p>
          <a:p>
            <a:r>
              <a:rPr lang="ru-RU" sz="1200" dirty="0"/>
              <a:t>Только элемент</a:t>
            </a:r>
            <a:r>
              <a:rPr lang="en-US" sz="1200" dirty="0"/>
              <a:t>: “script”.</a:t>
            </a:r>
          </a:p>
          <a:p>
            <a:endParaRPr lang="ru-RU" sz="1200" dirty="0"/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 h1,h2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не будут сестринскими для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title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, так как у них другой родитель(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body)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868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Поиск элемента</a:t>
            </a:r>
            <a:r>
              <a:rPr lang="en-US" sz="3600" dirty="0"/>
              <a:t> </a:t>
            </a:r>
            <a:r>
              <a:rPr lang="ru-RU" sz="3600" dirty="0"/>
              <a:t>с помомощью </a:t>
            </a:r>
            <a:r>
              <a:rPr lang="en-US" sz="3600" dirty="0"/>
              <a:t>css selector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Теперь предположим, что не можем найти элемент на странице, используя простой селектор, так как такой селектор находит сразу несколько элементов.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ru-RU" sz="1200" dirty="0">
                <a:solidFill>
                  <a:schemeClr val="tx1"/>
                </a:solidFill>
              </a:rPr>
              <a:t>Откройте блокнот на компьютере</a:t>
            </a:r>
          </a:p>
          <a:p>
            <a:pPr marL="228600" indent="-228600">
              <a:buAutoNum type="arabicPeriod"/>
            </a:pPr>
            <a:r>
              <a:rPr lang="ru-RU" sz="1200" dirty="0">
                <a:solidFill>
                  <a:schemeClr val="tx1"/>
                </a:solidFill>
              </a:rPr>
              <a:t>Скопируйте и вставьте в него код ниже</a:t>
            </a:r>
          </a:p>
          <a:p>
            <a:pPr marL="228600" indent="-228600">
              <a:buAutoNum type="arabicPeriod"/>
            </a:pPr>
            <a:r>
              <a:rPr lang="ru-RU" sz="1200" dirty="0">
                <a:solidFill>
                  <a:schemeClr val="tx1"/>
                </a:solidFill>
              </a:rPr>
              <a:t>Нажмите Файл</a:t>
            </a:r>
            <a:r>
              <a:rPr lang="en-US" sz="1200" dirty="0">
                <a:solidFill>
                  <a:schemeClr val="tx1"/>
                </a:solidFill>
              </a:rPr>
              <a:t> -&gt;</a:t>
            </a:r>
            <a:r>
              <a:rPr lang="ru-RU" sz="1200" dirty="0">
                <a:solidFill>
                  <a:schemeClr val="tx1"/>
                </a:solidFill>
              </a:rPr>
              <a:t> Сохранить как... </a:t>
            </a:r>
            <a:r>
              <a:rPr lang="en-US" sz="1200" dirty="0">
                <a:solidFill>
                  <a:schemeClr val="tx1"/>
                </a:solidFill>
              </a:rPr>
              <a:t>-&gt;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ru-RU" sz="1200" b="1" dirty="0">
                <a:solidFill>
                  <a:schemeClr val="tx1"/>
                </a:solidFill>
              </a:rPr>
              <a:t>имя файла.</a:t>
            </a:r>
            <a:r>
              <a:rPr lang="en-US" sz="1200" b="1" dirty="0">
                <a:solidFill>
                  <a:schemeClr val="tx1"/>
                </a:solidFill>
              </a:rPr>
              <a:t>html </a:t>
            </a:r>
            <a:r>
              <a:rPr lang="en-US" sz="1200" dirty="0">
                <a:solidFill>
                  <a:schemeClr val="tx1"/>
                </a:solidFill>
              </a:rPr>
              <a:t>-&gt; </a:t>
            </a:r>
            <a:r>
              <a:rPr lang="ru-RU" sz="1200" dirty="0">
                <a:solidFill>
                  <a:schemeClr val="tx1"/>
                </a:solidFill>
              </a:rPr>
              <a:t>Сохранить</a:t>
            </a:r>
            <a:endParaRPr lang="ru-RU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ru-RU" sz="1200" dirty="0">
                <a:solidFill>
                  <a:schemeClr val="tx1"/>
                </a:solidFill>
              </a:rPr>
              <a:t>Запустите сохраненный файл (он откроется в браузере, далее откройте код и следующий слайд)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</a:rPr>
              <a:t>Код для копирования</a:t>
            </a:r>
            <a:r>
              <a:rPr lang="en-US" sz="1200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&lt;div id="examples" class="post-list"&gt;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&lt;div id="example1" class="item"&gt;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&lt;div class="title"&gt;Python&lt;/div&gt;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&lt;img </a:t>
            </a:r>
            <a:r>
              <a:rPr lang="en-US" sz="1200" dirty="0" err="1">
                <a:solidFill>
                  <a:schemeClr val="tx1"/>
                </a:solidFill>
              </a:rPr>
              <a:t>src</a:t>
            </a:r>
            <a:r>
              <a:rPr lang="en-US" sz="1200" dirty="0">
                <a:solidFill>
                  <a:schemeClr val="tx1"/>
                </a:solidFill>
              </a:rPr>
              <a:t>="https://i.ytimg.com/vi/MY5iNOAJq9o/hqdefault.jpg"&gt;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&lt;/div&gt;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&lt;div id="example2" class="item"&gt;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&lt;div class="title second"&gt;Selenium&lt;/div&gt;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&lt;img </a:t>
            </a:r>
            <a:r>
              <a:rPr lang="en-US" sz="1200" dirty="0" err="1">
                <a:solidFill>
                  <a:schemeClr val="tx1"/>
                </a:solidFill>
              </a:rPr>
              <a:t>src</a:t>
            </a:r>
            <a:r>
              <a:rPr lang="en-US" sz="1200" dirty="0">
                <a:solidFill>
                  <a:schemeClr val="tx1"/>
                </a:solidFill>
              </a:rPr>
              <a:t>="https://i.ytimg.com/vi/7zhbCVWJJsY/hqdefault.jpg"&gt;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&lt;/div&gt;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&lt;div id="example3" class="item"&gt;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&lt;div class="title"&gt;CSS&lt;/div&gt;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&lt;img </a:t>
            </a:r>
            <a:r>
              <a:rPr lang="en-US" sz="1200" dirty="0" err="1">
                <a:solidFill>
                  <a:schemeClr val="tx1"/>
                </a:solidFill>
              </a:rPr>
              <a:t>src</a:t>
            </a:r>
            <a:r>
              <a:rPr lang="en-US" sz="1200" dirty="0">
                <a:solidFill>
                  <a:schemeClr val="tx1"/>
                </a:solidFill>
              </a:rPr>
              <a:t>="https://i.pinimg.com/236x/79/09/89/7909897ceea2691e5a4942766c678ff3.jpg"&gt;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  &lt;a class="skip-link screen-reader-text" href="#content"&gt;</a:t>
            </a:r>
            <a:r>
              <a:rPr lang="ru-RU" sz="1200" dirty="0">
                <a:solidFill>
                  <a:schemeClr val="tx1"/>
                </a:solidFill>
              </a:rPr>
              <a:t>Перейти к содержимому&lt;/</a:t>
            </a:r>
            <a:r>
              <a:rPr lang="en-US" sz="1200" dirty="0">
                <a:solidFill>
                  <a:schemeClr val="tx1"/>
                </a:solidFill>
              </a:rPr>
              <a:t>a&gt;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 &lt;/div&gt;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&lt;/div&gt;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A3F7A-697B-4416-8BD8-EFA41FC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115" y="1575693"/>
            <a:ext cx="4447710" cy="166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07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Поиск элемента</a:t>
            </a:r>
            <a:r>
              <a:rPr lang="en-US" sz="3600" dirty="0"/>
              <a:t> </a:t>
            </a:r>
            <a:r>
              <a:rPr lang="ru-RU" sz="3600" dirty="0"/>
              <a:t>с помомощью </a:t>
            </a:r>
            <a:r>
              <a:rPr lang="en-US" sz="3600" dirty="0"/>
              <a:t>css selector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/>
              <a:t>Использование потомков для нахождения селектора</a:t>
            </a:r>
            <a:r>
              <a:rPr lang="en-US" sz="1600" b="1" dirty="0"/>
              <a:t>:</a:t>
            </a:r>
            <a:endParaRPr lang="ru-RU" sz="16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u="sng" dirty="0"/>
              <a:t>Попробуем найти элемент с текстом </a:t>
            </a:r>
            <a:r>
              <a:rPr lang="en-US" sz="1200" u="sng" dirty="0"/>
              <a:t>"CSS"</a:t>
            </a:r>
            <a:endParaRPr lang="ru-RU" sz="1200" u="sng" dirty="0"/>
          </a:p>
          <a:p>
            <a:r>
              <a:rPr lang="ru-RU" sz="1200" dirty="0">
                <a:solidFill>
                  <a:schemeClr val="tx1"/>
                </a:solidFill>
              </a:rPr>
              <a:t>Попробуем по </a:t>
            </a:r>
            <a:r>
              <a:rPr lang="en-US" sz="1200" dirty="0">
                <a:solidFill>
                  <a:schemeClr val="tx1"/>
                </a:solidFill>
              </a:rPr>
              <a:t>id: </a:t>
            </a:r>
            <a:r>
              <a:rPr lang="en-US" sz="1200" b="1" dirty="0">
                <a:solidFill>
                  <a:schemeClr val="tx1"/>
                </a:solidFill>
              </a:rPr>
              <a:t>#example3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(найдём один элемент, но не тот который нужен, нам нужна именно строка с текстом </a:t>
            </a:r>
            <a:r>
              <a:rPr lang="en-US" sz="1200" dirty="0">
                <a:solidFill>
                  <a:schemeClr val="tx1"/>
                </a:solidFill>
              </a:rPr>
              <a:t>"CSS"</a:t>
            </a:r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>
                <a:solidFill>
                  <a:schemeClr val="tx1"/>
                </a:solidFill>
              </a:rPr>
              <a:t>Попробуем по </a:t>
            </a:r>
            <a:r>
              <a:rPr lang="en-US" sz="1200" dirty="0">
                <a:solidFill>
                  <a:schemeClr val="tx1"/>
                </a:solidFill>
              </a:rPr>
              <a:t>class: </a:t>
            </a:r>
            <a:r>
              <a:rPr lang="en-US" sz="1200" b="1" dirty="0">
                <a:solidFill>
                  <a:schemeClr val="tx1"/>
                </a:solidFill>
              </a:rPr>
              <a:t>.title </a:t>
            </a:r>
            <a:r>
              <a:rPr lang="ru-RU" sz="1200" dirty="0">
                <a:solidFill>
                  <a:schemeClr val="tx1"/>
                </a:solidFill>
              </a:rPr>
              <a:t>(найдём три элемента)</a:t>
            </a:r>
          </a:p>
          <a:p>
            <a:r>
              <a:rPr lang="ru-RU" sz="1200" dirty="0">
                <a:solidFill>
                  <a:schemeClr val="tx1"/>
                </a:solidFill>
              </a:rPr>
              <a:t>Попробуем по </a:t>
            </a:r>
            <a:r>
              <a:rPr lang="en-US" sz="1200" dirty="0">
                <a:solidFill>
                  <a:schemeClr val="tx1"/>
                </a:solidFill>
              </a:rPr>
              <a:t>name:</a:t>
            </a:r>
            <a:r>
              <a:rPr lang="ru-RU" sz="1200" dirty="0">
                <a:solidFill>
                  <a:schemeClr val="tx1"/>
                </a:solidFill>
              </a:rPr>
              <a:t> здесь его совсем нет</a:t>
            </a:r>
          </a:p>
          <a:p>
            <a:r>
              <a:rPr lang="ru-RU" sz="1200" dirty="0"/>
              <a:t>Вопрос: как нам найти селектор для подписи у третьей картинки? Вот здесь нам поможет иерархическая структура страницы и возможность комбинировать CSS-селекторы. </a:t>
            </a:r>
          </a:p>
          <a:p>
            <a:r>
              <a:rPr lang="ru-RU" sz="1200" dirty="0"/>
              <a:t>CSS-селекторы позволяют использовать одновременно любые селекторы, рассмотренные ранее.</a:t>
            </a:r>
            <a:endParaRPr lang="en-US" sz="1200" dirty="0"/>
          </a:p>
          <a:p>
            <a:r>
              <a:rPr lang="en-US" sz="1200" b="1" dirty="0"/>
              <a:t>#example3 </a:t>
            </a:r>
            <a:r>
              <a:rPr lang="ru-RU" sz="1200" dirty="0"/>
              <a:t>- найдёт родителя нашего элемента</a:t>
            </a:r>
          </a:p>
          <a:p>
            <a:r>
              <a:rPr lang="en-US" sz="1200" b="1" dirty="0"/>
              <a:t>#example3.item</a:t>
            </a:r>
            <a:r>
              <a:rPr lang="ru-RU" sz="1200" b="1" dirty="0"/>
              <a:t> </a:t>
            </a:r>
            <a:r>
              <a:rPr lang="en-US" sz="1200" b="1" dirty="0"/>
              <a:t> </a:t>
            </a:r>
            <a:r>
              <a:rPr lang="en-US" sz="1200" dirty="0"/>
              <a:t>- </a:t>
            </a:r>
            <a:r>
              <a:rPr lang="ru-RU" sz="1200" dirty="0"/>
              <a:t>найдёт того же родителя нашего элемента, но уже вдобавок с классом </a:t>
            </a:r>
            <a:r>
              <a:rPr lang="en-US" sz="1200" dirty="0"/>
              <a:t>item</a:t>
            </a:r>
            <a:r>
              <a:rPr lang="ru-RU" sz="1200" dirty="0"/>
              <a:t> (мы объединили поиск по </a:t>
            </a:r>
            <a:r>
              <a:rPr lang="en-US" sz="1200" dirty="0"/>
              <a:t>id</a:t>
            </a:r>
            <a:r>
              <a:rPr lang="ru-RU" sz="1200" dirty="0"/>
              <a:t> с поиском по классу и ищем и то и другое сразу на одном уровне)</a:t>
            </a:r>
          </a:p>
          <a:p>
            <a:r>
              <a:rPr lang="en-US" sz="1200" b="1" dirty="0"/>
              <a:t>#example3</a:t>
            </a:r>
            <a:r>
              <a:rPr lang="ru-RU" sz="1200" b="1" dirty="0"/>
              <a:t>.</a:t>
            </a:r>
            <a:r>
              <a:rPr lang="en-US" sz="1200" b="1" dirty="0"/>
              <a:t>title</a:t>
            </a:r>
            <a:r>
              <a:rPr lang="ru-RU" sz="1200" b="1" dirty="0"/>
              <a:t> </a:t>
            </a:r>
            <a:r>
              <a:rPr lang="ru-RU" sz="1200" dirty="0"/>
              <a:t>– ничего не найдёт (так как ожидает что на одном уровне будет и </a:t>
            </a:r>
            <a:r>
              <a:rPr lang="en-US" sz="1200" dirty="0"/>
              <a:t>example3</a:t>
            </a:r>
            <a:r>
              <a:rPr lang="ru-RU" sz="1200" dirty="0"/>
              <a:t> и </a:t>
            </a:r>
            <a:r>
              <a:rPr lang="en-US" sz="1200" dirty="0"/>
              <a:t>title</a:t>
            </a:r>
            <a:r>
              <a:rPr lang="ru-RU" sz="1200" dirty="0"/>
              <a:t>)</a:t>
            </a:r>
          </a:p>
          <a:p>
            <a:endParaRPr lang="ru-RU" sz="1200" dirty="0"/>
          </a:p>
          <a:p>
            <a:r>
              <a:rPr lang="en-US" sz="1200" b="1" dirty="0"/>
              <a:t>#example3 .title </a:t>
            </a:r>
            <a:r>
              <a:rPr lang="en-US" sz="1200" dirty="0"/>
              <a:t>–</a:t>
            </a:r>
            <a:r>
              <a:rPr lang="ru-RU" sz="1200" dirty="0"/>
              <a:t> </a:t>
            </a:r>
            <a:r>
              <a:rPr lang="ru-RU" sz="1200" u="sng" dirty="0"/>
              <a:t>найдёт наш элемент </a:t>
            </a:r>
            <a:r>
              <a:rPr lang="ru-RU" sz="1200" dirty="0"/>
              <a:t>(пробел между </a:t>
            </a:r>
            <a:r>
              <a:rPr lang="en-US" sz="1200" dirty="0"/>
              <a:t>example </a:t>
            </a:r>
            <a:r>
              <a:rPr lang="ru-RU" sz="1200" dirty="0"/>
              <a:t>и </a:t>
            </a:r>
            <a:r>
              <a:rPr lang="en-US" sz="1200" dirty="0"/>
              <a:t>.title</a:t>
            </a:r>
            <a:r>
              <a:rPr lang="ru-RU" sz="1200" dirty="0"/>
              <a:t> обозначает поиск по дальнейшим уровням вложенности)</a:t>
            </a:r>
          </a:p>
          <a:p>
            <a:r>
              <a:rPr lang="ru-RU" sz="1200" dirty="0"/>
              <a:t>Элемент ".</a:t>
            </a:r>
            <a:r>
              <a:rPr lang="en-US" sz="1200" dirty="0"/>
              <a:t>title</a:t>
            </a:r>
            <a:r>
              <a:rPr lang="ru-RU" sz="1200" dirty="0"/>
              <a:t>" называется </a:t>
            </a:r>
            <a:r>
              <a:rPr lang="ru-RU" sz="1200" b="1" dirty="0"/>
              <a:t>потомком</a:t>
            </a:r>
            <a:r>
              <a:rPr lang="ru-RU" sz="1200" dirty="0"/>
              <a:t> элемента "#</a:t>
            </a:r>
            <a:r>
              <a:rPr lang="en-US" sz="1200" dirty="0"/>
              <a:t>examples3</a:t>
            </a:r>
            <a:r>
              <a:rPr lang="ru-RU" sz="1200" dirty="0"/>
              <a:t>".</a:t>
            </a:r>
          </a:p>
          <a:p>
            <a:pPr marL="0" indent="0">
              <a:buNone/>
            </a:pPr>
            <a:r>
              <a:rPr lang="ru-RU" sz="1200" b="1" dirty="0"/>
              <a:t>По итогу, мы нашли наш элемент, обратившись вначале к элементу с </a:t>
            </a:r>
            <a:r>
              <a:rPr lang="en-US" sz="1200" b="1" dirty="0"/>
              <a:t>id</a:t>
            </a:r>
            <a:r>
              <a:rPr lang="ru-RU" sz="1200" b="1" dirty="0"/>
              <a:t> и далее от него спустились на уровень ниже, используя класс потомка</a:t>
            </a:r>
            <a:r>
              <a:rPr lang="en-US" sz="1200" b="1" dirty="0"/>
              <a:t> "title"</a:t>
            </a:r>
          </a:p>
          <a:p>
            <a:r>
              <a:rPr lang="ru-RU" sz="1200" dirty="0"/>
              <a:t>Для лучшего закрепления материала, последовательно введите все селекторы и проследите разницу в их результате.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966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Поиск элемента</a:t>
            </a:r>
            <a:r>
              <a:rPr lang="en-US" sz="3600" dirty="0"/>
              <a:t> </a:t>
            </a:r>
            <a:r>
              <a:rPr lang="ru-RU" sz="3600" dirty="0"/>
              <a:t>с помомощью </a:t>
            </a:r>
            <a:r>
              <a:rPr lang="en-US" sz="3600" dirty="0"/>
              <a:t>css selector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/>
              <a:t>Использование дочерних элементов</a:t>
            </a:r>
            <a:r>
              <a:rPr lang="en-US" sz="1600" b="1" dirty="0"/>
              <a:t>:</a:t>
            </a:r>
            <a:endParaRPr lang="ru-RU" sz="1600" b="1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400" u="sng" dirty="0"/>
              <a:t>Попробуем найти элемент с текстом “</a:t>
            </a:r>
            <a:r>
              <a:rPr lang="en-US" sz="1400" u="sng" dirty="0"/>
              <a:t>CSS”</a:t>
            </a:r>
            <a:r>
              <a:rPr lang="ru-RU" sz="1400" u="sng" dirty="0"/>
              <a:t>, используя дочерний элемент</a:t>
            </a:r>
            <a:r>
              <a:rPr lang="en-US" sz="1400" u="sng" dirty="0"/>
              <a:t>:</a:t>
            </a:r>
            <a:endParaRPr lang="ru-RU" sz="1400" u="sng" dirty="0"/>
          </a:p>
          <a:p>
            <a:pPr marL="0" indent="0">
              <a:buNone/>
            </a:pPr>
            <a:r>
              <a:rPr lang="en-US" sz="1400" b="1" dirty="0"/>
              <a:t>#example3&gt;div.title</a:t>
            </a:r>
          </a:p>
          <a:p>
            <a:endParaRPr lang="ru-RU" sz="1400" dirty="0"/>
          </a:p>
          <a:p>
            <a:r>
              <a:rPr lang="ru-RU" sz="1400" dirty="0"/>
              <a:t>Кроме</a:t>
            </a:r>
            <a:r>
              <a:rPr lang="en-US" sz="1400" dirty="0"/>
              <a:t> id,</a:t>
            </a:r>
            <a:r>
              <a:rPr lang="ru-RU" sz="1400" dirty="0"/>
              <a:t> здесь мы указали еще тег элемента </a:t>
            </a:r>
            <a:r>
              <a:rPr lang="ru-RU" sz="1400" b="1" dirty="0"/>
              <a:t>div </a:t>
            </a:r>
            <a:r>
              <a:rPr lang="ru-RU" sz="1400" dirty="0"/>
              <a:t>и уточнили, что нужно взять элемент с тегом и классом: </a:t>
            </a:r>
            <a:r>
              <a:rPr lang="ru-RU" sz="1400" b="1" dirty="0"/>
              <a:t>"div.title"</a:t>
            </a:r>
            <a:r>
              <a:rPr lang="ru-RU" sz="1400" dirty="0"/>
              <a:t>, который находится строго на один уровень иерархии ниже чем элемент </a:t>
            </a:r>
            <a:r>
              <a:rPr lang="en-US" sz="1400" dirty="0"/>
              <a:t>"</a:t>
            </a:r>
            <a:r>
              <a:rPr lang="en-US" sz="1400" b="1" dirty="0"/>
              <a:t>example3</a:t>
            </a:r>
            <a:r>
              <a:rPr lang="ru-RU" sz="1400" dirty="0"/>
              <a:t>" (это задаёт символ "&gt;").</a:t>
            </a:r>
          </a:p>
          <a:p>
            <a:r>
              <a:rPr lang="ru-RU" sz="1400" dirty="0"/>
              <a:t>Элемент </a:t>
            </a:r>
            <a:r>
              <a:rPr lang="en-US" sz="1400" dirty="0"/>
              <a:t>"</a:t>
            </a:r>
            <a:r>
              <a:rPr lang="en-US" sz="1400" b="1" dirty="0"/>
              <a:t>example3</a:t>
            </a:r>
            <a:r>
              <a:rPr lang="ru-RU" sz="1400" dirty="0"/>
              <a:t>" в этом случае называется </a:t>
            </a:r>
            <a:r>
              <a:rPr lang="ru-RU" sz="1400" b="1" dirty="0"/>
              <a:t>родителем</a:t>
            </a:r>
            <a:r>
              <a:rPr lang="ru-RU" sz="1400" dirty="0"/>
              <a:t> (англ. </a:t>
            </a:r>
            <a:r>
              <a:rPr lang="ru-RU" sz="1400" b="1" dirty="0"/>
              <a:t>parent</a:t>
            </a:r>
            <a:r>
              <a:rPr lang="ru-RU" sz="1400" dirty="0"/>
              <a:t>) для элемента</a:t>
            </a:r>
            <a:r>
              <a:rPr lang="ru-RU" sz="1400" b="1" dirty="0"/>
              <a:t> "div.title"</a:t>
            </a:r>
            <a:r>
              <a:rPr lang="ru-RU" sz="1400" dirty="0"/>
              <a:t>, а элемент </a:t>
            </a:r>
            <a:r>
              <a:rPr lang="ru-RU" sz="1400" b="1" dirty="0"/>
              <a:t>"div.title"</a:t>
            </a:r>
            <a:r>
              <a:rPr lang="ru-RU" sz="1400" dirty="0"/>
              <a:t> называется </a:t>
            </a:r>
            <a:r>
              <a:rPr lang="ru-RU" sz="1400" b="1" dirty="0"/>
              <a:t>дочерним элементом</a:t>
            </a:r>
            <a:r>
              <a:rPr lang="ru-RU" sz="1400" dirty="0"/>
              <a:t> (англ. </a:t>
            </a:r>
            <a:r>
              <a:rPr lang="ru-RU" sz="1400" b="1" dirty="0"/>
              <a:t>child</a:t>
            </a:r>
            <a:r>
              <a:rPr lang="ru-RU" sz="1400" dirty="0"/>
              <a:t>) для элемента </a:t>
            </a:r>
            <a:r>
              <a:rPr lang="en-US" sz="1400" b="1" dirty="0"/>
              <a:t>"example3</a:t>
            </a:r>
            <a:r>
              <a:rPr lang="ru-RU" sz="1400" b="1" dirty="0"/>
              <a:t>"</a:t>
            </a:r>
            <a:r>
              <a:rPr lang="ru-RU" sz="1400" dirty="0"/>
              <a:t>. </a:t>
            </a:r>
            <a:endParaRPr lang="en-US" sz="1400" dirty="0"/>
          </a:p>
          <a:p>
            <a:r>
              <a:rPr lang="ru-RU" sz="1400" dirty="0"/>
              <a:t>Если символа </a:t>
            </a:r>
            <a:r>
              <a:rPr lang="ru-RU" sz="1400" b="1" dirty="0"/>
              <a:t>"&gt;"</a:t>
            </a:r>
            <a:r>
              <a:rPr lang="ru-RU" sz="1400" dirty="0"/>
              <a:t> нет, то будут выполнен поиск всех элементов </a:t>
            </a:r>
            <a:r>
              <a:rPr lang="ru-RU" sz="1400" b="1" dirty="0"/>
              <a:t>"div.title"</a:t>
            </a:r>
            <a:r>
              <a:rPr lang="ru-RU" sz="1400" dirty="0"/>
              <a:t> на любом уровне ниже первого элемента.</a:t>
            </a:r>
            <a:r>
              <a:rPr lang="en-US" sz="1400" dirty="0"/>
              <a:t> (</a:t>
            </a:r>
            <a:r>
              <a:rPr lang="ru-RU" sz="1400" dirty="0"/>
              <a:t>например</a:t>
            </a:r>
            <a:r>
              <a:rPr lang="en-US" sz="1400" dirty="0"/>
              <a:t>: </a:t>
            </a:r>
            <a:r>
              <a:rPr lang="en-US" sz="1400" b="1" dirty="0"/>
              <a:t>#examples div.title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dirty="0"/>
              <a:t>В данном случае символы пробела вокруг символа "&gt;" не несут важного значения в отличие от предыдущего примера, и могут быть опущены. Запись </a:t>
            </a:r>
            <a:r>
              <a:rPr lang="ru-RU" sz="1400" b="1" dirty="0"/>
              <a:t>"</a:t>
            </a:r>
            <a:r>
              <a:rPr lang="en-US" sz="1400" b="1" dirty="0"/>
              <a:t>#example3&gt;div.title</a:t>
            </a:r>
            <a:r>
              <a:rPr lang="ru-RU" sz="1400" b="1" dirty="0"/>
              <a:t>" </a:t>
            </a:r>
            <a:r>
              <a:rPr lang="ru-RU" sz="1400" dirty="0"/>
              <a:t>аналогична записи </a:t>
            </a:r>
            <a:r>
              <a:rPr lang="ru-RU" sz="1400" b="1" dirty="0"/>
              <a:t>"</a:t>
            </a:r>
            <a:r>
              <a:rPr lang="en-US" sz="1400" b="1" dirty="0"/>
              <a:t>#example3 &gt; div.title</a:t>
            </a:r>
            <a:r>
              <a:rPr lang="ru-RU" sz="1400" b="1" dirty="0"/>
              <a:t>"</a:t>
            </a:r>
            <a:r>
              <a:rPr lang="ru-RU" sz="1400" dirty="0"/>
              <a:t>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ru-RU" sz="1400" b="1" dirty="0"/>
              <a:t>По итогу, мы нашли наш элемент обратившись вначале к элементу с </a:t>
            </a:r>
            <a:r>
              <a:rPr lang="en-US" sz="1400" b="1" dirty="0"/>
              <a:t>id</a:t>
            </a:r>
            <a:r>
              <a:rPr lang="ru-RU" sz="1400" b="1" dirty="0"/>
              <a:t> и далее от него спустились на уровень ниже к тегу искомого элемента.</a:t>
            </a:r>
            <a:endParaRPr lang="en-US" sz="1400" b="1" dirty="0"/>
          </a:p>
          <a:p>
            <a:r>
              <a:rPr lang="ru-RU" sz="1200" u="sng" dirty="0"/>
              <a:t>В разборе дальнейших методов, также используйте сохранённый ранее </a:t>
            </a:r>
            <a:r>
              <a:rPr lang="en-US" sz="1200" u="sng" dirty="0"/>
              <a:t>html</a:t>
            </a:r>
            <a:r>
              <a:rPr lang="ru-RU" sz="1200" u="sng" dirty="0"/>
              <a:t> файл.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609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Поиск элемента</a:t>
            </a:r>
            <a:r>
              <a:rPr lang="en-US" sz="3600" dirty="0"/>
              <a:t> </a:t>
            </a:r>
            <a:r>
              <a:rPr lang="ru-RU" sz="3600" dirty="0"/>
              <a:t>с помомощью </a:t>
            </a:r>
            <a:r>
              <a:rPr lang="en-US" sz="3600" dirty="0"/>
              <a:t>css selector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/>
              <a:t>Использование порядкового номера дочернего элемента 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u="sng" dirty="0"/>
              <a:t>Попробуем найти элемент с текстом “</a:t>
            </a:r>
            <a:r>
              <a:rPr lang="en-US" sz="1400" u="sng" dirty="0"/>
              <a:t>CSS”</a:t>
            </a:r>
            <a:r>
              <a:rPr lang="ru-RU" sz="1400" u="sng" dirty="0"/>
              <a:t>, используя номер дочернего элемента</a:t>
            </a:r>
            <a:r>
              <a:rPr lang="en-US" sz="1400" u="sng" dirty="0"/>
              <a:t>:</a:t>
            </a:r>
            <a:endParaRPr lang="ru-RU" sz="1400" u="sng" dirty="0"/>
          </a:p>
          <a:p>
            <a:pPr marL="0" indent="0">
              <a:buNone/>
            </a:pPr>
            <a:r>
              <a:rPr lang="en-US" sz="1400" b="1" dirty="0"/>
              <a:t>#examples &gt; .item</a:t>
            </a:r>
            <a:r>
              <a:rPr lang="en-US" sz="1400" b="1" dirty="0">
                <a:sym typeface="Wingdings" panose="05000000000000000000" pitchFamily="2" charset="2"/>
              </a:rPr>
              <a:t>:nth-child(3) &gt; .title</a:t>
            </a:r>
            <a:endParaRPr lang="en-US" sz="1400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ru-RU" sz="1400" b="1" dirty="0"/>
              <a:t>:nth-child()</a:t>
            </a:r>
            <a:r>
              <a:rPr lang="ru-RU" sz="1400" dirty="0"/>
              <a:t> </a:t>
            </a:r>
            <a:r>
              <a:rPr lang="en-US" sz="1400" dirty="0"/>
              <a:t> - </a:t>
            </a:r>
            <a:r>
              <a:rPr lang="ru-RU" sz="1400" dirty="0"/>
              <a:t>позволяет выбрать дочерние элементы внутри родительского элемента в зависимости от их размещения (порядкового номера).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ru-RU" sz="1400" dirty="0"/>
              <a:t>Пошаговый разбор</a:t>
            </a:r>
            <a:r>
              <a:rPr lang="en-US" sz="14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#examples 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нашли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id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предка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#examples &gt; .item</a:t>
            </a:r>
            <a:r>
              <a:rPr lang="en-US" sz="1400" b="1" dirty="0">
                <a:sym typeface="Wingdings" panose="05000000000000000000" pitchFamily="2" charset="2"/>
              </a:rPr>
              <a:t>:nth-child(3)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-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п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севдо-класс 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</a:rPr>
              <a:t>:nth-child(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 - позволяет найти третий по порядку элемент среди дочерних элементов для "#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examples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". 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400" b="1" dirty="0"/>
              <a:t>#examples &gt; .item</a:t>
            </a:r>
            <a:r>
              <a:rPr lang="en-US" sz="1400" b="1" dirty="0">
                <a:sym typeface="Wingdings" panose="05000000000000000000" pitchFamily="2" charset="2"/>
              </a:rPr>
              <a:t>:nth-child(3) &gt; .title</a:t>
            </a:r>
            <a:r>
              <a:rPr lang="ru-RU" sz="1400" b="1" dirty="0">
                <a:sym typeface="Wingdings" panose="05000000000000000000" pitchFamily="2" charset="2"/>
              </a:rPr>
              <a:t>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-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з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атем с помощью "&gt; .title" указываем, что нам нужен элемент  на уровень ниже с классом ".title".</a:t>
            </a:r>
          </a:p>
          <a:p>
            <a:pPr marL="0" indent="0">
              <a:buNone/>
            </a:pPr>
            <a:endParaRPr lang="ru-RU" sz="1400" b="1" dirty="0"/>
          </a:p>
          <a:p>
            <a:pPr marL="0" indent="0">
              <a:buNone/>
            </a:pPr>
            <a:r>
              <a:rPr lang="ru-RU" sz="1400" b="1" dirty="0"/>
              <a:t>По итогу, мы нашли наш элемент обратившись вначале к предку, далее нашли его третий дочерний элемент и от него спустились на уровень ниже</a:t>
            </a:r>
            <a:endParaRPr lang="en-US" sz="1400" b="1" dirty="0"/>
          </a:p>
          <a:p>
            <a:endParaRPr lang="ru-RU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177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Поиск элемента</a:t>
            </a:r>
            <a:r>
              <a:rPr lang="en-US" sz="3600" dirty="0"/>
              <a:t> </a:t>
            </a:r>
            <a:r>
              <a:rPr lang="ru-RU" sz="3600" dirty="0"/>
              <a:t>с помомощью </a:t>
            </a:r>
            <a:r>
              <a:rPr lang="en-US" sz="3600" dirty="0"/>
              <a:t>css selector</a:t>
            </a:r>
            <a:endParaRPr lang="ru-R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/>
              <a:t>Использование нескольких классов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400" dirty="0"/>
              <a:t>Попробуем найти элемент с текстом “</a:t>
            </a:r>
            <a:r>
              <a:rPr lang="en-US" sz="1400" dirty="0"/>
              <a:t>CSS”</a:t>
            </a:r>
            <a:r>
              <a:rPr lang="ru-RU" sz="1400" dirty="0"/>
              <a:t>, используя несколько классов</a:t>
            </a:r>
            <a:r>
              <a:rPr lang="en-US" sz="1400" dirty="0"/>
              <a:t>:</a:t>
            </a:r>
            <a:endParaRPr lang="ru-RU" sz="1400" dirty="0"/>
          </a:p>
          <a:p>
            <a:pPr marL="0" indent="0">
              <a:buNone/>
            </a:pPr>
            <a:r>
              <a:rPr lang="en-US" sz="1400" b="1" dirty="0"/>
              <a:t>.title.second</a:t>
            </a:r>
          </a:p>
          <a:p>
            <a:endParaRPr lang="en-US" sz="1400" dirty="0"/>
          </a:p>
          <a:p>
            <a:r>
              <a:rPr lang="ru-RU" sz="1400" dirty="0"/>
              <a:t>Также можно использовать сразу несколько классов элемента, чтобы его найти. Для этого классы записываются подряд через точку: </a:t>
            </a:r>
            <a:r>
              <a:rPr lang="ru-RU" sz="1400" b="1" dirty="0"/>
              <a:t>".title.second"</a:t>
            </a:r>
            <a:endParaRPr lang="ru-RU" sz="1400" dirty="0"/>
          </a:p>
          <a:p>
            <a:r>
              <a:rPr lang="ru-RU" sz="1400" dirty="0"/>
              <a:t>С помощью изученных селекторов уже можно приступать к написанию простых тестов</a:t>
            </a:r>
            <a:endParaRPr lang="ru-RU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314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элемента</a:t>
            </a:r>
            <a:r>
              <a:rPr lang="en-US" sz="4200" dirty="0"/>
              <a:t> </a:t>
            </a:r>
            <a:r>
              <a:rPr lang="ru-RU" sz="4200" dirty="0"/>
              <a:t>по </a:t>
            </a:r>
            <a:r>
              <a:rPr lang="en-US" sz="4200" dirty="0"/>
              <a:t>text</a:t>
            </a:r>
            <a:r>
              <a:rPr lang="ru-RU" sz="4200" dirty="0"/>
              <a:t> и </a:t>
            </a:r>
            <a:r>
              <a:rPr lang="en-US" sz="4200" dirty="0"/>
              <a:t>partial text</a:t>
            </a:r>
            <a:endParaRPr lang="ru-RU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Для </a:t>
            </a:r>
            <a:r>
              <a:rPr lang="ru-RU" sz="1200" u="sng" dirty="0"/>
              <a:t>поиска ссылок</a:t>
            </a:r>
            <a:r>
              <a:rPr lang="ru-RU" sz="1200" dirty="0"/>
              <a:t>, можно использовать поиск по</a:t>
            </a:r>
            <a:r>
              <a:rPr lang="en-US" sz="1200" dirty="0"/>
              <a:t> text</a:t>
            </a:r>
            <a:r>
              <a:rPr lang="ru-RU" sz="1200" dirty="0"/>
              <a:t> и </a:t>
            </a:r>
            <a:r>
              <a:rPr lang="en-US" sz="1200" dirty="0"/>
              <a:t>partial text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В</a:t>
            </a:r>
            <a:r>
              <a:rPr lang="en-US" sz="1200" dirty="0"/>
              <a:t> Selenium</a:t>
            </a:r>
            <a:r>
              <a:rPr lang="ru-RU" sz="1200" dirty="0"/>
              <a:t> есть для этого специальные команды</a:t>
            </a:r>
            <a:r>
              <a:rPr lang="en-US" sz="1200" dirty="0"/>
              <a:t>:</a:t>
            </a:r>
            <a:endParaRPr lang="ru-RU" sz="1200" dirty="0"/>
          </a:p>
          <a:p>
            <a:pPr marL="0" indent="0">
              <a:buNone/>
            </a:pPr>
            <a:r>
              <a:rPr lang="en-US" sz="1200" b="1" dirty="0"/>
              <a:t>find_element_by_link_text</a:t>
            </a:r>
            <a:r>
              <a:rPr lang="en-US" sz="1200" dirty="0"/>
              <a:t>(“</a:t>
            </a:r>
            <a:r>
              <a:rPr lang="ru-RU" sz="1200" dirty="0"/>
              <a:t>Содержимое текста полностью</a:t>
            </a:r>
            <a:r>
              <a:rPr lang="en-US" sz="1200" dirty="0"/>
              <a:t>”)</a:t>
            </a:r>
            <a:endParaRPr lang="ru-RU" sz="1200" dirty="0"/>
          </a:p>
          <a:p>
            <a:pPr marL="0" indent="0">
              <a:buNone/>
            </a:pPr>
            <a:r>
              <a:rPr lang="en-US" sz="1200" b="1" dirty="0"/>
              <a:t>find_element_by_partial_link_text</a:t>
            </a:r>
            <a:r>
              <a:rPr lang="ru-RU" sz="1200" dirty="0"/>
              <a:t>(</a:t>
            </a:r>
            <a:r>
              <a:rPr lang="en-US" sz="1200" dirty="0"/>
              <a:t>“</a:t>
            </a:r>
            <a:r>
              <a:rPr lang="ru-RU" sz="1200" dirty="0"/>
              <a:t>Часть названия текста</a:t>
            </a:r>
            <a:r>
              <a:rPr lang="en-US" sz="1200" dirty="0"/>
              <a:t>”</a:t>
            </a:r>
            <a:r>
              <a:rPr lang="ru-RU" sz="1200" dirty="0"/>
              <a:t>)</a:t>
            </a:r>
            <a:endParaRPr lang="en-US" sz="1200" dirty="0"/>
          </a:p>
          <a:p>
            <a:pPr marL="0" indent="0">
              <a:buNone/>
            </a:pPr>
            <a:r>
              <a:rPr lang="ru-RU" sz="1200" dirty="0"/>
              <a:t>Попробуем найти ссылку с текстом “Перейти к содержимому</a:t>
            </a:r>
            <a:r>
              <a:rPr lang="en-US" sz="1200" dirty="0"/>
              <a:t>”</a:t>
            </a:r>
            <a:r>
              <a:rPr lang="ru-RU" sz="1200" dirty="0"/>
              <a:t>, используя эти методы</a:t>
            </a:r>
            <a:r>
              <a:rPr lang="en-US" sz="1200" dirty="0"/>
              <a:t>:</a:t>
            </a:r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Создайте в </a:t>
            </a:r>
            <a:r>
              <a:rPr lang="en-US" sz="1200" b="1" dirty="0"/>
              <a:t>PyCharm </a:t>
            </a:r>
            <a:r>
              <a:rPr lang="ru-RU" sz="1200" b="1" dirty="0"/>
              <a:t>новый файл или закомментируйте содержимое предыдущего теста и далее скопируйте код ниже</a:t>
            </a:r>
            <a:r>
              <a:rPr lang="en-US" sz="1200" b="1" dirty="0"/>
              <a:t>:</a:t>
            </a:r>
            <a:endParaRPr lang="ru-RU" sz="1200" b="1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en-US" sz="1200" dirty="0"/>
              <a:t>from selenium import webdriver</a:t>
            </a:r>
            <a:endParaRPr lang="ru-RU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driver = </a:t>
            </a:r>
            <a:r>
              <a:rPr lang="en-US" sz="1200" dirty="0" err="1"/>
              <a:t>webdriver.Chrome</a:t>
            </a:r>
            <a:r>
              <a:rPr lang="en-US" sz="1200" dirty="0"/>
              <a:t>()</a:t>
            </a:r>
          </a:p>
          <a:p>
            <a:pPr marL="0" indent="0">
              <a:buNone/>
            </a:pPr>
            <a:r>
              <a:rPr lang="en-US" sz="1200" dirty="0"/>
              <a:t>driver.get("</a:t>
            </a:r>
            <a:r>
              <a:rPr lang="ru-RU" sz="1200" b="1" dirty="0">
                <a:solidFill>
                  <a:srgbClr val="C00000"/>
                </a:solidFill>
              </a:rPr>
              <a:t>Нужно вставить вашу ссылку открытого </a:t>
            </a:r>
            <a:r>
              <a:rPr lang="en-US" sz="1200" b="1" dirty="0">
                <a:solidFill>
                  <a:srgbClr val="C00000"/>
                </a:solidFill>
              </a:rPr>
              <a:t>html</a:t>
            </a:r>
            <a:r>
              <a:rPr lang="ru-RU" sz="1200" b="1" dirty="0">
                <a:solidFill>
                  <a:srgbClr val="C00000"/>
                </a:solidFill>
              </a:rPr>
              <a:t> файла (где 3 картинки</a:t>
            </a:r>
            <a:r>
              <a:rPr lang="en-US" sz="1200" b="1" dirty="0">
                <a:solidFill>
                  <a:srgbClr val="C00000"/>
                </a:solidFill>
              </a:rPr>
              <a:t> python,selenium,ccs)</a:t>
            </a:r>
            <a:r>
              <a:rPr lang="en-US" sz="1200" dirty="0"/>
              <a:t>")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это обычно что-то наподобие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file:///C:/Users/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.....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/>
              <a:t>elementByLinkText = driver.find_element_by_link_text("</a:t>
            </a:r>
            <a:r>
              <a:rPr lang="ru-RU" sz="1200" dirty="0"/>
              <a:t>Перейти к содержимому")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elementByPartialLinkText = driver.find_element_by_partial_link_text("</a:t>
            </a:r>
            <a:r>
              <a:rPr lang="ru-RU" sz="1200" dirty="0"/>
              <a:t>Пере")</a:t>
            </a:r>
          </a:p>
          <a:p>
            <a:pPr marL="0" indent="0">
              <a:buNone/>
            </a:pPr>
            <a:r>
              <a:rPr lang="en-US" sz="1200" dirty="0"/>
              <a:t>driver.quit()</a:t>
            </a:r>
            <a:endParaRPr lang="ru-RU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Запустите тест, если элементы найдутся,  в консоли будет сообщение</a:t>
            </a:r>
            <a:r>
              <a:rPr lang="en-US" sz="1200" b="1" dirty="0"/>
              <a:t>: “Process finished with exit code 0”</a:t>
            </a:r>
            <a:r>
              <a:rPr lang="ru-RU" sz="1200" b="1" dirty="0"/>
              <a:t>.</a:t>
            </a:r>
          </a:p>
          <a:p>
            <a:pPr marL="0" indent="0">
              <a:buNone/>
            </a:pPr>
            <a:r>
              <a:rPr lang="ru-RU" sz="1200" dirty="0"/>
              <a:t>Не лишним будет проверить ваш тест, попробуйте изменить название искомой ссылки на какое-нибудь другое, после запуска теста должна возникнуть ошибка.</a:t>
            </a:r>
          </a:p>
          <a:p>
            <a:pPr marL="0" indent="0">
              <a:buNone/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538207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Закрепление темы селекторов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2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2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200" b="1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200" b="1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sz="1400" b="1" dirty="0">
                <a:solidFill>
                  <a:schemeClr val="tx1"/>
                </a:solidFill>
                <a:latin typeface="Garamond (Body)"/>
              </a:rPr>
              <a:t>Рекомендации по поиску селекторов</a:t>
            </a:r>
            <a:r>
              <a:rPr lang="en-US" altLang="ru-RU" sz="1400" b="1" dirty="0">
                <a:solidFill>
                  <a:schemeClr val="tx1"/>
                </a:solidFill>
                <a:latin typeface="Garamond (Body)"/>
              </a:rPr>
              <a:t>: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Начинайте свой поиск с</a:t>
            </a:r>
            <a:r>
              <a:rPr lang="en-US" altLang="ru-RU" sz="1400" dirty="0">
                <a:solidFill>
                  <a:schemeClr val="tx1"/>
                </a:solidFill>
                <a:latin typeface="Garamond (Body)"/>
              </a:rPr>
              <a:t> </a:t>
            </a:r>
            <a:r>
              <a:rPr lang="en-US" altLang="ru-RU" sz="1400" b="1" dirty="0">
                <a:solidFill>
                  <a:schemeClr val="tx1"/>
                </a:solidFill>
                <a:latin typeface="Garamond (Body)"/>
              </a:rPr>
              <a:t>id</a:t>
            </a: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. Это самый быстрый и короткий способ найти элемент</a:t>
            </a:r>
            <a:endParaRPr lang="ru-RU" altLang="ru-RU" sz="2000" dirty="0">
              <a:solidFill>
                <a:schemeClr val="tx1"/>
              </a:solidFill>
              <a:latin typeface="Garamond (Body)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Используйте поиск по</a:t>
            </a:r>
            <a:r>
              <a:rPr lang="en-US" altLang="ru-RU" sz="1400" dirty="0">
                <a:solidFill>
                  <a:schemeClr val="tx1"/>
                </a:solidFill>
                <a:latin typeface="Garamond (Body)"/>
              </a:rPr>
              <a:t> </a:t>
            </a:r>
            <a:r>
              <a:rPr lang="en-US" altLang="ru-RU" sz="1400" b="1" dirty="0">
                <a:solidFill>
                  <a:schemeClr val="tx1"/>
                </a:solidFill>
                <a:latin typeface="Garamond (Body)"/>
              </a:rPr>
              <a:t>class</a:t>
            </a: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 если не нашлось уникального</a:t>
            </a:r>
            <a:r>
              <a:rPr lang="en-US" altLang="ru-RU" sz="1400" dirty="0">
                <a:solidFill>
                  <a:schemeClr val="tx1"/>
                </a:solidFill>
                <a:latin typeface="Garamond (Body)"/>
              </a:rPr>
              <a:t> </a:t>
            </a:r>
            <a:r>
              <a:rPr lang="en-US" altLang="ru-RU" sz="1400" b="1" dirty="0">
                <a:solidFill>
                  <a:schemeClr val="tx1"/>
                </a:solidFill>
                <a:latin typeface="Garamond (Body)"/>
              </a:rPr>
              <a:t>id</a:t>
            </a:r>
            <a:endParaRPr lang="ru-RU" altLang="ru-RU" sz="1400" b="1" dirty="0">
              <a:solidFill>
                <a:schemeClr val="tx1"/>
              </a:solidFill>
              <a:latin typeface="Garamond (Body)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Если элемент не найден, тогда </a:t>
            </a:r>
            <a:r>
              <a:rPr lang="ru-RU" altLang="ru-RU" sz="1400" b="1" dirty="0">
                <a:solidFill>
                  <a:schemeClr val="tx1"/>
                </a:solidFill>
                <a:latin typeface="Garamond (Body)"/>
              </a:rPr>
              <a:t>составной </a:t>
            </a:r>
            <a:r>
              <a:rPr lang="en-US" altLang="ru-RU" sz="1400" b="1" dirty="0">
                <a:solidFill>
                  <a:schemeClr val="tx1"/>
                </a:solidFill>
                <a:latin typeface="Garamond (Body)"/>
              </a:rPr>
              <a:t>css-</a:t>
            </a:r>
            <a:r>
              <a:rPr lang="ru-RU" altLang="ru-RU" sz="1400" b="1" dirty="0">
                <a:solidFill>
                  <a:schemeClr val="tx1"/>
                </a:solidFill>
                <a:latin typeface="Garamond (Body)"/>
              </a:rPr>
              <a:t>селектор</a:t>
            </a:r>
            <a:endParaRPr lang="en-US" altLang="ru-RU" sz="1400" b="1" dirty="0">
              <a:solidFill>
                <a:schemeClr val="tx1"/>
              </a:solidFill>
              <a:latin typeface="Garamond (Body)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В остальных случаях, используйте поиск по </a:t>
            </a:r>
            <a:r>
              <a:rPr lang="ru-RU" altLang="ru-RU" sz="1400" b="1" dirty="0">
                <a:solidFill>
                  <a:schemeClr val="tx1"/>
                </a:solidFill>
                <a:latin typeface="Garamond (Body)"/>
              </a:rPr>
              <a:t>атрибутам / другим типам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400" b="1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Для удобства, найдите нужный элемент и нажмите ПКМ</a:t>
            </a:r>
            <a:r>
              <a:rPr lang="en-US" altLang="ru-RU" sz="1400" dirty="0">
                <a:solidFill>
                  <a:schemeClr val="tx1"/>
                </a:solidFill>
                <a:latin typeface="Garamond (Body)"/>
              </a:rPr>
              <a:t> - &gt;</a:t>
            </a: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 </a:t>
            </a:r>
            <a:r>
              <a:rPr lang="en-US" altLang="ru-RU" sz="1400" dirty="0">
                <a:solidFill>
                  <a:schemeClr val="tx1"/>
                </a:solidFill>
                <a:latin typeface="Garamond (Body)"/>
              </a:rPr>
              <a:t>“</a:t>
            </a: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Просмотреть код</a:t>
            </a:r>
            <a:r>
              <a:rPr lang="en-US" altLang="ru-RU" sz="1400" dirty="0">
                <a:solidFill>
                  <a:schemeClr val="tx1"/>
                </a:solidFill>
                <a:latin typeface="Garamond (Body)"/>
              </a:rPr>
              <a:t>”</a:t>
            </a:r>
            <a:r>
              <a:rPr lang="ru-RU" altLang="ru-RU" sz="1400" dirty="0">
                <a:solidFill>
                  <a:schemeClr val="tx1"/>
                </a:solidFill>
                <a:latin typeface="Garamond (Body)"/>
              </a:rPr>
              <a:t> чтобы сразу увидеть код этого элемента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1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F1F8EAC-4556-465F-B547-30B5BB4D7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5708"/>
              </p:ext>
            </p:extLst>
          </p:nvPr>
        </p:nvGraphicFramePr>
        <p:xfrm>
          <a:off x="1845570" y="1450118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983508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7395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Селектор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селектора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018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#blocks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Поиск по </a:t>
                      </a:r>
                      <a:r>
                        <a:rPr lang="en-US" sz="1800" dirty="0"/>
                        <a:t>ID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3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article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Поиск по </a:t>
                      </a:r>
                      <a:r>
                        <a:rPr lang="en-US" sz="1800" dirty="0"/>
                        <a:t>tag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56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[title="one-thing"]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Поиск по </a:t>
                      </a:r>
                      <a:r>
                        <a:rPr lang="en-US" sz="1800" dirty="0"/>
                        <a:t>attribute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860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[name=“main"]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Поиск по </a:t>
                      </a:r>
                      <a:r>
                        <a:rPr lang="en-US" sz="1800" dirty="0"/>
                        <a:t>name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91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.lead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Поиск по </a:t>
                      </a:r>
                      <a:r>
                        <a:rPr lang="en-US" sz="1800" dirty="0"/>
                        <a:t>class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640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article.blocks-page.lead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Поиск по составному </a:t>
                      </a:r>
                      <a:r>
                        <a:rPr lang="en-US" sz="1800" dirty="0"/>
                        <a:t>CSS-</a:t>
                      </a:r>
                      <a:r>
                        <a:rPr lang="ru-RU" sz="1800" dirty="0"/>
                        <a:t>селектору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767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997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Практика поиска селекторов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/>
              <a:t>Предусловия к практическим заданиям</a:t>
            </a:r>
            <a:r>
              <a:rPr lang="en-US" sz="1200" b="1" dirty="0"/>
              <a:t>:</a:t>
            </a:r>
            <a:endParaRPr lang="ru-RU" sz="1200" b="1" dirty="0"/>
          </a:p>
          <a:p>
            <a:r>
              <a:rPr lang="ru-RU" sz="1200" dirty="0"/>
              <a:t>Скачайте файл</a:t>
            </a:r>
            <a:r>
              <a:rPr lang="en-US" sz="1200" dirty="0"/>
              <a:t> “doggo_memes.html”</a:t>
            </a:r>
            <a:r>
              <a:rPr lang="ru-RU" sz="1200" dirty="0"/>
              <a:t> </a:t>
            </a:r>
            <a:r>
              <a:rPr lang="en-US" sz="1200" dirty="0">
                <a:hlinkClick r:id="rId2"/>
              </a:rPr>
              <a:t>https://drive.google.com/drive/folders/1Js5Gel41XaV8-VAxI3iBG4UEiGTKbNsu?usp=sharing</a:t>
            </a:r>
            <a:r>
              <a:rPr lang="ru-RU" sz="1200" dirty="0">
                <a:hlinkClick r:id="rId2"/>
              </a:rPr>
              <a:t> </a:t>
            </a:r>
            <a:r>
              <a:rPr lang="en-US" sz="1200" dirty="0">
                <a:hlinkClick r:id="rId2"/>
              </a:rPr>
              <a:t> </a:t>
            </a:r>
            <a:endParaRPr lang="en-US" sz="1200" dirty="0"/>
          </a:p>
          <a:p>
            <a:r>
              <a:rPr lang="ru-RU" sz="1200" dirty="0"/>
              <a:t>Откройте его в браузере, и здесь же, найдите нижеперечисленные элементы</a:t>
            </a:r>
            <a:endParaRPr lang="ru-RU" sz="1200" b="1" dirty="0"/>
          </a:p>
          <a:p>
            <a:r>
              <a:rPr lang="ru-RU" sz="1200" b="1" dirty="0"/>
              <a:t>Важно</a:t>
            </a:r>
            <a:r>
              <a:rPr lang="en-US" sz="1200" b="1" dirty="0"/>
              <a:t>:</a:t>
            </a:r>
            <a:r>
              <a:rPr lang="ru-RU" sz="1200" b="1" dirty="0"/>
              <a:t> </a:t>
            </a:r>
            <a:r>
              <a:rPr lang="ru-RU" sz="1200" dirty="0"/>
              <a:t>в версии хрома 84, элементы не подсвечиваются при поиске на локальной странице, поэтому в этом заданиии используйте любой другой браузер</a:t>
            </a:r>
            <a:endParaRPr lang="en-US" sz="1200" b="1" dirty="0"/>
          </a:p>
          <a:p>
            <a:r>
              <a:rPr lang="ru-RU" sz="1200" dirty="0"/>
              <a:t>Помните, нужно составлять такой селектор, который найдёт только один уникальный элемент</a:t>
            </a:r>
          </a:p>
          <a:p>
            <a:r>
              <a:rPr lang="ru-RU" sz="1200" dirty="0"/>
              <a:t>Если селектор находит несколько элементов, то должен выбраться самый первый из них (но это очень нестабильная ситуация, не всегда может отработать)</a:t>
            </a:r>
          </a:p>
          <a:p>
            <a:r>
              <a:rPr lang="ru-RU" sz="1200" dirty="0"/>
              <a:t>Помните, что селекторы можно добавлять последовательно, постепенно приближаясь к нужному элементу. Важно учитывать пробелы и точки.</a:t>
            </a:r>
          </a:p>
          <a:p>
            <a:pPr marL="0" indent="0">
              <a:buNone/>
            </a:pPr>
            <a:r>
              <a:rPr lang="ru-RU" sz="1200" b="1" dirty="0"/>
              <a:t>Практические задания</a:t>
            </a:r>
            <a:r>
              <a:rPr lang="en-US" sz="1200" b="1" dirty="0"/>
              <a:t>:</a:t>
            </a:r>
            <a:endParaRPr lang="ru-RU" sz="1200" dirty="0"/>
          </a:p>
          <a:p>
            <a:pPr marL="228600" indent="-228600">
              <a:buAutoNum type="arabicPeriod"/>
            </a:pPr>
            <a:r>
              <a:rPr lang="ru-RU" sz="1200" dirty="0"/>
              <a:t>Найдите элемент, </a:t>
            </a:r>
            <a:r>
              <a:rPr lang="en-US" sz="1200" dirty="0"/>
              <a:t>содержащ</a:t>
            </a:r>
            <a:r>
              <a:rPr lang="ru-RU" sz="1200" dirty="0"/>
              <a:t>ий</a:t>
            </a:r>
            <a:r>
              <a:rPr lang="en-US" sz="1200" dirty="0"/>
              <a:t> текст “If there's one thing..“</a:t>
            </a:r>
          </a:p>
          <a:p>
            <a:r>
              <a:rPr lang="ru-RU" sz="1200" dirty="0"/>
              <a:t>дополнительно</a:t>
            </a:r>
            <a:r>
              <a:rPr lang="en-US" sz="1200" dirty="0"/>
              <a:t>:</a:t>
            </a:r>
            <a:r>
              <a:rPr lang="ru-RU" sz="1200" dirty="0"/>
              <a:t> найдите элемент </a:t>
            </a:r>
            <a:r>
              <a:rPr lang="en-US" sz="1200" dirty="0"/>
              <a:t> </a:t>
            </a:r>
            <a:r>
              <a:rPr lang="ru-RU" sz="1200" dirty="0"/>
              <a:t>3-мя разными селекторами</a:t>
            </a:r>
            <a:endParaRPr lang="en-US" sz="1200" dirty="0"/>
          </a:p>
          <a:p>
            <a:pPr marL="228600" indent="-228600">
              <a:buFont typeface="+mj-lt"/>
              <a:buAutoNum type="arabicPeriod" startAt="2"/>
            </a:pPr>
            <a:r>
              <a:rPr lang="ru-RU" sz="1200" dirty="0"/>
              <a:t>Найдите элемент с текстом</a:t>
            </a:r>
            <a:r>
              <a:rPr lang="en-US" sz="1200" dirty="0"/>
              <a:t> “Bar doggo” 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ru-RU" sz="1200" dirty="0"/>
              <a:t>Максимально коротким селектором найдите элемент с текстом</a:t>
            </a:r>
            <a:r>
              <a:rPr lang="en-US" sz="1200" dirty="0"/>
              <a:t> “Doggo memes”</a:t>
            </a:r>
          </a:p>
          <a:p>
            <a:pPr marL="228600" indent="-228600">
              <a:buFont typeface="Arial"/>
              <a:buAutoNum type="arabicPeriod" startAt="3"/>
            </a:pPr>
            <a:r>
              <a:rPr lang="ru-RU" sz="1200" dirty="0"/>
              <a:t>Используя составной</a:t>
            </a:r>
            <a:r>
              <a:rPr lang="en-US" sz="1200" dirty="0"/>
              <a:t>(css)</a:t>
            </a:r>
            <a:r>
              <a:rPr lang="ru-RU" sz="1200" dirty="0"/>
              <a:t> селектор, найдите ссылку </a:t>
            </a:r>
            <a:r>
              <a:rPr lang="en-US" sz="1200" dirty="0"/>
              <a:t>“recently updated”</a:t>
            </a:r>
          </a:p>
          <a:p>
            <a:pPr marL="228600" indent="-228600">
              <a:buAutoNum type="arabicPeriod" startAt="3"/>
            </a:pPr>
            <a:r>
              <a:rPr lang="ru-RU" sz="1200" dirty="0"/>
              <a:t>Используя составной</a:t>
            </a:r>
            <a:r>
              <a:rPr lang="en-US" sz="1200" dirty="0"/>
              <a:t>(css)</a:t>
            </a:r>
            <a:r>
              <a:rPr lang="ru-RU" sz="1200" dirty="0"/>
              <a:t> селектор, найдите чек-бокс с названием </a:t>
            </a:r>
            <a:r>
              <a:rPr lang="en-US" sz="1200" dirty="0"/>
              <a:t>“add to favorites”</a:t>
            </a:r>
            <a:r>
              <a:rPr lang="ru-RU" sz="1200" dirty="0"/>
              <a:t> (только чек-бокс, не название)</a:t>
            </a:r>
            <a:endParaRPr lang="en-US" sz="1200" dirty="0"/>
          </a:p>
          <a:p>
            <a:pPr marL="228600" indent="-228600">
              <a:buFont typeface="Arial"/>
              <a:buAutoNum type="arabicPeriod" startAt="3"/>
            </a:pPr>
            <a:r>
              <a:rPr lang="ru-RU" sz="1200" dirty="0"/>
              <a:t>Найдите кнопку </a:t>
            </a:r>
            <a:r>
              <a:rPr lang="en-US" sz="1200" dirty="0"/>
              <a:t>“View”</a:t>
            </a:r>
            <a:r>
              <a:rPr lang="ru-RU" sz="1200" dirty="0"/>
              <a:t> или </a:t>
            </a:r>
            <a:r>
              <a:rPr lang="en-US" sz="1200" dirty="0"/>
              <a:t>“Edit”  </a:t>
            </a:r>
            <a:r>
              <a:rPr lang="ru-RU" sz="1200" dirty="0"/>
              <a:t>под текстом </a:t>
            </a:r>
            <a:r>
              <a:rPr lang="en-US" sz="1200" dirty="0"/>
              <a:t>“Starbucks Doggo”</a:t>
            </a:r>
            <a:r>
              <a:rPr lang="ru-RU" sz="1200" dirty="0"/>
              <a:t> (если найдутся сразу два элемента, ответ тоже будет принят)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можно использовать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nth-child()</a:t>
            </a:r>
            <a:endParaRPr lang="en-US" sz="1200" dirty="0"/>
          </a:p>
          <a:p>
            <a:pPr marL="228600" indent="-228600">
              <a:buFont typeface="+mj-lt"/>
              <a:buAutoNum type="arabicPeriod" startAt="7"/>
            </a:pPr>
            <a:r>
              <a:rPr lang="ru-RU" sz="1200" dirty="0"/>
              <a:t>Используя составной</a:t>
            </a:r>
            <a:r>
              <a:rPr lang="en-US" sz="1200" dirty="0"/>
              <a:t>(css)</a:t>
            </a:r>
            <a:r>
              <a:rPr lang="ru-RU" sz="1200" dirty="0"/>
              <a:t> селектор, найдите элемент с картинкой </a:t>
            </a:r>
            <a:r>
              <a:rPr lang="en-US" sz="1200" dirty="0"/>
              <a:t>“Starbucks doggo” (</a:t>
            </a:r>
            <a:r>
              <a:rPr lang="ru-RU" sz="1200" dirty="0"/>
              <a:t>только картинку, не название)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в поиске используйте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nth-child()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</a:rPr>
              <a:t>Ответы сохраните, пригодятся в прохождении теста после занятия</a:t>
            </a:r>
          </a:p>
          <a:p>
            <a:pPr marL="228600" indent="-228600">
              <a:buAutoNum type="arabicPeriod" startAt="7"/>
            </a:pPr>
            <a:endParaRPr lang="en-US" sz="1200" dirty="0"/>
          </a:p>
          <a:p>
            <a:pPr marL="0" indent="0">
              <a:buNone/>
            </a:pPr>
            <a:endParaRPr lang="ru-RU" sz="1200" dirty="0"/>
          </a:p>
          <a:p>
            <a:pPr marL="228600" indent="-228600">
              <a:buAutoNum type="arabicPeriod"/>
            </a:pPr>
            <a:endParaRPr lang="ru-RU" sz="1200" dirty="0"/>
          </a:p>
          <a:p>
            <a:pPr marL="0" indent="0">
              <a:buNone/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2010233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элемента по </a:t>
            </a:r>
            <a:r>
              <a:rPr lang="en-US" sz="4200" dirty="0"/>
              <a:t>xpath</a:t>
            </a:r>
            <a:r>
              <a:rPr lang="ru-RU" sz="4200" dirty="0"/>
              <a:t>(1/3)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В работе с веб-страницами не всегда получается найти селектор, однозначно описывающий путь к нужному элементу.</a:t>
            </a:r>
            <a:r>
              <a:rPr lang="en-US" sz="1200" dirty="0"/>
              <a:t> 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В таких ситуациях, остаётся использоваться поиск по </a:t>
            </a:r>
            <a:r>
              <a:rPr lang="en-US" sz="1200" dirty="0"/>
              <a:t>xpath. </a:t>
            </a:r>
          </a:p>
          <a:p>
            <a:pPr marL="0" indent="0">
              <a:buNone/>
            </a:pPr>
            <a:r>
              <a:rPr lang="ru-RU" sz="1200" b="1" dirty="0"/>
              <a:t>XPath</a:t>
            </a:r>
            <a:r>
              <a:rPr lang="ru-RU" sz="1200" dirty="0"/>
              <a:t> (</a:t>
            </a:r>
            <a:r>
              <a:rPr lang="ru-RU" sz="1200" i="1" dirty="0"/>
              <a:t>XML Path Language</a:t>
            </a:r>
            <a:r>
              <a:rPr lang="ru-RU" sz="1200" dirty="0"/>
              <a:t>) это язык запросов, который использует древовидную структуру документа. Проверять XPath-запросы можно точно так же как и CSS-селекторы - в консоли разработчика</a:t>
            </a:r>
            <a:r>
              <a:rPr lang="en-US" sz="1200" dirty="0"/>
              <a:t>. </a:t>
            </a:r>
            <a:endParaRPr lang="ru-RU" sz="1200" b="1" dirty="0"/>
          </a:p>
          <a:p>
            <a:pPr marL="0" indent="0" algn="ctr">
              <a:buNone/>
            </a:pPr>
            <a:r>
              <a:rPr lang="ru-RU" sz="1400" b="1" dirty="0"/>
              <a:t>XPath запрос всегда начинается с символа / или //</a:t>
            </a:r>
          </a:p>
          <a:p>
            <a:pPr marL="0" indent="0">
              <a:buNone/>
            </a:pPr>
            <a:r>
              <a:rPr lang="ru-RU" sz="1200" dirty="0"/>
              <a:t>Символ / аналогичен символу &gt; в CSS-селекторе, а символ // - пробелу. Их смысл:</a:t>
            </a:r>
          </a:p>
          <a:p>
            <a:r>
              <a:rPr lang="ru-RU" sz="1200" dirty="0"/>
              <a:t>el1/el2 - выбирает элементы el2, являющиеся прямыми потомками el1;</a:t>
            </a:r>
          </a:p>
          <a:p>
            <a:r>
              <a:rPr lang="ru-RU" sz="1200" dirty="0"/>
              <a:t>el1//el2 - выбирает элементы el2, являющиеся потомками el1 любой степени вложенности.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Разница состоит в том, что в XPath, когда мы начинаем запрос с символа /,  мы должны указать элемент, являющийся корнем нашего документа. Корнем всегда будет элемент с тегом </a:t>
            </a:r>
            <a:r>
              <a:rPr lang="ru-RU" sz="1200" b="1" dirty="0"/>
              <a:t>&lt;html&gt;</a:t>
            </a:r>
            <a:r>
              <a:rPr lang="ru-RU" sz="1200" dirty="0"/>
              <a:t>. </a:t>
            </a:r>
          </a:p>
          <a:p>
            <a:pPr marL="0" indent="0">
              <a:buNone/>
            </a:pPr>
            <a:r>
              <a:rPr lang="ru-RU" sz="1200" dirty="0"/>
              <a:t>Пример: </a:t>
            </a:r>
            <a:r>
              <a:rPr lang="ru-RU" sz="1200" b="1" dirty="0"/>
              <a:t>/html/body/header</a:t>
            </a:r>
            <a:endParaRPr lang="en-US" sz="1200" b="1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ru-RU" sz="1200" dirty="0"/>
              <a:t>Можно начинать запрос и с символа </a:t>
            </a:r>
            <a:r>
              <a:rPr lang="ru-RU" sz="1200" b="1" dirty="0"/>
              <a:t>//</a:t>
            </a:r>
            <a:r>
              <a:rPr lang="ru-RU" sz="1200" dirty="0"/>
              <a:t>. Это будет означать, что мы хотим найти всех потомков корневого элемента без указания корневого элемента. В этом случае, для поиска того же хедера, мы можем выполнить запрос </a:t>
            </a:r>
            <a:r>
              <a:rPr lang="ru-RU" sz="1200" b="1" dirty="0"/>
              <a:t>//header</a:t>
            </a:r>
            <a:r>
              <a:rPr lang="ru-RU" sz="1200" dirty="0"/>
              <a:t>, так как других заголовков у нас нет.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Важно</a:t>
            </a:r>
            <a:r>
              <a:rPr lang="en-US" sz="1200" b="1" dirty="0"/>
              <a:t>:</a:t>
            </a:r>
            <a:r>
              <a:rPr lang="ru-RU" sz="1200" b="1" dirty="0"/>
              <a:t> т</a:t>
            </a:r>
            <a:r>
              <a:rPr lang="ru-RU" sz="1200" dirty="0"/>
              <a:t>акой поиск может быть неоднозначным. Например, запрос </a:t>
            </a:r>
            <a:r>
              <a:rPr lang="ru-RU" sz="1200" b="1" dirty="0"/>
              <a:t>//div </a:t>
            </a:r>
            <a:r>
              <a:rPr lang="ru-RU" sz="1200" dirty="0"/>
              <a:t>вернет вам все элементы с тегом </a:t>
            </a:r>
            <a:r>
              <a:rPr lang="ru-RU" sz="1200" b="1" dirty="0"/>
              <a:t>&lt;div&gt;</a:t>
            </a:r>
            <a:r>
              <a:rPr lang="ru-RU" sz="1200" dirty="0"/>
              <a:t>. Избегайте неоднозначных ситуаций, они плохо влияют на стабильность ваших автотестов.</a:t>
            </a:r>
          </a:p>
          <a:p>
            <a:pPr marL="228600" indent="-228600">
              <a:buAutoNum type="arabicPeriod"/>
            </a:pPr>
            <a:endParaRPr lang="ru-RU" sz="1200" dirty="0"/>
          </a:p>
          <a:p>
            <a:pPr marL="0" indent="0">
              <a:buNone/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1368351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элемента по </a:t>
            </a:r>
            <a:r>
              <a:rPr lang="en-US" sz="4200" dirty="0"/>
              <a:t>xpath</a:t>
            </a:r>
            <a:r>
              <a:rPr lang="ru-RU" sz="4200" dirty="0"/>
              <a:t>(2/3)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400" b="1" dirty="0"/>
              <a:t>Символ [ ] - это команда фильтрации</a:t>
            </a:r>
          </a:p>
          <a:p>
            <a:pPr marL="0" indent="0">
              <a:buNone/>
            </a:pPr>
            <a:r>
              <a:rPr lang="ru-RU" sz="1200" dirty="0"/>
              <a:t>Если по запросу найдено несколько элементов, то будет произведена фильтрация по правилу, указанному в скобках.</a:t>
            </a:r>
          </a:p>
          <a:p>
            <a:pPr marL="0" indent="0">
              <a:buNone/>
            </a:pPr>
            <a:r>
              <a:rPr lang="ru-RU" sz="1200" b="1" dirty="0"/>
              <a:t>Правил фильтрации очень много: </a:t>
            </a:r>
            <a:r>
              <a:rPr lang="en-US" sz="1200" dirty="0"/>
              <a:t>(</a:t>
            </a:r>
            <a:r>
              <a:rPr lang="ru-RU" sz="1200" dirty="0"/>
              <a:t>откройте страницу с </a:t>
            </a:r>
            <a:r>
              <a:rPr lang="en-US" sz="1200" dirty="0"/>
              <a:t>doggo memes</a:t>
            </a:r>
            <a:r>
              <a:rPr lang="ru-RU" sz="1200" dirty="0"/>
              <a:t>)</a:t>
            </a:r>
            <a:endParaRPr lang="ru-RU" sz="1200" b="1" dirty="0"/>
          </a:p>
          <a:p>
            <a:pPr marL="0" indent="0">
              <a:buNone/>
            </a:pPr>
            <a:endParaRPr lang="ru-RU" sz="1200" dirty="0"/>
          </a:p>
          <a:p>
            <a:r>
              <a:rPr lang="ru-RU" sz="1200" u="sng" dirty="0"/>
              <a:t>по любому атрибуту</a:t>
            </a:r>
            <a:r>
              <a:rPr lang="ru-RU" sz="1200" dirty="0"/>
              <a:t>, будь то id, class, title (или любой другой). Например, мы хотим найти картинку </a:t>
            </a:r>
            <a:r>
              <a:rPr lang="en-US" sz="1200" dirty="0"/>
              <a:t>Shiba doggo</a:t>
            </a:r>
            <a:r>
              <a:rPr lang="ru-RU" sz="1200" dirty="0"/>
              <a:t>, для этого можно выполнить запрос </a:t>
            </a:r>
            <a:r>
              <a:rPr lang="en-US" sz="1200" b="1" dirty="0"/>
              <a:t>//img[@id="shiba"]</a:t>
            </a:r>
          </a:p>
          <a:p>
            <a:r>
              <a:rPr lang="ru-RU" sz="1200" u="sng" dirty="0"/>
              <a:t>по порядковому номеру</a:t>
            </a:r>
            <a:r>
              <a:rPr lang="ru-RU" sz="1200" dirty="0"/>
              <a:t>. Допустим, мы хотим выбрать вторую по порядку карточку с картинкой </a:t>
            </a:r>
            <a:r>
              <a:rPr lang="en-US" sz="1200" dirty="0"/>
              <a:t>bar doggo</a:t>
            </a:r>
            <a:r>
              <a:rPr lang="ru-RU" sz="1200" dirty="0"/>
              <a:t>. Для этого найдем элемент с классом "row" и возьмем его второго потомка: </a:t>
            </a:r>
            <a:r>
              <a:rPr lang="en-US" sz="1200" b="1" dirty="0"/>
              <a:t>//div[@class="row"]/div[2]</a:t>
            </a:r>
            <a:endParaRPr lang="ru-RU" sz="1200" b="1" dirty="0"/>
          </a:p>
          <a:p>
            <a:r>
              <a:rPr lang="ru-RU" sz="1200" u="sng" dirty="0"/>
              <a:t>по полному совпадению текста</a:t>
            </a:r>
            <a:r>
              <a:rPr lang="ru-RU" sz="1200" dirty="0"/>
              <a:t>. XPath - это единственный способ найти элемент по внутреннему тексту. Если мы хотим найти блок текста с </a:t>
            </a:r>
            <a:r>
              <a:rPr lang="en-US" sz="1200" dirty="0"/>
              <a:t>Starbucks doggo</a:t>
            </a:r>
            <a:r>
              <a:rPr lang="ru-RU" sz="1200" dirty="0"/>
              <a:t>, можно воспользоваться XPath селектором </a:t>
            </a:r>
            <a:r>
              <a:rPr lang="ru-RU" sz="1200" b="1" dirty="0"/>
              <a:t>//p[text()=</a:t>
            </a:r>
            <a:r>
              <a:rPr lang="en-US" sz="1200" b="1" dirty="0"/>
              <a:t>"Starbucks</a:t>
            </a:r>
            <a:r>
              <a:rPr lang="ru-RU" sz="1200" b="1" dirty="0"/>
              <a:t> </a:t>
            </a:r>
            <a:r>
              <a:rPr lang="en-US" sz="1200" b="1" dirty="0"/>
              <a:t>doggo"</a:t>
            </a:r>
            <a:r>
              <a:rPr lang="ru-RU" sz="1200" b="1" dirty="0"/>
              <a:t>]</a:t>
            </a:r>
            <a:r>
              <a:rPr lang="ru-RU" sz="1200" dirty="0"/>
              <a:t>.</a:t>
            </a:r>
            <a:r>
              <a:rPr lang="ru-RU" sz="1200" b="1" dirty="0"/>
              <a:t> </a:t>
            </a:r>
            <a:r>
              <a:rPr lang="ru-RU" sz="1200" dirty="0"/>
              <a:t>Такой селектор вернет элемент, только если текст полностью совпадет. Здесь важно сказать, что не всегда поиск по тексту - это хорошая практика, особенно в случае мультиязычных сайтов</a:t>
            </a:r>
          </a:p>
          <a:p>
            <a:r>
              <a:rPr lang="ru-RU" sz="1200" u="sng" dirty="0"/>
              <a:t>по частичному совпадению текста или атрибута</a:t>
            </a:r>
            <a:r>
              <a:rPr lang="ru-RU" sz="1200" dirty="0"/>
              <a:t>. Для этого нужна функция contains. Запрос </a:t>
            </a:r>
            <a:r>
              <a:rPr lang="en-US" sz="1200" b="1" dirty="0"/>
              <a:t>//p[contains(text(), "doggo")] </a:t>
            </a:r>
            <a:r>
              <a:rPr lang="ru-RU" sz="1200" dirty="0"/>
              <a:t>вернет нам все абзацы текста, которые содержат слово </a:t>
            </a:r>
            <a:r>
              <a:rPr lang="en-US" sz="1200" dirty="0"/>
              <a:t>doggo</a:t>
            </a:r>
            <a:r>
              <a:rPr lang="ru-RU" sz="1200" dirty="0"/>
              <a:t>. Точно так же можно искать по частичному совпадению других атрибутов, это удобно, если у элемента несколько классов. Например, логотип можно найти селектором </a:t>
            </a:r>
            <a:r>
              <a:rPr lang="ru-RU" sz="1200" b="1" dirty="0"/>
              <a:t>//div[contains(@class, "navbar")]</a:t>
            </a:r>
          </a:p>
          <a:p>
            <a:r>
              <a:rPr lang="ru-RU" sz="1200" dirty="0"/>
              <a:t>в фильтрации еще можно использовать булевы операции (and, or, not) и некоторые простые арифметические выражения. Допустим, мы хотим найти картинку обязательно с data-type "animal" и именем “</a:t>
            </a:r>
            <a:r>
              <a:rPr lang="en-US" sz="1200" dirty="0"/>
              <a:t>shiba</a:t>
            </a:r>
            <a:r>
              <a:rPr lang="ru-RU" sz="1200" dirty="0"/>
              <a:t>", для этого подойдет запрос: </a:t>
            </a:r>
            <a:r>
              <a:rPr lang="en-US" sz="1200" b="1" dirty="0"/>
              <a:t>//img[@name='shiba-dog' and @data-type='animal']</a:t>
            </a:r>
            <a:endParaRPr lang="ru-RU" sz="1200" b="1" dirty="0"/>
          </a:p>
          <a:p>
            <a:pPr marL="228600" indent="-228600">
              <a:buAutoNum type="arabicPeriod"/>
            </a:pPr>
            <a:endParaRPr lang="ru-RU" sz="1200" dirty="0"/>
          </a:p>
          <a:p>
            <a:pPr marL="0" indent="0">
              <a:buNone/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0334572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элемента по </a:t>
            </a:r>
            <a:r>
              <a:rPr lang="en-US" sz="4200" dirty="0"/>
              <a:t>xpath</a:t>
            </a:r>
            <a:r>
              <a:rPr lang="ru-RU" sz="4200" dirty="0"/>
              <a:t>(3/3)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400" b="1" dirty="0"/>
              <a:t>Символ * - команда выбора всех элементов</a:t>
            </a:r>
          </a:p>
          <a:p>
            <a:pPr marL="0" indent="0">
              <a:buNone/>
            </a:pPr>
            <a:r>
              <a:rPr lang="ru-RU" sz="1200" dirty="0"/>
              <a:t>Например можем найти текст в заголовке запросом </a:t>
            </a:r>
            <a:r>
              <a:rPr lang="en-US" sz="1200" b="1" dirty="0"/>
              <a:t>//*[@class="jumbotron-heading"]</a:t>
            </a:r>
            <a:r>
              <a:rPr lang="ru-RU" sz="1200" dirty="0"/>
              <a:t>. Это может быть удобно, когда мы не знаем точно тег элемента, который ищем.</a:t>
            </a:r>
          </a:p>
          <a:p>
            <a:pPr marL="0" indent="0" algn="ctr">
              <a:buNone/>
            </a:pPr>
            <a:r>
              <a:rPr lang="ru-RU" sz="1400" b="1" dirty="0"/>
              <a:t>Поиск по классу в XPath регистрозависим</a:t>
            </a:r>
          </a:p>
          <a:p>
            <a:pPr marL="0" indent="0">
              <a:buNone/>
            </a:pPr>
            <a:r>
              <a:rPr lang="ru-RU" sz="1200" dirty="0"/>
              <a:t>Также как и в случае поиска по CSS-селектором будьте внимательными к регистру при поиске по классам: </a:t>
            </a:r>
            <a:r>
              <a:rPr lang="en-US" sz="1200" dirty="0"/>
              <a:t> </a:t>
            </a:r>
            <a:r>
              <a:rPr lang="ru-RU" sz="1200" b="1" dirty="0"/>
              <a:t>//*[@class="Jumbotron-heading"] </a:t>
            </a:r>
            <a:r>
              <a:rPr lang="ru-RU" sz="1200" dirty="0"/>
              <a:t>не найдет элемент на странице.</a:t>
            </a:r>
          </a:p>
          <a:p>
            <a:pPr marL="0" indent="0" algn="ctr">
              <a:buNone/>
            </a:pPr>
            <a:r>
              <a:rPr lang="ru-RU" sz="1400" b="1" dirty="0"/>
              <a:t>Особенности и рекомендации по использованию XPath</a:t>
            </a:r>
            <a:endParaRPr lang="en-US" sz="1400" b="1" dirty="0"/>
          </a:p>
          <a:p>
            <a:pPr marL="0" indent="0">
              <a:buNone/>
            </a:pPr>
            <a:r>
              <a:rPr lang="ru-RU" sz="1200" dirty="0"/>
              <a:t>Можно искать по полному или частичному совпадению текста или любого атрибута;</a:t>
            </a:r>
          </a:p>
          <a:p>
            <a:pPr marL="0" indent="0">
              <a:buNone/>
            </a:pPr>
            <a:r>
              <a:rPr lang="ru-RU" sz="1200" dirty="0"/>
              <a:t>Можно удобно перемещаться по структуре документа (переходить к потомкам и к родителям);</a:t>
            </a:r>
          </a:p>
          <a:p>
            <a:pPr marL="0" indent="0">
              <a:buNone/>
            </a:pPr>
            <a:r>
              <a:rPr lang="ru-RU" sz="1200" dirty="0"/>
              <a:t>Не используйте селекторы вида //div[1]/div[2]/div[3] без крайней нужды: по такому селектору невозможно с первого раза понять, что за элемент вы ищете. А когда структура страницы хоть немного изменится, то ваш селектор с большой вероятностью перестанет работать;</a:t>
            </a:r>
            <a:endParaRPr lang="en-US" sz="1200" dirty="0"/>
          </a:p>
          <a:p>
            <a:pPr marL="0" indent="0">
              <a:buNone/>
            </a:pPr>
            <a:r>
              <a:rPr lang="ru-RU" sz="1200" dirty="0"/>
              <a:t>Если есть возможность использовать CSS-селекторы: </a:t>
            </a:r>
            <a:r>
              <a:rPr lang="en-US" sz="1200" dirty="0"/>
              <a:t>id</a:t>
            </a:r>
            <a:r>
              <a:rPr lang="ru-RU" sz="1200" dirty="0"/>
              <a:t>, </a:t>
            </a:r>
            <a:r>
              <a:rPr lang="en-US" sz="1200" dirty="0"/>
              <a:t>class</a:t>
            </a:r>
            <a:r>
              <a:rPr lang="ru-RU" sz="1200" dirty="0"/>
              <a:t> или name - лучше использовать их вместо поиска по XPath;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В курсе мы не будем работать с XPath-селекторами, и в основном будем использовать CSS.</a:t>
            </a:r>
          </a:p>
          <a:p>
            <a:pPr marL="0" indent="0">
              <a:buNone/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9290932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2337-29BB-4179-94C6-203C8D4A2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Поиск элементов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9D07B-682F-4618-BA2D-6D93D18955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en-US" dirty="0"/>
              <a:t>Selenium WebDriver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97932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элементов с помощью 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Для поиска элементов на странице в Selenium WebDriver используются несколько методов, которые мы разобрали в первой части. Ещё раз их повторим и разберём более детально</a:t>
            </a:r>
            <a:r>
              <a:rPr lang="en-US" sz="1200" dirty="0"/>
              <a:t>:</a:t>
            </a:r>
            <a:endParaRPr lang="en-US" sz="1200" b="1" dirty="0"/>
          </a:p>
          <a:p>
            <a:r>
              <a:rPr lang="ru-RU" sz="1200" b="1" dirty="0"/>
              <a:t>find_element_by_id</a:t>
            </a:r>
            <a:r>
              <a:rPr lang="en-US" sz="1200" b="1" dirty="0"/>
              <a:t>()</a:t>
            </a:r>
            <a:r>
              <a:rPr lang="ru-RU" sz="1200" dirty="0"/>
              <a:t> - поиск по уникальному атрибуту id элемента </a:t>
            </a:r>
          </a:p>
          <a:p>
            <a:r>
              <a:rPr lang="ru-RU" sz="1200" b="1" dirty="0"/>
              <a:t>find_element_by_css_selector</a:t>
            </a:r>
            <a:r>
              <a:rPr lang="en-US" sz="1200" b="1" dirty="0"/>
              <a:t>()</a:t>
            </a:r>
            <a:r>
              <a:rPr lang="ru-RU" sz="1200" dirty="0"/>
              <a:t> - поиск элемента с помощью правил на основе CSS</a:t>
            </a:r>
          </a:p>
          <a:p>
            <a:r>
              <a:rPr lang="ru-RU" sz="1200" b="1" dirty="0"/>
              <a:t>find_element_by_xpath</a:t>
            </a:r>
            <a:r>
              <a:rPr lang="en-US" sz="1200" b="1" dirty="0"/>
              <a:t>()</a:t>
            </a:r>
            <a:r>
              <a:rPr lang="ru-RU" sz="1200" dirty="0"/>
              <a:t> - поиск с помощью языка запросов X</a:t>
            </a:r>
            <a:r>
              <a:rPr lang="en-US" sz="1200" dirty="0"/>
              <a:t>p</a:t>
            </a:r>
            <a:r>
              <a:rPr lang="ru-RU" sz="1200" dirty="0"/>
              <a:t>ath</a:t>
            </a:r>
          </a:p>
          <a:p>
            <a:r>
              <a:rPr lang="ru-RU" sz="1200" dirty="0"/>
              <a:t>find_element_by_name</a:t>
            </a:r>
            <a:r>
              <a:rPr lang="en-US" sz="1200" dirty="0"/>
              <a:t>()</a:t>
            </a:r>
            <a:r>
              <a:rPr lang="ru-RU" sz="1200" dirty="0"/>
              <a:t> - поиск по атрибуту name элемента</a:t>
            </a:r>
          </a:p>
          <a:p>
            <a:r>
              <a:rPr lang="ru-RU" sz="1200" dirty="0"/>
              <a:t>find_element_by_tag_name</a:t>
            </a:r>
            <a:r>
              <a:rPr lang="en-US" sz="1200" dirty="0"/>
              <a:t>()</a:t>
            </a:r>
            <a:r>
              <a:rPr lang="ru-RU" sz="1200" dirty="0"/>
              <a:t> - поиск элемента по названию тега элемента</a:t>
            </a:r>
          </a:p>
          <a:p>
            <a:r>
              <a:rPr lang="ru-RU" sz="1200" dirty="0"/>
              <a:t>find_element_by_class_name</a:t>
            </a:r>
            <a:r>
              <a:rPr lang="en-US" sz="1200" dirty="0"/>
              <a:t>()</a:t>
            </a:r>
            <a:r>
              <a:rPr lang="ru-RU" sz="1200" dirty="0"/>
              <a:t> - поиск по значению атрибута class</a:t>
            </a:r>
          </a:p>
          <a:p>
            <a:r>
              <a:rPr lang="ru-RU" sz="1200" dirty="0"/>
              <a:t>find_element_by_link_text</a:t>
            </a:r>
            <a:r>
              <a:rPr lang="en-US" sz="1200" dirty="0"/>
              <a:t>()</a:t>
            </a:r>
            <a:r>
              <a:rPr lang="ru-RU" sz="1200" dirty="0"/>
              <a:t> - поиск ссылки на странице по полному совпадению</a:t>
            </a:r>
          </a:p>
          <a:p>
            <a:r>
              <a:rPr lang="ru-RU" sz="1200" dirty="0"/>
              <a:t>find_element_by_partial_link_text</a:t>
            </a:r>
            <a:r>
              <a:rPr lang="en-US" sz="1200" dirty="0"/>
              <a:t>()</a:t>
            </a:r>
            <a:r>
              <a:rPr lang="ru-RU" sz="1200" dirty="0"/>
              <a:t> - поиск ссылки на странице, если текст селектора совпадает с любой частью текста ссылки.</a:t>
            </a:r>
            <a:endParaRPr lang="en-US" sz="1200" dirty="0"/>
          </a:p>
          <a:p>
            <a:pPr marL="0" indent="0">
              <a:buNone/>
            </a:pPr>
            <a:endParaRPr lang="ru-RU" sz="1200" b="1" dirty="0"/>
          </a:p>
          <a:p>
            <a:pPr marL="0" indent="0">
              <a:buNone/>
            </a:pPr>
            <a:r>
              <a:rPr lang="ru-RU" sz="1200" b="1" dirty="0"/>
              <a:t>Пример теста с использованием метода</a:t>
            </a:r>
            <a:r>
              <a:rPr lang="en-US" sz="1200" b="1" dirty="0"/>
              <a:t>:</a:t>
            </a:r>
            <a:r>
              <a:rPr lang="ru-RU" sz="1200" b="1" dirty="0"/>
              <a:t> 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 тесте проверим, нашёлся ли на страничке логотип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google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from selenium import webdriver 	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импортируем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webdriver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driver = webdriver.Chrome() </a:t>
            </a:r>
            <a:r>
              <a:rPr lang="ru-RU" sz="1200" dirty="0"/>
              <a:t>		</a:t>
            </a:r>
            <a:r>
              <a:rPr lang="ru-RU" altLang="ru-RU" sz="1200" dirty="0">
                <a:solidFill>
                  <a:srgbClr val="808080"/>
                </a:solidFill>
                <a:latin typeface="+mj-lt"/>
                <a:cs typeface="Courier New" panose="02070309020205020404" pitchFamily="49" charset="0"/>
              </a:rPr>
              <a:t># вызываем драйвер браузера, после этой команды вы должны увидеть новое открытое окно браузера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/>
              <a:t>driver.get("https://google.ru") </a:t>
            </a:r>
            <a:r>
              <a:rPr lang="ru-RU" sz="1200" dirty="0"/>
              <a:t>		</a:t>
            </a:r>
            <a:r>
              <a:rPr lang="ru-RU" altLang="ru-RU" sz="1200" dirty="0">
                <a:solidFill>
                  <a:srgbClr val="808080"/>
                </a:solidFill>
                <a:latin typeface="+mj-lt"/>
                <a:cs typeface="Courier New" panose="02070309020205020404" pitchFamily="49" charset="0"/>
              </a:rPr>
              <a:t># метод get сообщает браузеру, что нужно открыть сайт по указанной ссылке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/>
              <a:t>logo = driver.find_element_by_id("hplogo")</a:t>
            </a:r>
            <a:r>
              <a:rPr lang="ru-RU" sz="1200" dirty="0"/>
              <a:t>		</a:t>
            </a:r>
            <a:r>
              <a:rPr lang="ru-RU" altLang="ru-RU" sz="1200" dirty="0">
                <a:solidFill>
                  <a:srgbClr val="808080"/>
                </a:solidFill>
                <a:latin typeface="+mj-lt"/>
                <a:cs typeface="Courier New" panose="02070309020205020404" pitchFamily="49" charset="0"/>
              </a:rPr>
              <a:t># укажем путь к логотипу (можно было написать и без части</a:t>
            </a:r>
            <a:r>
              <a:rPr lang="en-US" altLang="ru-RU" sz="1200" dirty="0">
                <a:solidFill>
                  <a:srgbClr val="808080"/>
                </a:solidFill>
                <a:latin typeface="+mj-lt"/>
                <a:cs typeface="Courier New" panose="02070309020205020404" pitchFamily="49" charset="0"/>
              </a:rPr>
              <a:t> “logo=“</a:t>
            </a:r>
            <a:r>
              <a:rPr lang="ru-RU" altLang="ru-RU" sz="1200" dirty="0">
                <a:solidFill>
                  <a:srgbClr val="808080"/>
                </a:solidFill>
                <a:latin typeface="+mj-lt"/>
                <a:cs typeface="Courier New" panose="02070309020205020404" pitchFamily="49" charset="0"/>
              </a:rPr>
              <a:t>,  почему так лучше, разберём в дальнейшем)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100" dirty="0"/>
              <a:t>driver.quit() 		</a:t>
            </a:r>
            <a:r>
              <a:rPr lang="ru-RU" altLang="ru-RU" sz="1100" dirty="0">
                <a:solidFill>
                  <a:srgbClr val="808080"/>
                </a:solidFill>
                <a:cs typeface="Courier New" panose="02070309020205020404" pitchFamily="49" charset="0"/>
              </a:rPr>
              <a:t># закроем драйвер в конце теста</a:t>
            </a:r>
          </a:p>
          <a:p>
            <a:pPr marL="0" indent="0">
              <a:buNone/>
            </a:pP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941510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элементов с помощью 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Примеры использования методов</a:t>
            </a:r>
            <a:r>
              <a:rPr lang="ru-RU" sz="1200" b="1" dirty="0"/>
              <a:t>, рассмотрим следующий исходный код страницы:</a:t>
            </a:r>
            <a:endParaRPr lang="ru-RU" altLang="ru-RU" sz="1200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&lt;html&gt;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&lt;body&gt;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&lt;form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id="loginForm"&gt;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  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&lt;input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name="username" type="text" /&gt;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 &lt;input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name="password" type="password" /&gt;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 &lt;input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name="continue" </a:t>
            </a:r>
            <a:r>
              <a:rPr lang="en-US" sz="1200" dirty="0"/>
              <a:t>class="btn"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type="submit" value="Login" /&gt;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  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&lt;input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name="continue" type="button" value="Clear" /&gt;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&lt;/form&gt;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&lt;/body&gt;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&lt;html&gt;</a:t>
            </a:r>
            <a:endParaRPr lang="ru-RU" sz="1200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1200" b="1" dirty="0"/>
              <a:t>Поиск по</a:t>
            </a:r>
            <a:r>
              <a:rPr lang="en-US" sz="1200" b="1" dirty="0"/>
              <a:t> ID. </a:t>
            </a:r>
            <a:r>
              <a:rPr lang="ru-RU" sz="1200" b="1" dirty="0"/>
              <a:t>Элемент form может быть определен следующим образом:</a:t>
            </a:r>
            <a:endParaRPr lang="ru-RU" sz="1200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driver.find_element_by_id("loginForm")</a:t>
            </a:r>
            <a:r>
              <a:rPr lang="ru-RU" sz="1100" dirty="0">
                <a:solidFill>
                  <a:schemeClr val="tx1"/>
                </a:solidFill>
              </a:rPr>
              <a:t> </a:t>
            </a:r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100" b="1" dirty="0">
                <a:solidFill>
                  <a:schemeClr val="bg1">
                    <a:lumMod val="50000"/>
                  </a:schemeClr>
                </a:solidFill>
              </a:rPr>
              <a:t> обратите внимание</a:t>
            </a:r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100" b="1" dirty="0">
                <a:solidFill>
                  <a:schemeClr val="bg1">
                    <a:lumMod val="50000"/>
                  </a:schemeClr>
                </a:solidFill>
              </a:rPr>
              <a:t> знак</a:t>
            </a:r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 “#”</a:t>
            </a:r>
            <a:r>
              <a:rPr lang="ru-RU" sz="1100" b="1" dirty="0">
                <a:solidFill>
                  <a:schemeClr val="bg1">
                    <a:lumMod val="50000"/>
                  </a:schemeClr>
                </a:solidFill>
              </a:rPr>
              <a:t> в тесте указывать не нужно. Только для поиска в консоли браузера </a:t>
            </a:r>
          </a:p>
          <a:p>
            <a:pPr marL="0" indent="0">
              <a:buNone/>
            </a:pPr>
            <a:r>
              <a:rPr lang="ru-RU" sz="1100" b="1" dirty="0"/>
              <a:t>Поиск по </a:t>
            </a:r>
            <a:r>
              <a:rPr lang="en-US" sz="1100" b="1" dirty="0"/>
              <a:t>Name. </a:t>
            </a:r>
            <a:r>
              <a:rPr lang="ru-RU" sz="1100" b="1" dirty="0"/>
              <a:t>Элементы с именами username и password могут быть определены следующим образом:</a:t>
            </a:r>
            <a:endParaRPr lang="en-US" sz="11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driver.find_element_by_name("username")</a:t>
            </a:r>
          </a:p>
          <a:p>
            <a:pPr marL="0" indent="0">
              <a:buNone/>
            </a:pPr>
            <a:r>
              <a:rPr lang="ru-RU" sz="1100" b="1" dirty="0"/>
              <a:t>Поиск по </a:t>
            </a:r>
            <a:r>
              <a:rPr lang="en-US" sz="1100" b="1" dirty="0"/>
              <a:t>Class. </a:t>
            </a:r>
            <a:r>
              <a:rPr lang="ru-RU" sz="1100" b="1" dirty="0"/>
              <a:t>Элемент</a:t>
            </a:r>
            <a:r>
              <a:rPr lang="en-US" sz="1100" b="1" dirty="0"/>
              <a:t> c </a:t>
            </a:r>
            <a:r>
              <a:rPr lang="ru-RU" sz="1100" b="1" dirty="0"/>
              <a:t>классом </a:t>
            </a:r>
            <a:r>
              <a:rPr lang="en-US" sz="1100" b="1" dirty="0"/>
              <a:t>btn</a:t>
            </a:r>
            <a:r>
              <a:rPr lang="ru-RU" sz="1100" b="1" dirty="0"/>
              <a:t>, может быть определен следующим образом</a:t>
            </a:r>
            <a:r>
              <a:rPr lang="en-US" sz="1100" b="1" dirty="0"/>
              <a:t>:</a:t>
            </a:r>
            <a:endParaRPr lang="ru-RU" sz="1100" b="1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driver.find_element_by_class_name(“btn")</a:t>
            </a:r>
          </a:p>
          <a:p>
            <a:pPr marL="0" indent="0">
              <a:buNone/>
            </a:pP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843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элементов с помощью 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Примеры использования методов</a:t>
            </a:r>
            <a:r>
              <a:rPr lang="ru-RU" sz="1200" b="1" dirty="0"/>
              <a:t>, рассмотрим следующий исходный код страницы:</a:t>
            </a:r>
            <a:endParaRPr lang="ru-RU" altLang="ru-RU" sz="1200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&lt;html&gt;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&lt;body&gt;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&lt;form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id="loginForm"&gt;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  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&lt;input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name="username" type="text" /&gt;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 &lt;input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name="password" type="password" /&gt;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 &lt;input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name="continue" </a:t>
            </a:r>
            <a:r>
              <a:rPr lang="en-US" sz="1200" dirty="0"/>
              <a:t>class="btn"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type="submit" value="Login" /&gt;   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  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&lt;input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name="continue" type="button" value="Clear" /&gt;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&lt;/form&gt;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&lt;/body&gt;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&lt;html&gt;</a:t>
            </a:r>
            <a:endParaRPr lang="en-US" sz="1200" b="1" dirty="0"/>
          </a:p>
          <a:p>
            <a:pPr marL="0" indent="0">
              <a:buNone/>
            </a:pPr>
            <a:r>
              <a:rPr lang="ru-RU" sz="1200" b="1" dirty="0"/>
              <a:t>Поиск по</a:t>
            </a:r>
            <a:r>
              <a:rPr lang="en-US" sz="1200" b="1" dirty="0"/>
              <a:t> XPATH. </a:t>
            </a:r>
            <a:r>
              <a:rPr lang="ru-RU" sz="1200" b="1" dirty="0"/>
              <a:t>Элемент form может быть определен следующим образом:</a:t>
            </a:r>
            <a:endParaRPr lang="ru-RU" sz="1200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driver.find_element_by_xpath("/html/body/form[1]")</a:t>
            </a:r>
            <a:r>
              <a:rPr lang="ru-RU" sz="1100" dirty="0">
                <a:solidFill>
                  <a:schemeClr val="tx1"/>
                </a:solidFill>
              </a:rPr>
              <a:t> 		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100" dirty="0">
                <a:solidFill>
                  <a:schemeClr val="bg1">
                    <a:lumMod val="50000"/>
                  </a:schemeClr>
                </a:solidFill>
              </a:rPr>
              <a:t> абсолютный путь (поломается при малейшем изменении структуры HTML страницы)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driver.find_element_by_xpath("//form[1]")</a:t>
            </a:r>
            <a:r>
              <a:rPr lang="ru-RU" sz="1100" dirty="0">
                <a:solidFill>
                  <a:schemeClr val="tx1"/>
                </a:solidFill>
              </a:rPr>
              <a:t> 			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100" dirty="0">
                <a:solidFill>
                  <a:schemeClr val="bg1">
                    <a:lumMod val="50000"/>
                  </a:schemeClr>
                </a:solidFill>
              </a:rPr>
              <a:t> первый элемент form в странице HTML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driver.find_element_by_xpath("//form[@id='loginForm']")</a:t>
            </a:r>
            <a:r>
              <a:rPr lang="ru-RU" sz="1100" dirty="0">
                <a:solidFill>
                  <a:schemeClr val="tx1"/>
                </a:solidFill>
              </a:rPr>
              <a:t>	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100" dirty="0">
                <a:solidFill>
                  <a:schemeClr val="bg1">
                    <a:lumMod val="50000"/>
                  </a:schemeClr>
                </a:solidFill>
              </a:rPr>
              <a:t> элемент form, для которого определен атрибут с именем id и значением loginForm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403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элементов с помощью 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Примеры использования методов</a:t>
            </a:r>
            <a:r>
              <a:rPr lang="ru-RU" sz="1200" b="1" dirty="0"/>
              <a:t>, рассмотрим следующий исходный код страницы:</a:t>
            </a:r>
            <a:endParaRPr lang="ru-RU" altLang="ru-RU" sz="1200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&lt;html&gt;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&lt;body&gt;</a:t>
            </a:r>
            <a:endParaRPr lang="ru-RU" altLang="ru-RU" sz="1200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&lt;h1&gt;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Welcome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&lt;/h1&gt;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  &lt;p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class="content"&gt;Are you sure you want to do this?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&lt;/p&gt;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 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&lt;a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href="continue.html"&gt;Continue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&lt;/a&gt;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 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&lt;a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href="cancel.html"&gt;Cancel</a:t>
            </a: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&lt;/a&gt;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&lt;/body&gt;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rgbClr val="0070C0"/>
                </a:solidFill>
                <a:cs typeface="Courier New" panose="02070309020205020404" pitchFamily="49" charset="0"/>
              </a:rPr>
              <a:t>&lt;html&gt; </a:t>
            </a:r>
            <a:endParaRPr lang="ru-RU" altLang="ru-RU" sz="1200" dirty="0">
              <a:solidFill>
                <a:srgbClr val="0070C0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1200" b="1" dirty="0"/>
              <a:t>Поиск по</a:t>
            </a:r>
            <a:r>
              <a:rPr lang="en-US" sz="1200" b="1" dirty="0"/>
              <a:t> link_text</a:t>
            </a:r>
            <a:r>
              <a:rPr lang="ru-RU" sz="1200" b="1" dirty="0"/>
              <a:t> и </a:t>
            </a:r>
            <a:r>
              <a:rPr lang="en-US" sz="1200" b="1" dirty="0"/>
              <a:t>partial link_text. </a:t>
            </a:r>
            <a:r>
              <a:rPr lang="ru-RU" sz="1200" b="1" dirty="0"/>
              <a:t>Элемент-гиперссылка с адресом «continue.html» может быть получен следующим образом: 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driver.find_element_by_link_text('Continue')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driver.find_element_by_partial_link_text('Conti')</a:t>
            </a:r>
            <a:endParaRPr lang="ru-RU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100" b="1" dirty="0"/>
              <a:t>Поиск по</a:t>
            </a:r>
            <a:r>
              <a:rPr lang="en-US" sz="1100" b="1" dirty="0"/>
              <a:t> tag name. </a:t>
            </a:r>
            <a:r>
              <a:rPr lang="ru-RU" sz="1100" b="1" dirty="0">
                <a:solidFill>
                  <a:schemeClr val="tx1"/>
                </a:solidFill>
              </a:rPr>
              <a:t>Элемент заголовка h1 может быть найден следующим образом: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driver.find_element_by_tag_name('h1')</a:t>
            </a:r>
          </a:p>
          <a:p>
            <a:pPr marL="0" indent="0">
              <a:buNone/>
            </a:pPr>
            <a:r>
              <a:rPr lang="ru-RU" sz="1100" b="1" dirty="0"/>
              <a:t>Поиск по</a:t>
            </a:r>
            <a:r>
              <a:rPr lang="en-US" sz="1100" b="1" dirty="0"/>
              <a:t> css selector. </a:t>
            </a:r>
            <a:r>
              <a:rPr lang="ru-RU" sz="1100" b="1" dirty="0">
                <a:solidFill>
                  <a:schemeClr val="tx1"/>
                </a:solidFill>
              </a:rPr>
              <a:t>Элемент заголовка h1 может быть найден следующим образом: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driver.find_element_by_css_selector('p</a:t>
            </a:r>
            <a:r>
              <a:rPr lang="en-US" sz="1100" b="1" dirty="0">
                <a:solidFill>
                  <a:schemeClr val="tx1"/>
                </a:solidFill>
              </a:rPr>
              <a:t>.</a:t>
            </a:r>
            <a:r>
              <a:rPr lang="en-US" sz="1100" dirty="0">
                <a:solidFill>
                  <a:schemeClr val="tx1"/>
                </a:solidFill>
              </a:rPr>
              <a:t>content')</a:t>
            </a:r>
            <a:r>
              <a:rPr lang="ru-RU" sz="1100" dirty="0">
                <a:solidFill>
                  <a:schemeClr val="tx1"/>
                </a:solidFill>
              </a:rPr>
              <a:t> </a:t>
            </a:r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100" b="1" dirty="0">
                <a:solidFill>
                  <a:schemeClr val="bg1">
                    <a:lumMod val="50000"/>
                  </a:schemeClr>
                </a:solidFill>
              </a:rPr>
              <a:t> не забывайте ставить</a:t>
            </a:r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 "."</a:t>
            </a:r>
            <a:r>
              <a:rPr lang="ru-RU" sz="1100" b="1" dirty="0">
                <a:solidFill>
                  <a:schemeClr val="bg1">
                    <a:lumMod val="50000"/>
                  </a:schemeClr>
                </a:solidFill>
              </a:rPr>
              <a:t> в поиске по</a:t>
            </a:r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 css selector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8595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элементов с помощью 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/>
              <a:t>Есть второй способ для поиска элементов с помощью универсального метода </a:t>
            </a:r>
            <a:r>
              <a:rPr lang="ru-RU" sz="1200" b="1" u="sng" dirty="0"/>
              <a:t>find_element() </a:t>
            </a:r>
            <a:r>
              <a:rPr lang="ru-RU" sz="1200" b="1" dirty="0"/>
              <a:t>и полей класса By из библиотеки selenium. </a:t>
            </a:r>
            <a:endParaRPr lang="en-US" sz="1200" b="1" dirty="0"/>
          </a:p>
          <a:p>
            <a:pPr marL="0" indent="0">
              <a:buNone/>
            </a:pPr>
            <a:r>
              <a:rPr lang="ru-RU" sz="1200" b="1" dirty="0"/>
              <a:t>Пример: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>
                <a:solidFill>
                  <a:srgbClr val="D89964"/>
                </a:solidFill>
              </a:rPr>
              <a:t>from</a:t>
            </a:r>
            <a:r>
              <a:rPr lang="en-US" sz="1200" dirty="0"/>
              <a:t> selenium </a:t>
            </a:r>
            <a:r>
              <a:rPr lang="en-US" sz="1200" dirty="0">
                <a:solidFill>
                  <a:srgbClr val="D89964"/>
                </a:solidFill>
              </a:rPr>
              <a:t>import</a:t>
            </a:r>
            <a:r>
              <a:rPr lang="en-US" sz="1200" dirty="0"/>
              <a:t> webdriver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89964"/>
                </a:solidFill>
              </a:rPr>
              <a:t>from</a:t>
            </a:r>
            <a:r>
              <a:rPr lang="en-US" sz="1200" dirty="0"/>
              <a:t> selenium.webdriver.common.by </a:t>
            </a:r>
            <a:r>
              <a:rPr lang="en-US" sz="1200" dirty="0">
                <a:solidFill>
                  <a:srgbClr val="D89964"/>
                </a:solidFill>
              </a:rPr>
              <a:t>import</a:t>
            </a:r>
            <a:r>
              <a:rPr lang="en-US" sz="1200" dirty="0"/>
              <a:t> By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driver = webdriver.Chrome()</a:t>
            </a:r>
          </a:p>
          <a:p>
            <a:pPr marL="0" indent="0">
              <a:buNone/>
            </a:pPr>
            <a:r>
              <a:rPr lang="en-US" sz="1200" dirty="0"/>
              <a:t>driver.get("http://suninjuly.github.io/simple_form_find_task.html")</a:t>
            </a:r>
          </a:p>
          <a:p>
            <a:pPr marL="0" indent="0">
              <a:buNone/>
            </a:pPr>
            <a:r>
              <a:rPr lang="en-US" sz="1200" dirty="0"/>
              <a:t>driver.find_element(By.ID, "submit_button")</a:t>
            </a:r>
          </a:p>
          <a:p>
            <a:pPr marL="0" indent="0">
              <a:buNone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Можно использовать те же стратегии поиска, что и в первом способе. Второй способ более удобен для оформления архитектуры тестовых сценариев с помощью подхода Page Object Model, о котором мы будем говорить далее. Пока же можно пользоваться первым способом поиска, но ничто не мешает вам пользоваться и тем, и другим. Поля класса By, которые можно использовать для поиска:</a:t>
            </a: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By.ID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–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поиск по уникальному атрибуту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id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элемента;</a:t>
            </a:r>
          </a:p>
          <a:p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By.CSS_SELECTOR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–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поиск элементов с помощью правил на основе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CSS;</a:t>
            </a:r>
          </a:p>
          <a:p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By.XPATH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–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поиск элементов с помощью языка запросов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XPath;</a:t>
            </a:r>
          </a:p>
          <a:p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By.NAME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–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поиск по атрибуту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name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элемента;</a:t>
            </a:r>
          </a:p>
          <a:p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By.TAG_NAME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–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поиск по названию тега;</a:t>
            </a:r>
          </a:p>
          <a:p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By.CLASS_NAME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–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поиск по атрибуту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class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элемента;</a:t>
            </a:r>
          </a:p>
          <a:p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By.LINK_TEXT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–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поиск ссылки с указанным текстом. Текст ссылки должен быть точным совпадением;</a:t>
            </a:r>
          </a:p>
          <a:p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By.PARTIAL_LINK_TEXT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–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поиск ссылки по частичному совпадению текста</a:t>
            </a: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4806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Принцип написания хорошего теста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Хороший тест проверяет только маленькую, атомарную часть функциональности. Простые тесты, которые проверяют небольшой сценарий, лучше, чем один большой тест, проверяющий сразу много сценариев. Благодаря простым тестам мы быстрее локализуем место в продукте, где появился баг, а также можем найти одновременно несколько новых багов. Упавший большой автотест укажет только на первую встреченную проблему, так как он заканчивает работу при первой же найденной ошибке. В этом их отличие от ручных тестов, в которых мы проверяя функциональность продукта по тест-кейсу, можем гибко обойти встречающиеся проблемы и пройти тест-кейс до конца, найдя все баги.</a:t>
            </a:r>
          </a:p>
          <a:p>
            <a:pPr marL="0" indent="0">
              <a:buNone/>
            </a:pPr>
            <a:endParaRPr lang="ru-RU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Сценарий плохого автотеста:</a:t>
            </a:r>
            <a:endParaRPr lang="ru-RU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Открыть страницу с формой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Заполнить все поля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Нажать кнопку "Регистрация"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Проверить, что есть сообщение об успешной регистрации</a:t>
            </a: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#</a:t>
            </a:r>
            <a:r>
              <a:rPr lang="ru-RU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 этот сценарий покроет лишь один тест-кейс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#</a:t>
            </a:r>
            <a:r>
              <a:rPr lang="ru-RU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 тесты права покроют уже 3 тест-кейса</a:t>
            </a:r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:</a:t>
            </a:r>
            <a:r>
              <a:rPr lang="ru-RU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 2 позитивных и 1 негативный</a:t>
            </a:r>
            <a:endParaRPr lang="en-US" altLang="ru-RU" sz="1200" dirty="0">
              <a:solidFill>
                <a:schemeClr val="bg1">
                  <a:lumMod val="50000"/>
                </a:schemeClr>
              </a:solidFill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Совет</a:t>
            </a:r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: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стремитесь создавать небольшие детализированные автотесты, это лучше чем один большой и обобщённый.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118C26-BE82-455C-B1D3-E97D43294439}"/>
              </a:ext>
            </a:extLst>
          </p:cNvPr>
          <p:cNvSpPr txBox="1"/>
          <p:nvPr/>
        </p:nvSpPr>
        <p:spPr>
          <a:xfrm>
            <a:off x="6386022" y="2370972"/>
            <a:ext cx="561660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u="sng" dirty="0"/>
              <a:t>Лучше разбить предыдущий тест на набор более простых автотестов:</a:t>
            </a:r>
            <a:endParaRPr lang="ru-RU" altLang="ru-RU" sz="1200" u="sng" dirty="0">
              <a:cs typeface="Courier New" panose="02070309020205020404" pitchFamily="49" charset="0"/>
            </a:endParaRPr>
          </a:p>
          <a:p>
            <a:r>
              <a:rPr lang="ru-RU" altLang="ru-RU" sz="1200" b="1" dirty="0">
                <a:cs typeface="Courier New" panose="02070309020205020404" pitchFamily="49" charset="0"/>
              </a:rPr>
              <a:t>Сценарий хорошего автотеста:</a:t>
            </a:r>
            <a:endParaRPr lang="ru-RU" altLang="ru-RU" sz="1200" dirty="0">
              <a:cs typeface="Courier New" panose="02070309020205020404" pitchFamily="49" charset="0"/>
            </a:endParaRPr>
          </a:p>
          <a:p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#</a:t>
            </a:r>
            <a:r>
              <a:rPr lang="ru-RU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1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Открыть страницу с формой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Заполнить </a:t>
            </a:r>
            <a:r>
              <a:rPr lang="ru-RU" altLang="ru-RU" sz="1200" b="1" dirty="0">
                <a:cs typeface="Courier New" panose="02070309020205020404" pitchFamily="49" charset="0"/>
              </a:rPr>
              <a:t>только обязательные поля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Нажать кнопку "Регистрация"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Проверить, что есть сообщение об успешной регистрации</a:t>
            </a:r>
          </a:p>
          <a:p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#</a:t>
            </a:r>
            <a:r>
              <a:rPr lang="ru-RU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2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Открыть страницу с формой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Заполнить </a:t>
            </a:r>
            <a:r>
              <a:rPr lang="ru-RU" altLang="ru-RU" sz="1200" b="1" dirty="0">
                <a:cs typeface="Courier New" panose="02070309020205020404" pitchFamily="49" charset="0"/>
              </a:rPr>
              <a:t>только необязательные поля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Проверить, что кнопка "Регистрация" неактивна</a:t>
            </a:r>
          </a:p>
          <a:p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#</a:t>
            </a:r>
            <a:r>
              <a:rPr lang="ru-RU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3 объединим обе ситуации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Открыть страницу с формой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b="1" dirty="0">
                <a:cs typeface="Courier New" panose="02070309020205020404" pitchFamily="49" charset="0"/>
              </a:rPr>
              <a:t>Заполнить все обязательные поля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b="1" dirty="0">
                <a:cs typeface="Courier New" panose="02070309020205020404" pitchFamily="49" charset="0"/>
              </a:rPr>
              <a:t>Заполнить все необязательные поля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Нажать кнопку "Регистрация"</a:t>
            </a:r>
          </a:p>
          <a:p>
            <a:pPr marL="228600" indent="-228600">
              <a:buFont typeface="+mj-lt"/>
              <a:buAutoNum type="arabicPeriod"/>
            </a:pPr>
            <a:r>
              <a:rPr lang="ru-RU" altLang="ru-RU" sz="1200" dirty="0">
                <a:cs typeface="Courier New" panose="02070309020205020404" pitchFamily="49" charset="0"/>
              </a:rPr>
              <a:t>Проверить, что есть сообщение об успешной регистрации</a:t>
            </a:r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663190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Практика по материалам(1/2)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Откройте страницу </a:t>
            </a:r>
            <a:r>
              <a:rPr lang="en-US" sz="1200" dirty="0">
                <a:hlinkClick r:id="rId2"/>
              </a:rPr>
              <a:t>https://opensource-demo.orangehrmlive.com/</a:t>
            </a:r>
            <a:r>
              <a:rPr lang="ru-RU" sz="1200" dirty="0"/>
              <a:t> и напишите тест для логина в систему.</a:t>
            </a:r>
            <a:endParaRPr lang="en-US" sz="1200" dirty="0"/>
          </a:p>
          <a:p>
            <a:pPr marL="0" indent="0">
              <a:buNone/>
            </a:pPr>
            <a:r>
              <a:rPr lang="ru-RU" sz="1200" dirty="0"/>
              <a:t>Для решения этой задачи, используйте шаблон кода ниже</a:t>
            </a:r>
            <a:r>
              <a:rPr lang="en-US" sz="1200" dirty="0"/>
              <a:t>:</a:t>
            </a:r>
            <a:r>
              <a:rPr lang="ru-RU" sz="1200" dirty="0"/>
              <a:t> </a:t>
            </a:r>
            <a:endParaRPr lang="ru-RU" sz="1200" b="1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9964"/>
                </a:solidFill>
              </a:rPr>
              <a:t>import </a:t>
            </a:r>
            <a:r>
              <a:rPr lang="en-US" sz="1200" dirty="0"/>
              <a:t>time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89964"/>
                </a:solidFill>
              </a:rPr>
              <a:t>from</a:t>
            </a:r>
            <a:r>
              <a:rPr lang="en-US" sz="1200" dirty="0"/>
              <a:t> selenium </a:t>
            </a:r>
            <a:r>
              <a:rPr lang="en-US" sz="1200" dirty="0">
                <a:solidFill>
                  <a:srgbClr val="D89964"/>
                </a:solidFill>
              </a:rPr>
              <a:t>import</a:t>
            </a:r>
            <a:r>
              <a:rPr lang="en-US" sz="1200" dirty="0"/>
              <a:t> webdriver 				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импортируем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webdriver</a:t>
            </a:r>
          </a:p>
          <a:p>
            <a:pPr marL="0" indent="0">
              <a:buNone/>
            </a:pPr>
            <a:r>
              <a:rPr lang="en-US" sz="1200" dirty="0"/>
              <a:t>driver = webdriver.Chrome() 					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вызываем драйвер браузера, после этой команды вы должны увидеть новое открытое окно браузера</a:t>
            </a:r>
          </a:p>
          <a:p>
            <a:pPr marL="0" indent="0">
              <a:buNone/>
            </a:pP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# Логин в систему</a:t>
            </a:r>
          </a:p>
          <a:p>
            <a:pPr marL="0" indent="0">
              <a:buNone/>
            </a:pPr>
            <a:r>
              <a:rPr lang="en-US" sz="1200" dirty="0"/>
              <a:t>driver.get("https://opensource-demo.orangehrmlive.com/") 	 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# метод get сообщает браузеру, что нужно открыть сайт по указанной ссылке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	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/>
              <a:t>login = driver.find_element_by</a:t>
            </a:r>
            <a:r>
              <a:rPr lang="ru-RU" sz="1200" dirty="0"/>
              <a:t>_*</a:t>
            </a:r>
            <a:r>
              <a:rPr lang="en-US" sz="1200" dirty="0"/>
              <a:t>("</a:t>
            </a:r>
            <a:r>
              <a:rPr lang="ru-RU" sz="1200" dirty="0"/>
              <a:t>Ваш селектор</a:t>
            </a:r>
            <a:r>
              <a:rPr lang="en-US" sz="1200" dirty="0"/>
              <a:t>"</a:t>
            </a:r>
            <a:r>
              <a:rPr lang="ru-RU" sz="1200" dirty="0"/>
              <a:t>)		</a:t>
            </a:r>
            <a:r>
              <a:rPr lang="en-US" sz="1200" dirty="0"/>
              <a:t>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объявляем переменную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login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, задаём ей значение селектора поля логин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/>
              <a:t>login.send_keys("Admin")</a:t>
            </a:r>
            <a:r>
              <a:rPr lang="ru-RU" sz="1200" dirty="0"/>
              <a:t>					</a:t>
            </a:r>
            <a:r>
              <a:rPr lang="en-US" sz="1200" dirty="0"/>
              <a:t>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команда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send_keys(“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значение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нужна для ввода информации в поле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/>
              <a:t>password = driver.find_element_by</a:t>
            </a:r>
            <a:r>
              <a:rPr lang="ru-RU" sz="1200" dirty="0"/>
              <a:t>_*</a:t>
            </a:r>
            <a:r>
              <a:rPr lang="en-US" sz="1200" dirty="0"/>
              <a:t>("</a:t>
            </a:r>
            <a:r>
              <a:rPr lang="ru-RU" sz="1200" dirty="0"/>
              <a:t>Ваш селектор</a:t>
            </a:r>
            <a:r>
              <a:rPr lang="en-US" sz="1200" dirty="0"/>
              <a:t>"</a:t>
            </a:r>
            <a:r>
              <a:rPr lang="ru-RU" sz="1200" dirty="0"/>
              <a:t>) 	</a:t>
            </a:r>
            <a:r>
              <a:rPr lang="en-US" sz="1200" dirty="0"/>
              <a:t>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объявляем переменную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password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, задаём ей значение селектора поля пароль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/>
              <a:t>password.send_keys("admin123")</a:t>
            </a:r>
            <a:r>
              <a:rPr lang="ru-RU" sz="1200" dirty="0"/>
              <a:t>			            </a:t>
            </a:r>
            <a:r>
              <a:rPr lang="en-US" sz="1200" dirty="0"/>
              <a:t>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теперь наглядно видна польза объявленной переменной(не нужно писать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driver_find…. .send_keys(..)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/>
              <a:t>login_btn = driver.find_element_by</a:t>
            </a:r>
            <a:r>
              <a:rPr lang="ru-RU" sz="1200" dirty="0"/>
              <a:t>_*</a:t>
            </a:r>
            <a:r>
              <a:rPr lang="en-US" sz="1200" dirty="0"/>
              <a:t>("</a:t>
            </a:r>
            <a:r>
              <a:rPr lang="ru-RU" sz="1200" dirty="0"/>
              <a:t>Ваш селектор</a:t>
            </a:r>
            <a:r>
              <a:rPr lang="en-US" sz="1200" dirty="0"/>
              <a:t>"</a:t>
            </a:r>
            <a:r>
              <a:rPr lang="ru-RU" sz="1200" dirty="0"/>
              <a:t>) 	</a:t>
            </a:r>
            <a:r>
              <a:rPr lang="en-US" sz="1200" dirty="0"/>
              <a:t>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объявляем переменную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login_btn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, задаём ей значение селектора кнопки логин 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btn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сокращ. от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button)</a:t>
            </a:r>
          </a:p>
          <a:p>
            <a:pPr marL="0" indent="0">
              <a:buNone/>
            </a:pPr>
            <a:r>
              <a:rPr lang="en-US" sz="1200" dirty="0"/>
              <a:t>login_btn.click()</a:t>
            </a:r>
            <a:r>
              <a:rPr lang="ru-RU" sz="1200" dirty="0"/>
              <a:t>						</a:t>
            </a:r>
            <a:r>
              <a:rPr lang="en-US" sz="1200" dirty="0"/>
              <a:t>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команда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click() –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нужна для нажатия(клика) на элемент</a:t>
            </a:r>
            <a:endParaRPr lang="ru-RU" altLang="ru-RU" sz="1200" dirty="0">
              <a:solidFill>
                <a:schemeClr val="bg1">
                  <a:lumMod val="50000"/>
                </a:schemeClr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driver.quit()							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 команда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quit() –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нужна для закрытия всех вкладок и завершения процесса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webdriver </a:t>
            </a:r>
          </a:p>
          <a:p>
            <a:pPr marL="0" indent="0">
              <a:buNone/>
            </a:pP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Если Вы точно подобрали селектор, но в процессе запуска возникает ошибка, используйте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time.sleep(3)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перед совершением команды (как в примере самого 1-го теста в этом уроке). Почему так происходит и почему таких вставок желательно избегать – разберём в дальнейших уроках.</a:t>
            </a: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7021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Практика по материалам(2/2)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Напишите тест для создания пользователя</a:t>
            </a:r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:</a:t>
            </a: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ru-RU" sz="1200" b="1" dirty="0"/>
              <a:t>Сценарий</a:t>
            </a:r>
            <a:r>
              <a:rPr lang="en-US" sz="1200" b="1" dirty="0"/>
              <a:t>:</a:t>
            </a:r>
            <a:r>
              <a:rPr lang="ru-RU" sz="1200" b="1" dirty="0"/>
              <a:t> </a:t>
            </a:r>
            <a:r>
              <a:rPr lang="ru-RU" sz="1200" dirty="0"/>
              <a:t>логин в систему</a:t>
            </a:r>
            <a:r>
              <a:rPr lang="en-US" sz="1200" dirty="0"/>
              <a:t> - &gt;</a:t>
            </a:r>
            <a:r>
              <a:rPr lang="ru-RU" sz="1200" dirty="0"/>
              <a:t> нажатие на вкладку</a:t>
            </a:r>
            <a:r>
              <a:rPr lang="en-US" sz="1200" dirty="0"/>
              <a:t> PIM - &gt; </a:t>
            </a:r>
            <a:r>
              <a:rPr lang="ru-RU" sz="1200" dirty="0"/>
              <a:t>переход на вкладку</a:t>
            </a:r>
            <a:r>
              <a:rPr lang="en-US" sz="1200" dirty="0"/>
              <a:t>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Add Employee - &gt;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заполнение полей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First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и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Last Name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-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&gt;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нажатие на кнопку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Save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(после чего происходит автоматический переход в профиль – это финальный результат)</a:t>
            </a:r>
          </a:p>
          <a:p>
            <a:r>
              <a:rPr lang="ru-RU" sz="1200" dirty="0"/>
              <a:t>Для решения этой задачи, используйте предыдущий тест для логина в систему, после него продолжайте написание новых команд (помните</a:t>
            </a:r>
            <a:r>
              <a:rPr lang="en-US" sz="1200" dirty="0"/>
              <a:t>: driver.quit()</a:t>
            </a:r>
            <a:r>
              <a:rPr lang="ru-RU" sz="1200" dirty="0"/>
              <a:t> должен быть в конце)</a:t>
            </a:r>
          </a:p>
          <a:p>
            <a:r>
              <a:rPr lang="ru-RU" sz="1200" dirty="0"/>
              <a:t>Чтобы элементы успели подгрузиться, перед переходом на вкладку</a:t>
            </a:r>
            <a:r>
              <a:rPr lang="en-US" sz="1200" dirty="0"/>
              <a:t> “Add Employee”</a:t>
            </a:r>
            <a:r>
              <a:rPr lang="ru-RU" sz="1200" dirty="0"/>
              <a:t>, напишите команду</a:t>
            </a:r>
            <a:r>
              <a:rPr lang="en-US" sz="1200" dirty="0"/>
              <a:t> time.sleep(3)</a:t>
            </a:r>
            <a:endParaRPr lang="ru-RU" sz="1200" dirty="0"/>
          </a:p>
          <a:p>
            <a:r>
              <a:rPr lang="ru-RU" sz="1200" dirty="0"/>
              <a:t>Заполнять нужно только поля </a:t>
            </a:r>
            <a:r>
              <a:rPr lang="en-US" sz="1200" dirty="0"/>
              <a:t>First Name, Last Name</a:t>
            </a:r>
            <a:endParaRPr lang="ru-RU" sz="1200" dirty="0"/>
          </a:p>
          <a:p>
            <a:pPr marL="0" indent="0">
              <a:buNone/>
            </a:pP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Напишите тест для удаления пользователя из системы(созданного в предыдущем тесте)</a:t>
            </a:r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:</a:t>
            </a:r>
            <a:endParaRPr lang="ru-RU" altLang="ru-RU" sz="1200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Предусловие</a:t>
            </a:r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: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создан пользователь</a:t>
            </a:r>
            <a:endParaRPr lang="en-US" altLang="ru-RU" sz="1200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1200" b="1" dirty="0"/>
              <a:t>Сценарий</a:t>
            </a:r>
            <a:r>
              <a:rPr lang="en-US" sz="1200" b="1" dirty="0"/>
              <a:t>:</a:t>
            </a:r>
            <a:r>
              <a:rPr lang="ru-RU" sz="1200" b="1" dirty="0"/>
              <a:t> </a:t>
            </a:r>
            <a:r>
              <a:rPr lang="ru-RU" sz="1200" dirty="0"/>
              <a:t>логин в систему</a:t>
            </a:r>
            <a:r>
              <a:rPr lang="en-US" sz="1200" dirty="0"/>
              <a:t> - &gt;</a:t>
            </a:r>
            <a:r>
              <a:rPr lang="ru-RU" sz="1200" dirty="0"/>
              <a:t> нажатие на вкладку</a:t>
            </a:r>
            <a:r>
              <a:rPr lang="en-US" sz="1200" dirty="0"/>
              <a:t> PIM - &gt; </a:t>
            </a:r>
            <a:r>
              <a:rPr lang="ru-RU" sz="1200" dirty="0"/>
              <a:t>переход на вкладку</a:t>
            </a:r>
            <a:r>
              <a:rPr lang="en-US" sz="1200" dirty="0"/>
              <a:t>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Employee List - &gt;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ввод имени и фамилии в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Employee Name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-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&gt;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нажатие на кнопку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Search - &gt;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нажатие на чек-бокс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(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селектор можно узнать вручную из предыдущего теста)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- &gt;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нажатие на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Delete - &gt;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нажатие на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Ok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в диалоговом окне</a:t>
            </a: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ru-RU" sz="1200" dirty="0"/>
              <a:t>Для решения этой задачи, используйте тест для логина в систему, после него продолжайте написание новых команд </a:t>
            </a:r>
          </a:p>
          <a:p>
            <a:r>
              <a:rPr lang="ru-RU" sz="1200" dirty="0"/>
              <a:t>Чтобы элементы успели подгрузиться, перед вкладкой </a:t>
            </a:r>
            <a:r>
              <a:rPr lang="en-US" sz="1200" dirty="0"/>
              <a:t>“Employee_list”</a:t>
            </a:r>
            <a:r>
              <a:rPr lang="ru-RU" sz="1200" dirty="0"/>
              <a:t>, и после поиска в ней, напишите команду</a:t>
            </a:r>
            <a:r>
              <a:rPr lang="en-US" sz="1200" dirty="0"/>
              <a:t> time.sleep(3)</a:t>
            </a:r>
            <a:endParaRPr lang="ru-RU" sz="1200" dirty="0"/>
          </a:p>
          <a:p>
            <a:r>
              <a:rPr lang="ru-RU" sz="1200" dirty="0"/>
              <a:t>Попробуйте использовать не более двух </a:t>
            </a:r>
            <a:r>
              <a:rPr lang="en-US" sz="1200" dirty="0"/>
              <a:t>xpath</a:t>
            </a:r>
            <a:r>
              <a:rPr lang="ru-RU" sz="1200" dirty="0"/>
              <a:t> селекторов</a:t>
            </a:r>
          </a:p>
          <a:p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!Ответы на задачи сохраните, понадобятся для теста.</a:t>
            </a:r>
            <a:endParaRPr lang="en-US" sz="1200" b="1" dirty="0"/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ru-RU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4062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Поиск элементов с помощью find_elements_by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Метод find_element_by возвращает только первый из всех элементов, которые подходят под условия поиска. </a:t>
            </a:r>
          </a:p>
          <a:p>
            <a:pPr marL="0" indent="0">
              <a:buNone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Иногда возникает ситуация, когда у нас есть несколько одинаковых по сути объектов на странице, например, иконки товаров в корзине интернет-магазина. </a:t>
            </a:r>
          </a:p>
          <a:p>
            <a:pPr marL="0" indent="0">
              <a:buNone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Допустим, нужно проверить, что отображаются все выбранные для покупки товары. Для этого существуют методы </a:t>
            </a: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find_elements_by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, которые в отличие от find_element_by вернут список всех найденных элементов по заданному условию. </a:t>
            </a:r>
          </a:p>
          <a:p>
            <a:pPr marL="0" indent="0">
              <a:buNone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Проверив длину списка, мы можем удостовериться, что в корзине отобразилось правильное количество товаров. </a:t>
            </a:r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# </a:t>
            </a:r>
            <a:r>
              <a:rPr lang="ru-RU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пример разберём на следующем слайде</a:t>
            </a:r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Набор стратегий здесь такой же, как и в случае с </a:t>
            </a:r>
            <a:r>
              <a:rPr lang="en-US" sz="1200" dirty="0"/>
              <a:t>find_element_by: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find_element</a:t>
            </a:r>
            <a:r>
              <a:rPr lang="en-US" sz="1200" b="1" dirty="0" err="1"/>
              <a:t>s</a:t>
            </a:r>
            <a:r>
              <a:rPr lang="en-US" sz="1200" dirty="0" err="1"/>
              <a:t>_by_css_selector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find_element</a:t>
            </a:r>
            <a:r>
              <a:rPr lang="en-US" sz="1200" b="1" dirty="0"/>
              <a:t>s</a:t>
            </a:r>
            <a:r>
              <a:rPr lang="en-US" sz="1200" dirty="0"/>
              <a:t>_by_xpath;</a:t>
            </a:r>
          </a:p>
          <a:p>
            <a:pPr marL="0" indent="0">
              <a:buNone/>
            </a:pPr>
            <a:r>
              <a:rPr lang="en-US" sz="1200" dirty="0"/>
              <a:t>    find_element</a:t>
            </a:r>
            <a:r>
              <a:rPr lang="en-US" sz="1200" b="1" dirty="0"/>
              <a:t>s</a:t>
            </a:r>
            <a:r>
              <a:rPr lang="en-US" sz="1200" dirty="0"/>
              <a:t>_by_name;</a:t>
            </a:r>
          </a:p>
          <a:p>
            <a:pPr marL="0" indent="0">
              <a:buNone/>
            </a:pPr>
            <a:r>
              <a:rPr lang="en-US" sz="1200" dirty="0"/>
              <a:t>    find_element</a:t>
            </a:r>
            <a:r>
              <a:rPr lang="en-US" sz="1200" b="1" dirty="0"/>
              <a:t>s</a:t>
            </a:r>
            <a:r>
              <a:rPr lang="en-US" sz="1200" dirty="0"/>
              <a:t>_by_tag_name;</a:t>
            </a:r>
          </a:p>
          <a:p>
            <a:pPr marL="0" indent="0">
              <a:buNone/>
            </a:pPr>
            <a:r>
              <a:rPr lang="en-US" sz="1200" dirty="0"/>
              <a:t>    find_element</a:t>
            </a:r>
            <a:r>
              <a:rPr lang="en-US" sz="1200" b="1" dirty="0"/>
              <a:t>s</a:t>
            </a:r>
            <a:r>
              <a:rPr lang="en-US" sz="1200" dirty="0"/>
              <a:t>_by_class_name;</a:t>
            </a:r>
          </a:p>
          <a:p>
            <a:pPr marL="0" indent="0">
              <a:buNone/>
            </a:pPr>
            <a:r>
              <a:rPr lang="en-US" sz="1200" dirty="0"/>
              <a:t>    find_element</a:t>
            </a:r>
            <a:r>
              <a:rPr lang="en-US" sz="1200" b="1" dirty="0"/>
              <a:t>s</a:t>
            </a:r>
            <a:r>
              <a:rPr lang="en-US" sz="1200" dirty="0"/>
              <a:t>_by_link_text;</a:t>
            </a:r>
          </a:p>
          <a:p>
            <a:pPr marL="0" indent="0">
              <a:buNone/>
            </a:pPr>
            <a:r>
              <a:rPr lang="en-US" sz="1200" dirty="0"/>
              <a:t>    find_element</a:t>
            </a:r>
            <a:r>
              <a:rPr lang="en-US" sz="1200" b="1" dirty="0"/>
              <a:t>s</a:t>
            </a:r>
            <a:r>
              <a:rPr lang="en-US" sz="1200" dirty="0"/>
              <a:t>_by_partial_link_text.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ru-RU" sz="1200" dirty="0"/>
              <a:t>Также для поиска нескольких элементов мы можем использовать универсальный метод </a:t>
            </a:r>
            <a:r>
              <a:rPr lang="en-US" sz="1200" dirty="0"/>
              <a:t>find_elements </a:t>
            </a:r>
            <a:r>
              <a:rPr lang="ru-RU" sz="1200" dirty="0"/>
              <a:t>вместе с атрибутами класса </a:t>
            </a:r>
            <a:r>
              <a:rPr lang="en-US" sz="1200" dirty="0"/>
              <a:t>By: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89964"/>
                </a:solidFill>
              </a:rPr>
              <a:t>from</a:t>
            </a:r>
            <a:r>
              <a:rPr lang="en-US" sz="1200" dirty="0"/>
              <a:t> selenium.webdriver.common.by </a:t>
            </a:r>
            <a:r>
              <a:rPr lang="en-US" sz="1200" dirty="0">
                <a:solidFill>
                  <a:srgbClr val="D89964"/>
                </a:solidFill>
              </a:rPr>
              <a:t>import</a:t>
            </a:r>
            <a:r>
              <a:rPr lang="en-US" sz="1200" dirty="0"/>
              <a:t> By</a:t>
            </a:r>
          </a:p>
          <a:p>
            <a:pPr marL="0" indent="0">
              <a:buNone/>
            </a:pPr>
            <a:r>
              <a:rPr lang="en-US" sz="1200" dirty="0"/>
              <a:t>driver.find_elements(</a:t>
            </a:r>
            <a:r>
              <a:rPr lang="en-US" sz="1200" dirty="0" err="1"/>
              <a:t>By.CSS_SELECTOR</a:t>
            </a:r>
            <a:r>
              <a:rPr lang="en-US" sz="1200" dirty="0"/>
              <a:t>, "</a:t>
            </a:r>
            <a:r>
              <a:rPr lang="ru-RU" sz="1200" dirty="0"/>
              <a:t>селектор</a:t>
            </a:r>
            <a:r>
              <a:rPr lang="en-US" sz="1200" dirty="0"/>
              <a:t>")</a:t>
            </a:r>
            <a:endParaRPr lang="ru-RU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ru-RU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245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CFB-F3FA-4D9A-AA32-64E4C3601DA1}"/>
              </a:ext>
            </a:extLst>
          </p:cNvPr>
          <p:cNvSpPr txBox="1">
            <a:spLocks/>
          </p:cNvSpPr>
          <p:nvPr/>
        </p:nvSpPr>
        <p:spPr>
          <a:xfrm>
            <a:off x="594804" y="512147"/>
            <a:ext cx="10910656" cy="130333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200" dirty="0"/>
              <a:t>Практика поиска с помощью find_elements_by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C034B-777E-4B90-B993-977E032F5C4A}"/>
              </a:ext>
            </a:extLst>
          </p:cNvPr>
          <p:cNvSpPr txBox="1">
            <a:spLocks/>
          </p:cNvSpPr>
          <p:nvPr/>
        </p:nvSpPr>
        <p:spPr>
          <a:xfrm>
            <a:off x="739809" y="1163815"/>
            <a:ext cx="10611771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ru-RU" altLang="ru-RU" sz="1800" dirty="0">
              <a:solidFill>
                <a:schemeClr val="tx1"/>
              </a:solidFill>
              <a:latin typeface="Garamond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u="sng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400" dirty="0">
              <a:solidFill>
                <a:schemeClr val="tx1"/>
              </a:solidFill>
              <a:latin typeface="Garamond (Body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ru-RU" sz="1800" dirty="0">
              <a:solidFill>
                <a:schemeClr val="tx1"/>
              </a:solidFill>
              <a:latin typeface="Garamond (Body)"/>
            </a:endParaRP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2A7A4-8201-48F8-82FE-B3A769E92ECE}"/>
              </a:ext>
            </a:extLst>
          </p:cNvPr>
          <p:cNvSpPr txBox="1">
            <a:spLocks/>
          </p:cNvSpPr>
          <p:nvPr/>
        </p:nvSpPr>
        <p:spPr>
          <a:xfrm>
            <a:off x="739809" y="1227435"/>
            <a:ext cx="10712382" cy="511269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Для сайта </a:t>
            </a:r>
            <a:r>
              <a:rPr lang="en-US" sz="1200" dirty="0">
                <a:hlinkClick r:id="rId2"/>
              </a:rPr>
              <a:t>www.rushplace.com/</a:t>
            </a:r>
            <a:r>
              <a:rPr 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н</a:t>
            </a: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апишите тест, в котором добавляется </a:t>
            </a:r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  <a:r>
              <a:rPr lang="ru-RU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 товара в корзину и проверяется количество товаров в корзине</a:t>
            </a:r>
            <a:r>
              <a:rPr lang="en-US" altLang="ru-RU" sz="1200" b="1" dirty="0">
                <a:solidFill>
                  <a:schemeClr val="tx1"/>
                </a:solidFill>
                <a:cs typeface="Courier New" panose="02070309020205020404" pitchFamily="49" charset="0"/>
              </a:rPr>
              <a:t>:</a:t>
            </a:r>
            <a:endParaRPr lang="ru-RU" altLang="ru-RU" sz="1200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1200" dirty="0"/>
              <a:t>Сценарий</a:t>
            </a:r>
            <a:r>
              <a:rPr lang="en-US" sz="1200" dirty="0"/>
              <a:t>:</a:t>
            </a:r>
            <a:r>
              <a:rPr lang="ru-RU" sz="1200" dirty="0"/>
              <a:t> зайти на сайт -</a:t>
            </a:r>
            <a:r>
              <a:rPr lang="en-US" sz="1200" dirty="0"/>
              <a:t>&gt;</a:t>
            </a:r>
            <a:r>
              <a:rPr lang="ru-RU" sz="1200" dirty="0"/>
              <a:t> добавить любых 3 товара в корзину</a:t>
            </a:r>
            <a:r>
              <a:rPr lang="en-US" sz="1200" dirty="0"/>
              <a:t> -&gt;</a:t>
            </a:r>
            <a:r>
              <a:rPr lang="ru-RU" sz="1200" dirty="0"/>
              <a:t> перейти в корзину</a:t>
            </a:r>
            <a:r>
              <a:rPr lang="en-US" sz="1200" dirty="0"/>
              <a:t> -&gt; </a:t>
            </a:r>
            <a:r>
              <a:rPr lang="ru-RU" sz="1200" dirty="0"/>
              <a:t>проверить что количество товаров в корзине = 3</a:t>
            </a:r>
          </a:p>
          <a:p>
            <a:r>
              <a:rPr lang="ru-RU" sz="1200" dirty="0"/>
              <a:t>Чтобы товары успели добавиться в корзину, между их добавлением используйте</a:t>
            </a:r>
            <a:r>
              <a:rPr lang="en-US" sz="1200" dirty="0"/>
              <a:t> time.sleep(1)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Для решения этой задачи, используйте шаблон кода ниже</a:t>
            </a:r>
            <a:r>
              <a:rPr lang="en-US" sz="1200" dirty="0"/>
              <a:t>:</a:t>
            </a:r>
          </a:p>
          <a:p>
            <a:pPr marL="0" indent="0">
              <a:buNone/>
            </a:pP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driver.maximize_window()					</a:t>
            </a:r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# </a:t>
            </a:r>
            <a:r>
              <a:rPr lang="ru-RU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позволяет открывать бразуер в полном окне, рекомендуется к дальнейшему использованию</a:t>
            </a:r>
            <a:endParaRPr lang="en-US" altLang="ru-RU" sz="1200" dirty="0">
              <a:solidFill>
                <a:schemeClr val="bg1">
                  <a:lumMod val="50000"/>
                </a:schemeClr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driver.get("http://www.rushplace.com/")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		          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# метод get сообщает браузеру, что нужно открыть сайт по указанной ссылке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	</a:t>
            </a: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Ваш код по основному сценарию ...</a:t>
            </a: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items_count = driver.find_elements_by_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*(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"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Ваш селектор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")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  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# находим список всех элементов в корзине</a:t>
            </a:r>
            <a:endParaRPr lang="ru-RU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b="1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#</a:t>
            </a:r>
            <a:r>
              <a:rPr lang="ru-RU" altLang="ru-RU" sz="1200" b="1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 проверка что в корзине действительно 3 товара (добавьте в конец теста)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if len(items_count) == 3: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					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# после 1-го урока можем теперь создать небольшую конструкцию для проверки кол-ва товаров</a:t>
            </a:r>
            <a:endParaRPr lang="en-US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   print("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В корзине 3 товара")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				</a:t>
            </a:r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# len</a:t>
            </a:r>
            <a:r>
              <a:rPr lang="ru-RU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 здесь посчитает количество элементов, найденных при помощи</a:t>
            </a:r>
            <a:r>
              <a:rPr lang="en-US" altLang="ru-RU" sz="1200" dirty="0">
                <a:solidFill>
                  <a:schemeClr val="bg1">
                    <a:lumMod val="50000"/>
                  </a:schemeClr>
                </a:solidFill>
                <a:cs typeface="Courier New" panose="02070309020205020404" pitchFamily="49" charset="0"/>
              </a:rPr>
              <a:t> find_elements</a:t>
            </a:r>
            <a:endParaRPr lang="ru-RU" altLang="ru-RU" sz="1200" dirty="0">
              <a:solidFill>
                <a:schemeClr val="bg1">
                  <a:lumMod val="50000"/>
                </a:schemeClr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    print("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Ошибка. Количество товаров в корзине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: </a:t>
            </a:r>
            <a:r>
              <a:rPr lang="ru-RU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" + </a:t>
            </a:r>
            <a:r>
              <a:rPr lang="en-US" altLang="ru-RU" sz="1200" dirty="0">
                <a:solidFill>
                  <a:schemeClr val="tx1"/>
                </a:solidFill>
                <a:cs typeface="Courier New" panose="02070309020205020404" pitchFamily="49" charset="0"/>
              </a:rPr>
              <a:t>str(len(items_count)))</a:t>
            </a:r>
            <a:endParaRPr lang="en-US" sz="1200" dirty="0"/>
          </a:p>
          <a:p>
            <a:pPr marL="0" indent="0">
              <a:buNone/>
            </a:pPr>
            <a:endParaRPr lang="ru-RU" altLang="ru-RU" sz="1200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8538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822E-BCEF-4B79-B90A-FA0F28D2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6CA6F-A50E-453D-88DA-765F2E16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932" y="2556932"/>
            <a:ext cx="10271464" cy="331893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1800" dirty="0"/>
              <a:t>Попробуйте решить как можно больше задач из всего урока. Код нужно отправить по ссылке</a:t>
            </a:r>
            <a:r>
              <a:rPr lang="en-US" sz="1800" dirty="0"/>
              <a:t>: </a:t>
            </a:r>
            <a:r>
              <a:rPr lang="en-US" sz="1800" dirty="0">
                <a:hlinkClick r:id="rId2"/>
              </a:rPr>
              <a:t>https://forms.gle/rotJs7MGGD7MeJJMA</a:t>
            </a:r>
            <a:endParaRPr lang="ru-RU" sz="1800" dirty="0"/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Заполните анкету обратной связи по ссылке</a:t>
            </a:r>
            <a:r>
              <a:rPr lang="en-US" sz="1800" dirty="0"/>
              <a:t>: </a:t>
            </a:r>
            <a:r>
              <a:rPr lang="en-US" sz="1800" dirty="0">
                <a:hlinkClick r:id="rId3"/>
              </a:rPr>
              <a:t>https://forms.gle/vm1u5WLR6hVCh5vEA</a:t>
            </a:r>
            <a:endParaRPr lang="ru-RU" sz="1800" dirty="0"/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F5D6472E-89E0-4EE8-AF7B-D552875042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707" y="5024088"/>
            <a:ext cx="1568497" cy="11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15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6980</TotalTime>
  <Words>6038</Words>
  <Application>Microsoft Office PowerPoint</Application>
  <PresentationFormat>Widescreen</PresentationFormat>
  <Paragraphs>1317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Courier New</vt:lpstr>
      <vt:lpstr>Garamond</vt:lpstr>
      <vt:lpstr>Garamond (Body)</vt:lpstr>
      <vt:lpstr>Organic</vt:lpstr>
      <vt:lpstr>Урок 2</vt:lpstr>
      <vt:lpstr>Структура 2-го занятия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Поиск элементов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2</dc:title>
  <dc:creator>Vladimir Vladimir</dc:creator>
  <cp:lastModifiedBy>Vladimir Vladimir</cp:lastModifiedBy>
  <cp:revision>385</cp:revision>
  <dcterms:created xsi:type="dcterms:W3CDTF">2020-06-25T11:44:05Z</dcterms:created>
  <dcterms:modified xsi:type="dcterms:W3CDTF">2021-01-22T11:04:54Z</dcterms:modified>
</cp:coreProperties>
</file>