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63" r:id="rId4"/>
    <p:sldId id="264" r:id="rId5"/>
    <p:sldId id="271" r:id="rId6"/>
    <p:sldId id="273" r:id="rId7"/>
    <p:sldId id="274" r:id="rId8"/>
    <p:sldId id="367" r:id="rId9"/>
    <p:sldId id="275" r:id="rId10"/>
    <p:sldId id="277" r:id="rId11"/>
    <p:sldId id="276" r:id="rId12"/>
    <p:sldId id="278" r:id="rId13"/>
    <p:sldId id="281" r:id="rId14"/>
    <p:sldId id="282" r:id="rId15"/>
    <p:sldId id="361" r:id="rId16"/>
    <p:sldId id="284" r:id="rId17"/>
    <p:sldId id="287" r:id="rId18"/>
    <p:sldId id="288" r:id="rId19"/>
    <p:sldId id="290" r:id="rId20"/>
    <p:sldId id="355" r:id="rId21"/>
    <p:sldId id="289" r:id="rId22"/>
    <p:sldId id="291" r:id="rId23"/>
    <p:sldId id="295" r:id="rId24"/>
    <p:sldId id="368" r:id="rId25"/>
    <p:sldId id="293" r:id="rId26"/>
    <p:sldId id="297" r:id="rId27"/>
    <p:sldId id="302" r:id="rId28"/>
    <p:sldId id="294" r:id="rId29"/>
    <p:sldId id="362" r:id="rId30"/>
    <p:sldId id="304" r:id="rId31"/>
    <p:sldId id="306" r:id="rId32"/>
    <p:sldId id="305" r:id="rId33"/>
    <p:sldId id="299" r:id="rId34"/>
    <p:sldId id="312" r:id="rId35"/>
    <p:sldId id="309" r:id="rId36"/>
    <p:sldId id="363" r:id="rId37"/>
    <p:sldId id="313" r:id="rId38"/>
    <p:sldId id="314" r:id="rId39"/>
    <p:sldId id="315" r:id="rId40"/>
    <p:sldId id="325" r:id="rId41"/>
    <p:sldId id="324" r:id="rId42"/>
    <p:sldId id="328" r:id="rId43"/>
    <p:sldId id="319" r:id="rId44"/>
    <p:sldId id="321" r:id="rId45"/>
    <p:sldId id="340" r:id="rId46"/>
    <p:sldId id="330" r:id="rId47"/>
    <p:sldId id="335" r:id="rId48"/>
    <p:sldId id="338" r:id="rId49"/>
    <p:sldId id="369" r:id="rId50"/>
    <p:sldId id="344" r:id="rId51"/>
    <p:sldId id="346" r:id="rId52"/>
    <p:sldId id="347" r:id="rId53"/>
    <p:sldId id="365" r:id="rId54"/>
    <p:sldId id="323" r:id="rId55"/>
    <p:sldId id="356" r:id="rId56"/>
    <p:sldId id="351" r:id="rId57"/>
    <p:sldId id="349" r:id="rId58"/>
    <p:sldId id="357" r:id="rId59"/>
    <p:sldId id="350" r:id="rId60"/>
    <p:sldId id="358" r:id="rId61"/>
    <p:sldId id="366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7832"/>
    <a:srgbClr val="D09E00"/>
    <a:srgbClr val="7E7E9D"/>
    <a:srgbClr val="FFC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24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07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33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36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422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84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76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33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1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98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785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966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688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04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40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199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25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921BA8-D0C4-4D62-80E1-37B7FE798180}" type="datetimeFigureOut">
              <a:rPr lang="ru-RU" smtClean="0"/>
              <a:t>19.12.2020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5F35E53-14C9-4412-B6A8-E201C76CE7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07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computerhope.com/issues/ch000549.ht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Homebrew/install/master/install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ru-ru/pycharm/download" TargetMode="External"/><Relationship Id="rId2" Type="http://schemas.openxmlformats.org/officeDocument/2006/relationships/hyperlink" Target="https://download.jetbrains.com/python/pycharm-community-5.0.6.ex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www.jetbrains.com/ru-ru/pycharm/download/#section=mac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4tejDfr7qm45LbLU7" TargetMode="External"/><Relationship Id="rId2" Type="http://schemas.openxmlformats.org/officeDocument/2006/relationships/hyperlink" Target="https://forms.gle/7LU7rwY7rKoBxrRP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A3E3-64EB-4A7A-B03D-108BBD03E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Урок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70B85-B140-4250-8D93-8E8FAB9783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Начало работы с</a:t>
            </a:r>
            <a:r>
              <a:rPr lang="en-US" dirty="0"/>
              <a:t> 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508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DC0F-97B6-41E2-8D83-E59AFE68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1-го занятия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09569-68F5-41F6-9105-2B6DAE58A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Что такое</a:t>
            </a:r>
            <a:r>
              <a:rPr lang="en-US" dirty="0"/>
              <a:t> Python?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Установка </a:t>
            </a:r>
            <a:r>
              <a:rPr lang="en-US" dirty="0"/>
              <a:t>Python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Запуск интерпретатора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Python</a:t>
            </a:r>
            <a:r>
              <a:rPr lang="ru-RU" dirty="0"/>
              <a:t> типы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Математические операции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Переменные, ввод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Строки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Логические операции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Условия </a:t>
            </a:r>
            <a:r>
              <a:rPr lang="en-US" dirty="0"/>
              <a:t>if / elif / else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Задачи по материалам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772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1A2-4C1E-4275-887F-3B07C72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</a:t>
            </a:r>
            <a:r>
              <a:rPr lang="en-US" dirty="0"/>
              <a:t>Python?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475-F757-49EB-9AFA-1C827A8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36" y="2477029"/>
            <a:ext cx="10115362" cy="3826115"/>
          </a:xfrm>
        </p:spPr>
        <p:txBody>
          <a:bodyPr>
            <a:normAutofit/>
          </a:bodyPr>
          <a:lstStyle/>
          <a:p>
            <a:r>
              <a:rPr lang="ru-RU" sz="1800" b="1" dirty="0"/>
              <a:t>Python</a:t>
            </a:r>
            <a:r>
              <a:rPr lang="ru-RU" sz="1800" dirty="0"/>
              <a:t>(</a:t>
            </a:r>
            <a:r>
              <a:rPr lang="ru-RU" sz="1800" i="1" dirty="0"/>
              <a:t>читается как пайтон/питон</a:t>
            </a:r>
            <a:r>
              <a:rPr lang="ru-RU" sz="1800" dirty="0"/>
              <a:t>) – простой, гибкий и невероятно популярный язык программироваия, который используется практически во всех областях современной разработки. </a:t>
            </a:r>
          </a:p>
          <a:p>
            <a:r>
              <a:rPr lang="ru-RU" sz="1800" dirty="0"/>
              <a:t>С его помощью можно создавать веб-приложения, писать игры, заниматься анализом данных, автоматизировать тестирование программ и многое другое.</a:t>
            </a:r>
          </a:p>
          <a:p>
            <a:r>
              <a:rPr lang="ru-RU" sz="1800" dirty="0"/>
              <a:t> Создал</a:t>
            </a:r>
            <a:r>
              <a:rPr lang="en-US" sz="1800" dirty="0"/>
              <a:t> python </a:t>
            </a:r>
            <a:r>
              <a:rPr lang="ru-RU" sz="1800" dirty="0">
                <a:solidFill>
                  <a:schemeClr val="tx2"/>
                </a:solidFill>
              </a:rPr>
              <a:t>нидерландский программист </a:t>
            </a:r>
            <a:r>
              <a:rPr lang="ru-RU" sz="1800" b="1" dirty="0"/>
              <a:t>Гвидо ван Россум</a:t>
            </a:r>
            <a:endParaRPr lang="ru-RU" sz="1800" dirty="0"/>
          </a:p>
          <a:p>
            <a:r>
              <a:rPr lang="ru-RU" sz="1800" dirty="0"/>
              <a:t>Автор назвал язык в честь популярного британского комедийного телешоу </a:t>
            </a:r>
            <a:r>
              <a:rPr lang="ru-RU" sz="1800" dirty="0">
                <a:solidFill>
                  <a:schemeClr val="tx2"/>
                </a:solidFill>
              </a:rPr>
              <a:t>1970-х «Летающий цирк Монти Пайтона.</a:t>
            </a:r>
          </a:p>
          <a:p>
            <a:endParaRPr lang="ru-R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ru-RU" sz="12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200" b="1" dirty="0">
                <a:solidFill>
                  <a:schemeClr val="bg1">
                    <a:lumMod val="50000"/>
                  </a:schemeClr>
                </a:solidFill>
              </a:rPr>
              <a:t>Примечание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2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если смотрите презентацию с гугл диска(не скачивая), то возможны небольшие проблемы</a:t>
            </a:r>
          </a:p>
          <a:p>
            <a:pPr marL="0" indent="0">
              <a:buNone/>
            </a:pP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с вёрсткой некоторых </a:t>
            </a:r>
            <a:r>
              <a:rPr lang="ru-RU" sz="1200">
                <a:solidFill>
                  <a:schemeClr val="bg1">
                    <a:lumMod val="50000"/>
                  </a:schemeClr>
                </a:solidFill>
              </a:rPr>
              <a:t>слайдов.</a:t>
            </a:r>
            <a:endParaRPr lang="ru-RU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593F7-9A6A-436E-93C6-2DF23C2AB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864" y="4644503"/>
            <a:ext cx="1060140" cy="15902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237E99-AF0B-4666-B43D-551AEE060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654" y="4731798"/>
            <a:ext cx="3005829" cy="15029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F83E77-70BF-43A9-AB5F-D722002A9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752" y="4644503"/>
            <a:ext cx="971811" cy="159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5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1A2-4C1E-4275-887F-3B07C72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работать с </a:t>
            </a:r>
            <a:r>
              <a:rPr lang="en-US" dirty="0"/>
              <a:t>python?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475-F757-49EB-9AFA-1C827A8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357" y="2556932"/>
            <a:ext cx="10124240" cy="3318936"/>
          </a:xfrm>
        </p:spPr>
        <p:txBody>
          <a:bodyPr>
            <a:normAutofit/>
          </a:bodyPr>
          <a:lstStyle/>
          <a:p>
            <a:r>
              <a:rPr lang="ru-RU" sz="1800" dirty="0"/>
              <a:t>Формально, есть специальные сайты, где можно запустить код на </a:t>
            </a:r>
            <a:r>
              <a:rPr lang="en-US" sz="1800" dirty="0"/>
              <a:t>python</a:t>
            </a:r>
            <a:r>
              <a:rPr lang="ru-RU" sz="1800" dirty="0"/>
              <a:t>, но для нашего курса и автоматизации тестирования в целом, потребуется запуск на своём компьютере.</a:t>
            </a:r>
          </a:p>
          <a:p>
            <a:r>
              <a:rPr lang="ru-RU" sz="1800" dirty="0"/>
              <a:t>Для того, чтобы это сделать, сначала нужно установить </a:t>
            </a:r>
            <a:r>
              <a:rPr lang="en-US" sz="1800" dirty="0"/>
              <a:t>python</a:t>
            </a:r>
            <a:r>
              <a:rPr lang="ru-RU" sz="1800" dirty="0"/>
              <a:t> на компьютер.</a:t>
            </a:r>
          </a:p>
          <a:p>
            <a:r>
              <a:rPr lang="ru-RU" sz="1800" dirty="0"/>
              <a:t>На следующих слайдах будет инструкция по установке для разных операционных систем.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04341-AB8D-456E-9646-C1B155A60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214" y="4749553"/>
            <a:ext cx="3005829" cy="150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4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ABD942-55A3-4887-87E1-7BA0B24D87AA}"/>
              </a:ext>
            </a:extLst>
          </p:cNvPr>
          <p:cNvSpPr txBox="1">
            <a:spLocks/>
          </p:cNvSpPr>
          <p:nvPr/>
        </p:nvSpPr>
        <p:spPr>
          <a:xfrm>
            <a:off x="843379" y="1234000"/>
            <a:ext cx="10644326" cy="533547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 dirty="0"/>
              <a:t>Если вы используете </a:t>
            </a:r>
            <a:r>
              <a:rPr lang="en-US" sz="1600" i="1" dirty="0"/>
              <a:t>MAC </a:t>
            </a:r>
            <a:r>
              <a:rPr lang="ru-RU" sz="1600" i="1" dirty="0"/>
              <a:t>ОС, тогда пропусктите эти слайды и переходите к следующим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Для начала нужно скачать Python. Для этого на </a:t>
            </a:r>
            <a:r>
              <a:rPr lang="ru-RU" sz="1600" dirty="0">
                <a:hlinkClick r:id="rId2"/>
              </a:rPr>
              <a:t>официальной странице</a:t>
            </a:r>
            <a:r>
              <a:rPr lang="ru-RU" sz="1600" dirty="0"/>
              <a:t> Python выберите стабильную версию для Windows, и скачайте файл для вашей системы (64-разрядная или 32-разрядная).</a:t>
            </a:r>
            <a:endParaRPr lang="en-US" sz="1600" dirty="0"/>
          </a:p>
          <a:p>
            <a:endParaRPr lang="ru-RU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342900" indent="-342900">
              <a:buFont typeface="+mj-lt"/>
              <a:buAutoNum type="arabicPeriod" startAt="2"/>
            </a:pPr>
            <a:r>
              <a:rPr lang="ru-RU" sz="1600" dirty="0"/>
              <a:t>Запустите скачанный файл и следуйте инструкциям установщика. </a:t>
            </a:r>
          </a:p>
          <a:p>
            <a:r>
              <a:rPr lang="ru-RU" sz="1600" b="1" dirty="0">
                <a:solidFill>
                  <a:srgbClr val="FF0000"/>
                </a:solidFill>
              </a:rPr>
              <a:t>Важно!</a:t>
            </a:r>
            <a:r>
              <a:rPr lang="ru-RU" sz="1600" dirty="0"/>
              <a:t> На первом шаге установки убедитесь в том, что вы поставили галочку в разделе </a:t>
            </a:r>
            <a:r>
              <a:rPr lang="ru-RU" sz="1600" b="1" dirty="0"/>
              <a:t>Add Python 3.x to PATH</a:t>
            </a:r>
            <a:r>
              <a:rPr lang="ru-RU" sz="1600" dirty="0"/>
              <a:t>. 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13CD96-ABF7-466C-A9DC-D0FB631847AB}"/>
              </a:ext>
            </a:extLst>
          </p:cNvPr>
          <p:cNvSpPr txBox="1">
            <a:spLocks/>
          </p:cNvSpPr>
          <p:nvPr/>
        </p:nvSpPr>
        <p:spPr>
          <a:xfrm>
            <a:off x="1366424" y="493859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000" dirty="0"/>
              <a:t>Установка</a:t>
            </a:r>
            <a:r>
              <a:rPr lang="en-US" sz="4000" dirty="0"/>
              <a:t> Python</a:t>
            </a:r>
            <a:r>
              <a:rPr lang="ru-RU" sz="4000" dirty="0"/>
              <a:t> на </a:t>
            </a:r>
            <a:r>
              <a:rPr lang="en-US" sz="4000" dirty="0"/>
              <a:t>Windows </a:t>
            </a:r>
            <a:r>
              <a:rPr lang="ru-RU" sz="4000" dirty="0"/>
              <a:t>(1/2)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7B1A-889D-4B9D-89EB-9F7458CBF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06" y="2221318"/>
            <a:ext cx="5166805" cy="290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ABD942-55A3-4887-87E1-7BA0B24D87AA}"/>
              </a:ext>
            </a:extLst>
          </p:cNvPr>
          <p:cNvSpPr txBox="1">
            <a:spLocks/>
          </p:cNvSpPr>
          <p:nvPr/>
        </p:nvSpPr>
        <p:spPr>
          <a:xfrm>
            <a:off x="701336" y="1234000"/>
            <a:ext cx="10946167" cy="533547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ru-RU" sz="1600" dirty="0"/>
              <a:t>Чтобы проверить правильность установки, откройте командную строку Windows            </a:t>
            </a:r>
            <a:endParaRPr lang="en-US" sz="1600" dirty="0"/>
          </a:p>
          <a:p>
            <a:pPr marL="342900" indent="-342900">
              <a:buFont typeface="+mj-lt"/>
              <a:buAutoNum type="arabicPeriod" startAt="3"/>
            </a:pPr>
            <a:endParaRPr lang="ru-RU" sz="1600" dirty="0"/>
          </a:p>
          <a:p>
            <a:pPr marL="342900" indent="-342900">
              <a:buFont typeface="+mj-lt"/>
              <a:buAutoNum type="arabicPeriod" startAt="3"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342900" indent="-342900">
              <a:buFont typeface="+mj-lt"/>
              <a:buAutoNum type="arabicPeriod" startAt="4"/>
            </a:pPr>
            <a:r>
              <a:rPr lang="ru-RU" sz="1600" dirty="0"/>
              <a:t>В появившемся окне введите</a:t>
            </a:r>
            <a:r>
              <a:rPr lang="en-US" sz="1600" dirty="0"/>
              <a:t>:</a:t>
            </a:r>
            <a:r>
              <a:rPr lang="ru-RU" sz="1600" dirty="0"/>
              <a:t> </a:t>
            </a:r>
            <a:r>
              <a:rPr lang="en-US" sz="1600" dirty="0"/>
              <a:t>“</a:t>
            </a:r>
            <a:r>
              <a:rPr lang="ru-RU" sz="1600" dirty="0"/>
              <a:t>python --version</a:t>
            </a:r>
            <a:r>
              <a:rPr lang="en-US" sz="1600" dirty="0"/>
              <a:t>”. </a:t>
            </a:r>
            <a:r>
              <a:rPr lang="ru-RU" sz="1600" dirty="0"/>
              <a:t>Если всё успешно, то в окне сразу отобразится версия</a:t>
            </a:r>
            <a:r>
              <a:rPr lang="en-US" sz="1600" dirty="0"/>
              <a:t>:</a:t>
            </a:r>
          </a:p>
          <a:p>
            <a:pPr marL="342900" indent="-342900">
              <a:buFont typeface="+mj-lt"/>
              <a:buAutoNum type="arabicPeriod" startAt="4"/>
            </a:pPr>
            <a:endParaRPr lang="ru-RU" sz="1600" dirty="0"/>
          </a:p>
          <a:p>
            <a:pPr marL="0" indent="0">
              <a:buNone/>
            </a:pPr>
            <a:endParaRPr lang="en-US" sz="1600" dirty="0"/>
          </a:p>
          <a:p>
            <a:r>
              <a:rPr lang="ru-RU" sz="1600" dirty="0"/>
              <a:t>Готово! </a:t>
            </a:r>
            <a:r>
              <a:rPr lang="en-US" sz="1600" dirty="0"/>
              <a:t>Python</a:t>
            </a:r>
            <a:r>
              <a:rPr lang="ru-RU" sz="1600" dirty="0"/>
              <a:t> уже на нашем компьютере, теперь можно приступать к работе с ним </a:t>
            </a:r>
            <a:r>
              <a:rPr lang="en-US" sz="1600" dirty="0"/>
              <a:t>:)</a:t>
            </a:r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Если Python не найден, то попробуйте переустановить его еще раз или вручную добавить в переменную окружения PATH путь к директории, куда был установлен Python. Как добавлять путь в PATH в разных версиях Windows, вы можете прочитать здесь: </a:t>
            </a:r>
            <a:r>
              <a:rPr lang="ru-RU" sz="1200" dirty="0">
                <a:hlinkClick r:id="rId2"/>
              </a:rPr>
              <a:t>https://www.computerhope.com/issues/ch000549.htm</a:t>
            </a:r>
            <a:r>
              <a:rPr lang="ru-RU" sz="1200" dirty="0"/>
              <a:t>. После переустановки Python не забудьте перезапустить командную строку, чтобы изменения переменной окружения стали доступны.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13CD96-ABF7-466C-A9DC-D0FB631847AB}"/>
              </a:ext>
            </a:extLst>
          </p:cNvPr>
          <p:cNvSpPr txBox="1">
            <a:spLocks/>
          </p:cNvSpPr>
          <p:nvPr/>
        </p:nvSpPr>
        <p:spPr>
          <a:xfrm>
            <a:off x="1366424" y="493859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000" dirty="0"/>
              <a:t>Установка</a:t>
            </a:r>
            <a:r>
              <a:rPr lang="en-US" sz="4000" dirty="0"/>
              <a:t> Python</a:t>
            </a:r>
            <a:r>
              <a:rPr lang="ru-RU" sz="4000" dirty="0"/>
              <a:t> на </a:t>
            </a:r>
            <a:r>
              <a:rPr lang="en-US" sz="4000" dirty="0"/>
              <a:t>Windows </a:t>
            </a:r>
            <a:r>
              <a:rPr lang="ru-RU" sz="4000" dirty="0"/>
              <a:t>(</a:t>
            </a:r>
            <a:r>
              <a:rPr lang="en-US" sz="4000" dirty="0"/>
              <a:t>2</a:t>
            </a:r>
            <a:r>
              <a:rPr lang="ru-RU" sz="4000" dirty="0"/>
              <a:t>/2)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51249-E643-4E6C-9906-7DF6604F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75" y="1527262"/>
            <a:ext cx="5721475" cy="1159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B5AD5F-8A9E-40A1-8136-FD997ECE8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41" y="3155523"/>
            <a:ext cx="73437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07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ABD942-55A3-4887-87E1-7BA0B24D87AA}"/>
              </a:ext>
            </a:extLst>
          </p:cNvPr>
          <p:cNvSpPr txBox="1">
            <a:spLocks/>
          </p:cNvSpPr>
          <p:nvPr/>
        </p:nvSpPr>
        <p:spPr>
          <a:xfrm>
            <a:off x="772362" y="1154100"/>
            <a:ext cx="11363417" cy="5335479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i="1" dirty="0"/>
              <a:t>Если вы используете </a:t>
            </a:r>
            <a:r>
              <a:rPr lang="en-US" sz="1600" i="1" dirty="0"/>
              <a:t>Windows</a:t>
            </a:r>
            <a:r>
              <a:rPr lang="ru-RU" sz="1600" i="1" dirty="0"/>
              <a:t>, тогда пропусктите этот слайд и переходите к следующему</a:t>
            </a:r>
          </a:p>
          <a:p>
            <a:r>
              <a:rPr lang="ru-RU" sz="1600" dirty="0"/>
              <a:t>Для корректной установки </a:t>
            </a:r>
            <a:r>
              <a:rPr lang="en-US" sz="1600" dirty="0"/>
              <a:t>python</a:t>
            </a:r>
            <a:r>
              <a:rPr lang="ru-RU" sz="1600" dirty="0"/>
              <a:t> на </a:t>
            </a:r>
            <a:r>
              <a:rPr lang="en-US" sz="1600" dirty="0"/>
              <a:t>mac</a:t>
            </a:r>
            <a:r>
              <a:rPr lang="ru-RU" sz="1600" dirty="0"/>
              <a:t>, потребуется скачать ещё две программы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Откройте</a:t>
            </a:r>
            <a:r>
              <a:rPr lang="en-US" sz="1600" dirty="0"/>
              <a:t> </a:t>
            </a:r>
            <a:r>
              <a:rPr lang="ru-RU" sz="1600" dirty="0"/>
              <a:t>терминал в </a:t>
            </a:r>
            <a:r>
              <a:rPr lang="en-US" sz="1600" dirty="0"/>
              <a:t>mac: Applications -&gt; Utilities -&gt; Terminal</a:t>
            </a:r>
            <a:endParaRPr lang="ru-RU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В терминале, введите команду</a:t>
            </a:r>
            <a:r>
              <a:rPr lang="en-US" sz="1600" dirty="0"/>
              <a:t> “</a:t>
            </a:r>
            <a:r>
              <a:rPr lang="en-US" sz="1600" b="1" dirty="0" err="1"/>
              <a:t>xcode</a:t>
            </a:r>
            <a:r>
              <a:rPr lang="en-US" sz="1600" b="1" dirty="0"/>
              <a:t>-select --install</a:t>
            </a:r>
            <a:r>
              <a:rPr lang="en-US" sz="1600" dirty="0"/>
              <a:t>” </a:t>
            </a:r>
            <a:endParaRPr lang="ru-RU" sz="1600" dirty="0"/>
          </a:p>
          <a:p>
            <a:r>
              <a:rPr lang="ru-RU" sz="1600" dirty="0"/>
              <a:t>Потребуется время на установку, настраивать ничего не нужно, просто нажимайте </a:t>
            </a:r>
            <a:r>
              <a:rPr lang="en-US" sz="1600" dirty="0"/>
              <a:t>next</a:t>
            </a:r>
            <a:r>
              <a:rPr lang="ru-RU" sz="1600" dirty="0"/>
              <a:t> пока не установится</a:t>
            </a:r>
          </a:p>
          <a:p>
            <a:r>
              <a:rPr lang="ru-RU" sz="1600" dirty="0"/>
              <a:t>Подождите пока установится, далее переходите к следующему шагу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u-RU" sz="1600" dirty="0"/>
              <a:t>В терминале, введите команду</a:t>
            </a:r>
            <a:r>
              <a:rPr lang="en-US" sz="1600" dirty="0"/>
              <a:t>: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 </a:t>
            </a:r>
            <a:r>
              <a:rPr lang="en-US" sz="1600" b="1" dirty="0"/>
              <a:t>ruby -e "$(curl -</a:t>
            </a:r>
            <a:r>
              <a:rPr lang="en-US" sz="1600" b="1" dirty="0" err="1"/>
              <a:t>fsSL</a:t>
            </a:r>
            <a:r>
              <a:rPr lang="en-US" sz="1600" b="1" dirty="0"/>
              <a:t> </a:t>
            </a:r>
            <a:r>
              <a:rPr lang="en-US" sz="1600" b="1" dirty="0">
                <a:hlinkClick r:id="rId2"/>
              </a:rPr>
              <a:t>https://raw.githubusercontent.com/Homebrew/install/master/install</a:t>
            </a:r>
            <a:r>
              <a:rPr lang="en-US" sz="1600" b="1" dirty="0"/>
              <a:t>)"</a:t>
            </a:r>
            <a:endParaRPr lang="ru-RU" sz="1600" b="1" dirty="0"/>
          </a:p>
          <a:p>
            <a:r>
              <a:rPr lang="ru-RU" sz="1600" dirty="0"/>
              <a:t>Для проверки что всё установлено, введите</a:t>
            </a:r>
            <a:r>
              <a:rPr lang="en-US" sz="1600" dirty="0"/>
              <a:t> </a:t>
            </a:r>
            <a:r>
              <a:rPr lang="ru-RU" sz="1600" dirty="0"/>
              <a:t>команду</a:t>
            </a:r>
            <a:r>
              <a:rPr lang="en-US" sz="1600" dirty="0"/>
              <a:t>:</a:t>
            </a:r>
            <a:r>
              <a:rPr lang="ru-RU" sz="1600" dirty="0"/>
              <a:t> </a:t>
            </a:r>
            <a:r>
              <a:rPr lang="en-US" sz="1600" dirty="0"/>
              <a:t>“</a:t>
            </a:r>
            <a:r>
              <a:rPr lang="en-US" sz="1600" b="1" dirty="0"/>
              <a:t>brew doctor</a:t>
            </a:r>
            <a:r>
              <a:rPr lang="en-US" sz="1600" dirty="0"/>
              <a:t>”</a:t>
            </a:r>
            <a:endParaRPr lang="ru-RU" sz="1600" dirty="0"/>
          </a:p>
          <a:p>
            <a:r>
              <a:rPr lang="ru-RU" sz="1600" dirty="0"/>
              <a:t>Должно появится сообщение</a:t>
            </a:r>
            <a:r>
              <a:rPr lang="en-US" sz="1600" dirty="0"/>
              <a:t>:</a:t>
            </a:r>
            <a:r>
              <a:rPr lang="ru-RU" sz="1600" dirty="0"/>
              <a:t> </a:t>
            </a:r>
            <a:r>
              <a:rPr lang="en-US" sz="1600" dirty="0"/>
              <a:t>“Your system is ready to brew</a:t>
            </a:r>
            <a:r>
              <a:rPr lang="ru-RU" sz="1600" dirty="0"/>
              <a:t>.</a:t>
            </a:r>
            <a:r>
              <a:rPr lang="en-US" sz="1600" dirty="0"/>
              <a:t>”; </a:t>
            </a:r>
            <a:r>
              <a:rPr lang="ru-RU" sz="1600" dirty="0"/>
              <a:t>Теперь всё готово для установки</a:t>
            </a:r>
            <a:r>
              <a:rPr lang="en-US" sz="1600" dirty="0"/>
              <a:t> python</a:t>
            </a:r>
            <a:endParaRPr lang="ru-RU" sz="1600" dirty="0"/>
          </a:p>
          <a:p>
            <a:pPr marL="342900" indent="-342900">
              <a:buFont typeface="+mj-lt"/>
              <a:buAutoNum type="arabicPeriod" startAt="4"/>
            </a:pPr>
            <a:r>
              <a:rPr lang="ru-RU" sz="1600" dirty="0"/>
              <a:t>В терминале, введите команду</a:t>
            </a:r>
            <a:r>
              <a:rPr lang="en-US" sz="1600" dirty="0"/>
              <a:t>: “</a:t>
            </a:r>
            <a:r>
              <a:rPr lang="en-US" sz="1600" b="1" dirty="0"/>
              <a:t>brew install python3</a:t>
            </a:r>
            <a:r>
              <a:rPr lang="en-US" sz="1600" dirty="0"/>
              <a:t>”</a:t>
            </a:r>
            <a:r>
              <a:rPr lang="ru-RU" sz="1600" dirty="0"/>
              <a:t> </a:t>
            </a:r>
            <a:endParaRPr lang="en-US" sz="1600" dirty="0"/>
          </a:p>
          <a:p>
            <a:r>
              <a:rPr lang="ru-RU" sz="1600" dirty="0"/>
              <a:t>Для проверки что всё установлено, введите</a:t>
            </a:r>
            <a:r>
              <a:rPr lang="en-US" sz="1600" dirty="0"/>
              <a:t> </a:t>
            </a:r>
            <a:r>
              <a:rPr lang="ru-RU" sz="1600" dirty="0"/>
              <a:t>команду </a:t>
            </a:r>
            <a:r>
              <a:rPr lang="en-US" sz="1600" dirty="0"/>
              <a:t>“</a:t>
            </a:r>
            <a:r>
              <a:rPr lang="en-US" sz="1600" b="1" dirty="0"/>
              <a:t>python3 –version</a:t>
            </a:r>
            <a:r>
              <a:rPr lang="en-US" sz="1600" dirty="0"/>
              <a:t>”</a:t>
            </a:r>
            <a:endParaRPr lang="ru-RU" sz="1600" dirty="0"/>
          </a:p>
          <a:p>
            <a:r>
              <a:rPr lang="ru-RU" sz="1600" dirty="0"/>
              <a:t>Должно появится сообщение </a:t>
            </a:r>
            <a:r>
              <a:rPr lang="en-US" sz="1600" dirty="0"/>
              <a:t>“Python 3.7.7”</a:t>
            </a:r>
            <a:r>
              <a:rPr lang="ru-RU" sz="1600" dirty="0"/>
              <a:t> или любая другая версия</a:t>
            </a:r>
            <a:r>
              <a:rPr lang="en-US" sz="1600" dirty="0"/>
              <a:t> </a:t>
            </a:r>
            <a:r>
              <a:rPr lang="ru-RU" sz="1600" dirty="0"/>
              <a:t>не ниже 3.</a:t>
            </a:r>
          </a:p>
          <a:p>
            <a:r>
              <a:rPr lang="ru-RU" sz="1600" dirty="0"/>
              <a:t>Готово! </a:t>
            </a:r>
            <a:r>
              <a:rPr lang="en-US" sz="1600" dirty="0"/>
              <a:t>Python</a:t>
            </a:r>
            <a:r>
              <a:rPr lang="ru-RU" sz="1600" dirty="0"/>
              <a:t> уже на нашем компьютере, теперь можно приступать к работе с ним </a:t>
            </a:r>
            <a:r>
              <a:rPr lang="en-US" sz="1600" dirty="0"/>
              <a:t>:)</a:t>
            </a:r>
            <a:endParaRPr lang="ru-RU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13CD96-ABF7-466C-A9DC-D0FB631847AB}"/>
              </a:ext>
            </a:extLst>
          </p:cNvPr>
          <p:cNvSpPr txBox="1">
            <a:spLocks/>
          </p:cNvSpPr>
          <p:nvPr/>
        </p:nvSpPr>
        <p:spPr>
          <a:xfrm>
            <a:off x="1366424" y="493859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4000" dirty="0"/>
              <a:t>Установка</a:t>
            </a:r>
            <a:r>
              <a:rPr lang="en-US" sz="4000" dirty="0"/>
              <a:t> Python</a:t>
            </a:r>
            <a:r>
              <a:rPr lang="ru-RU" sz="4000" dirty="0"/>
              <a:t> на </a:t>
            </a:r>
            <a:r>
              <a:rPr lang="en-US" sz="4000" dirty="0"/>
              <a:t>MAC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5963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1A2-4C1E-4275-887F-3B07C72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Установка</a:t>
            </a:r>
            <a:r>
              <a:rPr lang="en-US" dirty="0"/>
              <a:t> PyCharm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475-F757-49EB-9AFA-1C827A8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92" y="2441359"/>
            <a:ext cx="10777492" cy="3994952"/>
          </a:xfrm>
        </p:spPr>
        <p:txBody>
          <a:bodyPr>
            <a:normAutofit fontScale="85000" lnSpcReduction="20000"/>
          </a:bodyPr>
          <a:lstStyle/>
          <a:p>
            <a:r>
              <a:rPr lang="ru-RU" sz="1800" dirty="0"/>
              <a:t>Самое сложное позади, последнее что осталось установить это среду разработки </a:t>
            </a:r>
            <a:r>
              <a:rPr lang="en-US" sz="1800" dirty="0"/>
              <a:t>PyCharm</a:t>
            </a:r>
            <a:r>
              <a:rPr lang="ru-RU" sz="1800" dirty="0"/>
              <a:t> (именно там мы будем писать код) </a:t>
            </a:r>
            <a:r>
              <a:rPr lang="en-US" sz="1800" dirty="0"/>
              <a:t>     </a:t>
            </a:r>
            <a:r>
              <a:rPr lang="ru-RU" sz="1800" dirty="0"/>
              <a:t>для этого просто скачайте бесплатную версию</a:t>
            </a:r>
            <a:r>
              <a:rPr lang="en-US" sz="1800" dirty="0"/>
              <a:t>:</a:t>
            </a:r>
            <a:endParaRPr lang="ru-RU" sz="1800" dirty="0"/>
          </a:p>
          <a:p>
            <a:r>
              <a:rPr lang="en-US" sz="1800" dirty="0">
                <a:hlinkClick r:id="rId2"/>
              </a:rPr>
              <a:t>https://download.jetbrains.com/python/pycharm-community-5.0.6.exe</a:t>
            </a:r>
            <a:r>
              <a:rPr lang="ru-RU" sz="1800" dirty="0"/>
              <a:t> (для 32-битной системы</a:t>
            </a:r>
            <a:r>
              <a:rPr lang="en-US" sz="1800" dirty="0"/>
              <a:t> windows</a:t>
            </a:r>
            <a:r>
              <a:rPr lang="ru-RU" sz="1800" dirty="0"/>
              <a:t>)</a:t>
            </a:r>
            <a:endParaRPr lang="en-US" sz="1800" dirty="0"/>
          </a:p>
          <a:p>
            <a:r>
              <a:rPr lang="en-US" sz="1800" dirty="0">
                <a:hlinkClick r:id="rId3"/>
              </a:rPr>
              <a:t>https://www.jetbrains.com/ru-ru/pycharm/download</a:t>
            </a:r>
            <a:r>
              <a:rPr lang="en-US" sz="1800" dirty="0"/>
              <a:t> (</a:t>
            </a:r>
            <a:r>
              <a:rPr lang="ru-RU" sz="1800" dirty="0"/>
              <a:t>для 64-битной системы</a:t>
            </a:r>
            <a:r>
              <a:rPr lang="en-US" sz="1800" dirty="0"/>
              <a:t> windows</a:t>
            </a:r>
            <a:r>
              <a:rPr lang="ru-RU" sz="1800" dirty="0"/>
              <a:t>)</a:t>
            </a:r>
          </a:p>
          <a:p>
            <a:r>
              <a:rPr lang="en-US" sz="1800" dirty="0">
                <a:hlinkClick r:id="rId4"/>
              </a:rPr>
              <a:t>https://www.jetbrains.com/ru-ru/pycharm/download/#section=mac</a:t>
            </a:r>
            <a:r>
              <a:rPr lang="ru-RU" sz="1800" dirty="0"/>
              <a:t> (для </a:t>
            </a:r>
            <a:r>
              <a:rPr lang="en-US" sz="1800" dirty="0"/>
              <a:t>mac)</a:t>
            </a: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В установщике нажимайте </a:t>
            </a:r>
            <a:r>
              <a:rPr lang="en-US" sz="1800" b="1" dirty="0"/>
              <a:t>next</a:t>
            </a:r>
            <a:r>
              <a:rPr lang="ru-RU" sz="1800" b="1" dirty="0"/>
              <a:t> пока не установится</a:t>
            </a:r>
            <a:r>
              <a:rPr lang="en-US" sz="1800" b="1" dirty="0"/>
              <a:t> </a:t>
            </a:r>
            <a:r>
              <a:rPr lang="en-US" sz="1800" dirty="0"/>
              <a:t>(</a:t>
            </a:r>
            <a:r>
              <a:rPr lang="ru-RU" sz="1800" dirty="0"/>
              <a:t>для удобства, на 3-м шаге, можно проставить чекбоксы, см. скрин выше)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0BBFA-349D-4F73-B016-11CA951D5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72" y="3903333"/>
            <a:ext cx="4113939" cy="1972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3B8E69-E75B-412A-9192-2B1CF8D41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105" y="3596710"/>
            <a:ext cx="3568823" cy="24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7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1A2-4C1E-4275-887F-3B07C72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Запуск</a:t>
            </a:r>
            <a:r>
              <a:rPr lang="en-US" dirty="0"/>
              <a:t> PyCharm</a:t>
            </a:r>
            <a:r>
              <a:rPr lang="ru-RU" dirty="0"/>
              <a:t>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475-F757-49EB-9AFA-1C827A8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92" y="2441359"/>
            <a:ext cx="10777492" cy="399495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800" dirty="0"/>
              <a:t>Запустите </a:t>
            </a:r>
            <a:r>
              <a:rPr lang="en-US" sz="1800" dirty="0"/>
              <a:t>PyCharm</a:t>
            </a:r>
            <a:endParaRPr lang="ru-RU" sz="1800" dirty="0"/>
          </a:p>
          <a:p>
            <a:r>
              <a:rPr lang="ru-RU" sz="1800" dirty="0"/>
              <a:t>Появится окно</a:t>
            </a:r>
            <a:r>
              <a:rPr lang="en-US" sz="1800" dirty="0"/>
              <a:t>:</a:t>
            </a:r>
            <a:r>
              <a:rPr lang="ru-RU" sz="1800" dirty="0"/>
              <a:t> (если появится другое окно, тогда просто нажимайте </a:t>
            </a:r>
            <a:r>
              <a:rPr lang="en-US" sz="1800" dirty="0"/>
              <a:t>ok/next</a:t>
            </a:r>
            <a:r>
              <a:rPr lang="ru-RU" sz="1800" dirty="0"/>
              <a:t>, ничего настраивать не нужно)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pPr marL="342900" indent="-342900">
              <a:buFont typeface="+mj-lt"/>
              <a:buAutoNum type="arabicPeriod" startAt="2"/>
            </a:pPr>
            <a:r>
              <a:rPr lang="ru-RU" sz="1800" dirty="0"/>
              <a:t>Нажмите </a:t>
            </a:r>
            <a:r>
              <a:rPr lang="en-US" sz="1800" dirty="0"/>
              <a:t>OK</a:t>
            </a:r>
            <a:endParaRPr lang="ru-RU" sz="1800" dirty="0"/>
          </a:p>
          <a:p>
            <a:endParaRPr lang="ru-RU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DC9A4-2103-47D3-AB04-F5C95885D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42" y="3215938"/>
            <a:ext cx="417195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529216-4DEC-4F68-A26B-FD262631C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850" y="5221129"/>
            <a:ext cx="2927042" cy="119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137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1A2-4C1E-4275-887F-3B07C72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Запуск</a:t>
            </a:r>
            <a:r>
              <a:rPr lang="en-US" dirty="0"/>
              <a:t> PyCharm</a:t>
            </a:r>
            <a:r>
              <a:rPr lang="ru-RU" dirty="0"/>
              <a:t>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475-F757-49EB-9AFA-1C827A8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92" y="2441359"/>
            <a:ext cx="10777492" cy="3994952"/>
          </a:xfrm>
        </p:spPr>
        <p:txBody>
          <a:bodyPr>
            <a:normAutofit/>
          </a:bodyPr>
          <a:lstStyle/>
          <a:p>
            <a:r>
              <a:rPr lang="ru-RU" sz="1800" dirty="0"/>
              <a:t>Далее вы увидите такое окно, можно оставить всё как есть, но я бы рекомендовал в </a:t>
            </a:r>
            <a:r>
              <a:rPr lang="en-US" sz="1800" dirty="0"/>
              <a:t>“</a:t>
            </a:r>
            <a:r>
              <a:rPr lang="en-US" sz="1800" b="1" dirty="0"/>
              <a:t>IDE theme”</a:t>
            </a:r>
            <a:r>
              <a:rPr lang="ru-RU" sz="1800" b="1" dirty="0"/>
              <a:t> </a:t>
            </a:r>
            <a:r>
              <a:rPr lang="en-US" sz="1800" b="1" dirty="0"/>
              <a:t>                  </a:t>
            </a:r>
            <a:r>
              <a:rPr lang="ru-RU" sz="1800" dirty="0"/>
              <a:t>и в</a:t>
            </a:r>
            <a:r>
              <a:rPr lang="ru-RU" sz="1800" b="1" dirty="0"/>
              <a:t> </a:t>
            </a:r>
            <a:r>
              <a:rPr lang="en-US" sz="1800" b="1" dirty="0"/>
              <a:t>“Editor colors and fonts”</a:t>
            </a:r>
            <a:r>
              <a:rPr lang="ru-RU" sz="1800" b="1" dirty="0"/>
              <a:t> </a:t>
            </a:r>
            <a:r>
              <a:rPr lang="ru-RU" sz="1800" dirty="0"/>
              <a:t>выбрать </a:t>
            </a:r>
            <a:r>
              <a:rPr lang="en-US" sz="1800" b="1" dirty="0" err="1"/>
              <a:t>Darcula</a:t>
            </a:r>
            <a:r>
              <a:rPr lang="ru-RU" sz="1800" dirty="0"/>
              <a:t> (тогда это будет тёмный дизайн и мы будем прям как тру кодеры </a:t>
            </a:r>
            <a:r>
              <a:rPr lang="en-US" sz="1800" dirty="0">
                <a:sym typeface="Wingdings" panose="05000000000000000000" pitchFamily="2" charset="2"/>
              </a:rPr>
              <a:t>)</a:t>
            </a:r>
            <a:endParaRPr lang="ru-RU" sz="1800" dirty="0">
              <a:sym typeface="Wingdings" panose="05000000000000000000" pitchFamily="2" charset="2"/>
            </a:endParaRPr>
          </a:p>
          <a:p>
            <a:r>
              <a:rPr lang="ru-RU" sz="1800" dirty="0">
                <a:sym typeface="Wingdings" panose="05000000000000000000" pitchFamily="2" charset="2"/>
              </a:rPr>
              <a:t>После чего нажмите </a:t>
            </a:r>
            <a:r>
              <a:rPr lang="en-US" sz="1800" b="1" dirty="0">
                <a:sym typeface="Wingdings" panose="05000000000000000000" pitchFamily="2" charset="2"/>
              </a:rPr>
              <a:t>OK</a:t>
            </a:r>
            <a:r>
              <a:rPr lang="ru-RU" sz="1800" dirty="0">
                <a:sym typeface="Wingdings" panose="05000000000000000000" pitchFamily="2" charset="2"/>
              </a:rPr>
              <a:t>. (появится сообщение см.скрин ниже, здесь нажмите </a:t>
            </a:r>
            <a:r>
              <a:rPr lang="en-US" sz="1800" b="1" dirty="0">
                <a:sym typeface="Wingdings" panose="05000000000000000000" pitchFamily="2" charset="2"/>
              </a:rPr>
              <a:t>Yes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  <a:endParaRPr lang="ru-RU" sz="1800" dirty="0">
              <a:sym typeface="Wingdings" panose="05000000000000000000" pitchFamily="2" charset="2"/>
            </a:endParaRPr>
          </a:p>
          <a:p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F67735-CC40-47C7-9A60-74E19AC52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92" y="3960047"/>
            <a:ext cx="3808471" cy="2343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06E65B-973F-4AA2-B671-A4242887B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966" y="3960045"/>
            <a:ext cx="3578117" cy="23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22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1A2-4C1E-4275-887F-3B07C72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Запуск</a:t>
            </a:r>
            <a:r>
              <a:rPr lang="en-US" dirty="0"/>
              <a:t> PyCharm</a:t>
            </a:r>
            <a:r>
              <a:rPr lang="ru-RU" dirty="0"/>
              <a:t> (</a:t>
            </a:r>
            <a:r>
              <a:rPr lang="en-US" dirty="0"/>
              <a:t>3</a:t>
            </a:r>
            <a:r>
              <a:rPr lang="ru-RU" dirty="0"/>
              <a:t>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475-F757-49EB-9AFA-1C827A8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92" y="2494627"/>
            <a:ext cx="10777492" cy="3994952"/>
          </a:xfrm>
        </p:spPr>
        <p:txBody>
          <a:bodyPr>
            <a:normAutofit/>
          </a:bodyPr>
          <a:lstStyle/>
          <a:p>
            <a:r>
              <a:rPr lang="ru-RU" sz="1800" dirty="0"/>
              <a:t>Нажмите </a:t>
            </a:r>
            <a:r>
              <a:rPr lang="en-US" sz="1800" b="1" dirty="0"/>
              <a:t>Create New Project</a:t>
            </a:r>
            <a:r>
              <a:rPr lang="ru-RU" sz="1800" b="1" dirty="0"/>
              <a:t> -</a:t>
            </a:r>
            <a:r>
              <a:rPr lang="en-US" sz="1800" b="1" dirty="0"/>
              <a:t>&gt; Create</a:t>
            </a:r>
            <a:r>
              <a:rPr lang="ru-RU" sz="1800" b="1" dirty="0"/>
              <a:t> </a:t>
            </a:r>
            <a:r>
              <a:rPr lang="ru-RU" sz="1800" dirty="0"/>
              <a:t>(Если кнопка </a:t>
            </a:r>
            <a:r>
              <a:rPr lang="en-US" sz="1800" dirty="0"/>
              <a:t>create </a:t>
            </a:r>
            <a:r>
              <a:rPr lang="ru-RU" sz="1800" dirty="0"/>
              <a:t>неактивна, тогда нажмите в поле </a:t>
            </a:r>
            <a:r>
              <a:rPr lang="en-US" sz="1800" dirty="0"/>
              <a:t>Location</a:t>
            </a:r>
            <a:r>
              <a:rPr lang="ru-RU" sz="1800" dirty="0"/>
              <a:t>)</a:t>
            </a:r>
            <a:endParaRPr lang="ru-RU" sz="1800" b="1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BF589-7793-4FDD-87A2-2659C0E44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77" y="2884910"/>
            <a:ext cx="4177908" cy="2876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88D3CA-02B9-436F-A2DF-01F2DE40F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85" y="2884911"/>
            <a:ext cx="4177908" cy="287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9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1A2-4C1E-4275-887F-3B07C723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файла в </a:t>
            </a:r>
            <a:r>
              <a:rPr lang="en-US" dirty="0"/>
              <a:t>PyCharm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1D475-F757-49EB-9AFA-1C827A8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92" y="2441359"/>
            <a:ext cx="10777492" cy="3994952"/>
          </a:xfrm>
        </p:spPr>
        <p:txBody>
          <a:bodyPr>
            <a:normAutofit/>
          </a:bodyPr>
          <a:lstStyle/>
          <a:p>
            <a:r>
              <a:rPr lang="ru-RU" sz="1800" dirty="0"/>
              <a:t>Отлично! Теперь создадим файл, в котором будет писать код, для этого нажмите правой кнопкой мыши на папке </a:t>
            </a:r>
            <a:r>
              <a:rPr lang="en-US" sz="1800" dirty="0"/>
              <a:t>“untitled” </a:t>
            </a:r>
            <a:r>
              <a:rPr lang="ru-RU" sz="1800" dirty="0"/>
              <a:t>и создайте </a:t>
            </a:r>
            <a:r>
              <a:rPr lang="en-US" sz="1800" dirty="0"/>
              <a:t>python file</a:t>
            </a:r>
            <a:r>
              <a:rPr lang="ru-RU" sz="1800" dirty="0"/>
              <a:t>.</a:t>
            </a:r>
            <a:r>
              <a:rPr lang="en-US" sz="1800" dirty="0"/>
              <a:t> </a:t>
            </a:r>
            <a:r>
              <a:rPr lang="ru-RU" sz="1800" i="1" dirty="0"/>
              <a:t>(если изначально не видно </a:t>
            </a:r>
            <a:r>
              <a:rPr lang="en-US" sz="1800" i="1" dirty="0"/>
              <a:t>"untitled",</a:t>
            </a:r>
            <a:r>
              <a:rPr lang="ru-RU" sz="1800" i="1" dirty="0"/>
              <a:t> тогда раскройте папку </a:t>
            </a:r>
            <a:r>
              <a:rPr lang="en-US" sz="1800" i="1" dirty="0"/>
              <a:t>"project“)</a:t>
            </a:r>
            <a:endParaRPr lang="ru-RU" sz="1800" i="1" dirty="0"/>
          </a:p>
          <a:p>
            <a:r>
              <a:rPr lang="ru-RU" sz="1800" dirty="0"/>
              <a:t>Имя можно выбрать любое, например</a:t>
            </a:r>
            <a:r>
              <a:rPr lang="en-US" sz="1800" dirty="0"/>
              <a:t> "lesson_1"</a:t>
            </a:r>
            <a:endParaRPr lang="ru-RU" sz="1800" b="1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BE971-1117-47FA-A1F1-0B704D708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36" y="3464512"/>
            <a:ext cx="4487384" cy="2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72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Первая строчка кода!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2" y="1200705"/>
            <a:ext cx="10777492" cy="3994952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Всё готово, можно написать свою первую строчку кода, популярную во всём мире фразу </a:t>
            </a:r>
            <a:r>
              <a:rPr lang="en-US" sz="1800" b="1" dirty="0"/>
              <a:t>Hello World</a:t>
            </a:r>
          </a:p>
          <a:p>
            <a:r>
              <a:rPr lang="ru-RU" sz="1800" dirty="0"/>
              <a:t>Для этого, в центральной части экрана, напишите код</a:t>
            </a:r>
            <a:r>
              <a:rPr lang="en-US" sz="1800" dirty="0"/>
              <a:t>: print("Hello World!")</a:t>
            </a:r>
            <a:endParaRPr lang="ru-RU" sz="1800" dirty="0"/>
          </a:p>
          <a:p>
            <a:r>
              <a:rPr lang="ru-RU" sz="1800" dirty="0"/>
              <a:t>Для запуска кода, нажмите правой кнопкой мыши на файл</a:t>
            </a:r>
            <a:r>
              <a:rPr lang="en-US" sz="1800" dirty="0"/>
              <a:t> "lesson_1.py"</a:t>
            </a:r>
            <a:r>
              <a:rPr lang="ru-RU" sz="1800" dirty="0"/>
              <a:t> </a:t>
            </a:r>
            <a:r>
              <a:rPr lang="en-US" sz="1800" dirty="0"/>
              <a:t>-&gt; Run "lesson_1.py"</a:t>
            </a:r>
            <a:endParaRPr lang="ru-RU" sz="1800" dirty="0"/>
          </a:p>
          <a:p>
            <a:r>
              <a:rPr lang="ru-RU" sz="1800" dirty="0"/>
              <a:t>Строчка появится внизу слева в другом окне (это окно вывода данных)</a:t>
            </a:r>
          </a:p>
          <a:p>
            <a:r>
              <a:rPr lang="ru-RU" sz="1800" dirty="0"/>
              <a:t>Отлично, для кого-то, это возможно, первая в жизни запущенная строчка кода, поздравляю!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A3208-C721-456C-A4BA-D91D84A2A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89" y="3142695"/>
            <a:ext cx="5228949" cy="3230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41AE99-8C0E-4D31-B554-8018478F0BF9}"/>
              </a:ext>
            </a:extLst>
          </p:cNvPr>
          <p:cNvSpPr txBox="1"/>
          <p:nvPr/>
        </p:nvSpPr>
        <p:spPr>
          <a:xfrm>
            <a:off x="6267635" y="5399274"/>
            <a:ext cx="5379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*Запустить команду, можно также</a:t>
            </a:r>
            <a:r>
              <a:rPr lang="en-US" sz="1600" dirty="0"/>
              <a:t> </a:t>
            </a:r>
            <a:r>
              <a:rPr lang="ru-RU" sz="1600" dirty="0"/>
              <a:t>используя </a:t>
            </a:r>
            <a:r>
              <a:rPr lang="en-US" sz="1600" dirty="0"/>
              <a:t>CTRL + SHIFT + F10</a:t>
            </a:r>
            <a:r>
              <a:rPr lang="ru-RU" sz="1600" dirty="0"/>
              <a:t> </a:t>
            </a:r>
            <a:r>
              <a:rPr lang="ru-RU" sz="1600" i="1" dirty="0"/>
              <a:t>(сработает после первого ручного запуска через мышку)</a:t>
            </a:r>
          </a:p>
          <a:p>
            <a:r>
              <a:rPr lang="ru-RU" sz="1600" dirty="0"/>
              <a:t>Или нажав на иконку </a:t>
            </a:r>
            <a:r>
              <a:rPr lang="en-US" sz="1600" dirty="0"/>
              <a:t>“</a:t>
            </a:r>
            <a:r>
              <a:rPr lang="ru-RU" sz="1600" dirty="0"/>
              <a:t>зеленая кнопка </a:t>
            </a:r>
            <a:r>
              <a:rPr lang="en-US" sz="1600" dirty="0"/>
              <a:t>play”</a:t>
            </a:r>
            <a:r>
              <a:rPr lang="ru-RU" sz="1600" dirty="0"/>
              <a:t> в верху справа</a:t>
            </a:r>
          </a:p>
        </p:txBody>
      </p:sp>
    </p:spTree>
    <p:extLst>
      <p:ext uri="{BB962C8B-B14F-4D97-AF65-F5344CB8AC3E}">
        <p14:creationId xmlns:p14="http://schemas.microsoft.com/office/powerpoint/2010/main" val="52624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Немного о типах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00704"/>
            <a:ext cx="10830758" cy="503142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В </a:t>
            </a:r>
            <a:r>
              <a:rPr lang="en-US" sz="1800" dirty="0"/>
              <a:t>python</a:t>
            </a:r>
            <a:r>
              <a:rPr lang="ru-RU" sz="1800" dirty="0"/>
              <a:t> есть различные типы данных, для начала разберём самые приоритетные для ближайших заданий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Например, запись </a:t>
            </a:r>
            <a:r>
              <a:rPr lang="en-US" sz="1800" dirty="0"/>
              <a:t>x = 10</a:t>
            </a:r>
            <a:r>
              <a:rPr lang="ru-RU" sz="1800" dirty="0"/>
              <a:t>, обозначает, что мы объявили в системе переменную </a:t>
            </a:r>
            <a:r>
              <a:rPr lang="en-US" sz="1800" b="1" dirty="0"/>
              <a:t>x</a:t>
            </a:r>
            <a:r>
              <a:rPr lang="ru-RU" sz="1800" b="1" dirty="0"/>
              <a:t> </a:t>
            </a:r>
            <a:r>
              <a:rPr lang="ru-RU" sz="1800" dirty="0"/>
              <a:t>и присвоили ей значение 10</a:t>
            </a:r>
          </a:p>
          <a:p>
            <a:r>
              <a:rPr lang="ru-RU" sz="1800" dirty="0"/>
              <a:t>Помимо числового значения, можно также присваивать строки (</a:t>
            </a:r>
            <a:r>
              <a:rPr lang="en-US" sz="1800" dirty="0"/>
              <a:t>x = "</a:t>
            </a:r>
            <a:r>
              <a:rPr lang="ru-RU" sz="1800" dirty="0"/>
              <a:t>Какой-то текст</a:t>
            </a:r>
            <a:r>
              <a:rPr lang="en-US" sz="1800" dirty="0"/>
              <a:t>"</a:t>
            </a:r>
            <a:r>
              <a:rPr lang="ru-RU" sz="1800" dirty="0"/>
              <a:t>)</a:t>
            </a:r>
          </a:p>
          <a:p>
            <a:r>
              <a:rPr lang="ru-RU" sz="1800" dirty="0"/>
              <a:t>Строки обязательно нужно заключать в кавычки</a:t>
            </a:r>
          </a:p>
          <a:p>
            <a:r>
              <a:rPr lang="ru-RU" sz="1800" dirty="0"/>
              <a:t>Также, нам пригодится команда</a:t>
            </a:r>
            <a:r>
              <a:rPr lang="en-US" sz="1800" dirty="0"/>
              <a:t> </a:t>
            </a:r>
            <a:r>
              <a:rPr lang="en-US" sz="1800" b="1" dirty="0"/>
              <a:t>print()</a:t>
            </a:r>
            <a:r>
              <a:rPr lang="en-US" sz="1800" dirty="0"/>
              <a:t> – </a:t>
            </a:r>
            <a:r>
              <a:rPr lang="ru-RU" sz="1800" dirty="0"/>
              <a:t>с помощью неё можно выводить на экран значения переменных</a:t>
            </a:r>
          </a:p>
          <a:p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Далее, рассмотрим несколько математических операций</a:t>
            </a:r>
          </a:p>
          <a:p>
            <a:endParaRPr lang="ru-RU" sz="18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35CE321-8253-41BA-9184-9BEF9AED1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743936"/>
              </p:ext>
            </p:extLst>
          </p:nvPr>
        </p:nvGraphicFramePr>
        <p:xfrm>
          <a:off x="2862555" y="1706655"/>
          <a:ext cx="64905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384">
                  <a:extLst>
                    <a:ext uri="{9D8B030D-6E8A-4147-A177-3AD203B41FA5}">
                      <a16:colId xmlns:a16="http://schemas.microsoft.com/office/drawing/2014/main" val="2666453357"/>
                    </a:ext>
                  </a:extLst>
                </a:gridCol>
                <a:gridCol w="3411182">
                  <a:extLst>
                    <a:ext uri="{9D8B030D-6E8A-4147-A177-3AD203B41FA5}">
                      <a16:colId xmlns:a16="http://schemas.microsoft.com/office/drawing/2014/main" val="1477425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74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= "Hello World"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 (</a:t>
                      </a:r>
                      <a:r>
                        <a:rPr lang="ru-RU" dirty="0"/>
                        <a:t>строки/текст)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76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= </a:t>
                      </a:r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r>
                        <a:rPr lang="ru-RU" dirty="0"/>
                        <a:t> (числа)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447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= </a:t>
                      </a:r>
                      <a:r>
                        <a:rPr lang="ru-RU" dirty="0"/>
                        <a:t>10</a:t>
                      </a:r>
                      <a:r>
                        <a:rPr lang="en-US" dirty="0"/>
                        <a:t>.5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(числа с плавающей точкой)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53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0325-FC7B-4CBB-8E39-A00B35095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A2348-829B-4F63-91CB-39246C296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9001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Математические операции(1/2)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502549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Python можно использовать для арифметических вычислений</a:t>
            </a:r>
            <a:r>
              <a:rPr lang="en-US" sz="1800" b="1" dirty="0"/>
              <a:t>,</a:t>
            </a:r>
            <a:r>
              <a:rPr lang="ru-RU" sz="1800" b="1" dirty="0"/>
              <a:t> примеры с выводом на экран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(5+5)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сложение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dirty="0"/>
              <a:t>10</a:t>
            </a:r>
            <a:r>
              <a:rPr lang="ru-RU" sz="1800" dirty="0"/>
              <a:t>	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знак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"&gt;"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обозначает вывод в консоли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(5*3)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умножение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/>
              <a:t>15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((2+3)*4)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выполнение сложения в скобках, умножение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/>
              <a:t>20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(30/7)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деление 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/>
              <a:t>4.285714285714286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(30//7)</a:t>
            </a:r>
            <a:r>
              <a:rPr lang="ru-RU" sz="1800" dirty="0"/>
              <a:t>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получение целой части от деления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/>
              <a:t>4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763820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Математические операции(2/2)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692458" y="1609085"/>
            <a:ext cx="10901779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Ещё несколько примеров с выводом на экран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</a:t>
            </a:r>
            <a:r>
              <a:rPr lang="ru-RU" sz="1800" dirty="0"/>
              <a:t>6 ** 2</a:t>
            </a:r>
            <a:r>
              <a:rPr lang="en-US" sz="1800" dirty="0"/>
              <a:t>)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# возводим число 6 в степень 2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ru-RU" sz="1800" dirty="0"/>
              <a:t>36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</a:t>
            </a:r>
            <a:r>
              <a:rPr lang="ru-RU" sz="1800" dirty="0"/>
              <a:t>7 % 2</a:t>
            </a:r>
            <a:r>
              <a:rPr lang="en-US" sz="1800" dirty="0"/>
              <a:t>)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# получение остатка от деления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ru-RU" sz="1800" dirty="0"/>
              <a:t>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</a:t>
            </a:r>
            <a:r>
              <a:rPr lang="ru-RU" sz="1800" dirty="0"/>
              <a:t>10.5-20.5</a:t>
            </a:r>
            <a:r>
              <a:rPr lang="en-US" sz="1800" dirty="0"/>
              <a:t>)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# вычитание чисел с плавающей запятой, с получением отрицательного результата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ru-RU" sz="1800" dirty="0"/>
              <a:t>-10.0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(5/0)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деление на ноль, здесь возникнет ошибка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/>
              <a:t>ZeroDivisionError: division by zero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b="1" dirty="0"/>
              <a:t>Примечание</a:t>
            </a:r>
            <a:r>
              <a:rPr lang="en-US" sz="1800" b="1" dirty="0"/>
              <a:t>:</a:t>
            </a:r>
            <a:r>
              <a:rPr lang="ru-RU" sz="1800" dirty="0"/>
              <a:t> обратите внимание, во всех примерах, значения в скобках были без </a:t>
            </a:r>
            <a:r>
              <a:rPr lang="en-US" sz="1800" dirty="0"/>
              <a:t>" " </a:t>
            </a:r>
            <a:r>
              <a:rPr lang="ru-RU" sz="1800" dirty="0"/>
              <a:t>(это формат значений</a:t>
            </a:r>
            <a:r>
              <a:rPr lang="en-US" sz="1800" dirty="0"/>
              <a:t>: </a:t>
            </a:r>
            <a:r>
              <a:rPr lang="en-US" sz="1800" b="1" dirty="0"/>
              <a:t>int</a:t>
            </a:r>
            <a:r>
              <a:rPr lang="en-US" sz="1800" dirty="0"/>
              <a:t>)</a:t>
            </a:r>
            <a:endParaRPr lang="ru-RU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805084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Преобразование типов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609085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Типы можно преобразовывать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/>
              <a:t>(2.3)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# преобразование значения с плавающей точкой(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float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к целому числу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/>
              <a:t>2</a:t>
            </a:r>
            <a:r>
              <a:rPr lang="ru-RU" sz="1800" dirty="0"/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float</a:t>
            </a:r>
            <a:r>
              <a:rPr lang="en-US" sz="1800" dirty="0"/>
              <a:t>(</a:t>
            </a:r>
            <a:r>
              <a:rPr lang="ru-RU" sz="1800" dirty="0"/>
              <a:t>5</a:t>
            </a:r>
            <a:r>
              <a:rPr lang="en-US" sz="1800" dirty="0"/>
              <a:t>)</a:t>
            </a:r>
            <a:r>
              <a:rPr lang="ru-RU" sz="1800" dirty="0"/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# преобразование целого числа(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к числу с плавающей точкой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float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для простоты восприятия примеры без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print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, в полной записи будет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 print(float(5))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dirty="0"/>
              <a:t>Преобразвания с типами выше возможны только для чисел(</a:t>
            </a:r>
            <a:r>
              <a:rPr lang="en-US" sz="1800" dirty="0"/>
              <a:t>int)</a:t>
            </a:r>
            <a:r>
              <a:rPr lang="ru-RU" sz="1800" dirty="0"/>
              <a:t>, не для строк</a:t>
            </a:r>
            <a:r>
              <a:rPr lang="en-US" sz="1800" dirty="0"/>
              <a:t>(str):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float</a:t>
            </a:r>
            <a:r>
              <a:rPr lang="en-US" sz="1800" dirty="0"/>
              <a:t>('abc')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 err="1"/>
              <a:t>ValueError</a:t>
            </a:r>
            <a:r>
              <a:rPr lang="en-US" sz="1800" dirty="0"/>
              <a:t>: could not convert string to float: 'abc'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61797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Переменные(1/3)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609085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Значения можно присваивать переменным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= 2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/>
              <a:t>b = 3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(a + b) 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>
                <a:solidFill>
                  <a:schemeClr val="tx1"/>
                </a:solidFill>
              </a:rPr>
              <a:t>5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результат вывода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 продолжаем написание кода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= 7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присваиваем новое значения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(a + b) 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ru-RU" sz="1800" dirty="0">
                <a:solidFill>
                  <a:schemeClr val="tx1"/>
                </a:solidFill>
              </a:rPr>
              <a:t>10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результат вывода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(c)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перед выводом переменной нужно обязательно её создать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/>
              <a:t>NameError: name 'c' is not defined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результат вывода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448246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Переменные(2/3)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609085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Переменные могут содержать не только значения, но и действия</a:t>
            </a:r>
            <a:r>
              <a:rPr lang="en-US" sz="1800" b="1" dirty="0"/>
              <a:t>: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= 2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/>
              <a:t>b = 3</a:t>
            </a:r>
          </a:p>
          <a:p>
            <a:pPr marL="0" indent="0">
              <a:buNone/>
            </a:pPr>
            <a:r>
              <a:rPr lang="en-US" sz="1800" dirty="0"/>
              <a:t>c</a:t>
            </a:r>
            <a:r>
              <a:rPr lang="ru-RU" sz="1800" dirty="0"/>
              <a:t> = </a:t>
            </a:r>
            <a:r>
              <a:rPr lang="en-US" sz="1800" dirty="0"/>
              <a:t>a + b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(c) 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>
                <a:solidFill>
                  <a:schemeClr val="tx1"/>
                </a:solidFill>
              </a:rPr>
              <a:t>5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результат вывода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;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переменные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b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никак не изменятся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 продолжаем написание кода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 = c * a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добавили новую переменную, значение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c=5,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значение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=2 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(d) 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>
                <a:solidFill>
                  <a:schemeClr val="tx1"/>
                </a:solidFill>
              </a:rPr>
              <a:t>10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результат вывода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243653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Переменные(3/3)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609085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Переменные можно гибко переприсваивать из одного типа в другой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10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переменная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 значением 10 (тип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x = "abc"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переменной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присвоили новое значение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"abc" (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тип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str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(x)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>
                <a:solidFill>
                  <a:schemeClr val="tx1"/>
                </a:solidFill>
              </a:rPr>
              <a:t>abc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результат вывода</a:t>
            </a:r>
            <a:endParaRPr lang="en-US" sz="1800" dirty="0"/>
          </a:p>
          <a:p>
            <a:r>
              <a:rPr lang="ru-RU" sz="1800" dirty="0"/>
              <a:t>Актуальным значением переменной считается её последнее значение</a:t>
            </a:r>
          </a:p>
          <a:p>
            <a:pPr marL="0" indent="0">
              <a:buNone/>
            </a:pPr>
            <a:r>
              <a:rPr lang="ru-RU" sz="1800" b="1" dirty="0"/>
              <a:t>Переменные могут ссылаться на другие переменные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10</a:t>
            </a:r>
          </a:p>
          <a:p>
            <a:pPr marL="0" indent="0">
              <a:buNone/>
            </a:pPr>
            <a:r>
              <a:rPr lang="en-US" sz="1800" dirty="0"/>
              <a:t>y = x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(y)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 </a:t>
            </a:r>
            <a:r>
              <a:rPr lang="en-US" sz="1800" dirty="0">
                <a:solidFill>
                  <a:schemeClr val="tx1"/>
                </a:solidFill>
              </a:rPr>
              <a:t>10 </a:t>
            </a: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975853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Ввод данных(1/2)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313895"/>
            <a:ext cx="10830758" cy="545862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/>
              <a:t>Для ввода данных с клавиатуры используется команда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input</a:t>
            </a:r>
            <a:r>
              <a:rPr lang="en-US" sz="1600" b="1" dirty="0"/>
              <a:t>()</a:t>
            </a:r>
            <a:endParaRPr lang="ru-RU" sz="1600" b="1" dirty="0"/>
          </a:p>
          <a:p>
            <a:pPr marL="0" indent="0">
              <a:buNone/>
            </a:pPr>
            <a:r>
              <a:rPr lang="en-US" sz="1600" dirty="0"/>
              <a:t>x = </a:t>
            </a:r>
            <a:r>
              <a:rPr lang="en-US" sz="1600" dirty="0">
                <a:solidFill>
                  <a:srgbClr val="0070C0"/>
                </a:solidFill>
              </a:rPr>
              <a:t>input</a:t>
            </a:r>
            <a:r>
              <a:rPr lang="en-US" sz="1600" dirty="0"/>
              <a:t>()</a:t>
            </a:r>
            <a:r>
              <a:rPr lang="ru-RU" sz="1600" dirty="0"/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считывает данные с клавиатуры и присваивает их в переменную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x</a:t>
            </a:r>
            <a:endParaRPr lang="ru-RU" sz="16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x = </a:t>
            </a:r>
            <a:r>
              <a:rPr lang="en-US" sz="1600" dirty="0">
                <a:solidFill>
                  <a:srgbClr val="0070C0"/>
                </a:solidFill>
              </a:rPr>
              <a:t>input</a:t>
            </a:r>
            <a:r>
              <a:rPr lang="en-US" sz="1600" dirty="0"/>
              <a:t>("</a:t>
            </a:r>
            <a:r>
              <a:rPr lang="ru-RU" sz="1600" dirty="0"/>
              <a:t>Какой-нибудь текст</a:t>
            </a:r>
            <a:r>
              <a:rPr lang="en-US" sz="1600" dirty="0"/>
              <a:t>")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считывает данные с клавиатуры + выводит на экран текст-подсказку</a:t>
            </a:r>
            <a:endParaRPr lang="en-US" sz="16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600" i="1" dirty="0">
                <a:solidFill>
                  <a:schemeClr val="tx1"/>
                </a:solidFill>
              </a:rPr>
              <a:t>После запуска кода с </a:t>
            </a:r>
            <a:r>
              <a:rPr lang="en-US" sz="1600" i="1" dirty="0">
                <a:solidFill>
                  <a:schemeClr val="tx1"/>
                </a:solidFill>
              </a:rPr>
              <a:t>input()</a:t>
            </a:r>
            <a:r>
              <a:rPr lang="ru-RU" sz="1600" i="1" dirty="0">
                <a:solidFill>
                  <a:schemeClr val="tx1"/>
                </a:solidFill>
              </a:rPr>
              <a:t>, просто начните вводить значения в консоли внизу слева, для ввода нажмите </a:t>
            </a:r>
            <a:r>
              <a:rPr lang="en-US" sz="1600" i="1" dirty="0">
                <a:solidFill>
                  <a:schemeClr val="tx1"/>
                </a:solidFill>
              </a:rPr>
              <a:t>ENTER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600" b="1" dirty="0"/>
          </a:p>
          <a:p>
            <a:pPr marL="0" indent="0">
              <a:spcBef>
                <a:spcPts val="0"/>
              </a:spcBef>
              <a:buNone/>
            </a:pPr>
            <a:endParaRPr lang="ru-RU" sz="1600" b="1" dirty="0"/>
          </a:p>
          <a:p>
            <a:pPr marL="0" indent="0">
              <a:spcBef>
                <a:spcPts val="0"/>
              </a:spcBef>
              <a:buNone/>
            </a:pPr>
            <a:endParaRPr lang="ru-RU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Введённые данные с клавиатуры изначально будут в формате строки</a:t>
            </a:r>
            <a:r>
              <a:rPr lang="en-US" sz="1600" b="1" dirty="0"/>
              <a:t>(str</a:t>
            </a:r>
            <a:r>
              <a:rPr lang="ru-RU" sz="1600" b="1" dirty="0"/>
              <a:t>)</a:t>
            </a:r>
          </a:p>
          <a:p>
            <a:pPr marL="0" indent="0">
              <a:buNone/>
            </a:pPr>
            <a:r>
              <a:rPr lang="en-US" sz="1600" dirty="0"/>
              <a:t>x = </a:t>
            </a:r>
            <a:r>
              <a:rPr lang="en-US" sz="1600" dirty="0">
                <a:solidFill>
                  <a:srgbClr val="0070C0"/>
                </a:solidFill>
              </a:rPr>
              <a:t>input</a:t>
            </a:r>
            <a:r>
              <a:rPr lang="en-US" sz="1600" dirty="0"/>
              <a:t>()</a:t>
            </a:r>
            <a:r>
              <a:rPr lang="ru-RU" sz="1600" dirty="0"/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допустим, ввели на клавиатуре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: 123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print</a:t>
            </a:r>
            <a:r>
              <a:rPr lang="en-US" sz="1600" dirty="0">
                <a:solidFill>
                  <a:schemeClr val="tx1"/>
                </a:solidFill>
              </a:rPr>
              <a:t>(x) 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123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визуально отобразится как число, но это будет строковый тип(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str)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(текст)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print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70C0"/>
                </a:solidFill>
              </a:rPr>
              <a:t>type</a:t>
            </a:r>
            <a:r>
              <a:rPr lang="en-US" sz="1600" dirty="0"/>
              <a:t>(x))</a:t>
            </a:r>
            <a:r>
              <a:rPr lang="ru-RU" sz="1600" dirty="0"/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чтобы убедиться в этом, напишем команду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type –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она определяет тип значения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&lt;class 'str'&gt;</a:t>
            </a:r>
            <a:endParaRPr lang="ru-RU" sz="1600" dirty="0">
              <a:solidFill>
                <a:schemeClr val="tx1"/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FDB74-49B0-448F-BB7E-E6BAB5865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9" y="2750726"/>
            <a:ext cx="2491668" cy="11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813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Ввод данных(2/2)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D35EE5-AD39-4733-82DB-167BBE7B4C10}"/>
              </a:ext>
            </a:extLst>
          </p:cNvPr>
          <p:cNvSpPr txBox="1">
            <a:spLocks/>
          </p:cNvSpPr>
          <p:nvPr/>
        </p:nvSpPr>
        <p:spPr>
          <a:xfrm>
            <a:off x="719091" y="1520305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Для преобразования вводимых чисел сразу в числовой тип, можно использовать такую конструкцию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x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dirty="0">
                <a:solidFill>
                  <a:srgbClr val="0070C0"/>
                </a:solidFill>
              </a:rPr>
              <a:t>input</a:t>
            </a:r>
            <a:r>
              <a:rPr lang="en-US" sz="1800" dirty="0"/>
              <a:t>())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считывает данные с клавиатуры, преобразовывает в тип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и присваивает их в переменную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x</a:t>
            </a:r>
          </a:p>
          <a:p>
            <a:pPr marL="0" indent="0">
              <a:spcBef>
                <a:spcPts val="432"/>
              </a:spcBef>
              <a:buNone/>
            </a:pPr>
            <a:endParaRPr lang="ru-RU" sz="1800" b="1" dirty="0">
              <a:solidFill>
                <a:schemeClr val="tx1"/>
              </a:solidFill>
            </a:endParaRPr>
          </a:p>
          <a:p>
            <a:pPr marL="0" indent="0">
              <a:spcBef>
                <a:spcPts val="432"/>
              </a:spcBef>
              <a:buNone/>
            </a:pPr>
            <a:r>
              <a:rPr lang="ru-RU" sz="1800" b="1" dirty="0">
                <a:solidFill>
                  <a:schemeClr val="tx1"/>
                </a:solidFill>
              </a:rPr>
              <a:t>Можно также преобразовывать уже введённые переменные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spcBef>
                <a:spcPts val="432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y = ('123')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переменная с типом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str</a:t>
            </a:r>
            <a:endParaRPr lang="en-US" sz="1800" b="1" dirty="0">
              <a:solidFill>
                <a:schemeClr val="tx1"/>
              </a:solidFill>
            </a:endParaRPr>
          </a:p>
          <a:p>
            <a:pPr marL="0" indent="0">
              <a:spcBef>
                <a:spcPts val="432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z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>
                <a:solidFill>
                  <a:schemeClr val="tx1"/>
                </a:solidFill>
              </a:rPr>
              <a:t>(y)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создание новой переменной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z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преобразование переменной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y(str)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в тип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int</a:t>
            </a:r>
            <a:endParaRPr lang="ru-RU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Bef>
                <a:spcPts val="432"/>
              </a:spcBef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(z</a:t>
            </a:r>
            <a:r>
              <a:rPr lang="ru-RU" sz="1800" dirty="0">
                <a:solidFill>
                  <a:schemeClr val="tx1"/>
                </a:solidFill>
              </a:rPr>
              <a:t>+7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теперь,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'123'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будет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123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, поэтому можно выполнить математическую операцию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spcBef>
                <a:spcPts val="432"/>
              </a:spcBef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130</a:t>
            </a:r>
          </a:p>
          <a:p>
            <a:pPr marL="0" indent="0">
              <a:spcBef>
                <a:spcPts val="432"/>
              </a:spcBef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 второй вариант преобразования </a:t>
            </a:r>
          </a:p>
          <a:p>
            <a:pPr marL="0" indent="0">
              <a:spcBef>
                <a:spcPts val="432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y = ('123')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переменная с типом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str</a:t>
            </a:r>
            <a:endParaRPr lang="en-US" sz="1800" b="1" dirty="0">
              <a:solidFill>
                <a:schemeClr val="tx1"/>
              </a:solidFill>
            </a:endParaRPr>
          </a:p>
          <a:p>
            <a:pPr marL="0" indent="0">
              <a:spcBef>
                <a:spcPts val="432"/>
              </a:spcBef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ru-RU" sz="1800" dirty="0">
                <a:solidFill>
                  <a:schemeClr val="tx1"/>
                </a:solidFill>
              </a:rPr>
              <a:t>(</a:t>
            </a:r>
            <a:r>
              <a:rPr lang="en-US" sz="1800" dirty="0">
                <a:solidFill>
                  <a:schemeClr val="tx1"/>
                </a:solidFill>
              </a:rPr>
              <a:t>int(y)</a:t>
            </a:r>
            <a:r>
              <a:rPr lang="ru-RU" sz="1800" dirty="0">
                <a:solidFill>
                  <a:schemeClr val="tx1"/>
                </a:solidFill>
              </a:rPr>
              <a:t>+7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делаем преобразование в момент вывода на экран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spcBef>
                <a:spcPts val="432"/>
              </a:spcBef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130</a:t>
            </a:r>
          </a:p>
          <a:p>
            <a:pPr marL="0" indent="0">
              <a:spcBef>
                <a:spcPts val="432"/>
              </a:spcBef>
              <a:buNone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84290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Краткие тезисы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D35EE5-AD39-4733-82DB-167BBE7B4C10}"/>
              </a:ext>
            </a:extLst>
          </p:cNvPr>
          <p:cNvSpPr txBox="1">
            <a:spLocks/>
          </p:cNvSpPr>
          <p:nvPr/>
        </p:nvSpPr>
        <p:spPr>
          <a:xfrm>
            <a:off x="719091" y="1520305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В</a:t>
            </a:r>
            <a:r>
              <a:rPr lang="en-US" sz="1800" dirty="0">
                <a:solidFill>
                  <a:schemeClr val="tx1"/>
                </a:solidFill>
              </a:rPr>
              <a:t> Python </a:t>
            </a:r>
            <a:r>
              <a:rPr lang="ru-RU" sz="1800" dirty="0">
                <a:solidFill>
                  <a:schemeClr val="tx1"/>
                </a:solidFill>
              </a:rPr>
              <a:t>бывают разные типы данных 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b="1" dirty="0">
                <a:solidFill>
                  <a:schemeClr val="tx1"/>
                </a:solidFill>
              </a:rPr>
              <a:t>int,</a:t>
            </a:r>
            <a:r>
              <a:rPr lang="ru-RU" sz="1800" b="1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str,</a:t>
            </a:r>
            <a:r>
              <a:rPr lang="ru-RU" sz="1800" b="1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float…)</a:t>
            </a:r>
            <a:endParaRPr lang="ru-RU" sz="1800" b="1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Порядок выполнения кода идёт построчно, сверху вниз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Каждая переменная ссылается на какое-то значение/другую переменную (</a:t>
            </a:r>
            <a:r>
              <a:rPr lang="en-US" sz="1800" dirty="0">
                <a:solidFill>
                  <a:schemeClr val="tx1"/>
                </a:solidFill>
              </a:rPr>
              <a:t>x = 10 </a:t>
            </a:r>
            <a:r>
              <a:rPr lang="ru-RU" sz="1800" dirty="0">
                <a:solidFill>
                  <a:schemeClr val="tx1"/>
                </a:solidFill>
              </a:rPr>
              <a:t>или </a:t>
            </a:r>
            <a:r>
              <a:rPr lang="en-US" sz="1800" dirty="0">
                <a:solidFill>
                  <a:schemeClr val="tx1"/>
                </a:solidFill>
              </a:rPr>
              <a:t>y = "</a:t>
            </a:r>
            <a:r>
              <a:rPr lang="ru-RU" sz="1800" dirty="0">
                <a:solidFill>
                  <a:schemeClr val="tx1"/>
                </a:solidFill>
              </a:rPr>
              <a:t>Текст</a:t>
            </a:r>
            <a:r>
              <a:rPr lang="en-US" sz="1800" dirty="0">
                <a:solidFill>
                  <a:schemeClr val="tx1"/>
                </a:solidFill>
              </a:rPr>
              <a:t>"</a:t>
            </a:r>
            <a:r>
              <a:rPr lang="ru-RU" sz="1800" dirty="0">
                <a:solidFill>
                  <a:schemeClr val="tx1"/>
                </a:solidFill>
              </a:rPr>
              <a:t> или </a:t>
            </a:r>
            <a:r>
              <a:rPr lang="en-US" sz="1800" dirty="0">
                <a:solidFill>
                  <a:schemeClr val="tx1"/>
                </a:solidFill>
              </a:rPr>
              <a:t>z = x)</a:t>
            </a:r>
            <a:endParaRPr lang="ru-RU" sz="18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Можно переприсваивать значения переменным, актуальным считается её последнее значение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Для корректной работы некоторых операций, переменные нужно приводить к одному типу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Для определения типа данных, можно использовать команду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b="1" dirty="0">
                <a:solidFill>
                  <a:schemeClr val="tx1"/>
                </a:solidFill>
              </a:rPr>
              <a:t>type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ru-RU" sz="1800" dirty="0">
                <a:solidFill>
                  <a:schemeClr val="tx1"/>
                </a:solidFill>
              </a:rPr>
              <a:t>переменная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ru-RU" sz="18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Переменные могут содержать не только значения, но и действия с др. переменными (</a:t>
            </a:r>
            <a:r>
              <a:rPr lang="en-US" sz="1800" dirty="0">
                <a:solidFill>
                  <a:schemeClr val="tx1"/>
                </a:solidFill>
              </a:rPr>
              <a:t>x = 10, y =10, c = x + y)</a:t>
            </a:r>
            <a:endParaRPr lang="ru-RU" sz="18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Для вывода на экран значений переменных или какого-нибудь текста, используется команда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print()</a:t>
            </a:r>
            <a:r>
              <a:rPr lang="ru-RU" sz="1800" dirty="0">
                <a:solidFill>
                  <a:schemeClr val="tx1"/>
                </a:solidFill>
              </a:rPr>
              <a:t>. Перед выводом переменной, нужно убедиться, что она заранее создана и имеет значение.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Для ввода и хранения значений с клавиатуры, используется конструкция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ru-RU" sz="1800" dirty="0">
                <a:solidFill>
                  <a:schemeClr val="tx1"/>
                </a:solidFill>
              </a:rPr>
              <a:t>переменная =  </a:t>
            </a:r>
            <a:r>
              <a:rPr lang="en-US" sz="1800" b="1" dirty="0">
                <a:solidFill>
                  <a:schemeClr val="tx1"/>
                </a:solidFill>
              </a:rPr>
              <a:t>input()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Для каждой переменной можно назначить свой</a:t>
            </a:r>
            <a:r>
              <a:rPr lang="en-US" sz="1800" dirty="0">
                <a:solidFill>
                  <a:schemeClr val="tx1"/>
                </a:solidFill>
              </a:rPr>
              <a:t> input() ; (</a:t>
            </a:r>
            <a:r>
              <a:rPr lang="ru-RU" sz="1800" dirty="0">
                <a:solidFill>
                  <a:schemeClr val="tx1"/>
                </a:solidFill>
              </a:rPr>
              <a:t>переменная1 = </a:t>
            </a:r>
            <a:r>
              <a:rPr lang="en-US" sz="1800" dirty="0">
                <a:solidFill>
                  <a:schemeClr val="tx1"/>
                </a:solidFill>
              </a:rPr>
              <a:t>input()  </a:t>
            </a:r>
            <a:r>
              <a:rPr lang="ru-RU" sz="1800" dirty="0">
                <a:solidFill>
                  <a:schemeClr val="tx1"/>
                </a:solidFill>
              </a:rPr>
              <a:t>переменная2 = </a:t>
            </a:r>
            <a:r>
              <a:rPr lang="en-US" sz="1800" dirty="0">
                <a:solidFill>
                  <a:schemeClr val="tx1"/>
                </a:solidFill>
              </a:rPr>
              <a:t>input()</a:t>
            </a:r>
            <a:r>
              <a:rPr lang="ru-RU" sz="1800" dirty="0">
                <a:solidFill>
                  <a:schemeClr val="tx1"/>
                </a:solidFill>
              </a:rPr>
              <a:t> )</a:t>
            </a:r>
          </a:p>
          <a:p>
            <a:pPr marL="342900" indent="-342900">
              <a:buFont typeface="+mj-lt"/>
              <a:buAutoNum type="arabicPeriod"/>
            </a:pPr>
            <a:endParaRPr lang="ru-RU" sz="18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13539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материалам(0/3)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5558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B073D-6113-4598-8071-9489CD059A28}"/>
              </a:ext>
            </a:extLst>
          </p:cNvPr>
          <p:cNvSpPr txBox="1">
            <a:spLocks/>
          </p:cNvSpPr>
          <p:nvPr/>
        </p:nvSpPr>
        <p:spPr>
          <a:xfrm>
            <a:off x="871491" y="15484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В этом разделе будут представлены задачи для закрепления теории. Перед изучением новой темы, рекомендуется выполнить эти задачи. </a:t>
            </a:r>
            <a:r>
              <a:rPr lang="ru-RU" sz="1800" b="1" dirty="0"/>
              <a:t>Решения задач сохраняйте, их нужно будет отправить в тесте в конце урока</a:t>
            </a:r>
            <a:r>
              <a:rPr lang="ru-RU" sz="1800" dirty="0"/>
              <a:t>.</a:t>
            </a:r>
            <a:r>
              <a:rPr lang="en-US" sz="1800" dirty="0"/>
              <a:t> </a:t>
            </a:r>
            <a:r>
              <a:rPr lang="ru-RU" sz="1800" dirty="0"/>
              <a:t>На решения некоторых задач может уйти как две минуты, так и час или даже день, это нормально. Постарайтесь не гуглить ответы, научиться можно только лишь самостоятельно решая задачи. 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В каждой задаче будут даны примеры ввода и вывода, проверьте что на разных тестах Ваш код показывает корректный ответ.</a:t>
            </a:r>
            <a:endParaRPr lang="ru-RU" sz="1800" b="1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"</a:t>
            </a:r>
            <a:r>
              <a:rPr lang="ru-RU" sz="1800" dirty="0"/>
              <a:t>Какие-то данные</a:t>
            </a:r>
            <a:r>
              <a:rPr lang="en-US" sz="1800" dirty="0"/>
              <a:t>"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"</a:t>
            </a:r>
            <a:r>
              <a:rPr lang="ru-RU" sz="1800" dirty="0"/>
              <a:t>Какие-то новые данные по условиям задачи</a:t>
            </a:r>
            <a:r>
              <a:rPr lang="en-US" sz="1800" dirty="0"/>
              <a:t>"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Важно</a:t>
            </a:r>
            <a:r>
              <a:rPr lang="en-US" sz="1800" b="1" dirty="0"/>
              <a:t>:</a:t>
            </a:r>
            <a:r>
              <a:rPr lang="ru-RU" sz="1800" b="1" dirty="0"/>
              <a:t> </a:t>
            </a:r>
            <a:r>
              <a:rPr lang="ru-RU" sz="1800" dirty="0"/>
              <a:t>если в задаче несколько чисел надо вывести в одну строку, а вы выводите каждое число на отдельной строке, то такой вывод будет считаться неверным.</a:t>
            </a:r>
          </a:p>
          <a:p>
            <a:r>
              <a:rPr lang="ru-RU" sz="1800" dirty="0"/>
              <a:t>На следующем слайде Вы увидите первую задачу</a:t>
            </a:r>
          </a:p>
        </p:txBody>
      </p:sp>
    </p:spTree>
    <p:extLst>
      <p:ext uri="{BB962C8B-B14F-4D97-AF65-F5344CB8AC3E}">
        <p14:creationId xmlns:p14="http://schemas.microsoft.com/office/powerpoint/2010/main" val="1928018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5558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B073D-6113-4598-8071-9489CD059A28}"/>
              </a:ext>
            </a:extLst>
          </p:cNvPr>
          <p:cNvSpPr txBox="1">
            <a:spLocks/>
          </p:cNvSpPr>
          <p:nvPr/>
        </p:nvSpPr>
        <p:spPr>
          <a:xfrm>
            <a:off x="719089" y="1708217"/>
            <a:ext cx="10921014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Преобразуйте переменную </a:t>
            </a:r>
            <a:r>
              <a:rPr lang="en-US" sz="1800" b="1" dirty="0"/>
              <a:t>x</a:t>
            </a:r>
            <a:r>
              <a:rPr lang="ru-RU" sz="1800" dirty="0"/>
              <a:t>, так, чтобы вывод на экран происходил без ошибки.</a:t>
            </a:r>
          </a:p>
          <a:p>
            <a:r>
              <a:rPr lang="ru-RU" sz="1800" dirty="0"/>
              <a:t>Для решения задач, используйте </a:t>
            </a:r>
            <a:r>
              <a:rPr lang="en-US" sz="1800" dirty="0"/>
              <a:t>PyCharm</a:t>
            </a:r>
            <a:r>
              <a:rPr lang="ru-RU" sz="1800" dirty="0"/>
              <a:t> или любой другой аналог.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Подсказка</a:t>
            </a:r>
            <a:r>
              <a:rPr lang="en-US" sz="1800" dirty="0"/>
              <a:t>:</a:t>
            </a:r>
            <a:r>
              <a:rPr lang="ru-RU" sz="1800" dirty="0"/>
              <a:t> есть два варианта решения, изменить первую строку или изменить вторую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Исходные данные</a:t>
            </a:r>
            <a:r>
              <a:rPr lang="en-US" sz="1800" b="1" dirty="0"/>
              <a:t>:</a:t>
            </a:r>
            <a:r>
              <a:rPr lang="ru-RU" sz="1800" b="1" dirty="0"/>
              <a:t> (используйте их для решения задачи)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x = '25' 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print(x+25)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Ожидаемый вывод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ru-RU" sz="1800" dirty="0"/>
              <a:t>5</a:t>
            </a:r>
            <a:r>
              <a:rPr lang="en-US" sz="1800" dirty="0"/>
              <a:t>0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68157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5558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B073D-6113-4598-8071-9489CD059A28}"/>
              </a:ext>
            </a:extLst>
          </p:cNvPr>
          <p:cNvSpPr txBox="1">
            <a:spLocks/>
          </p:cNvSpPr>
          <p:nvPr/>
        </p:nvSpPr>
        <p:spPr>
          <a:xfrm>
            <a:off x="871491" y="17082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где на ввод с клавиатуры подаются два числа </a:t>
            </a:r>
            <a:r>
              <a:rPr lang="en-US" sz="1800" b="1" dirty="0"/>
              <a:t>X</a:t>
            </a:r>
            <a:r>
              <a:rPr lang="ru-RU" sz="1800" dirty="0"/>
              <a:t> и </a:t>
            </a:r>
            <a:r>
              <a:rPr lang="en-US" sz="1800" b="1" dirty="0"/>
              <a:t>Y</a:t>
            </a:r>
            <a:r>
              <a:rPr lang="ru-RU" sz="1800" dirty="0"/>
              <a:t>, после чего, на экране должна отобразиться сумма этих чисел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50</a:t>
            </a:r>
          </a:p>
          <a:p>
            <a:pPr marL="0" indent="0">
              <a:buNone/>
            </a:pPr>
            <a:r>
              <a:rPr lang="ru-RU" sz="1800" dirty="0"/>
              <a:t>25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75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32629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609085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которая будет преобразовывать общее время ночного сна человека в минуты.</a:t>
            </a:r>
          </a:p>
          <a:p>
            <a:r>
              <a:rPr lang="ru-RU" sz="1800" dirty="0">
                <a:solidFill>
                  <a:schemeClr val="tx1"/>
                </a:solidFill>
              </a:rPr>
              <a:t>Программа принимает с клавиатуры на вход значения </a:t>
            </a:r>
            <a:r>
              <a:rPr lang="en-US" sz="1800" b="1" dirty="0">
                <a:solidFill>
                  <a:schemeClr val="tx1"/>
                </a:solidFill>
              </a:rPr>
              <a:t>X</a:t>
            </a:r>
            <a:r>
              <a:rPr lang="ru-RU" sz="1800" dirty="0">
                <a:solidFill>
                  <a:schemeClr val="tx1"/>
                </a:solidFill>
              </a:rPr>
              <a:t> и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Y</a:t>
            </a:r>
            <a:r>
              <a:rPr lang="ru-RU" sz="1800" dirty="0">
                <a:solidFill>
                  <a:schemeClr val="tx1"/>
                </a:solidFill>
              </a:rPr>
              <a:t>.</a:t>
            </a:r>
          </a:p>
          <a:p>
            <a:r>
              <a:rPr lang="ru-RU" sz="1800" dirty="0">
                <a:solidFill>
                  <a:schemeClr val="tx1"/>
                </a:solidFill>
              </a:rPr>
              <a:t>На экран нужно вывести общее время сна в минутах.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В этой и дальнейших задачах, проверяйте работу программы на всех значениях из примеров ввода.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800" b="1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8							  0                                                              23</a:t>
            </a:r>
          </a:p>
          <a:p>
            <a:pPr marL="0" indent="0">
              <a:buNone/>
            </a:pPr>
            <a:r>
              <a:rPr lang="ru-RU" sz="1800" dirty="0"/>
              <a:t>30                                                      15                                                            30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510                                                    15                                                            1410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94319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FFBE-F138-4346-9367-C770FCC6E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Строки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12A7B-E0C6-4F99-8E1D-F3B7E9F8F1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040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Строки(1/3)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Несколько особенностей работы со строками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'</a:t>
            </a:r>
            <a:r>
              <a:rPr lang="ru-RU" sz="1800" dirty="0"/>
              <a:t>строка'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можно обозначить в одинарных кавычках 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y = "</a:t>
            </a:r>
            <a:r>
              <a:rPr lang="ru-RU" sz="1800" dirty="0">
                <a:solidFill>
                  <a:schemeClr val="tx1"/>
                </a:solidFill>
              </a:rPr>
              <a:t>строка"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можно обозначить в двойных кавычках (в обоих вариантах это будет тип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строка)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ru-RU" sz="1800" b="1" dirty="0">
                <a:solidFill>
                  <a:schemeClr val="tx1"/>
                </a:solidFill>
              </a:rPr>
              <a:t>Часто, полезно оставлять комментарии в коде, для этого можно использовать</a:t>
            </a:r>
            <a:r>
              <a:rPr lang="en-US" sz="1800" b="1" dirty="0">
                <a:solidFill>
                  <a:schemeClr val="tx1"/>
                </a:solidFill>
              </a:rPr>
              <a:t> #</a:t>
            </a:r>
            <a:r>
              <a:rPr lang="ru-RU" sz="1800" b="1" dirty="0">
                <a:solidFill>
                  <a:schemeClr val="tx1"/>
                </a:solidFill>
              </a:rPr>
              <a:t> или ' ' '</a:t>
            </a:r>
          </a:p>
          <a:p>
            <a:pPr marL="0" indent="0">
              <a:buNone/>
            </a:pPr>
            <a:r>
              <a:rPr lang="en-US" sz="1800" dirty="0"/>
              <a:t>result = 0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какой-нибудь комментарий</a:t>
            </a:r>
          </a:p>
          <a:p>
            <a:pPr marL="0" indent="0">
              <a:buNone/>
            </a:pPr>
            <a:r>
              <a:rPr lang="en-US" sz="1800" dirty="0"/>
              <a:t>' ' '</a:t>
            </a:r>
            <a:r>
              <a:rPr lang="ru-RU" sz="1800" dirty="0"/>
              <a:t> Какой-нибудь длинный комментарий, описание программы</a:t>
            </a:r>
            <a:r>
              <a:rPr lang="en-US" sz="1800" dirty="0"/>
              <a:t> ' ' ' 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Также, очень удобно </a:t>
            </a:r>
            <a:r>
              <a:rPr lang="en-US" sz="1800" dirty="0">
                <a:solidFill>
                  <a:schemeClr val="tx1"/>
                </a:solidFill>
              </a:rPr>
              <a:t>"</a:t>
            </a:r>
            <a:r>
              <a:rPr lang="ru-RU" sz="1800" b="1" dirty="0"/>
              <a:t>закомментировать</a:t>
            </a:r>
            <a:r>
              <a:rPr lang="en-US" sz="1800" dirty="0">
                <a:solidFill>
                  <a:schemeClr val="tx1"/>
                </a:solidFill>
              </a:rPr>
              <a:t>"</a:t>
            </a:r>
            <a:r>
              <a:rPr lang="ru-RU" sz="1800" b="1" dirty="0"/>
              <a:t> </a:t>
            </a:r>
            <a:r>
              <a:rPr lang="ru-RU" sz="1800" dirty="0"/>
              <a:t>код</a:t>
            </a:r>
            <a:r>
              <a:rPr lang="en-US" sz="1800" dirty="0"/>
              <a:t>,</a:t>
            </a:r>
            <a:r>
              <a:rPr lang="ru-RU" sz="1800" dirty="0"/>
              <a:t> то есть сделать его временно неактивным</a:t>
            </a:r>
          </a:p>
          <a:p>
            <a:pPr marL="0" indent="0">
              <a:buNone/>
            </a:pPr>
            <a:r>
              <a:rPr lang="en-US" sz="1800" dirty="0"/>
              <a:t>result = 0</a:t>
            </a:r>
            <a:endParaRPr lang="ru-RU" sz="1800" dirty="0"/>
          </a:p>
          <a:p>
            <a:pPr marL="0" indent="0">
              <a:buNone/>
            </a:pPr>
            <a:r>
              <a:rPr lang="en-US" sz="1800" b="1" dirty="0"/>
              <a:t>#</a:t>
            </a:r>
            <a:r>
              <a:rPr lang="en-US" sz="1800" dirty="0"/>
              <a:t> result = 1</a:t>
            </a:r>
            <a:r>
              <a:rPr lang="ru-RU" sz="1800" dirty="0"/>
              <a:t>    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если поставить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 "#"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 перед строчкой кода, то она станет неактивной</a:t>
            </a:r>
            <a:endParaRPr lang="en-US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(result)</a:t>
            </a:r>
            <a:r>
              <a:rPr lang="ru-RU" sz="1800" dirty="0"/>
              <a:t> 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 экран выведется 0 (так как закомментировали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result = 1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lang="ru-RU" sz="1800" dirty="0"/>
              <a:t>Совет</a:t>
            </a:r>
            <a:r>
              <a:rPr lang="en-US" sz="1800" dirty="0"/>
              <a:t>:</a:t>
            </a:r>
            <a:r>
              <a:rPr lang="ru-RU" sz="1800" dirty="0"/>
              <a:t> выделите строку мышкой и нажмите </a:t>
            </a:r>
            <a:r>
              <a:rPr lang="en-US" sz="1800" dirty="0"/>
              <a:t>'CTRL' + '/ '  - </a:t>
            </a:r>
            <a:r>
              <a:rPr lang="ru-RU" sz="1800" dirty="0"/>
              <a:t>она автоматически закомментируется</a:t>
            </a: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983716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Строки(</a:t>
            </a:r>
            <a:r>
              <a:rPr lang="en-US" dirty="0"/>
              <a:t>2</a:t>
            </a:r>
            <a:r>
              <a:rPr lang="ru-RU" dirty="0"/>
              <a:t>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Строки можно также складывать и умножать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("abc" + "def")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сложение строк (также по-другому называют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конкатенация строк)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"</a:t>
            </a:r>
            <a:r>
              <a:rPr lang="en-US" sz="1800" dirty="0">
                <a:solidFill>
                  <a:schemeClr val="tx1"/>
                </a:solidFill>
              </a:rPr>
              <a:t>abcdef</a:t>
            </a:r>
            <a:r>
              <a:rPr lang="en-US" sz="1800" dirty="0"/>
              <a:t>"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("abc", "def")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вывод с пробелом, с использованием запятой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"</a:t>
            </a:r>
            <a:r>
              <a:rPr lang="en-US" sz="1800" dirty="0">
                <a:solidFill>
                  <a:schemeClr val="tx1"/>
                </a:solidFill>
              </a:rPr>
              <a:t>abc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def</a:t>
            </a:r>
            <a:r>
              <a:rPr lang="en-US" sz="1800" dirty="0"/>
              <a:t>"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x = </a:t>
            </a:r>
            <a:r>
              <a:rPr lang="en-US" sz="1800" dirty="0"/>
              <a:t>"</a:t>
            </a:r>
            <a:r>
              <a:rPr lang="en-US" sz="1800" dirty="0">
                <a:solidFill>
                  <a:schemeClr val="tx1"/>
                </a:solidFill>
              </a:rPr>
              <a:t>abc</a:t>
            </a:r>
            <a:r>
              <a:rPr lang="en-US" sz="1800" dirty="0"/>
              <a:t>"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(x </a:t>
            </a:r>
            <a:r>
              <a:rPr lang="ru-RU" sz="1800" dirty="0"/>
              <a:t>* </a:t>
            </a:r>
            <a:r>
              <a:rPr lang="en-US" sz="1800" dirty="0"/>
              <a:t>3)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умножение переменной на саму себя трижды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"</a:t>
            </a:r>
            <a:r>
              <a:rPr lang="en-US" sz="1800" dirty="0">
                <a:solidFill>
                  <a:schemeClr val="tx1"/>
                </a:solidFill>
              </a:rPr>
              <a:t>abcabcabc</a:t>
            </a:r>
            <a:r>
              <a:rPr lang="en-US" sz="1800" dirty="0"/>
              <a:t>"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С помощью функции </a:t>
            </a:r>
            <a:r>
              <a:rPr lang="en-US" sz="1800" b="1" dirty="0">
                <a:solidFill>
                  <a:srgbClr val="0070C0"/>
                </a:solidFill>
              </a:rPr>
              <a:t>len</a:t>
            </a:r>
            <a:r>
              <a:rPr lang="ru-RU" sz="1800" b="1" dirty="0">
                <a:solidFill>
                  <a:srgbClr val="0070C0"/>
                </a:solidFill>
              </a:rPr>
              <a:t>()</a:t>
            </a:r>
            <a:r>
              <a:rPr lang="ru-RU" sz="1800" b="1" dirty="0"/>
              <a:t>, можно узнать длину строки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"five</a:t>
            </a:r>
            <a:r>
              <a:rPr lang="ru-RU" sz="1800" dirty="0"/>
              <a:t> 5</a:t>
            </a:r>
            <a:r>
              <a:rPr lang="en-US" sz="1800" dirty="0"/>
              <a:t>"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ru-RU" sz="1800" dirty="0">
                <a:solidFill>
                  <a:schemeClr val="tx1"/>
                </a:solidFill>
              </a:rPr>
              <a:t>(</a:t>
            </a:r>
            <a:r>
              <a:rPr lang="en-US" sz="1800" dirty="0">
                <a:solidFill>
                  <a:srgbClr val="0070C0"/>
                </a:solidFill>
              </a:rPr>
              <a:t>len</a:t>
            </a:r>
            <a:r>
              <a:rPr lang="en-US" sz="1800" dirty="0">
                <a:solidFill>
                  <a:schemeClr val="tx1"/>
                </a:solidFill>
              </a:rPr>
              <a:t>(x)</a:t>
            </a:r>
            <a:r>
              <a:rPr lang="ru-RU" sz="1800" dirty="0">
                <a:solidFill>
                  <a:schemeClr val="tx1"/>
                </a:solidFill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/>
              <a:t>6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 выводе 6 символов, так как пробелы тоже считаются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745708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Строки(</a:t>
            </a:r>
            <a:r>
              <a:rPr lang="en-US" dirty="0"/>
              <a:t>3</a:t>
            </a:r>
            <a:r>
              <a:rPr lang="ru-RU" dirty="0"/>
              <a:t>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Ещё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x = 'Hello'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y = 'world' 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(x, y)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>
                <a:solidFill>
                  <a:schemeClr val="tx1"/>
                </a:solidFill>
              </a:rPr>
              <a:t> Hello world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tx1"/>
                </a:solidFill>
              </a:rPr>
              <a:t>Для вывода</a:t>
            </a:r>
            <a:r>
              <a:rPr lang="en-US" sz="1800" b="1" dirty="0">
                <a:solidFill>
                  <a:schemeClr val="tx1"/>
                </a:solidFill>
              </a:rPr>
              <a:t> “Hello world”</a:t>
            </a:r>
            <a:r>
              <a:rPr lang="ru-RU" sz="1800" b="1" dirty="0">
                <a:solidFill>
                  <a:schemeClr val="tx1"/>
                </a:solidFill>
              </a:rPr>
              <a:t> не в одну строку, а в несколько строк, можно написать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(x)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(y)</a:t>
            </a: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b="1" dirty="0"/>
              <a:t>Но лучше будет использовать использовать</a:t>
            </a:r>
            <a:r>
              <a:rPr lang="en-US" sz="1800" b="1" dirty="0"/>
              <a:t> </a:t>
            </a:r>
            <a:r>
              <a:rPr lang="en-US" sz="1800" dirty="0">
                <a:solidFill>
                  <a:schemeClr val="tx1"/>
                </a:solidFill>
              </a:rPr>
              <a:t>'</a:t>
            </a:r>
            <a:r>
              <a:rPr lang="en-US" sz="1800" b="1" dirty="0"/>
              <a:t>\n</a:t>
            </a:r>
            <a:r>
              <a:rPr lang="en-US" sz="1800" dirty="0">
                <a:solidFill>
                  <a:schemeClr val="tx1"/>
                </a:solidFill>
              </a:rPr>
              <a:t>'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(x + '\n' + y)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'\n'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обозначает перенос вывода на новую строку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/>
              <a:t> Hello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/>
              <a:t> world</a:t>
            </a: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5457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</a:t>
            </a:r>
            <a:r>
              <a:rPr lang="en-US" dirty="0"/>
              <a:t>1</a:t>
            </a:r>
            <a:r>
              <a:rPr lang="ru-RU" dirty="0"/>
              <a:t>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5558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B073D-6113-4598-8071-9489CD059A28}"/>
              </a:ext>
            </a:extLst>
          </p:cNvPr>
          <p:cNvSpPr txBox="1">
            <a:spLocks/>
          </p:cNvSpPr>
          <p:nvPr/>
        </p:nvSpPr>
        <p:spPr>
          <a:xfrm>
            <a:off x="871491" y="1521779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где на ввод с клавиатуры подаются буквы и цифры </a:t>
            </a:r>
            <a:r>
              <a:rPr lang="en-US" sz="1800" b="1" dirty="0"/>
              <a:t>X</a:t>
            </a:r>
            <a:r>
              <a:rPr lang="ru-RU" sz="1800" dirty="0"/>
              <a:t> и </a:t>
            </a:r>
            <a:r>
              <a:rPr lang="en-US" sz="1800" b="1" dirty="0"/>
              <a:t>Y</a:t>
            </a:r>
            <a:r>
              <a:rPr lang="ru-RU" sz="1800" dirty="0"/>
              <a:t>, после чего, на экране должны отобразиться данные ввода с пробелом.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				</a:t>
            </a: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abc						        456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123							def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				</a:t>
            </a: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abc</a:t>
            </a:r>
            <a:r>
              <a:rPr lang="ru-RU" sz="1800" dirty="0"/>
              <a:t> </a:t>
            </a:r>
            <a:r>
              <a:rPr lang="en-US" sz="1800" dirty="0"/>
              <a:t>123                                             456</a:t>
            </a:r>
            <a:r>
              <a:rPr lang="ru-RU" sz="1800" dirty="0"/>
              <a:t> </a:t>
            </a:r>
            <a:r>
              <a:rPr lang="en-US" sz="1800" dirty="0"/>
              <a:t>def  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034435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5558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B073D-6113-4598-8071-9489CD059A28}"/>
              </a:ext>
            </a:extLst>
          </p:cNvPr>
          <p:cNvSpPr txBox="1">
            <a:spLocks/>
          </p:cNvSpPr>
          <p:nvPr/>
        </p:nvSpPr>
        <p:spPr>
          <a:xfrm>
            <a:off x="871491" y="1521779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где на ввод с клавиатуры подаются любые значения </a:t>
            </a:r>
            <a:r>
              <a:rPr lang="en-US" sz="1800" b="1" dirty="0"/>
              <a:t>X</a:t>
            </a:r>
            <a:r>
              <a:rPr lang="ru-RU" sz="1800" dirty="0"/>
              <a:t> и </a:t>
            </a:r>
            <a:r>
              <a:rPr lang="en-US" sz="1800" b="1" dirty="0"/>
              <a:t>Y</a:t>
            </a:r>
            <a:r>
              <a:rPr lang="ru-RU" sz="1800" dirty="0"/>
              <a:t>, после чего, на экране должна отобразиться сумма длины(количестов символов) этих значений.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				</a:t>
            </a: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Python					        </a:t>
            </a:r>
            <a:r>
              <a:rPr lang="ru-RU" sz="1800" dirty="0"/>
              <a:t>Текст с пробелом</a:t>
            </a:r>
          </a:p>
          <a:p>
            <a:pPr marL="0" indent="0">
              <a:buNone/>
            </a:pPr>
            <a:r>
              <a:rPr lang="en-US" sz="1800" dirty="0"/>
              <a:t>123</a:t>
            </a:r>
            <a:r>
              <a:rPr lang="ru-RU" sz="1800" dirty="0"/>
              <a:t>45</a:t>
            </a:r>
            <a:r>
              <a:rPr lang="en-US" sz="1800" dirty="0"/>
              <a:t>						</a:t>
            </a:r>
            <a:r>
              <a:rPr lang="ru-RU" sz="1800" dirty="0"/>
              <a:t>123абв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				</a:t>
            </a: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1</a:t>
            </a:r>
            <a:r>
              <a:rPr lang="en-US" sz="1800" dirty="0"/>
              <a:t>1                                              </a:t>
            </a:r>
            <a:r>
              <a:rPr lang="ru-RU" sz="1800" dirty="0"/>
              <a:t>       22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466740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555817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32"/>
              </a:spcBef>
              <a:buNone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B073D-6113-4598-8071-9489CD059A28}"/>
              </a:ext>
            </a:extLst>
          </p:cNvPr>
          <p:cNvSpPr txBox="1">
            <a:spLocks/>
          </p:cNvSpPr>
          <p:nvPr/>
        </p:nvSpPr>
        <p:spPr>
          <a:xfrm>
            <a:off x="871491" y="1242874"/>
            <a:ext cx="10830758" cy="527333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которая объединяет первую и вторую строку и умножает их на </a:t>
            </a:r>
            <a:r>
              <a:rPr lang="en-US" sz="1800" dirty="0"/>
              <a:t>N</a:t>
            </a:r>
            <a:r>
              <a:rPr lang="ru-RU" sz="1800" dirty="0"/>
              <a:t> раз.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Программа принимает с клавиатуры на вход три значения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  <a:r>
              <a:rPr lang="ru-RU" sz="1800" dirty="0">
                <a:solidFill>
                  <a:schemeClr val="tx1"/>
                </a:solidFill>
              </a:rPr>
              <a:t> первой строки, второй строки и числовое значение третьей строки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N</a:t>
            </a:r>
            <a:r>
              <a:rPr lang="ru-RU" sz="1800" dirty="0">
                <a:solidFill>
                  <a:schemeClr val="tx1"/>
                </a:solidFill>
              </a:rPr>
              <a:t>. Перед вводом значения, должно отображаться сообщение-подсказка(содержание на ваше усмотрение) что должно быть введено в эту сроку. Перед выводом ответа, также добавьте подсказку.</a:t>
            </a:r>
            <a:endParaRPr lang="ru-RU" sz="1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</a:t>
            </a:r>
            <a:r>
              <a:rPr lang="ru-RU" sz="1800" i="1" dirty="0"/>
              <a:t>(с клавиатуры, значения должны вводиться на этой же строке, справа от текста подсказки)</a:t>
            </a:r>
            <a:r>
              <a:rPr lang="en-US" sz="1800" b="1" dirty="0"/>
              <a:t>			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Ваш текст подсказки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dirty="0"/>
              <a:t>Яблоко</a:t>
            </a:r>
            <a:r>
              <a:rPr lang="en-US" sz="1800" dirty="0"/>
              <a:t>					        </a:t>
            </a:r>
            <a:endParaRPr lang="ru-RU" sz="1800" dirty="0"/>
          </a:p>
          <a:p>
            <a:pPr marL="0" indent="0">
              <a:buNone/>
            </a:pP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Ваш текст подсказки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dirty="0"/>
              <a:t>Груша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Ваш текст подсказки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dirty="0"/>
              <a:t>2</a:t>
            </a:r>
            <a:r>
              <a:rPr lang="en-US" sz="1800" dirty="0"/>
              <a:t>		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	</a:t>
            </a:r>
            <a:r>
              <a:rPr lang="en-US" sz="1800" dirty="0"/>
              <a:t>				</a:t>
            </a:r>
            <a:r>
              <a:rPr lang="en-US" sz="1800" b="1" dirty="0"/>
              <a:t>			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Ваш текст подсказки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dirty="0"/>
              <a:t>ЯблокоГрушаЯблокоГруша</a:t>
            </a:r>
          </a:p>
          <a:p>
            <a:endParaRPr lang="ru-RU" sz="1800" dirty="0"/>
          </a:p>
          <a:p>
            <a:r>
              <a:rPr lang="ru-RU" sz="1800" dirty="0"/>
              <a:t>Обратите внимание что текст-подсказка и значения находятся на одной строке</a:t>
            </a:r>
          </a:p>
          <a:p>
            <a:r>
              <a:rPr lang="ru-RU" sz="1800" dirty="0"/>
              <a:t>Для корректного вывода, правильно расставляйте скобки </a:t>
            </a:r>
            <a:r>
              <a:rPr lang="en-US" sz="1800" dirty="0"/>
              <a:t>"()"</a:t>
            </a:r>
            <a:r>
              <a:rPr lang="ru-RU" sz="1800" dirty="0"/>
              <a:t>. Правила действий, такие же как в математике.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999970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396D-B357-4EB2-9391-03482E71EC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Логические операции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64EE7-AC6C-4A23-8D82-6392533DDF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764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Логические операции(1/5)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Мы уже знакомы с тремя типами данных</a:t>
            </a:r>
            <a:r>
              <a:rPr lang="en-US" sz="1800" dirty="0"/>
              <a:t>: </a:t>
            </a:r>
            <a:r>
              <a:rPr lang="en-US" sz="1800" b="1" dirty="0"/>
              <a:t>str, int, float</a:t>
            </a:r>
            <a:r>
              <a:rPr lang="en-US" sz="1800" dirty="0"/>
              <a:t>.</a:t>
            </a:r>
            <a:r>
              <a:rPr lang="ru-RU" sz="1800" dirty="0"/>
              <a:t> В этом разделе изучим</a:t>
            </a:r>
            <a:r>
              <a:rPr lang="en-US" sz="1800" dirty="0"/>
              <a:t>: </a:t>
            </a:r>
            <a:r>
              <a:rPr lang="en-US" sz="1800" b="1" dirty="0"/>
              <a:t>bool</a:t>
            </a:r>
            <a:r>
              <a:rPr lang="ru-RU" sz="1800" dirty="0"/>
              <a:t> (логический тип данных)</a:t>
            </a:r>
          </a:p>
          <a:p>
            <a:pPr marL="0" indent="0">
              <a:buNone/>
            </a:pPr>
            <a:r>
              <a:rPr lang="ru-RU" sz="1800" dirty="0"/>
              <a:t>У этого типа всего два возможных значения: </a:t>
            </a:r>
            <a:r>
              <a:rPr lang="ru-RU" sz="1800" b="1" dirty="0"/>
              <a:t>True</a:t>
            </a:r>
            <a:r>
              <a:rPr lang="ru-RU" sz="1800" dirty="0"/>
              <a:t> (правда, имеет значение</a:t>
            </a:r>
            <a:r>
              <a:rPr lang="en-US" sz="1800" dirty="0"/>
              <a:t>:</a:t>
            </a:r>
            <a:r>
              <a:rPr lang="ru-RU" sz="1800" dirty="0"/>
              <a:t> 1) и </a:t>
            </a:r>
            <a:r>
              <a:rPr lang="ru-RU" sz="1800" b="1" dirty="0"/>
              <a:t>False</a:t>
            </a:r>
            <a:r>
              <a:rPr lang="ru-RU" sz="1800" dirty="0"/>
              <a:t> (ложь, имеет значение</a:t>
            </a:r>
            <a:r>
              <a:rPr lang="en-US" sz="1800" dirty="0"/>
              <a:t>: 0</a:t>
            </a:r>
            <a:r>
              <a:rPr lang="ru-RU" sz="1800" dirty="0"/>
              <a:t>). </a:t>
            </a:r>
          </a:p>
          <a:p>
            <a:pPr marL="0" indent="0">
              <a:buNone/>
            </a:pPr>
            <a:r>
              <a:rPr lang="ru-RU" sz="1800" b="1" dirty="0"/>
              <a:t>Существуют 3 основные операции с логическими значениями</a:t>
            </a:r>
            <a:r>
              <a:rPr lang="en-US" sz="1800" b="1" dirty="0"/>
              <a:t>:</a:t>
            </a:r>
            <a:r>
              <a:rPr lang="ru-RU" sz="1800" b="1" dirty="0"/>
              <a:t> </a:t>
            </a:r>
            <a:r>
              <a:rPr lang="ru-RU" sz="1800" i="1" dirty="0"/>
              <a:t>(</a:t>
            </a:r>
            <a:r>
              <a:rPr lang="en-US" sz="1800" i="1" dirty="0">
                <a:solidFill>
                  <a:srgbClr val="0070C0"/>
                </a:solidFill>
              </a:rPr>
              <a:t>xor</a:t>
            </a:r>
            <a:r>
              <a:rPr lang="ru-RU" sz="1800" i="1" dirty="0">
                <a:solidFill>
                  <a:srgbClr val="0070C0"/>
                </a:solidFill>
              </a:rPr>
              <a:t> </a:t>
            </a:r>
            <a:r>
              <a:rPr lang="ru-RU" sz="1800" i="1" dirty="0"/>
              <a:t>не рассматриваем тк редко используется)</a:t>
            </a:r>
            <a:endParaRPr lang="ru-RU" sz="1800" b="1" i="1" dirty="0"/>
          </a:p>
          <a:p>
            <a:r>
              <a:rPr lang="en-US" sz="1800" dirty="0"/>
              <a:t>A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/>
              <a:t> B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обозначает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"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или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";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будет истиной, если хотя бы одно значение истина(1)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800" dirty="0"/>
              <a:t>A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B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and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обозначает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"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";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будет истиной, только если все значения будут истиной(1)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en-US" sz="1800" dirty="0"/>
              <a:t> A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не(отрицание)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будет истиной, если хотя бы одно значение истина(1)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chemeClr val="tx1"/>
                </a:solidFill>
              </a:rPr>
              <a:t>Примеры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endParaRPr lang="ru-RU" sz="1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5 &gt; 6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7 &gt; 6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True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(1),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тк одно из значений(7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&gt;6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) истина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5 &gt; 6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7 &gt; 6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False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(0)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, тк одно из значений ложь (5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&gt;6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lang="en-US" sz="1800" dirty="0">
                <a:solidFill>
                  <a:schemeClr val="tx1"/>
                </a:solidFill>
              </a:rPr>
              <a:t>not</a:t>
            </a:r>
            <a:r>
              <a:rPr lang="ru-RU" sz="1800" dirty="0">
                <a:solidFill>
                  <a:schemeClr val="tx1"/>
                </a:solidFill>
              </a:rPr>
              <a:t> обозначает отрицание, он превращает истину в ложь,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а ложь в истину.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0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True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(1)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превратили ложь(0) в истину(1)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11D86E-214E-4470-B798-C2A6D3017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748" y="3817164"/>
            <a:ext cx="4492101" cy="252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77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Логические операции(</a:t>
            </a:r>
            <a:r>
              <a:rPr lang="en-US" dirty="0"/>
              <a:t>2</a:t>
            </a:r>
            <a:r>
              <a:rPr lang="ru-RU" dirty="0"/>
              <a:t>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Часто, логические значения возникают в результате сравнения чисел</a:t>
            </a:r>
            <a:r>
              <a:rPr lang="en-US" sz="1800" dirty="0"/>
              <a:t>.</a:t>
            </a:r>
            <a:r>
              <a:rPr lang="ru-RU" sz="1800" dirty="0"/>
              <a:t> </a:t>
            </a:r>
          </a:p>
          <a:p>
            <a:pPr marL="0" indent="0">
              <a:buNone/>
            </a:pPr>
            <a:r>
              <a:rPr lang="ru-RU" sz="1800" b="1" dirty="0"/>
              <a:t>Операции сравнения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b="1" dirty="0"/>
              <a:t>&lt; </a:t>
            </a:r>
            <a:r>
              <a:rPr lang="ru-RU" sz="1800" b="1" dirty="0"/>
              <a:t>	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строго меньше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/>
              <a:t>&lt;= </a:t>
            </a:r>
            <a:r>
              <a:rPr lang="ru-RU" sz="1800" b="1" dirty="0"/>
              <a:t>  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меньше или равно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/>
              <a:t>&gt; </a:t>
            </a:r>
            <a:r>
              <a:rPr lang="ru-RU" sz="1800" b="1" dirty="0"/>
              <a:t>     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строго больше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/>
              <a:t>&gt;</a:t>
            </a:r>
            <a:r>
              <a:rPr lang="ru-RU" sz="1800" b="1" dirty="0"/>
              <a:t>=   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больше или равно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/>
              <a:t>== </a:t>
            </a:r>
            <a:r>
              <a:rPr lang="ru-RU" sz="1800" b="1" dirty="0"/>
              <a:t>  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равно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/>
              <a:t>!= </a:t>
            </a:r>
            <a:r>
              <a:rPr lang="ru-RU" sz="1800" b="1" dirty="0"/>
              <a:t>    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не равно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b="1" dirty="0"/>
              <a:t>Важно</a:t>
            </a:r>
            <a:r>
              <a:rPr lang="en-US" sz="1800" b="1" dirty="0"/>
              <a:t>: </a:t>
            </a:r>
            <a:r>
              <a:rPr lang="en-US" sz="1800" dirty="0"/>
              <a:t>"="</a:t>
            </a:r>
            <a:r>
              <a:rPr lang="ru-RU" sz="1800" dirty="0"/>
              <a:t> и </a:t>
            </a:r>
            <a:r>
              <a:rPr lang="en-US" sz="1800" dirty="0"/>
              <a:t>"=="</a:t>
            </a:r>
            <a:r>
              <a:rPr lang="ru-RU" sz="1800" dirty="0"/>
              <a:t> отличаются между собой.</a:t>
            </a:r>
          </a:p>
          <a:p>
            <a:pPr marL="0" indent="0">
              <a:buNone/>
            </a:pPr>
            <a:r>
              <a:rPr lang="en-US" sz="1800" dirty="0"/>
              <a:t>x = 10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присвоили переменной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значение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10</a:t>
            </a:r>
            <a:endParaRPr lang="en-US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/>
              <a:t>x == 10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сравниваем, равен ли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значению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(без присваивания)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247483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Логические операции(3/5)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Несколько примеров работы с логическими операциями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Напишем программу, в которой будем проверять, является ли ввдённое число двузначным.</a:t>
            </a:r>
          </a:p>
          <a:p>
            <a:pPr marL="0" indent="0">
              <a:buNone/>
            </a:pPr>
            <a:r>
              <a:rPr lang="en-US" sz="1800" dirty="0"/>
              <a:t>x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input()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(x &gt;= 10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x &lt; 100)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проверяем, что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x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будет в диапазоне двузначных чисел (10-99)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введём 11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/>
              <a:t> True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dirty="0"/>
              <a:t>Условие можно также сократить</a:t>
            </a:r>
            <a:r>
              <a:rPr lang="en-US" sz="1800" dirty="0"/>
              <a:t>,</a:t>
            </a:r>
            <a:r>
              <a:rPr lang="ru-RU" sz="1800" dirty="0"/>
              <a:t> приведя к другому виду</a:t>
            </a:r>
            <a:r>
              <a:rPr lang="en-US" sz="1800" dirty="0"/>
              <a:t>: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x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input()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(10 &lt;= x &lt; 100)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привели к неравенству 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введём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/>
              <a:t> False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047502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Логические операции(4/5)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0" y="1262852"/>
            <a:ext cx="11043823" cy="51634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Несколько примеров работы с логическими операциями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a, b, c =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такая запись в 1 строчку равнозначна записи в несколько строчек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a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b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c)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True </a:t>
            </a:r>
          </a:p>
          <a:p>
            <a:pPr marL="0" indent="0">
              <a:buNone/>
            </a:pPr>
            <a:r>
              <a:rPr lang="ru-RU" sz="1800" dirty="0"/>
              <a:t>Почему так произошло, разберём построчно</a:t>
            </a:r>
            <a:r>
              <a:rPr lang="en-US" sz="1800" dirty="0"/>
              <a:t>: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en-US" sz="1800" dirty="0">
                <a:solidFill>
                  <a:srgbClr val="CC7832"/>
                </a:solidFill>
              </a:rPr>
              <a:t> </a:t>
            </a:r>
            <a:r>
              <a:rPr lang="en-US" sz="1800" b="1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для наглядности, вместо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и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подставили их значения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убрали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print</a:t>
            </a:r>
            <a:endParaRPr lang="ru-RU" sz="1800" b="1" dirty="0"/>
          </a:p>
          <a:p>
            <a:pPr marL="342900" indent="-342900">
              <a:buAutoNum type="arabicPeriod"/>
            </a:pPr>
            <a:r>
              <a:rPr lang="ru-RU" sz="1800" dirty="0"/>
              <a:t>Операция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ru-RU" sz="1800" dirty="0"/>
              <a:t> имеет 1й приоритет(см. таблицу истинности пару слайдов назад), получится</a:t>
            </a:r>
            <a:r>
              <a:rPr lang="en-US" sz="1800" dirty="0"/>
              <a:t>:</a:t>
            </a:r>
            <a:r>
              <a:rPr lang="ru-RU" sz="1800" dirty="0"/>
              <a:t>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было изначально равно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False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, с помощью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not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, преобразовали в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True</a:t>
            </a:r>
            <a:endParaRPr lang="ru-RU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ru-RU" sz="1800" dirty="0"/>
              <a:t>Продолжаем вычисление, операция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</a:t>
            </a:r>
            <a:r>
              <a:rPr lang="ru-RU" sz="1800" dirty="0"/>
              <a:t>имеет 2й  приоритет</a:t>
            </a:r>
            <a:r>
              <a:rPr lang="en-US" sz="1800" dirty="0"/>
              <a:t>: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вычислили результат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– получили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False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(так как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True and False = False,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см. Таблицу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истинности)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ru-RU" sz="1800" dirty="0"/>
              <a:t>Остаётся вычислить значение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ru-RU" sz="1800" dirty="0"/>
              <a:t>. Используя таблицу истинности, получится</a:t>
            </a:r>
            <a:r>
              <a:rPr lang="en-US" sz="1800" dirty="0"/>
              <a:t>: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/>
              <a:t> True 							 </a:t>
            </a:r>
            <a:endParaRPr lang="ru-RU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62993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Логические операции(5/5)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Рассмотрим другой пример</a:t>
            </a:r>
            <a:r>
              <a:rPr lang="en-US" sz="1800" b="1" dirty="0"/>
              <a:t> </a:t>
            </a:r>
            <a:r>
              <a:rPr lang="ru-RU" sz="1800" b="1" dirty="0"/>
              <a:t>со скобками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a, b, c =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такая запись в 1 строчку равнозначна записи в несколько строчек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a)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b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c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расставили скобки, теперь они задают приоритет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False </a:t>
            </a:r>
          </a:p>
          <a:p>
            <a:pPr marL="0" indent="0">
              <a:buNone/>
            </a:pPr>
            <a:r>
              <a:rPr lang="ru-RU" sz="1800" dirty="0"/>
              <a:t>Почему так произошло, разберём построчно</a:t>
            </a:r>
            <a:r>
              <a:rPr lang="en-US" sz="1800" dirty="0"/>
              <a:t>: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((</a:t>
            </a:r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подставили изначальные значения и убрали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print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вычислили значение для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not False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, получили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True</a:t>
            </a:r>
            <a:endParaRPr lang="ru-RU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вычислили значение для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True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True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, получили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True</a:t>
            </a:r>
            <a:endParaRPr lang="ru-RU" sz="18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/>
              <a:t> </a:t>
            </a:r>
            <a:r>
              <a:rPr lang="en-US" sz="1800" dirty="0"/>
              <a:t>False 	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True and False = False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(см. таблицу истинности)</a:t>
            </a:r>
          </a:p>
          <a:p>
            <a:pPr marL="0" indent="0">
              <a:buNone/>
            </a:pPr>
            <a:r>
              <a:rPr lang="en-US" sz="1800" dirty="0"/>
              <a:t>					 </a:t>
            </a:r>
            <a:endParaRPr lang="ru-RU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897795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материалам(1/</a:t>
            </a:r>
            <a:r>
              <a:rPr lang="en-US" dirty="0"/>
              <a:t>2</a:t>
            </a:r>
            <a:r>
              <a:rPr lang="ru-R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Не меняя значений </a:t>
            </a:r>
            <a:r>
              <a:rPr lang="en-US" sz="1800" dirty="0"/>
              <a:t>a,b,c,d, </a:t>
            </a:r>
            <a:r>
              <a:rPr lang="ru-RU" sz="1800" dirty="0"/>
              <a:t>добавьте скобки в выражение в части</a:t>
            </a:r>
            <a:r>
              <a:rPr lang="en-US" sz="1800" dirty="0"/>
              <a:t> print</a:t>
            </a:r>
            <a:r>
              <a:rPr lang="ru-RU" sz="1800" dirty="0"/>
              <a:t>, чтобы итоговый результат выводил </a:t>
            </a:r>
            <a:r>
              <a:rPr lang="en-US" sz="1800" b="1" dirty="0"/>
              <a:t>False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en-US" sz="1800" dirty="0"/>
              <a:t>a,b,c,d =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False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(a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b </a:t>
            </a:r>
            <a:r>
              <a:rPr lang="en-US" sz="1800" dirty="0">
                <a:solidFill>
                  <a:srgbClr val="0070C0"/>
                </a:solidFill>
              </a:rPr>
              <a:t>and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not</a:t>
            </a:r>
            <a:r>
              <a:rPr lang="en-US" sz="1800" dirty="0"/>
              <a:t> c </a:t>
            </a:r>
            <a:r>
              <a:rPr lang="en-US" sz="1800" dirty="0">
                <a:solidFill>
                  <a:srgbClr val="0070C0"/>
                </a:solidFill>
              </a:rPr>
              <a:t>or</a:t>
            </a:r>
            <a:r>
              <a:rPr lang="en-US" sz="1800" dirty="0"/>
              <a:t> d)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en-US" sz="1800" dirty="0"/>
              <a:t> True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664511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материалам(2/</a:t>
            </a:r>
            <a:r>
              <a:rPr lang="en-US" dirty="0"/>
              <a:t>2</a:t>
            </a:r>
            <a:r>
              <a:rPr lang="ru-R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где на ввод с клавиатуры подаются любые числовые значения, а на выводе отображается True или False в зависимости от того, больше первое число второго или нет.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				</a:t>
            </a: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100						        -10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50							50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				</a:t>
            </a: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True							False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13633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Условия</a:t>
            </a:r>
            <a:r>
              <a:rPr lang="en-US" dirty="0"/>
              <a:t>: IF/ELIF/ELSE</a:t>
            </a:r>
            <a:r>
              <a:rPr lang="ru-RU" dirty="0"/>
              <a:t>(</a:t>
            </a:r>
            <a:r>
              <a:rPr lang="en-US" dirty="0"/>
              <a:t>1</a:t>
            </a:r>
            <a:r>
              <a:rPr lang="ru-RU" dirty="0"/>
              <a:t>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Ход выполнения программы может быть </a:t>
            </a:r>
            <a:r>
              <a:rPr lang="ru-RU" sz="1800" i="1" dirty="0"/>
              <a:t>линейным</a:t>
            </a:r>
            <a:r>
              <a:rPr lang="ru-RU" sz="1800" dirty="0"/>
              <a:t>, то есть таким, когда выражения выполняются друг за другом, начиная с первого и заканчивая последним. Ни одна строка кода программы не пропускается.</a:t>
            </a:r>
          </a:p>
          <a:p>
            <a:r>
              <a:rPr lang="ru-RU" sz="1800" dirty="0"/>
              <a:t>Часто, при выполнении кода, в зависимости от тех или иных условий, некоторые его участки могут быть опущены, в то время как другие – выполнены. Иными словами, в программе может присутствовать </a:t>
            </a:r>
            <a:r>
              <a:rPr lang="ru-RU" sz="1800" i="1" dirty="0"/>
              <a:t>ветвление</a:t>
            </a:r>
            <a:r>
              <a:rPr lang="ru-RU" sz="1800" dirty="0"/>
              <a:t>, которое реализуется </a:t>
            </a:r>
            <a:r>
              <a:rPr lang="ru-RU" sz="1800" b="1" dirty="0"/>
              <a:t>условным оператором – особой конструкцией языка программирования</a:t>
            </a:r>
            <a:r>
              <a:rPr lang="ru-RU" sz="1800" dirty="0"/>
              <a:t>.</a:t>
            </a:r>
          </a:p>
          <a:p>
            <a:r>
              <a:rPr lang="ru-RU" sz="1800" dirty="0"/>
              <a:t>Существуют три условных оператора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en-US" sz="1800" dirty="0"/>
              <a:t>(</a:t>
            </a:r>
            <a:r>
              <a:rPr lang="ru-RU" sz="1800" dirty="0"/>
              <a:t>если), </a:t>
            </a:r>
            <a:r>
              <a:rPr lang="en-US" sz="1800" dirty="0">
                <a:solidFill>
                  <a:srgbClr val="CC7832"/>
                </a:solidFill>
              </a:rPr>
              <a:t>elif</a:t>
            </a:r>
            <a:r>
              <a:rPr lang="en-US" sz="1800" dirty="0"/>
              <a:t>(</a:t>
            </a:r>
            <a:r>
              <a:rPr lang="ru-RU" sz="1800" dirty="0"/>
              <a:t>иначе если), </a:t>
            </a:r>
            <a:r>
              <a:rPr lang="en-US" sz="1800" dirty="0">
                <a:solidFill>
                  <a:srgbClr val="CC7832"/>
                </a:solidFill>
              </a:rPr>
              <a:t>else</a:t>
            </a:r>
            <a:r>
              <a:rPr lang="en-US" sz="1800" dirty="0"/>
              <a:t>(</a:t>
            </a:r>
            <a:r>
              <a:rPr lang="ru-RU" sz="1800" dirty="0"/>
              <a:t>иначе)</a:t>
            </a:r>
          </a:p>
          <a:p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BEA29-C18B-438E-82CB-37659605E30D}"/>
              </a:ext>
            </a:extLst>
          </p:cNvPr>
          <p:cNvSpPr txBox="1"/>
          <p:nvPr/>
        </p:nvSpPr>
        <p:spPr>
          <a:xfrm>
            <a:off x="828580" y="3685538"/>
            <a:ext cx="4048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 Пример конструкции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>
                <a:solidFill>
                  <a:srgbClr val="CC7832"/>
                </a:solidFill>
              </a:rPr>
              <a:t>if</a:t>
            </a:r>
            <a:r>
              <a:rPr lang="ru-RU" dirty="0"/>
              <a:t> Условие:</a:t>
            </a: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/>
              <a:t>    Блок инструкций 1</a:t>
            </a: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>
                <a:solidFill>
                  <a:srgbClr val="CC7832"/>
                </a:solidFill>
              </a:rPr>
              <a:t>else</a:t>
            </a:r>
            <a:r>
              <a:rPr lang="ru-RU" dirty="0"/>
              <a:t>:</a:t>
            </a: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/>
              <a:t>    Блок инструкций 2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BEEAB-6AD4-4BBD-941D-7556A75F0E61}"/>
              </a:ext>
            </a:extLst>
          </p:cNvPr>
          <p:cNvSpPr txBox="1"/>
          <p:nvPr/>
        </p:nvSpPr>
        <p:spPr>
          <a:xfrm>
            <a:off x="3577700" y="3685538"/>
            <a:ext cx="8152663" cy="259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 Пример конструкции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данными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en-US" dirty="0"/>
              <a:t>x = </a:t>
            </a:r>
            <a:r>
              <a:rPr lang="en-US" dirty="0">
                <a:solidFill>
                  <a:srgbClr val="0070C0"/>
                </a:solidFill>
              </a:rPr>
              <a:t>int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input</a:t>
            </a:r>
            <a:r>
              <a:rPr lang="en-US" dirty="0"/>
              <a:t>())</a:t>
            </a:r>
            <a:endParaRPr lang="ru-RU" dirty="0"/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>
                <a:solidFill>
                  <a:srgbClr val="CC7832"/>
                </a:solidFill>
              </a:rPr>
              <a:t>if</a:t>
            </a:r>
            <a:r>
              <a:rPr lang="ru-RU" dirty="0"/>
              <a:t> </a:t>
            </a:r>
            <a:r>
              <a:rPr lang="en-US" dirty="0"/>
              <a:t>x &gt; 0:</a:t>
            </a:r>
            <a:r>
              <a:rPr lang="ru-RU" dirty="0"/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в условиях, </a:t>
            </a:r>
            <a:r>
              <a:rPr lang="ru-RU" b="1" dirty="0">
                <a:solidFill>
                  <a:schemeClr val="bg1">
                    <a:lumMod val="50000"/>
                  </a:schemeClr>
                </a:solidFill>
              </a:rPr>
              <a:t>знак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“:”</a:t>
            </a:r>
            <a:r>
              <a:rPr lang="ru-RU" b="1" dirty="0">
                <a:solidFill>
                  <a:schemeClr val="bg1">
                    <a:lumMod val="50000"/>
                  </a:schemeClr>
                </a:solidFill>
              </a:rPr>
              <a:t> обязателен</a:t>
            </a: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/>
              <a:t>    </a:t>
            </a:r>
            <a:r>
              <a:rPr lang="en-US" dirty="0">
                <a:solidFill>
                  <a:srgbClr val="0070C0"/>
                </a:solidFill>
              </a:rPr>
              <a:t>print</a:t>
            </a:r>
            <a:r>
              <a:rPr lang="en-US" dirty="0"/>
              <a:t>("x "</a:t>
            </a:r>
            <a:r>
              <a:rPr lang="ru-RU" dirty="0"/>
              <a:t> </a:t>
            </a:r>
            <a:r>
              <a:rPr lang="en-US" dirty="0"/>
              <a:t>+ "</a:t>
            </a:r>
            <a:r>
              <a:rPr lang="ru-RU" dirty="0"/>
              <a:t>больше нуля</a:t>
            </a:r>
            <a:r>
              <a:rPr lang="en-US" dirty="0"/>
              <a:t>"</a:t>
            </a:r>
            <a:r>
              <a:rPr lang="ru-RU" dirty="0"/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 в блоке инструкций </a:t>
            </a:r>
            <a:r>
              <a:rPr lang="ru-RU" b="1" dirty="0">
                <a:solidFill>
                  <a:schemeClr val="bg1">
                    <a:lumMod val="50000"/>
                  </a:schemeClr>
                </a:solidFill>
              </a:rPr>
              <a:t>обязателен отступ вправо</a:t>
            </a: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>
                <a:solidFill>
                  <a:srgbClr val="CC7832"/>
                </a:solidFill>
              </a:rPr>
              <a:t>else</a:t>
            </a:r>
            <a:r>
              <a:rPr lang="ru-RU" dirty="0"/>
              <a:t>:</a:t>
            </a:r>
          </a:p>
          <a:p>
            <a:pPr>
              <a:spcBef>
                <a:spcPts val="432"/>
              </a:spcBef>
              <a:spcAft>
                <a:spcPts val="400"/>
              </a:spcAft>
            </a:pPr>
            <a:r>
              <a:rPr lang="ru-RU" dirty="0"/>
              <a:t>    </a:t>
            </a:r>
            <a:r>
              <a:rPr lang="en-US" dirty="0">
                <a:solidFill>
                  <a:srgbClr val="0070C0"/>
                </a:solidFill>
              </a:rPr>
              <a:t>print</a:t>
            </a:r>
            <a:r>
              <a:rPr lang="en-US" dirty="0"/>
              <a:t>("x " + "</a:t>
            </a:r>
            <a:r>
              <a:rPr lang="ru-RU" dirty="0"/>
              <a:t>не больше нуля</a:t>
            </a:r>
            <a:r>
              <a:rPr lang="en-US" dirty="0"/>
              <a:t>"</a:t>
            </a:r>
            <a:r>
              <a:rPr lang="ru-RU" dirty="0"/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 в блоке инструкций </a:t>
            </a:r>
            <a:r>
              <a:rPr lang="ru-RU" b="1" dirty="0">
                <a:solidFill>
                  <a:schemeClr val="bg1">
                    <a:lumMod val="50000"/>
                  </a:schemeClr>
                </a:solidFill>
              </a:rPr>
              <a:t>обязателен отступ вправо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4437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Условия</a:t>
            </a:r>
            <a:r>
              <a:rPr lang="en-US" dirty="0"/>
              <a:t>: IF/ELIF/ELSE</a:t>
            </a:r>
            <a:r>
              <a:rPr lang="ru-RU" dirty="0"/>
              <a:t>(2/6)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Немного подробнее об </a:t>
            </a:r>
            <a:r>
              <a:rPr lang="en-US" sz="1800" b="1" dirty="0"/>
              <a:t>if,</a:t>
            </a:r>
            <a:r>
              <a:rPr lang="ru-RU" sz="1800" b="1" dirty="0"/>
              <a:t> </a:t>
            </a:r>
            <a:r>
              <a:rPr lang="en-US" sz="1800" b="1" dirty="0"/>
              <a:t>elif,</a:t>
            </a:r>
            <a:r>
              <a:rPr lang="ru-RU" sz="1800" b="1" dirty="0"/>
              <a:t> </a:t>
            </a:r>
            <a:r>
              <a:rPr lang="en-US" sz="1800" b="1" dirty="0"/>
              <a:t>else: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C7832"/>
                </a:solidFill>
              </a:rPr>
              <a:t>if</a:t>
            </a:r>
            <a:r>
              <a:rPr lang="ru-RU" sz="1800" dirty="0"/>
              <a:t>  </a:t>
            </a:r>
            <a:r>
              <a:rPr lang="en-US" sz="1800" dirty="0">
                <a:solidFill>
                  <a:srgbClr val="7E7E9D"/>
                </a:solidFill>
              </a:rPr>
              <a:t>#</a:t>
            </a:r>
            <a:r>
              <a:rPr lang="ru-RU" sz="1800" dirty="0">
                <a:solidFill>
                  <a:srgbClr val="7E7E9D"/>
                </a:solidFill>
              </a:rPr>
              <a:t> если</a:t>
            </a:r>
          </a:p>
          <a:p>
            <a:pPr marL="0" indent="0">
              <a:buNone/>
            </a:pPr>
            <a:r>
              <a:rPr lang="ru-RU" sz="1800" dirty="0"/>
              <a:t>обязательная часть инструкции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7832"/>
                </a:solidFill>
              </a:rPr>
              <a:t>elif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7E7E9D"/>
                </a:solidFill>
              </a:rPr>
              <a:t>#</a:t>
            </a:r>
            <a:r>
              <a:rPr lang="ru-RU" sz="1800" dirty="0">
                <a:solidFill>
                  <a:srgbClr val="7E7E9D"/>
                </a:solidFill>
              </a:rPr>
              <a:t> иначе если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необязательная часть инструкции, </a:t>
            </a:r>
            <a:r>
              <a:rPr lang="ru-RU" sz="1800" u="sng" dirty="0"/>
              <a:t>должна следовать за</a:t>
            </a:r>
            <a:r>
              <a:rPr lang="en-US" sz="1800" u="sng" dirty="0"/>
              <a:t> </a:t>
            </a:r>
            <a:r>
              <a:rPr lang="en-US" sz="1800" b="1" u="sng" dirty="0">
                <a:solidFill>
                  <a:srgbClr val="CC7832"/>
                </a:solidFill>
              </a:rPr>
              <a:t>if</a:t>
            </a:r>
            <a:r>
              <a:rPr lang="en-US" sz="1800" u="sng" dirty="0"/>
              <a:t>,</a:t>
            </a:r>
            <a:r>
              <a:rPr lang="ru-RU" sz="1800" u="sng" dirty="0"/>
              <a:t> либо за другим</a:t>
            </a:r>
            <a:r>
              <a:rPr lang="en-US" sz="1800" u="sng" dirty="0"/>
              <a:t> </a:t>
            </a:r>
            <a:r>
              <a:rPr lang="en-US" sz="1800" b="1" u="sng" dirty="0">
                <a:solidFill>
                  <a:srgbClr val="CC7832"/>
                </a:solidFill>
              </a:rPr>
              <a:t>elif</a:t>
            </a:r>
            <a:r>
              <a:rPr lang="en-US" sz="1800" u="sng" dirty="0"/>
              <a:t>.</a:t>
            </a:r>
            <a:endParaRPr lang="ru-RU" sz="1800" u="sng" dirty="0"/>
          </a:p>
          <a:p>
            <a:pPr marL="0" indent="0">
              <a:buNone/>
            </a:pPr>
            <a:r>
              <a:rPr lang="en-US" sz="1800" b="1" dirty="0">
                <a:solidFill>
                  <a:srgbClr val="CC7832"/>
                </a:solidFill>
              </a:rPr>
              <a:t>else</a:t>
            </a:r>
            <a:r>
              <a:rPr lang="ru-RU" sz="1800" b="1" dirty="0">
                <a:solidFill>
                  <a:srgbClr val="CC7832"/>
                </a:solidFill>
              </a:rPr>
              <a:t> </a:t>
            </a:r>
            <a:r>
              <a:rPr lang="en-US" sz="1800" dirty="0">
                <a:solidFill>
                  <a:srgbClr val="7E7E9D"/>
                </a:solidFill>
              </a:rPr>
              <a:t>#</a:t>
            </a:r>
            <a:r>
              <a:rPr lang="ru-RU" sz="1800" dirty="0">
                <a:solidFill>
                  <a:srgbClr val="7E7E9D"/>
                </a:solidFill>
              </a:rPr>
              <a:t> иначе</a:t>
            </a:r>
            <a:endParaRPr lang="ru-RU" sz="1800" b="1" dirty="0">
              <a:solidFill>
                <a:srgbClr val="CC7832"/>
              </a:solidFill>
            </a:endParaRPr>
          </a:p>
          <a:p>
            <a:pPr marL="0" indent="0">
              <a:buNone/>
            </a:pPr>
            <a:r>
              <a:rPr lang="ru-RU" sz="1800" dirty="0"/>
              <a:t>Необязательная заключительная часть инструкции. Должна следовать за </a:t>
            </a:r>
            <a:r>
              <a:rPr lang="en-US" sz="1800" b="1" dirty="0">
                <a:solidFill>
                  <a:srgbClr val="CC7832"/>
                </a:solidFill>
              </a:rPr>
              <a:t>if</a:t>
            </a:r>
            <a:r>
              <a:rPr lang="en-US" sz="1800" dirty="0"/>
              <a:t>,</a:t>
            </a:r>
            <a:r>
              <a:rPr lang="ru-RU" sz="1800" dirty="0"/>
              <a:t> либо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CC7832"/>
                </a:solidFill>
              </a:rPr>
              <a:t>elif</a:t>
            </a:r>
            <a:r>
              <a:rPr lang="ru-RU" sz="1800" dirty="0"/>
              <a:t>. </a:t>
            </a:r>
            <a:r>
              <a:rPr lang="ru-RU" sz="1800" u="sng" dirty="0"/>
              <a:t>Выполняется только тогда, когда предыдущие </a:t>
            </a:r>
            <a:r>
              <a:rPr lang="en-US" sz="1800" b="1" u="sng" dirty="0">
                <a:solidFill>
                  <a:srgbClr val="CC7832"/>
                </a:solidFill>
              </a:rPr>
              <a:t>if</a:t>
            </a:r>
            <a:r>
              <a:rPr lang="en-US" sz="1800" u="sng" dirty="0"/>
              <a:t>, </a:t>
            </a:r>
            <a:r>
              <a:rPr lang="en-US" sz="1800" b="1" u="sng" dirty="0">
                <a:solidFill>
                  <a:srgbClr val="CC7832"/>
                </a:solidFill>
              </a:rPr>
              <a:t>elif</a:t>
            </a:r>
            <a:r>
              <a:rPr lang="ru-RU" sz="1800" u="sng" dirty="0"/>
              <a:t> не выполнились.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7962978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Условия</a:t>
            </a:r>
            <a:r>
              <a:rPr lang="en-US" dirty="0"/>
              <a:t>: IF/ELIF/ELSE</a:t>
            </a:r>
            <a:r>
              <a:rPr lang="ru-RU" dirty="0"/>
              <a:t>(3/6)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Напишем программу, определяющую</a:t>
            </a:r>
            <a:r>
              <a:rPr lang="en-US" sz="1800" b="1" dirty="0"/>
              <a:t>,</a:t>
            </a:r>
            <a:r>
              <a:rPr lang="ru-RU" sz="1800" b="1" dirty="0"/>
              <a:t> делится ли число нацело на 2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input</a:t>
            </a:r>
            <a:r>
              <a:rPr lang="en-US" sz="1800" dirty="0"/>
              <a:t>())</a:t>
            </a:r>
            <a:endParaRPr lang="ru-RU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en-US" sz="1800" dirty="0"/>
              <a:t> x % 2 == 0: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если остаток от деления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равен нулю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800" dirty="0"/>
              <a:t>	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("</a:t>
            </a:r>
            <a:r>
              <a:rPr lang="ru-RU" sz="1800" dirty="0"/>
              <a:t>Чётное</a:t>
            </a:r>
            <a:r>
              <a:rPr lang="en-US" sz="1800" dirty="0"/>
              <a:t>"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тогда напечатай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Чётное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else</a:t>
            </a:r>
            <a:r>
              <a:rPr lang="en-US" sz="1800" dirty="0"/>
              <a:t>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иначе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800" dirty="0"/>
              <a:t>	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("</a:t>
            </a:r>
            <a:r>
              <a:rPr lang="ru-RU" sz="1800" dirty="0"/>
              <a:t>Нечётное</a:t>
            </a:r>
            <a:r>
              <a:rPr lang="en-US" sz="1800" dirty="0"/>
              <a:t>"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напечатай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"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Нечётное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sz="1800" dirty="0"/>
          </a:p>
          <a:p>
            <a:r>
              <a:rPr lang="ru-RU" sz="1800" dirty="0"/>
              <a:t>Рекомендуется делать 4 отступа в строке после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CC7832"/>
                </a:solidFill>
              </a:rPr>
              <a:t>elif</a:t>
            </a:r>
            <a:r>
              <a:rPr lang="ru-RU" sz="1800" dirty="0"/>
              <a:t> и </a:t>
            </a:r>
            <a:r>
              <a:rPr lang="en-US" sz="1800" dirty="0">
                <a:solidFill>
                  <a:srgbClr val="CC7832"/>
                </a:solidFill>
              </a:rPr>
              <a:t>else</a:t>
            </a:r>
            <a:endParaRPr lang="ru-RU" sz="1800" dirty="0">
              <a:solidFill>
                <a:srgbClr val="CC7832"/>
              </a:solidFill>
            </a:endParaRPr>
          </a:p>
          <a:p>
            <a:r>
              <a:rPr lang="ru-RU" sz="1800" dirty="0"/>
              <a:t>Чтобы сделать</a:t>
            </a:r>
            <a:r>
              <a:rPr lang="en-US" sz="1800" dirty="0"/>
              <a:t> 4</a:t>
            </a:r>
            <a:r>
              <a:rPr lang="ru-RU" sz="1800" dirty="0"/>
              <a:t> отступа, можно 4 раза нажать на пробел, или 1 раз нажать на</a:t>
            </a:r>
            <a:r>
              <a:rPr lang="en-US" sz="1800" dirty="0"/>
              <a:t> </a:t>
            </a:r>
            <a:r>
              <a:rPr lang="en-US" sz="1800" b="1" dirty="0"/>
              <a:t>TAB</a:t>
            </a:r>
          </a:p>
          <a:p>
            <a:r>
              <a:rPr lang="ru-RU" sz="1800" dirty="0"/>
              <a:t>Если </a:t>
            </a:r>
            <a:r>
              <a:rPr lang="en-US" sz="1800" dirty="0"/>
              <a:t>PyCharm</a:t>
            </a:r>
            <a:r>
              <a:rPr lang="ru-RU" sz="1800" dirty="0"/>
              <a:t> подсвечивает вам ошибку</a:t>
            </a:r>
            <a:r>
              <a:rPr lang="en-US" sz="1800" dirty="0"/>
              <a:t> "indent expected"</a:t>
            </a:r>
            <a:r>
              <a:rPr lang="ru-RU" sz="1800" dirty="0"/>
              <a:t> – значит в этом месте не хватает отступов</a:t>
            </a:r>
            <a:endParaRPr lang="en-US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67930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Условия</a:t>
            </a:r>
            <a:r>
              <a:rPr lang="en-US" dirty="0"/>
              <a:t>: IF/ELIF/ELSE</a:t>
            </a:r>
            <a:r>
              <a:rPr lang="ru-RU" dirty="0"/>
              <a:t>(4/6)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Возможен и другой вариант записи, без </a:t>
            </a:r>
            <a:r>
              <a:rPr lang="en-US" sz="1800" b="1" dirty="0"/>
              <a:t>else </a:t>
            </a:r>
            <a:r>
              <a:rPr lang="ru-RU" sz="1800" b="1" dirty="0"/>
              <a:t>в конструкции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input</a:t>
            </a:r>
            <a:r>
              <a:rPr lang="en-US" sz="1800" dirty="0"/>
              <a:t>()) </a:t>
            </a:r>
            <a:r>
              <a:rPr lang="en-US" sz="1800" dirty="0">
                <a:solidFill>
                  <a:srgbClr val="7E7E9D"/>
                </a:solidFill>
              </a:rPr>
              <a:t>#</a:t>
            </a:r>
            <a:r>
              <a:rPr lang="ru-RU" sz="1800" dirty="0">
                <a:solidFill>
                  <a:srgbClr val="7E7E9D"/>
                </a:solidFill>
              </a:rPr>
              <a:t> допустим ввели 10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en-US" sz="1800" dirty="0"/>
              <a:t> x % 2 == 0: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если остаток от деления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равен нулю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800" dirty="0"/>
              <a:t>	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("</a:t>
            </a:r>
            <a:r>
              <a:rPr lang="ru-RU" sz="1800" dirty="0"/>
              <a:t>Чётное</a:t>
            </a:r>
            <a:r>
              <a:rPr lang="en-US" sz="1800" dirty="0"/>
              <a:t>"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тогда напечатай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Чётное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"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("</a:t>
            </a:r>
            <a:r>
              <a:rPr lang="ru-RU" sz="1800" dirty="0"/>
              <a:t>Нечётное</a:t>
            </a:r>
            <a:r>
              <a:rPr lang="en-US" sz="1800" dirty="0"/>
              <a:t>"</a:t>
            </a:r>
            <a:r>
              <a:rPr lang="ru-RU" sz="1800" dirty="0"/>
              <a:t>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напечатай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"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Нечётное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в любом случае (так как этот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print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</a:rPr>
              <a:t>не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 входит в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if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</a:rPr>
              <a:t>, он не содержит отсуп вправо)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&gt;</a:t>
            </a:r>
            <a:r>
              <a:rPr lang="ru-RU" sz="1800" dirty="0">
                <a:solidFill>
                  <a:schemeClr val="tx1"/>
                </a:solidFill>
              </a:rPr>
              <a:t> Чётное</a:t>
            </a:r>
          </a:p>
          <a:p>
            <a:pPr marL="0" indent="0">
              <a:buNone/>
            </a:pPr>
            <a:r>
              <a:rPr lang="en-US" sz="1800" dirty="0"/>
              <a:t>&gt;</a:t>
            </a:r>
            <a:r>
              <a:rPr lang="ru-RU" sz="1800" dirty="0"/>
              <a:t> Нечётное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Тот же самый пример, но только в </a:t>
            </a:r>
            <a:r>
              <a:rPr lang="ru-RU" sz="1800" b="1" dirty="0"/>
              <a:t>х</a:t>
            </a:r>
            <a:r>
              <a:rPr lang="ru-RU" sz="1800" dirty="0"/>
              <a:t> ввели </a:t>
            </a:r>
            <a:r>
              <a:rPr lang="ru-RU" sz="1800" b="1" dirty="0"/>
              <a:t>3</a:t>
            </a:r>
            <a:r>
              <a:rPr lang="ru-RU" sz="1800" dirty="0"/>
              <a:t>, результат вывода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&gt;</a:t>
            </a:r>
            <a:r>
              <a:rPr lang="ru-RU" sz="1800" dirty="0"/>
              <a:t>Нечётное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u-RU" sz="1800" dirty="0"/>
              <a:t>Так произошло, так как условие </a:t>
            </a: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ru-RU" sz="1800" dirty="0"/>
              <a:t> не выполнилось. Следом за ним идёт сразу команда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("</a:t>
            </a:r>
            <a:r>
              <a:rPr lang="ru-RU" sz="1800" dirty="0"/>
              <a:t>Нечётное</a:t>
            </a:r>
            <a:r>
              <a:rPr lang="en-US" sz="1800" dirty="0"/>
              <a:t>"</a:t>
            </a:r>
            <a:r>
              <a:rPr lang="ru-RU" sz="1800" dirty="0"/>
              <a:t>)</a:t>
            </a:r>
            <a:r>
              <a:rPr lang="en-US" sz="1800" dirty="0"/>
              <a:t>, </a:t>
            </a:r>
            <a:r>
              <a:rPr lang="ru-RU" sz="1800" dirty="0"/>
              <a:t>она</a:t>
            </a:r>
          </a:p>
          <a:p>
            <a:pPr marL="0" indent="0">
              <a:buNone/>
            </a:pPr>
            <a:r>
              <a:rPr lang="ru-RU" sz="1800" dirty="0"/>
              <a:t>находится </a:t>
            </a:r>
            <a:r>
              <a:rPr lang="ru-RU" sz="1800" b="1" dirty="0"/>
              <a:t>на одном уровне с </a:t>
            </a:r>
            <a:r>
              <a:rPr lang="en-US" sz="1800" b="1" dirty="0">
                <a:solidFill>
                  <a:srgbClr val="CC7832"/>
                </a:solidFill>
              </a:rPr>
              <a:t>if</a:t>
            </a:r>
            <a:r>
              <a:rPr lang="ru-RU" sz="1800" b="1" dirty="0"/>
              <a:t> </a:t>
            </a:r>
            <a:r>
              <a:rPr lang="ru-RU" sz="1800" dirty="0"/>
              <a:t>и к нему </a:t>
            </a:r>
            <a:r>
              <a:rPr lang="ru-RU" sz="1800" b="1" dirty="0"/>
              <a:t>не относится</a:t>
            </a:r>
            <a:r>
              <a:rPr lang="ru-RU" sz="1800" dirty="0"/>
              <a:t>, поэтому будет выполнена в любом случае.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23572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Условия</a:t>
            </a:r>
            <a:r>
              <a:rPr lang="en-US" dirty="0"/>
              <a:t>: IF/ELIF/ELSE</a:t>
            </a:r>
            <a:r>
              <a:rPr lang="ru-RU" dirty="0"/>
              <a:t>(5/6)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Объединим все варианты вместе и добавим новое условие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CC7832"/>
                </a:solidFill>
              </a:rPr>
              <a:t>elif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input</a:t>
            </a:r>
            <a:r>
              <a:rPr lang="en-US" sz="1800" dirty="0"/>
              <a:t>())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допустим ввели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en-US" sz="1800" dirty="0"/>
              <a:t> x % 2 == 0: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если остаток от деления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равен нулю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800" dirty="0"/>
              <a:t>	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('</a:t>
            </a:r>
            <a:r>
              <a:rPr lang="ru-RU" sz="1800" dirty="0"/>
              <a:t>Чётное</a:t>
            </a:r>
            <a:r>
              <a:rPr lang="en-US" sz="1800" dirty="0"/>
              <a:t>'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тогда напечатай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Чётное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'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elif</a:t>
            </a:r>
            <a:r>
              <a:rPr lang="en-US" sz="1800" dirty="0"/>
              <a:t> x &gt; 10 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иначе, если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x &gt; 10: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elif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выполнится, только если ни один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if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НЕ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выполнился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('</a:t>
            </a:r>
            <a:r>
              <a:rPr lang="ru-RU" sz="1800" dirty="0"/>
              <a:t>Вы ввели число больше 10</a:t>
            </a:r>
            <a:r>
              <a:rPr lang="en-US" sz="1800" dirty="0"/>
              <a:t>'</a:t>
            </a:r>
            <a:r>
              <a:rPr lang="ru-RU" sz="1800" dirty="0"/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else</a:t>
            </a:r>
            <a:r>
              <a:rPr lang="en-US" sz="1800" dirty="0"/>
              <a:t>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иначе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; 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else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выполнится только в крайнем случае, когда предыдущие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if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elif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НЕ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выполнились.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	print</a:t>
            </a:r>
            <a:r>
              <a:rPr lang="en-US" sz="1800" dirty="0"/>
              <a:t>('</a:t>
            </a:r>
            <a:r>
              <a:rPr lang="ru-RU" sz="1800" dirty="0"/>
              <a:t>Нечётное</a:t>
            </a:r>
            <a:r>
              <a:rPr lang="en-US" sz="1800" dirty="0"/>
              <a:t>'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напечатай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'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Нечётное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'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('</a:t>
            </a:r>
            <a:r>
              <a:rPr lang="ru-RU" sz="1800" dirty="0"/>
              <a:t>Эта надпись выведется в любом случае</a:t>
            </a:r>
            <a:r>
              <a:rPr lang="en-US" sz="1800" dirty="0"/>
              <a:t>'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так как она находится на одном уровне с условиями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/>
              <a:t>Вы ввели число больше 10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/>
              <a:t>Эта надпись выведется в любом случае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290720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Условия</a:t>
            </a:r>
            <a:r>
              <a:rPr lang="en-US" dirty="0"/>
              <a:t>: IF/ELIF/ELSE</a:t>
            </a:r>
            <a:r>
              <a:rPr lang="ru-RU" dirty="0"/>
              <a:t>(</a:t>
            </a:r>
            <a:r>
              <a:rPr lang="en-US" dirty="0"/>
              <a:t>6</a:t>
            </a:r>
            <a:r>
              <a:rPr lang="ru-RU" dirty="0"/>
              <a:t>/</a:t>
            </a:r>
            <a:r>
              <a:rPr lang="en-US" dirty="0"/>
              <a:t>6</a:t>
            </a:r>
            <a:r>
              <a:rPr lang="ru-R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Возможны разные уровни вложенности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en-US" sz="1800" dirty="0"/>
              <a:t>x = </a:t>
            </a:r>
            <a:r>
              <a:rPr lang="en-US" sz="1800" dirty="0">
                <a:solidFill>
                  <a:srgbClr val="0070C0"/>
                </a:solidFill>
              </a:rPr>
              <a:t>int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input</a:t>
            </a:r>
            <a:r>
              <a:rPr lang="en-US" sz="1800" dirty="0"/>
              <a:t>())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допустим ввели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en-US" sz="1800" dirty="0"/>
              <a:t> x % 2 == 0: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если остаток от деления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равен нулю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u-RU" sz="1800" dirty="0"/>
              <a:t>	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/>
              <a:t>('</a:t>
            </a:r>
            <a:r>
              <a:rPr lang="ru-RU" sz="1800" dirty="0"/>
              <a:t>Чётное</a:t>
            </a:r>
            <a:r>
              <a:rPr lang="en-US" sz="1800" dirty="0"/>
              <a:t>'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тогда напечатай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Чётное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'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rgbClr val="CC7832"/>
                </a:solidFill>
              </a:rPr>
              <a:t>if</a:t>
            </a:r>
            <a:r>
              <a:rPr lang="en-US" sz="1800" dirty="0">
                <a:solidFill>
                  <a:schemeClr val="tx1"/>
                </a:solidFill>
              </a:rPr>
              <a:t> x &gt; 6: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это условие вложено в предыдущий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if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и будет проверяться, только если он выполнится 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en-US" sz="1800" dirty="0">
                <a:solidFill>
                  <a:schemeClr val="tx1"/>
                </a:solidFill>
              </a:rPr>
              <a:t>	</a:t>
            </a:r>
            <a:r>
              <a:rPr lang="en-US" sz="1800" dirty="0">
                <a:solidFill>
                  <a:srgbClr val="0070C0"/>
                </a:solidFill>
              </a:rPr>
              <a:t>print</a:t>
            </a:r>
            <a:r>
              <a:rPr lang="en-US" sz="1800" dirty="0">
                <a:solidFill>
                  <a:schemeClr val="tx1"/>
                </a:solidFill>
              </a:rPr>
              <a:t>('</a:t>
            </a:r>
            <a:r>
              <a:rPr lang="ru-RU" sz="1800" dirty="0">
                <a:solidFill>
                  <a:schemeClr val="tx1"/>
                </a:solidFill>
              </a:rPr>
              <a:t>Число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ru-RU" sz="1800" dirty="0">
                <a:solidFill>
                  <a:schemeClr val="tx1"/>
                </a:solidFill>
              </a:rPr>
              <a:t>больше чем 6</a:t>
            </a:r>
            <a:r>
              <a:rPr lang="en-US" sz="1800" dirty="0">
                <a:solidFill>
                  <a:schemeClr val="tx1"/>
                </a:solidFill>
              </a:rPr>
              <a:t>')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обратите внимание, что здесь сделано не 4, а 8 отступов(пробелов)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C7832"/>
                </a:solidFill>
              </a:rPr>
              <a:t>else</a:t>
            </a:r>
            <a:r>
              <a:rPr lang="en-US" sz="1800" dirty="0"/>
              <a:t>:</a:t>
            </a:r>
            <a:r>
              <a:rPr lang="ru-RU" sz="1800" dirty="0"/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иначе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; 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else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выполнится только в крайнем случае, когда предыдущие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if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elif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1800" b="1" dirty="0">
                <a:solidFill>
                  <a:schemeClr val="bg1">
                    <a:lumMod val="50000"/>
                  </a:schemeClr>
                </a:solidFill>
              </a:rPr>
              <a:t>НЕ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выполнились.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	print</a:t>
            </a:r>
            <a:r>
              <a:rPr lang="en-US" sz="1800" dirty="0"/>
              <a:t>('</a:t>
            </a:r>
            <a:r>
              <a:rPr lang="ru-RU" sz="1800" dirty="0"/>
              <a:t>Нечётное</a:t>
            </a:r>
            <a:r>
              <a:rPr lang="en-US" sz="1800" dirty="0"/>
              <a:t>'</a:t>
            </a:r>
            <a:r>
              <a:rPr lang="ru-RU" sz="1800" dirty="0"/>
              <a:t>)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напечатай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'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Нечётное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'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/>
              <a:t>Чётное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&gt;</a:t>
            </a:r>
            <a:r>
              <a:rPr lang="ru-RU" sz="1800" dirty="0"/>
              <a:t>Число больше чем 6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#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Скопируйте этот код и попробуйте понять принцип вложенности, введя разные значения (например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 2,7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,8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703378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где на ввод с клавиатуры, поочердёно подаются целые числа</a:t>
            </a:r>
            <a:r>
              <a:rPr lang="en-US" sz="1800" dirty="0"/>
              <a:t> </a:t>
            </a:r>
            <a:r>
              <a:rPr lang="en-US" sz="1800" b="1" dirty="0"/>
              <a:t>X</a:t>
            </a:r>
            <a:r>
              <a:rPr lang="ru-RU" sz="1800" dirty="0"/>
              <a:t> и </a:t>
            </a:r>
            <a:r>
              <a:rPr lang="en-US" sz="1800" b="1" dirty="0"/>
              <a:t>Y</a:t>
            </a:r>
            <a:r>
              <a:rPr lang="ru-RU" sz="1800" dirty="0"/>
              <a:t>. Если их сумма больше числа 10</a:t>
            </a:r>
            <a:r>
              <a:rPr lang="en-US" sz="1800" dirty="0"/>
              <a:t>,</a:t>
            </a:r>
            <a:r>
              <a:rPr lang="ru-RU" sz="1800" dirty="0"/>
              <a:t> тогда должно возникнуть сообщение "Сумма больше", если сумма этих чисел меньше, тогда должно возникнуть сообщение "Сумма меньше", при равенстве, возникнет сообщение "Сумма равна".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Дополнительно</a:t>
            </a:r>
            <a:r>
              <a:rPr lang="en-US" sz="1800" dirty="0"/>
              <a:t>:</a:t>
            </a:r>
            <a:r>
              <a:rPr lang="ru-RU" sz="1800" dirty="0"/>
              <a:t> попробуйте решить задачу, используя </a:t>
            </a:r>
            <a:r>
              <a:rPr lang="en-US" sz="1800" dirty="0"/>
              <a:t>else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7							  0                                                              -5</a:t>
            </a:r>
          </a:p>
          <a:p>
            <a:pPr marL="0" indent="0">
              <a:buNone/>
            </a:pPr>
            <a:r>
              <a:rPr lang="ru-RU" sz="1800" dirty="0"/>
              <a:t>9                                                        5                                                              15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Сумма больше                                  Сумма меньше                                       Сумма равна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794986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где нужно ввести целое число. Если оно положительное, тогда на экран выводится цифра 1. Если число отрицательное, выводится -1. Если введенное число – это 0, то на экран выводится 0.</a:t>
            </a:r>
          </a:p>
          <a:p>
            <a:pPr marL="0" indent="0">
              <a:buNone/>
            </a:pPr>
            <a:r>
              <a:rPr lang="ru-RU" sz="1800" dirty="0"/>
              <a:t>Дополнительно</a:t>
            </a:r>
            <a:r>
              <a:rPr lang="en-US" sz="1800" dirty="0"/>
              <a:t>:</a:t>
            </a:r>
            <a:r>
              <a:rPr lang="ru-RU" sz="1800" dirty="0"/>
              <a:t> используйте не больше одного</a:t>
            </a:r>
            <a:r>
              <a:rPr lang="en-US" sz="1800" dirty="0"/>
              <a:t> if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500							  -250                                                         0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1                                                         -1								   0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5153280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материалам(</a:t>
            </a:r>
            <a:r>
              <a:rPr lang="en-US" dirty="0"/>
              <a:t>3</a:t>
            </a:r>
            <a:r>
              <a:rPr lang="ru-RU" dirty="0"/>
              <a:t>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где на ввод с клавиатуры, поочердёно подаются целые числа</a:t>
            </a:r>
            <a:r>
              <a:rPr lang="en-US" sz="1800" dirty="0"/>
              <a:t> </a:t>
            </a:r>
            <a:r>
              <a:rPr lang="en-US" sz="1800" b="1" dirty="0"/>
              <a:t>X</a:t>
            </a:r>
            <a:r>
              <a:rPr lang="ru-RU" sz="1800" dirty="0"/>
              <a:t> и </a:t>
            </a:r>
            <a:r>
              <a:rPr lang="en-US" sz="1800" b="1" dirty="0"/>
              <a:t>Y</a:t>
            </a:r>
            <a:r>
              <a:rPr lang="ru-RU" sz="1800" dirty="0"/>
              <a:t>.</a:t>
            </a:r>
            <a:r>
              <a:rPr lang="en-US" sz="1800" dirty="0"/>
              <a:t> </a:t>
            </a:r>
            <a:r>
              <a:rPr lang="ru-RU" sz="1800" dirty="0"/>
              <a:t>На экран необходимо вывести минимальное значение из двух чисел. Если значения чисел совпадают, нужно вывести сообщение</a:t>
            </a:r>
            <a:r>
              <a:rPr lang="en-US" sz="1800" dirty="0"/>
              <a:t>: "</a:t>
            </a:r>
            <a:r>
              <a:rPr lang="ru-RU" sz="1800" dirty="0"/>
              <a:t>Числа совпадают</a:t>
            </a:r>
            <a:r>
              <a:rPr lang="en-US" sz="1800" dirty="0"/>
              <a:t>".</a:t>
            </a:r>
            <a:r>
              <a:rPr lang="ru-RU" sz="1800" dirty="0"/>
              <a:t> </a:t>
            </a:r>
          </a:p>
          <a:p>
            <a:pPr marL="0" indent="0">
              <a:buNone/>
            </a:pPr>
            <a:endParaRPr lang="ru-RU" sz="1800" b="1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2</a:t>
            </a:r>
            <a:r>
              <a:rPr lang="en-US" sz="1800" dirty="0"/>
              <a:t>0							  50                                                            </a:t>
            </a:r>
            <a:r>
              <a:rPr lang="ru-RU" sz="1800" dirty="0"/>
              <a:t> </a:t>
            </a:r>
            <a:r>
              <a:rPr lang="en-US" sz="1800" dirty="0"/>
              <a:t>7</a:t>
            </a:r>
          </a:p>
          <a:p>
            <a:pPr marL="0" indent="0">
              <a:buNone/>
            </a:pPr>
            <a:r>
              <a:rPr lang="ru-RU" sz="1800" dirty="0"/>
              <a:t>1</a:t>
            </a:r>
            <a:r>
              <a:rPr lang="en-US" sz="1800" dirty="0"/>
              <a:t>0</a:t>
            </a:r>
            <a:r>
              <a:rPr lang="ru-RU" sz="1800" dirty="0"/>
              <a:t>							  </a:t>
            </a:r>
            <a:r>
              <a:rPr lang="en-US" sz="1800" dirty="0"/>
              <a:t>100</a:t>
            </a:r>
            <a:r>
              <a:rPr lang="ru-RU" sz="1800" dirty="0"/>
              <a:t>                                                         </a:t>
            </a:r>
            <a:r>
              <a:rPr lang="en-US" sz="1800" dirty="0"/>
              <a:t>  7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1</a:t>
            </a:r>
            <a:r>
              <a:rPr lang="en-US" sz="1800" dirty="0"/>
              <a:t>0</a:t>
            </a:r>
            <a:r>
              <a:rPr lang="ru-RU" sz="1800" dirty="0"/>
              <a:t>                                                       5</a:t>
            </a:r>
            <a:r>
              <a:rPr lang="en-US" sz="1800" dirty="0"/>
              <a:t>0</a:t>
            </a:r>
            <a:r>
              <a:rPr lang="ru-RU" sz="1800" dirty="0"/>
              <a:t>						</a:t>
            </a:r>
            <a:r>
              <a:rPr lang="en-US" sz="1800" dirty="0"/>
              <a:t>          </a:t>
            </a:r>
            <a:r>
              <a:rPr lang="ru-RU" sz="1800" dirty="0"/>
              <a:t>        Числа совпадают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8462467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7FFB-9FD7-43F3-BE5E-EBDD919855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DCC74-1E42-44AF-9777-6F1D9D0DA9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 всем материалам</a:t>
            </a:r>
          </a:p>
        </p:txBody>
      </p:sp>
    </p:spTree>
    <p:extLst>
      <p:ext uri="{BB962C8B-B14F-4D97-AF65-F5344CB8AC3E}">
        <p14:creationId xmlns:p14="http://schemas.microsoft.com/office/powerpoint/2010/main" val="30106075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всем материалам(</a:t>
            </a:r>
            <a:r>
              <a:rPr lang="en-US" dirty="0"/>
              <a:t>1</a:t>
            </a:r>
            <a:r>
              <a:rPr lang="ru-RU" dirty="0"/>
              <a:t>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которая спрашивает у пользователя 3 вопроса</a:t>
            </a:r>
            <a:r>
              <a:rPr lang="en-US" sz="1800" dirty="0"/>
              <a:t>:</a:t>
            </a:r>
            <a:r>
              <a:rPr lang="ru-RU" sz="1800" dirty="0"/>
              <a:t> его имя, профессию и возраст. А далее, подставляет значения и выводит три строки с ответами.</a:t>
            </a:r>
          </a:p>
          <a:p>
            <a:r>
              <a:rPr lang="ru-RU" sz="1800" dirty="0"/>
              <a:t>При выводе данных, не забывайте про пробелы.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</a:t>
            </a:r>
          </a:p>
          <a:p>
            <a:pPr marL="0" indent="0">
              <a:buNone/>
            </a:pPr>
            <a:r>
              <a:rPr lang="ru-RU" sz="1800" dirty="0"/>
              <a:t>Андрей</a:t>
            </a:r>
            <a:r>
              <a:rPr lang="en-US" sz="1800" dirty="0"/>
              <a:t>					</a:t>
            </a:r>
            <a:r>
              <a:rPr lang="ru-RU" sz="1800" dirty="0"/>
              <a:t>	  Алиса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Инженер						  Дизайнер</a:t>
            </a:r>
          </a:p>
          <a:p>
            <a:pPr marL="0" indent="0">
              <a:buNone/>
            </a:pPr>
            <a:r>
              <a:rPr lang="ru-RU" sz="1800" dirty="0"/>
              <a:t>30							</a:t>
            </a:r>
            <a:r>
              <a:rPr lang="ru-RU" sz="1800"/>
              <a:t>  21                                                         </a:t>
            </a:r>
            <a:r>
              <a:rPr lang="en-US" sz="1800" dirty="0"/>
              <a:t>  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</a:t>
            </a:r>
          </a:p>
          <a:p>
            <a:pPr marL="0" indent="0">
              <a:buNone/>
            </a:pPr>
            <a:r>
              <a:rPr lang="ru-RU" sz="1800" dirty="0"/>
              <a:t>Имя</a:t>
            </a:r>
            <a:r>
              <a:rPr lang="en-US" sz="1800" dirty="0"/>
              <a:t>: </a:t>
            </a:r>
            <a:r>
              <a:rPr lang="ru-RU" sz="1800" dirty="0"/>
              <a:t>Андрей 					  Имя</a:t>
            </a:r>
            <a:r>
              <a:rPr lang="en-US" sz="1800" dirty="0"/>
              <a:t>: </a:t>
            </a:r>
            <a:r>
              <a:rPr lang="ru-RU" sz="1800" dirty="0"/>
              <a:t>Алиса 						</a:t>
            </a:r>
            <a:r>
              <a:rPr lang="en-US" sz="1800" dirty="0"/>
              <a:t>          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Профессия</a:t>
            </a:r>
            <a:r>
              <a:rPr lang="en-US" sz="1800" dirty="0"/>
              <a:t>:</a:t>
            </a:r>
            <a:r>
              <a:rPr lang="ru-RU" sz="1800" dirty="0"/>
              <a:t> Инженер			  Профессия</a:t>
            </a:r>
            <a:r>
              <a:rPr lang="en-US" sz="1800" dirty="0"/>
              <a:t>:</a:t>
            </a:r>
            <a:r>
              <a:rPr lang="ru-RU" sz="1800" dirty="0"/>
              <a:t> Дизайнер</a:t>
            </a:r>
          </a:p>
          <a:p>
            <a:pPr marL="0" indent="0">
              <a:buNone/>
            </a:pPr>
            <a:r>
              <a:rPr lang="ru-RU" sz="1800" dirty="0"/>
              <a:t>Возраст</a:t>
            </a:r>
            <a:r>
              <a:rPr lang="en-US" sz="1800" dirty="0"/>
              <a:t>: 30</a:t>
            </a:r>
            <a:r>
              <a:rPr lang="ru-RU" sz="1800" dirty="0"/>
              <a:t>					  Возраст</a:t>
            </a:r>
            <a:r>
              <a:rPr lang="en-US" sz="1800" dirty="0"/>
              <a:t>: </a:t>
            </a:r>
            <a:r>
              <a:rPr lang="ru-RU" sz="1800" dirty="0"/>
              <a:t>21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466982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всем материалам(2/6)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Программа принимает 4 целых числа. Посчитайте сумму первых двух чисел и отдельно сумму других двух. Разделите первую сумму на вторую. Выведите результат на экран.</a:t>
            </a:r>
          </a:p>
          <a:p>
            <a:pPr marL="0" indent="0">
              <a:buNone/>
            </a:pPr>
            <a:endParaRPr lang="ru-RU" sz="1800" b="1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</a:t>
            </a:r>
          </a:p>
          <a:p>
            <a:pPr marL="0" indent="0">
              <a:buNone/>
            </a:pPr>
            <a:r>
              <a:rPr lang="ru-RU" sz="1800" dirty="0"/>
              <a:t>10</a:t>
            </a:r>
            <a:r>
              <a:rPr lang="en-US" sz="1800" dirty="0"/>
              <a:t>					</a:t>
            </a:r>
            <a:r>
              <a:rPr lang="ru-RU" sz="1800" dirty="0"/>
              <a:t>	          5</a:t>
            </a:r>
            <a:endParaRPr lang="en-US" sz="1800" dirty="0"/>
          </a:p>
          <a:p>
            <a:pPr marL="0" indent="0">
              <a:buNone/>
            </a:pPr>
            <a:r>
              <a:rPr lang="ru-RU" sz="1800" dirty="0"/>
              <a:t>10						          5</a:t>
            </a:r>
          </a:p>
          <a:p>
            <a:pPr marL="0" indent="0">
              <a:buNone/>
            </a:pPr>
            <a:r>
              <a:rPr lang="ru-RU" sz="1800" dirty="0"/>
              <a:t>5                                                        10</a:t>
            </a:r>
          </a:p>
          <a:p>
            <a:pPr marL="0" indent="0">
              <a:buNone/>
            </a:pPr>
            <a:r>
              <a:rPr lang="ru-RU" sz="1800" dirty="0"/>
              <a:t>5							  10                                                         </a:t>
            </a:r>
            <a:r>
              <a:rPr lang="en-US" sz="1800" dirty="0"/>
              <a:t>  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</a:t>
            </a:r>
          </a:p>
          <a:p>
            <a:pPr marL="0" indent="0">
              <a:buNone/>
            </a:pPr>
            <a:r>
              <a:rPr lang="ru-RU" sz="1800" dirty="0"/>
              <a:t>2.0					  	          0.5						</a:t>
            </a:r>
            <a:r>
              <a:rPr lang="en-US" sz="1800" dirty="0"/>
              <a:t>          </a:t>
            </a: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231091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всем материалам(3/6)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Программа принимает 3 целых числа. Нужно определить какое из них является максимальным и вывести его на экран. У всех трёх чисел должны быть разные значения.</a:t>
            </a:r>
          </a:p>
          <a:p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100							  -1                                                             99</a:t>
            </a:r>
          </a:p>
          <a:p>
            <a:pPr marL="0" indent="0">
              <a:buNone/>
            </a:pPr>
            <a:r>
              <a:rPr lang="ru-RU" sz="1800" dirty="0"/>
              <a:t>200							   0								  98</a:t>
            </a:r>
          </a:p>
          <a:p>
            <a:pPr marL="0" indent="0">
              <a:buNone/>
            </a:pPr>
            <a:r>
              <a:rPr lang="ru-RU" sz="1800" dirty="0"/>
              <a:t>300                                                     9                                                              100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300                                		           9								   100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573459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всем материалам(4/6)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Программа принимает 3 целых числа. Нужно определить какое из них является средним(больше одного, но меньше другого) и вывести его на экран. У всех трёх чисел должны быть разные значения.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10							  0                                                              555</a:t>
            </a:r>
          </a:p>
          <a:p>
            <a:pPr marL="0" indent="0">
              <a:buNone/>
            </a:pPr>
            <a:r>
              <a:rPr lang="ru-RU" sz="1800" dirty="0"/>
              <a:t>20							  5								  333</a:t>
            </a:r>
          </a:p>
          <a:p>
            <a:pPr marL="0" indent="0">
              <a:buNone/>
            </a:pPr>
            <a:r>
              <a:rPr lang="ru-RU" sz="1800" dirty="0"/>
              <a:t>30                                                      1                                                               777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20                                		          1								  555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7757344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всем материалам(5/6)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6348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программу, которая принимает целое число и выводит текст, как в примере. </a:t>
            </a:r>
          </a:p>
          <a:p>
            <a:pPr marL="0" indent="0">
              <a:buNone/>
            </a:pPr>
            <a:r>
              <a:rPr lang="ru-RU" sz="1800" dirty="0"/>
              <a:t>Обратите внимание на наличие пробелов и точек, в ответе они также должны быть.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                                         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                    </a:t>
            </a:r>
            <a:r>
              <a:rPr lang="ru-RU" sz="1800" dirty="0"/>
              <a:t>7												     -10			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					   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</a:t>
            </a:r>
          </a:p>
          <a:p>
            <a:pPr marL="0" indent="0">
              <a:buNone/>
            </a:pPr>
            <a:r>
              <a:rPr lang="ru-RU" sz="1800" dirty="0"/>
              <a:t>Следующее число для числа 7 это 8.                                         Следующее число для числа -10 это -9.</a:t>
            </a:r>
          </a:p>
          <a:p>
            <a:pPr marL="0" indent="0">
              <a:buNone/>
            </a:pPr>
            <a:r>
              <a:rPr lang="ru-RU" sz="1800" dirty="0"/>
              <a:t>Предыдущее число для числа 7 это 6.					     Предыдущее число для числа -10 это -11.</a:t>
            </a:r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57974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Задачи по всем материалам(6/6)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262852"/>
            <a:ext cx="10830758" cy="51634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Напишите программу которая будет определять, достаточно ли у пользователя денег для покупки товаров.</a:t>
            </a:r>
            <a:r>
              <a:rPr lang="en-US" sz="1800" dirty="0"/>
              <a:t> </a:t>
            </a:r>
            <a:r>
              <a:rPr lang="ru-RU" sz="1800" dirty="0"/>
              <a:t>На вход принимается целое число(количество денег пользователя) с сообщением подсказкой</a:t>
            </a:r>
            <a:r>
              <a:rPr lang="en-US" sz="1800" dirty="0"/>
              <a:t>: "</a:t>
            </a:r>
            <a:r>
              <a:rPr lang="ru-RU" sz="1800" dirty="0"/>
              <a:t>Сколько у Вас денег</a:t>
            </a:r>
            <a:r>
              <a:rPr lang="en-US" sz="1800" dirty="0"/>
              <a:t>?"</a:t>
            </a:r>
            <a:r>
              <a:rPr lang="ru-RU" sz="1800" dirty="0"/>
              <a:t>. Далее, нужно определить хватит ли денег на покупку всех товаров.</a:t>
            </a:r>
          </a:p>
          <a:p>
            <a:pPr marL="0" indent="0">
              <a:buNone/>
            </a:pPr>
            <a:r>
              <a:rPr lang="ru-RU" sz="1800" dirty="0"/>
              <a:t>Если пользователю нужна сдача, тогда на экран нужно вывести общую стоимость товаров и далее отдельно строкой – сумму его сдачи. Если сдача ненужна, тогда нужно вывести сообщение</a:t>
            </a:r>
            <a:r>
              <a:rPr lang="en-US" sz="1800" dirty="0"/>
              <a:t>:</a:t>
            </a:r>
            <a:r>
              <a:rPr lang="ru-RU" sz="1800" dirty="0"/>
              <a:t> </a:t>
            </a:r>
            <a:r>
              <a:rPr lang="en-US" sz="1800" dirty="0"/>
              <a:t>"</a:t>
            </a:r>
            <a:r>
              <a:rPr lang="ru-RU" sz="1800" dirty="0"/>
              <a:t>Спасибо, что без сдачи!</a:t>
            </a:r>
            <a:r>
              <a:rPr lang="en-US" sz="1800" dirty="0"/>
              <a:t>"</a:t>
            </a:r>
            <a:r>
              <a:rPr lang="ru-RU" sz="1800" dirty="0"/>
              <a:t>. В других ситуациях, сообщение о нехватке суммы.</a:t>
            </a:r>
          </a:p>
          <a:p>
            <a:pPr marL="0" indent="0">
              <a:buNone/>
            </a:pPr>
            <a:r>
              <a:rPr lang="ru-RU" sz="1800" dirty="0"/>
              <a:t>По условию, нужно купить</a:t>
            </a:r>
            <a:r>
              <a:rPr lang="en-US" sz="1800" dirty="0"/>
              <a:t>:</a:t>
            </a:r>
            <a:r>
              <a:rPr lang="ru-RU" sz="1800" dirty="0"/>
              <a:t> хлеб (стоит 30 рублей), молоко (стоит 50 рублей) и сыр (стоит 100 руб)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</a:t>
            </a:r>
            <a:r>
              <a:rPr lang="en-US" sz="1800" b="1" dirty="0"/>
              <a:t>        </a:t>
            </a: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Сколько у Вас денег? </a:t>
            </a:r>
            <a:r>
              <a:rPr lang="en-US" sz="1800" dirty="0"/>
              <a:t>210		</a:t>
            </a:r>
            <a:r>
              <a:rPr lang="ru-RU" sz="1800" dirty="0"/>
              <a:t> </a:t>
            </a:r>
            <a:r>
              <a:rPr lang="en-US" sz="1800" dirty="0"/>
              <a:t>       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Сколько у Вас денег? </a:t>
            </a:r>
            <a:r>
              <a:rPr lang="ru-RU" sz="1800" dirty="0"/>
              <a:t>180</a:t>
            </a:r>
            <a:r>
              <a:rPr lang="en-US" sz="1800" dirty="0"/>
              <a:t> </a:t>
            </a:r>
            <a:r>
              <a:rPr lang="ru-RU" sz="1800" dirty="0"/>
              <a:t>                       </a:t>
            </a: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Сколько у Вас денег?</a:t>
            </a:r>
            <a:r>
              <a:rPr lang="ru-RU" sz="1800" dirty="0"/>
              <a:t> 100</a:t>
            </a:r>
            <a:endParaRPr lang="en-US" sz="1800" dirty="0"/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</a:t>
            </a:r>
            <a:r>
              <a:rPr lang="en-US" sz="1800" b="1" dirty="0"/>
              <a:t>       </a:t>
            </a: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</a:t>
            </a:r>
            <a:r>
              <a:rPr lang="en-US" sz="1800" b="1" dirty="0"/>
              <a:t> </a:t>
            </a: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Стоимость товаров</a:t>
            </a:r>
            <a:r>
              <a:rPr lang="en-US" sz="1800" dirty="0"/>
              <a:t>:</a:t>
            </a:r>
            <a:r>
              <a:rPr lang="ru-RU" sz="1800" dirty="0"/>
              <a:t> 180 руб             </a:t>
            </a:r>
            <a:r>
              <a:rPr lang="en-US" sz="1800" dirty="0"/>
              <a:t>      </a:t>
            </a:r>
            <a:r>
              <a:rPr lang="ru-RU" sz="1800" dirty="0"/>
              <a:t>Спасибо, что без сдачи!                        </a:t>
            </a:r>
            <a:r>
              <a:rPr lang="en-US" sz="1800" dirty="0"/>
              <a:t> </a:t>
            </a:r>
            <a:r>
              <a:rPr lang="ru-RU" sz="1800" dirty="0"/>
              <a:t>Недостаточно денег</a:t>
            </a:r>
          </a:p>
          <a:p>
            <a:pPr marL="0" indent="0">
              <a:buNone/>
            </a:pPr>
            <a:r>
              <a:rPr lang="ru-RU" sz="1800" dirty="0"/>
              <a:t>Ваша сдача</a:t>
            </a:r>
            <a:r>
              <a:rPr lang="en-US" sz="1800" dirty="0"/>
              <a:t>:</a:t>
            </a:r>
            <a:r>
              <a:rPr lang="ru-RU" sz="1800" dirty="0"/>
              <a:t> 30 руб                                                     						</a:t>
            </a:r>
            <a:r>
              <a:rPr lang="en-US" sz="1800" dirty="0"/>
              <a:t>     </a:t>
            </a: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221511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6B22-6B71-447F-8041-DBF43F13C17A}"/>
              </a:ext>
            </a:extLst>
          </p:cNvPr>
          <p:cNvSpPr txBox="1">
            <a:spLocks/>
          </p:cNvSpPr>
          <p:nvPr/>
        </p:nvSpPr>
        <p:spPr>
          <a:xfrm>
            <a:off x="1307240" y="493861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Дополнительная задача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861AA-E81A-4E29-9E17-70FD419D2A7F}"/>
              </a:ext>
            </a:extLst>
          </p:cNvPr>
          <p:cNvSpPr txBox="1">
            <a:spLocks/>
          </p:cNvSpPr>
          <p:nvPr/>
        </p:nvSpPr>
        <p:spPr>
          <a:xfrm>
            <a:off x="719091" y="1136342"/>
            <a:ext cx="10830758" cy="528994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Из передачи </a:t>
            </a:r>
            <a:r>
              <a:rPr lang="en-US" sz="1800" dirty="0"/>
              <a:t>"</a:t>
            </a:r>
            <a:r>
              <a:rPr lang="ru-RU" sz="1800" dirty="0"/>
              <a:t>Спорт</a:t>
            </a:r>
            <a:r>
              <a:rPr lang="en-US" sz="1800" dirty="0"/>
              <a:t>"</a:t>
            </a:r>
            <a:r>
              <a:rPr lang="ru-RU" sz="1800" dirty="0"/>
              <a:t> Маша узнала, что рекомендуется бегать </a:t>
            </a:r>
            <a:r>
              <a:rPr lang="en-US" sz="1800" b="1" dirty="0"/>
              <a:t>X</a:t>
            </a:r>
            <a:r>
              <a:rPr lang="en-US" sz="1800" dirty="0"/>
              <a:t> </a:t>
            </a:r>
            <a:r>
              <a:rPr lang="ru-RU" sz="1800" dirty="0"/>
              <a:t> метров в неделю, но также, сказали, что бегать слишком много тоже вредно и не стоит бегать более </a:t>
            </a:r>
            <a:r>
              <a:rPr lang="en-US" sz="1800" b="1" dirty="0"/>
              <a:t>Y</a:t>
            </a:r>
            <a:r>
              <a:rPr lang="ru-RU" sz="1800" dirty="0"/>
              <a:t> метров. Сейчас Маша бегает </a:t>
            </a:r>
            <a:r>
              <a:rPr lang="en-US" sz="1800" b="1" dirty="0"/>
              <a:t>Z</a:t>
            </a:r>
            <a:r>
              <a:rPr lang="ru-RU" sz="1800" dirty="0"/>
              <a:t> метров в неделю. Если Маша соблюдает рекомендации передачи </a:t>
            </a:r>
            <a:r>
              <a:rPr lang="en-US" sz="1800" dirty="0"/>
              <a:t>"</a:t>
            </a:r>
            <a:r>
              <a:rPr lang="ru-RU" sz="1800" dirty="0"/>
              <a:t>Спорт</a:t>
            </a:r>
            <a:r>
              <a:rPr lang="en-US" sz="1800" dirty="0"/>
              <a:t>"</a:t>
            </a:r>
            <a:r>
              <a:rPr lang="ru-RU" sz="1800" dirty="0"/>
              <a:t>, выведите сообщение </a:t>
            </a:r>
            <a:r>
              <a:rPr lang="en-US" sz="1800" dirty="0"/>
              <a:t>"</a:t>
            </a:r>
            <a:r>
              <a:rPr lang="ru-RU" sz="1800" dirty="0"/>
              <a:t>Это нормально</a:t>
            </a:r>
            <a:r>
              <a:rPr lang="en-US" sz="1800" dirty="0"/>
              <a:t>"</a:t>
            </a:r>
            <a:r>
              <a:rPr lang="ru-RU" sz="1800" dirty="0"/>
              <a:t>. Если Маша бегает менее </a:t>
            </a:r>
            <a:r>
              <a:rPr lang="en-US" sz="1800" b="1" dirty="0"/>
              <a:t>X</a:t>
            </a:r>
            <a:r>
              <a:rPr lang="ru-RU" sz="1800" dirty="0"/>
              <a:t> метров, выведите </a:t>
            </a:r>
            <a:r>
              <a:rPr lang="en-US" sz="1800" dirty="0"/>
              <a:t>"</a:t>
            </a:r>
            <a:r>
              <a:rPr lang="ru-RU" sz="1800" dirty="0"/>
              <a:t>Слишком мало бегаете</a:t>
            </a:r>
            <a:r>
              <a:rPr lang="en-US" sz="1800" dirty="0"/>
              <a:t>"</a:t>
            </a:r>
            <a:r>
              <a:rPr lang="ru-RU" sz="1800" dirty="0"/>
              <a:t>, если же более </a:t>
            </a:r>
            <a:r>
              <a:rPr lang="en-US" sz="1800" b="1" dirty="0"/>
              <a:t>Y</a:t>
            </a:r>
            <a:r>
              <a:rPr lang="en-US" sz="1800" dirty="0"/>
              <a:t> </a:t>
            </a:r>
            <a:r>
              <a:rPr lang="ru-RU" sz="1800" dirty="0"/>
              <a:t>метров, то выведите </a:t>
            </a:r>
            <a:r>
              <a:rPr lang="en-US" sz="1800" dirty="0"/>
              <a:t>"</a:t>
            </a:r>
            <a:r>
              <a:rPr lang="ru-RU" sz="1800" dirty="0"/>
              <a:t>Много бегать вредно</a:t>
            </a:r>
            <a:r>
              <a:rPr lang="en-US" sz="1800" dirty="0"/>
              <a:t>"</a:t>
            </a:r>
            <a:r>
              <a:rPr lang="ru-RU" sz="1800" dirty="0"/>
              <a:t>.</a:t>
            </a:r>
          </a:p>
          <a:p>
            <a:r>
              <a:rPr lang="ru-RU" sz="1800" dirty="0"/>
              <a:t>Вводимое число </a:t>
            </a:r>
            <a:r>
              <a:rPr lang="en-US" sz="1800" dirty="0"/>
              <a:t>X </a:t>
            </a:r>
            <a:r>
              <a:rPr lang="ru-RU" sz="1800" dirty="0"/>
              <a:t>всегда меньше либо равно </a:t>
            </a:r>
            <a:r>
              <a:rPr lang="en-US" sz="1800" dirty="0"/>
              <a:t>Y</a:t>
            </a:r>
            <a:endParaRPr lang="ru-RU" sz="1800" dirty="0"/>
          </a:p>
          <a:p>
            <a:r>
              <a:rPr lang="ru-RU" sz="1800" dirty="0"/>
              <a:t>На вход программе в три строки подаются переменные в следующем порядке: </a:t>
            </a:r>
            <a:r>
              <a:rPr lang="en-US" sz="1800" dirty="0"/>
              <a:t>X, Y, Z</a:t>
            </a:r>
            <a:endParaRPr lang="ru-RU" sz="1800" dirty="0"/>
          </a:p>
          <a:p>
            <a:r>
              <a:rPr lang="ru-RU" sz="1800" dirty="0"/>
              <a:t>Будьте внимательны при выборе операторов</a:t>
            </a:r>
            <a:r>
              <a:rPr lang="en-US" sz="1800" dirty="0"/>
              <a:t>:</a:t>
            </a:r>
            <a:r>
              <a:rPr lang="ru-RU" sz="1800" dirty="0"/>
              <a:t> &lt; и ≤</a:t>
            </a:r>
            <a:r>
              <a:rPr lang="en-US" sz="1800" dirty="0"/>
              <a:t> ; </a:t>
            </a:r>
            <a:r>
              <a:rPr lang="ru-RU" sz="1800" dirty="0"/>
              <a:t>&gt; и ≥ </a:t>
            </a:r>
            <a:endParaRPr lang="en-US" sz="1800" dirty="0"/>
          </a:p>
          <a:p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Пример ввода</a:t>
            </a:r>
            <a:r>
              <a:rPr lang="en-US" sz="1800" b="1" dirty="0"/>
              <a:t>:</a:t>
            </a:r>
            <a:r>
              <a:rPr lang="ru-RU" sz="1800" b="1" dirty="0"/>
              <a:t>  				  Пример ввода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   Пример ввода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9000							  10000                                                          9000</a:t>
            </a:r>
          </a:p>
          <a:p>
            <a:pPr marL="0" indent="0">
              <a:buNone/>
            </a:pPr>
            <a:r>
              <a:rPr lang="ru-RU" sz="1800" dirty="0"/>
              <a:t>12000					          14000							     11000</a:t>
            </a:r>
          </a:p>
          <a:p>
            <a:pPr marL="0" indent="0">
              <a:buNone/>
            </a:pPr>
            <a:r>
              <a:rPr lang="ru-RU" sz="1800" dirty="0"/>
              <a:t>11000                                                 22000                                                         6000</a:t>
            </a:r>
          </a:p>
          <a:p>
            <a:pPr marL="0" indent="0">
              <a:buNone/>
            </a:pPr>
            <a:r>
              <a:rPr lang="ru-RU" sz="1800" b="1" dirty="0"/>
              <a:t>Пример вывода</a:t>
            </a:r>
            <a:r>
              <a:rPr lang="en-US" sz="1800" b="1" dirty="0"/>
              <a:t>:</a:t>
            </a:r>
            <a:r>
              <a:rPr lang="ru-RU" sz="1800" b="1" dirty="0"/>
              <a:t>				  Пример вывода</a:t>
            </a:r>
            <a:r>
              <a:rPr lang="en-US" sz="1800" b="1" dirty="0"/>
              <a:t>:</a:t>
            </a:r>
            <a:r>
              <a:rPr lang="ru-RU" sz="1800" b="1" dirty="0"/>
              <a:t>                                    Пример вывода</a:t>
            </a:r>
            <a:r>
              <a:rPr lang="en-US" sz="1800" b="1" dirty="0"/>
              <a:t>:</a:t>
            </a:r>
            <a:endParaRPr lang="ru-RU" sz="1800" b="1" dirty="0"/>
          </a:p>
          <a:p>
            <a:pPr marL="0" indent="0">
              <a:buNone/>
            </a:pPr>
            <a:r>
              <a:rPr lang="ru-RU" sz="1800" dirty="0"/>
              <a:t>Это</a:t>
            </a:r>
            <a:r>
              <a:rPr lang="en-US" sz="1800" dirty="0"/>
              <a:t> </a:t>
            </a:r>
            <a:r>
              <a:rPr lang="ru-RU" sz="1800" dirty="0"/>
              <a:t>нормально				  Много бегать вредно				    Слишком мало бегаете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95183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822E-BCEF-4B79-B90A-FA0F28D2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CA6F-A50E-453D-88DA-765F2E16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932" y="2556932"/>
            <a:ext cx="10271464" cy="331893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Попробуйте решить как можно больше задач из всего урока. Код нужно отправить по ссылке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https://forms.gle/7LU7rwY7rKoBxrRP7</a:t>
            </a:r>
            <a:endParaRPr lang="ru-RU" sz="1800" dirty="0"/>
          </a:p>
          <a:p>
            <a:pPr lvl="1"/>
            <a:r>
              <a:rPr lang="ru-RU" sz="1800" dirty="0"/>
              <a:t>Проанализируйте ошибки если они есть</a:t>
            </a:r>
          </a:p>
          <a:p>
            <a:pPr lvl="1"/>
            <a:endParaRPr lang="ru-RU" sz="1800" dirty="0"/>
          </a:p>
          <a:p>
            <a:pPr marL="457200" indent="-457200">
              <a:buFont typeface="+mj-lt"/>
              <a:buAutoNum type="arabicPeriod" startAt="2"/>
            </a:pPr>
            <a:r>
              <a:rPr lang="ru-RU" sz="1800" dirty="0"/>
              <a:t>Заполните анкету обратной связи по ссылке</a:t>
            </a:r>
            <a:r>
              <a:rPr lang="en-US" sz="1800" dirty="0"/>
              <a:t>: </a:t>
            </a:r>
            <a:r>
              <a:rPr lang="en-US" sz="1800" dirty="0">
                <a:hlinkClick r:id="rId3"/>
              </a:rPr>
              <a:t>https://forms.gle/4tejDfr7qm45LbLU7</a:t>
            </a:r>
            <a:endParaRPr lang="ru-RU" dirty="0"/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F5D6472E-89E0-4EE8-AF7B-D552875042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707" y="5024088"/>
            <a:ext cx="1568497" cy="11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15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3692</TotalTime>
  <Words>4462</Words>
  <Application>Microsoft Office PowerPoint</Application>
  <PresentationFormat>Widescreen</PresentationFormat>
  <Paragraphs>806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Garamond</vt:lpstr>
      <vt:lpstr>Organic</vt:lpstr>
      <vt:lpstr>Урок 1</vt:lpstr>
      <vt:lpstr>Структура 1-го занятия</vt:lpstr>
      <vt:lpstr>Что такое Python?</vt:lpstr>
      <vt:lpstr>Как работать с python?</vt:lpstr>
      <vt:lpstr>PowerPoint Presentation</vt:lpstr>
      <vt:lpstr>PowerPoint Presentation</vt:lpstr>
      <vt:lpstr>PowerPoint Presentation</vt:lpstr>
      <vt:lpstr>Установка PyCharm</vt:lpstr>
      <vt:lpstr>Запуск PyCharm (1/3)</vt:lpstr>
      <vt:lpstr>Запуск PyCharm (2/3)</vt:lpstr>
      <vt:lpstr>Запуск PyCharm (3/3)</vt:lpstr>
      <vt:lpstr>Создание файла в PyCharm</vt:lpstr>
      <vt:lpstr>PowerPoint Presentation</vt:lpstr>
      <vt:lpstr>PowerPoint Presentation</vt:lpstr>
      <vt:lpstr>Математические операции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Строки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Логические операции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Задачи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Vladimir Vladimir</dc:creator>
  <cp:lastModifiedBy>Vladimir Vladimir</cp:lastModifiedBy>
  <cp:revision>451</cp:revision>
  <dcterms:created xsi:type="dcterms:W3CDTF">2020-05-19T10:31:08Z</dcterms:created>
  <dcterms:modified xsi:type="dcterms:W3CDTF">2020-12-19T09:48:16Z</dcterms:modified>
</cp:coreProperties>
</file>