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316" r:id="rId3"/>
    <p:sldId id="259" r:id="rId4"/>
    <p:sldId id="463" r:id="rId5"/>
    <p:sldId id="380" r:id="rId6"/>
    <p:sldId id="300" r:id="rId7"/>
    <p:sldId id="302" r:id="rId8"/>
    <p:sldId id="381" r:id="rId9"/>
    <p:sldId id="303" r:id="rId10"/>
    <p:sldId id="382" r:id="rId11"/>
    <p:sldId id="304" r:id="rId12"/>
    <p:sldId id="309" r:id="rId13"/>
    <p:sldId id="310" r:id="rId14"/>
    <p:sldId id="311" r:id="rId15"/>
    <p:sldId id="464" r:id="rId16"/>
    <p:sldId id="313" r:id="rId17"/>
    <p:sldId id="417" r:id="rId18"/>
    <p:sldId id="418" r:id="rId19"/>
    <p:sldId id="419" r:id="rId20"/>
    <p:sldId id="421" r:id="rId21"/>
    <p:sldId id="422" r:id="rId22"/>
    <p:sldId id="314" r:id="rId23"/>
    <p:sldId id="384" r:id="rId24"/>
    <p:sldId id="466" r:id="rId25"/>
    <p:sldId id="467" r:id="rId26"/>
    <p:sldId id="317" r:id="rId27"/>
    <p:sldId id="321" r:id="rId28"/>
    <p:sldId id="386" r:id="rId29"/>
    <p:sldId id="322" r:id="rId30"/>
    <p:sldId id="387" r:id="rId31"/>
    <p:sldId id="389" r:id="rId32"/>
    <p:sldId id="388" r:id="rId33"/>
    <p:sldId id="324" r:id="rId34"/>
    <p:sldId id="325" r:id="rId35"/>
    <p:sldId id="269" r:id="rId36"/>
    <p:sldId id="398" r:id="rId37"/>
    <p:sldId id="355" r:id="rId38"/>
    <p:sldId id="352" r:id="rId39"/>
    <p:sldId id="356" r:id="rId40"/>
    <p:sldId id="354" r:id="rId41"/>
    <p:sldId id="266" r:id="rId42"/>
    <p:sldId id="281" r:id="rId43"/>
    <p:sldId id="361" r:id="rId44"/>
    <p:sldId id="362" r:id="rId45"/>
    <p:sldId id="376" r:id="rId46"/>
    <p:sldId id="379" r:id="rId47"/>
    <p:sldId id="400" r:id="rId48"/>
    <p:sldId id="370" r:id="rId49"/>
    <p:sldId id="429" r:id="rId50"/>
    <p:sldId id="372" r:id="rId51"/>
    <p:sldId id="462" r:id="rId52"/>
    <p:sldId id="290" r:id="rId53"/>
    <p:sldId id="402" r:id="rId54"/>
    <p:sldId id="277" r:id="rId55"/>
    <p:sldId id="267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1930" autoAdjust="0"/>
  </p:normalViewPr>
  <p:slideViewPr>
    <p:cSldViewPr snapToGrid="0">
      <p:cViewPr varScale="1">
        <p:scale>
          <a:sx n="105" d="100"/>
          <a:sy n="105" d="100"/>
        </p:scale>
        <p:origin x="7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036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49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39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115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7781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15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25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87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137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923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64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014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053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638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342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852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284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43072F-78B8-44AF-9DD3-F898C077DA90}" type="datetimeFigureOut">
              <a:rPr lang="ru-RU" smtClean="0"/>
              <a:t>11.04.2020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08D7905-6456-4679-91FE-6C8B992CAD0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9922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7663-6FC4-4419-B822-0D8298BC17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3 урок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6774F-8F18-4651-AB53-16B99888FB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Жизненный цикл бага, техники тест-дизайна</a:t>
            </a:r>
          </a:p>
        </p:txBody>
      </p:sp>
    </p:spTree>
    <p:extLst>
      <p:ext uri="{BB962C8B-B14F-4D97-AF65-F5344CB8AC3E}">
        <p14:creationId xmlns:p14="http://schemas.microsoft.com/office/powerpoint/2010/main" val="216698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Багтрекинговые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3" y="2446986"/>
            <a:ext cx="10703414" cy="3746860"/>
          </a:xfrm>
        </p:spPr>
        <p:txBody>
          <a:bodyPr>
            <a:normAutofit/>
          </a:bodyPr>
          <a:lstStyle/>
          <a:p>
            <a:r>
              <a:rPr lang="ru-RU" dirty="0"/>
              <a:t>Это программа, созданная с целью помочь команде разработки вести учет и контроль ошибок, найденных в программах, а также следить за процессом устранения этих ошибок.</a:t>
            </a:r>
          </a:p>
          <a:p>
            <a:r>
              <a:rPr lang="ru-RU" b="1" dirty="0"/>
              <a:t>Наиболее популярные</a:t>
            </a:r>
            <a:r>
              <a:rPr lang="en-US" b="1" dirty="0"/>
              <a:t>:</a:t>
            </a:r>
            <a:endParaRPr lang="ru-RU" b="1" dirty="0"/>
          </a:p>
          <a:p>
            <a:pPr lvl="1"/>
            <a:r>
              <a:rPr lang="en-US" dirty="0" err="1"/>
              <a:t>Atlassian</a:t>
            </a:r>
            <a:r>
              <a:rPr lang="en-US" dirty="0"/>
              <a:t> JIRA</a:t>
            </a:r>
          </a:p>
          <a:p>
            <a:pPr lvl="1"/>
            <a:r>
              <a:rPr lang="en-US" dirty="0" err="1"/>
              <a:t>YouTrack</a:t>
            </a:r>
            <a:endParaRPr lang="en-US" dirty="0"/>
          </a:p>
          <a:p>
            <a:pPr lvl="1"/>
            <a:r>
              <a:rPr lang="en-US" dirty="0"/>
              <a:t>Mantis</a:t>
            </a:r>
          </a:p>
          <a:p>
            <a:pPr lvl="1"/>
            <a:r>
              <a:rPr lang="en-US" dirty="0" err="1"/>
              <a:t>Redmine</a:t>
            </a:r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0558" y="5243728"/>
            <a:ext cx="950118" cy="9501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203" y="3756345"/>
            <a:ext cx="1283594" cy="6077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001" y="4679776"/>
            <a:ext cx="1347050" cy="10500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365" y="4244243"/>
            <a:ext cx="871068" cy="87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34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Bug Report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Баг</a:t>
            </a:r>
            <a:r>
              <a:rPr lang="en-US" b="1" dirty="0"/>
              <a:t>-</a:t>
            </a:r>
            <a:r>
              <a:rPr lang="ru-RU" b="1" dirty="0"/>
              <a:t>репорт</a:t>
            </a:r>
            <a:r>
              <a:rPr lang="en-US" b="1" dirty="0"/>
              <a:t> </a:t>
            </a:r>
            <a:r>
              <a:rPr lang="ru-RU" dirty="0"/>
              <a:t>– это технический документ, содержащий информацию о баге и об условиях возникновения данного бага.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1FD53-FDBC-408E-81D8-3F10F74D6E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624" y="4057638"/>
            <a:ext cx="4288536" cy="218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4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Bug Report</a:t>
            </a:r>
            <a:r>
              <a:rPr lang="ru-RU" dirty="0"/>
              <a:t>. Составляющие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Обязательные поля</a:t>
            </a:r>
            <a:r>
              <a:rPr lang="en-US" b="1" dirty="0"/>
              <a:t>:</a:t>
            </a:r>
            <a:endParaRPr lang="ru-RU" dirty="0"/>
          </a:p>
          <a:p>
            <a:r>
              <a:rPr lang="ru-RU" dirty="0"/>
              <a:t>Короткое описание</a:t>
            </a:r>
          </a:p>
          <a:p>
            <a:r>
              <a:rPr lang="ru-RU" dirty="0"/>
              <a:t>Шаги для воспроизведения</a:t>
            </a:r>
          </a:p>
          <a:p>
            <a:r>
              <a:rPr lang="ru-RU" dirty="0"/>
              <a:t>Результат</a:t>
            </a:r>
          </a:p>
          <a:p>
            <a:r>
              <a:rPr lang="ru-RU" dirty="0"/>
              <a:t>Ожидаемый результат</a:t>
            </a:r>
          </a:p>
          <a:p>
            <a:r>
              <a:rPr lang="ru-RU" dirty="0"/>
              <a:t>Серьезность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8589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ru-RU" dirty="0"/>
            </a:br>
            <a:r>
              <a:rPr lang="ru-RU" dirty="0"/>
              <a:t>Короткое описание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Короткое описание бага </a:t>
            </a:r>
            <a:r>
              <a:rPr lang="ru-RU" dirty="0"/>
              <a:t>- в одном предложении, коротко и ясно описывается смысл </a:t>
            </a:r>
            <a:r>
              <a:rPr lang="ru-RU" dirty="0" err="1"/>
              <a:t>баг</a:t>
            </a:r>
            <a:r>
              <a:rPr lang="ru-RU" dirty="0"/>
              <a:t> репорта, а именно</a:t>
            </a:r>
            <a:r>
              <a:rPr lang="en-US" dirty="0"/>
              <a:t>:</a:t>
            </a:r>
            <a:r>
              <a:rPr lang="ru-RU" dirty="0"/>
              <a:t> что и где не работает.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1986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ru-RU" dirty="0"/>
            </a:br>
            <a:r>
              <a:rPr lang="ru-RU" dirty="0"/>
              <a:t>Короткое описание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Рекомендуется использовать принцип (</a:t>
            </a:r>
            <a:r>
              <a:rPr lang="ru-RU" b="1" dirty="0"/>
              <a:t>Где? Что? Когда?)</a:t>
            </a:r>
          </a:p>
          <a:p>
            <a:r>
              <a:rPr lang="ru-RU" dirty="0"/>
              <a:t>Описание не должно быть слишком длинным</a:t>
            </a:r>
          </a:p>
          <a:p>
            <a:r>
              <a:rPr lang="ru-RU" dirty="0"/>
              <a:t>Прочитав короткое описание, должно быть </a:t>
            </a:r>
          </a:p>
          <a:p>
            <a:pPr marL="0" indent="0">
              <a:buNone/>
            </a:pPr>
            <a:r>
              <a:rPr lang="ru-RU" dirty="0"/>
              <a:t>    понятно, в чем состоит проблема</a:t>
            </a:r>
          </a:p>
          <a:p>
            <a:endParaRPr lang="ru-RU" dirty="0"/>
          </a:p>
          <a:p>
            <a:endParaRPr lang="ru-RU" dirty="0"/>
          </a:p>
          <a:p>
            <a:endParaRPr lang="ru-RU" b="1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741" y="4007381"/>
            <a:ext cx="3362124" cy="223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3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ru-RU" dirty="0"/>
            </a:br>
            <a:r>
              <a:rPr lang="ru-RU" dirty="0"/>
              <a:t>Короткое описание. Примеры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Плохо</a:t>
            </a:r>
            <a:r>
              <a:rPr lang="ru-RU" dirty="0"/>
              <a:t> – «В отчёте</a:t>
            </a:r>
            <a:r>
              <a:rPr lang="en-US" dirty="0"/>
              <a:t> “X”</a:t>
            </a:r>
            <a:r>
              <a:rPr lang="ru-RU" dirty="0"/>
              <a:t> при добавлении файла комментария текстовый комментарий стирается».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033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ru-RU" dirty="0"/>
            </a:br>
            <a:r>
              <a:rPr lang="ru-RU" dirty="0"/>
              <a:t>Короткое описание. Примеры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Плохо</a:t>
            </a:r>
            <a:r>
              <a:rPr lang="ru-RU" dirty="0"/>
              <a:t> – «В отчёте</a:t>
            </a:r>
            <a:r>
              <a:rPr lang="en-US" dirty="0"/>
              <a:t> “X”</a:t>
            </a:r>
            <a:r>
              <a:rPr lang="ru-RU" dirty="0"/>
              <a:t> при добавлении файла комментария текстовый комментарий стирается».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Хорошо</a:t>
            </a:r>
            <a:r>
              <a:rPr lang="ru-RU" dirty="0"/>
              <a:t> – «В отчёте</a:t>
            </a:r>
            <a:r>
              <a:rPr lang="en-US" dirty="0"/>
              <a:t> “X”</a:t>
            </a:r>
            <a:r>
              <a:rPr lang="ru-RU" dirty="0"/>
              <a:t> стирается текстовый комментарий при добавлении файла комментария».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7839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ru-RU" dirty="0"/>
            </a:br>
            <a:r>
              <a:rPr lang="ru-RU" dirty="0"/>
              <a:t>Короткое описание. Примеры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Плохо</a:t>
            </a:r>
            <a:r>
              <a:rPr lang="ru-RU" dirty="0"/>
              <a:t> – «Если открыть панель задачи, а потом мышкой навести курсор в верхний правый угол где есть иконка права, то тогда не появится подсказка».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955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ru-RU" dirty="0"/>
            </a:br>
            <a:r>
              <a:rPr lang="ru-RU" dirty="0"/>
              <a:t>Короткое описание. Примеры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Плохо</a:t>
            </a:r>
            <a:r>
              <a:rPr lang="ru-RU" dirty="0"/>
              <a:t> – «Если открыть панель задачи, а потом мышкой навести курсор в верхний правый угол где есть иконка права, то тогда не появится подсказка».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rgbClr val="00B050"/>
                </a:solidFill>
              </a:rPr>
              <a:t>Хорошо</a:t>
            </a:r>
            <a:r>
              <a:rPr lang="ru-RU" dirty="0"/>
              <a:t> – «На панели задачи не отображается подсказка при наведении курсора на иконку права».</a:t>
            </a:r>
          </a:p>
        </p:txBody>
      </p:sp>
    </p:spTree>
    <p:extLst>
      <p:ext uri="{BB962C8B-B14F-4D97-AF65-F5344CB8AC3E}">
        <p14:creationId xmlns:p14="http://schemas.microsoft.com/office/powerpoint/2010/main" val="2779284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ru-RU" dirty="0"/>
            </a:br>
            <a:r>
              <a:rPr lang="ru-RU" dirty="0"/>
              <a:t>Шаги для воспроизведения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Шаги для воспроизведения </a:t>
            </a:r>
            <a:r>
              <a:rPr lang="en-US" b="1" dirty="0"/>
              <a:t> </a:t>
            </a:r>
            <a:r>
              <a:rPr lang="en-US" dirty="0"/>
              <a:t>- </a:t>
            </a:r>
            <a:r>
              <a:rPr lang="ru-RU" dirty="0"/>
              <a:t>описываются все шаги, с упоминаем всех вводимых данных (</a:t>
            </a:r>
            <a:r>
              <a:rPr lang="ru-RU" i="1" dirty="0"/>
              <a:t>имени пользователя, данных для заполнения формы</a:t>
            </a:r>
            <a:r>
              <a:rPr lang="ru-RU" dirty="0"/>
              <a:t>) и промежуточных результатов.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Оптимально указывать не более 7 шагов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D09CD-BA51-4F3B-8A4C-86D8A5D8CF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7613" y="4224528"/>
            <a:ext cx="2969548" cy="201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629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1018" y="1117159"/>
            <a:ext cx="76929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1. Открыть браузер</a:t>
            </a:r>
            <a:br>
              <a:rPr lang="ru-RU" sz="2000" dirty="0"/>
            </a:br>
            <a:r>
              <a:rPr lang="ru-RU" sz="2000" dirty="0"/>
              <a:t>2. Войти в систему</a:t>
            </a:r>
            <a:br>
              <a:rPr lang="ru-RU" sz="2000" dirty="0"/>
            </a:br>
            <a:r>
              <a:rPr lang="ru-RU" sz="2000" dirty="0"/>
              <a:t>3. Ввести данные нашего админа</a:t>
            </a:r>
            <a:br>
              <a:rPr lang="ru-RU" sz="2000" dirty="0"/>
            </a:br>
            <a:r>
              <a:rPr lang="ru-RU" sz="2000" dirty="0"/>
              <a:t>4. Теперь щелкнуть в мои задачи</a:t>
            </a:r>
            <a:br>
              <a:rPr lang="ru-RU" sz="2000" dirty="0"/>
            </a:br>
            <a:r>
              <a:rPr lang="ru-RU" sz="2000" dirty="0"/>
              <a:t>5. В моих задачах создать новую задачку</a:t>
            </a:r>
          </a:p>
          <a:p>
            <a:r>
              <a:rPr lang="ru-RU" sz="2000" dirty="0"/>
              <a:t>6. Нужно заполнить все нужные поля</a:t>
            </a:r>
          </a:p>
          <a:p>
            <a:r>
              <a:rPr lang="ru-RU" sz="2000" dirty="0"/>
              <a:t>7. Сохраняем </a:t>
            </a:r>
          </a:p>
        </p:txBody>
      </p:sp>
      <p:sp>
        <p:nvSpPr>
          <p:cNvPr id="4" name="Rectangle 3"/>
          <p:cNvSpPr/>
          <p:nvPr/>
        </p:nvSpPr>
        <p:spPr>
          <a:xfrm>
            <a:off x="1451018" y="757127"/>
            <a:ext cx="9172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FF0000"/>
                </a:solidFill>
              </a:rPr>
              <a:t>Плохо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256651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1018" y="1117159"/>
            <a:ext cx="76929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1. Открыть браузер</a:t>
            </a:r>
            <a:br>
              <a:rPr lang="ru-RU" sz="2000" dirty="0"/>
            </a:br>
            <a:r>
              <a:rPr lang="ru-RU" sz="2000" dirty="0"/>
              <a:t>2. Войти в систему</a:t>
            </a:r>
            <a:br>
              <a:rPr lang="ru-RU" sz="2000" dirty="0"/>
            </a:br>
            <a:r>
              <a:rPr lang="ru-RU" sz="2000" dirty="0"/>
              <a:t>3. Ввести данные нашего админа</a:t>
            </a:r>
            <a:br>
              <a:rPr lang="ru-RU" sz="2000" dirty="0"/>
            </a:br>
            <a:r>
              <a:rPr lang="ru-RU" sz="2000" dirty="0"/>
              <a:t>4. Теперь щелкнуть в мои задачи</a:t>
            </a:r>
            <a:br>
              <a:rPr lang="ru-RU" sz="2000" dirty="0"/>
            </a:br>
            <a:r>
              <a:rPr lang="ru-RU" sz="2000" dirty="0"/>
              <a:t>5. В моих задачах создать новую задачку</a:t>
            </a:r>
          </a:p>
          <a:p>
            <a:r>
              <a:rPr lang="ru-RU" sz="2000" dirty="0"/>
              <a:t>6. Нужно заполнить все нужные поля</a:t>
            </a:r>
          </a:p>
          <a:p>
            <a:r>
              <a:rPr lang="ru-RU" sz="2000" dirty="0"/>
              <a:t>7. Сохраняем </a:t>
            </a:r>
          </a:p>
        </p:txBody>
      </p:sp>
      <p:sp>
        <p:nvSpPr>
          <p:cNvPr id="3" name="Rectangle 2"/>
          <p:cNvSpPr/>
          <p:nvPr/>
        </p:nvSpPr>
        <p:spPr>
          <a:xfrm>
            <a:off x="1451018" y="4055497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/>
              <a:t>1. Войти в систему: (логин</a:t>
            </a:r>
            <a:r>
              <a:rPr lang="en-US" sz="2000" dirty="0"/>
              <a:t>:</a:t>
            </a:r>
            <a:r>
              <a:rPr lang="ru-RU" sz="2000" dirty="0"/>
              <a:t> </a:t>
            </a:r>
            <a:r>
              <a:rPr lang="en-US" sz="2000" dirty="0"/>
              <a:t>admin; </a:t>
            </a:r>
            <a:r>
              <a:rPr lang="ru-RU" sz="2000" dirty="0"/>
              <a:t>пароль</a:t>
            </a:r>
            <a:r>
              <a:rPr lang="en-US" sz="2000" dirty="0"/>
              <a:t>: 123456)</a:t>
            </a:r>
            <a:br>
              <a:rPr lang="ru-RU" sz="2000" dirty="0"/>
            </a:br>
            <a:r>
              <a:rPr lang="ru-RU" sz="2000" dirty="0"/>
              <a:t>2. Открыть</a:t>
            </a:r>
            <a:r>
              <a:rPr lang="en-US" sz="2000" dirty="0"/>
              <a:t> </a:t>
            </a:r>
            <a:r>
              <a:rPr lang="ru-RU" sz="2000" dirty="0"/>
              <a:t>интерфейс </a:t>
            </a:r>
            <a:r>
              <a:rPr lang="en-US" sz="2000" dirty="0"/>
              <a:t>“</a:t>
            </a:r>
            <a:r>
              <a:rPr lang="ru-RU" sz="2000" dirty="0"/>
              <a:t>Мои задачи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3. Нажать на кнопку </a:t>
            </a:r>
            <a:r>
              <a:rPr lang="en-US" sz="2000" dirty="0"/>
              <a:t>“</a:t>
            </a:r>
            <a:r>
              <a:rPr lang="ru-RU" sz="2000" dirty="0"/>
              <a:t>Создать задачу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4. Заполнить поле </a:t>
            </a:r>
            <a:r>
              <a:rPr lang="en-US" sz="2000" dirty="0"/>
              <a:t>“</a:t>
            </a:r>
            <a:r>
              <a:rPr lang="ru-RU" sz="2000" dirty="0"/>
              <a:t>Имя задачи</a:t>
            </a:r>
            <a:r>
              <a:rPr lang="en-US" sz="2000" dirty="0"/>
              <a:t>”</a:t>
            </a:r>
            <a:r>
              <a:rPr lang="ru-RU" sz="2000" dirty="0"/>
              <a:t> (например</a:t>
            </a:r>
            <a:r>
              <a:rPr lang="en-US" sz="2000" dirty="0"/>
              <a:t>: “</a:t>
            </a:r>
            <a:r>
              <a:rPr lang="ru-RU" sz="2000" dirty="0"/>
              <a:t>Задача 1</a:t>
            </a:r>
            <a:r>
              <a:rPr lang="en-US" sz="2000" dirty="0"/>
              <a:t>”</a:t>
            </a:r>
            <a:r>
              <a:rPr lang="ru-RU" sz="2000" dirty="0"/>
              <a:t>)</a:t>
            </a:r>
          </a:p>
          <a:p>
            <a:r>
              <a:rPr lang="ru-RU" sz="2000" dirty="0"/>
              <a:t>5. Нажать на кнопку </a:t>
            </a:r>
            <a:r>
              <a:rPr lang="en-US" sz="2000" dirty="0"/>
              <a:t>“</a:t>
            </a:r>
            <a:r>
              <a:rPr lang="ru-RU" sz="2000" dirty="0"/>
              <a:t>Сохранить</a:t>
            </a:r>
            <a:r>
              <a:rPr lang="en-US" sz="2000" dirty="0"/>
              <a:t>”</a:t>
            </a:r>
            <a:endParaRPr lang="ru-RU" sz="2000" dirty="0"/>
          </a:p>
        </p:txBody>
      </p:sp>
      <p:sp>
        <p:nvSpPr>
          <p:cNvPr id="4" name="Rectangle 3"/>
          <p:cNvSpPr/>
          <p:nvPr/>
        </p:nvSpPr>
        <p:spPr>
          <a:xfrm>
            <a:off x="1451018" y="757127"/>
            <a:ext cx="9172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FF0000"/>
                </a:solidFill>
              </a:rPr>
              <a:t>Плохо</a:t>
            </a:r>
            <a:endParaRPr lang="ru-RU" sz="2000" b="1" dirty="0"/>
          </a:p>
        </p:txBody>
      </p:sp>
      <p:sp>
        <p:nvSpPr>
          <p:cNvPr id="5" name="Rectangle 4"/>
          <p:cNvSpPr/>
          <p:nvPr/>
        </p:nvSpPr>
        <p:spPr>
          <a:xfrm>
            <a:off x="1451018" y="3703243"/>
            <a:ext cx="11176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00B050"/>
                </a:solidFill>
              </a:rPr>
              <a:t>Хорошо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856089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ru-RU" dirty="0"/>
            </a:br>
            <a:r>
              <a:rPr lang="ru-RU" dirty="0"/>
              <a:t>Результат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31173"/>
            <a:ext cx="10141037" cy="367644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Результат/Фактический результат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ru-RU" dirty="0"/>
              <a:t>указывается что по факту произойдет после выполнения шагов.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24830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ru-RU" dirty="0"/>
            </a:br>
            <a:r>
              <a:rPr lang="ru-RU" dirty="0"/>
              <a:t>Результат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31173"/>
            <a:ext cx="10141037" cy="367644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Результат/Фактический результат</a:t>
            </a:r>
            <a:r>
              <a:rPr lang="en-US" b="1" dirty="0"/>
              <a:t> </a:t>
            </a:r>
            <a:r>
              <a:rPr lang="en-US" dirty="0"/>
              <a:t>– </a:t>
            </a:r>
            <a:r>
              <a:rPr lang="ru-RU" dirty="0"/>
              <a:t>указывается что по факту произойдет после выполнения шагов.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Важно кратко описать что произошло, и в каком состоянии находится система.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Скриншоты, </a:t>
            </a:r>
            <a:r>
              <a:rPr lang="en-US" dirty="0"/>
              <a:t>gif-</a:t>
            </a:r>
            <a:r>
              <a:rPr lang="ru-RU" dirty="0"/>
              <a:t>файлы, видео, вложенные файлы – необязательно, но крайне приветствуется.</a:t>
            </a:r>
          </a:p>
        </p:txBody>
      </p:sp>
    </p:spTree>
    <p:extLst>
      <p:ext uri="{BB962C8B-B14F-4D97-AF65-F5344CB8AC3E}">
        <p14:creationId xmlns:p14="http://schemas.microsoft.com/office/powerpoint/2010/main" val="347054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0106" y="645558"/>
            <a:ext cx="1068087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1. Войти в систему: (логин</a:t>
            </a:r>
            <a:r>
              <a:rPr lang="en-US" sz="2000" dirty="0"/>
              <a:t>:</a:t>
            </a:r>
            <a:r>
              <a:rPr lang="ru-RU" sz="2000" dirty="0"/>
              <a:t> </a:t>
            </a:r>
            <a:r>
              <a:rPr lang="en-US" sz="2000" dirty="0"/>
              <a:t>admin; </a:t>
            </a:r>
            <a:r>
              <a:rPr lang="ru-RU" sz="2000" dirty="0"/>
              <a:t>пароль</a:t>
            </a:r>
            <a:r>
              <a:rPr lang="en-US" sz="2000" dirty="0"/>
              <a:t>: 123456)</a:t>
            </a:r>
            <a:br>
              <a:rPr lang="ru-RU" sz="2000" dirty="0"/>
            </a:br>
            <a:r>
              <a:rPr lang="ru-RU" sz="2000" dirty="0"/>
              <a:t>2. Открыть</a:t>
            </a:r>
            <a:r>
              <a:rPr lang="en-US" sz="2000" dirty="0"/>
              <a:t> </a:t>
            </a:r>
            <a:r>
              <a:rPr lang="ru-RU" sz="2000" dirty="0"/>
              <a:t>интерфейс </a:t>
            </a:r>
            <a:r>
              <a:rPr lang="en-US" sz="2000" dirty="0"/>
              <a:t>“</a:t>
            </a:r>
            <a:r>
              <a:rPr lang="ru-RU" sz="2000" dirty="0"/>
              <a:t>Мои задачи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3. Нажать на кнопку </a:t>
            </a:r>
            <a:r>
              <a:rPr lang="en-US" sz="2000" dirty="0"/>
              <a:t>“</a:t>
            </a:r>
            <a:r>
              <a:rPr lang="ru-RU" sz="2000" dirty="0"/>
              <a:t>Создать задачу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4. Заполнить поле </a:t>
            </a:r>
            <a:r>
              <a:rPr lang="en-US" sz="2000" dirty="0"/>
              <a:t>“</a:t>
            </a:r>
            <a:r>
              <a:rPr lang="ru-RU" sz="2000" dirty="0"/>
              <a:t>Имя задачи</a:t>
            </a:r>
            <a:r>
              <a:rPr lang="en-US" sz="2000" dirty="0"/>
              <a:t>”</a:t>
            </a:r>
            <a:r>
              <a:rPr lang="ru-RU" sz="2000" dirty="0"/>
              <a:t> (например</a:t>
            </a:r>
            <a:r>
              <a:rPr lang="en-US" sz="2000" dirty="0"/>
              <a:t>: “</a:t>
            </a:r>
            <a:r>
              <a:rPr lang="ru-RU" sz="2000" dirty="0"/>
              <a:t>Задача 1</a:t>
            </a:r>
            <a:r>
              <a:rPr lang="en-US" sz="2000" dirty="0"/>
              <a:t>”</a:t>
            </a:r>
            <a:r>
              <a:rPr lang="ru-RU" sz="2000" dirty="0"/>
              <a:t>)</a:t>
            </a:r>
          </a:p>
          <a:p>
            <a:r>
              <a:rPr lang="ru-RU" sz="2000" dirty="0"/>
              <a:t>5. Нажать на кнопку </a:t>
            </a:r>
            <a:r>
              <a:rPr lang="en-US" sz="2000" dirty="0"/>
              <a:t>“</a:t>
            </a:r>
            <a:r>
              <a:rPr lang="ru-RU" sz="2000" dirty="0"/>
              <a:t>Сохранить</a:t>
            </a:r>
            <a:r>
              <a:rPr lang="en-US" sz="2000" dirty="0"/>
              <a:t>”</a:t>
            </a:r>
            <a:endParaRPr lang="ru-RU" sz="2000" dirty="0"/>
          </a:p>
          <a:p>
            <a:endParaRPr lang="ru-RU" sz="2000" dirty="0"/>
          </a:p>
          <a:p>
            <a:r>
              <a:rPr lang="ru-RU" sz="2000" b="1" dirty="0">
                <a:solidFill>
                  <a:srgbClr val="FF0000"/>
                </a:solidFill>
              </a:rPr>
              <a:t>Плохо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ru-RU" sz="2000" b="1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ru-RU" sz="2000" b="1" dirty="0"/>
              <a:t>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Кажется, задачка не сохранилась и не создалась, но вообще должна была</a:t>
            </a:r>
            <a:endParaRPr lang="ru-RU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31659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0106" y="645558"/>
            <a:ext cx="1068087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1. Войти в систему: (логин</a:t>
            </a:r>
            <a:r>
              <a:rPr lang="en-US" sz="2000" dirty="0"/>
              <a:t>:</a:t>
            </a:r>
            <a:r>
              <a:rPr lang="ru-RU" sz="2000" dirty="0"/>
              <a:t> </a:t>
            </a:r>
            <a:r>
              <a:rPr lang="en-US" sz="2000" dirty="0"/>
              <a:t>admin; </a:t>
            </a:r>
            <a:r>
              <a:rPr lang="ru-RU" sz="2000" dirty="0"/>
              <a:t>пароль</a:t>
            </a:r>
            <a:r>
              <a:rPr lang="en-US" sz="2000" dirty="0"/>
              <a:t>: 123456)</a:t>
            </a:r>
            <a:br>
              <a:rPr lang="ru-RU" sz="2000" dirty="0"/>
            </a:br>
            <a:r>
              <a:rPr lang="ru-RU" sz="2000" dirty="0"/>
              <a:t>2. Открыть</a:t>
            </a:r>
            <a:r>
              <a:rPr lang="en-US" sz="2000" dirty="0"/>
              <a:t> </a:t>
            </a:r>
            <a:r>
              <a:rPr lang="ru-RU" sz="2000" dirty="0"/>
              <a:t>интерфейс </a:t>
            </a:r>
            <a:r>
              <a:rPr lang="en-US" sz="2000" dirty="0"/>
              <a:t>“</a:t>
            </a:r>
            <a:r>
              <a:rPr lang="ru-RU" sz="2000" dirty="0"/>
              <a:t>Мои задачи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3. Нажать на кнопку </a:t>
            </a:r>
            <a:r>
              <a:rPr lang="en-US" sz="2000" dirty="0"/>
              <a:t>“</a:t>
            </a:r>
            <a:r>
              <a:rPr lang="ru-RU" sz="2000" dirty="0"/>
              <a:t>Создать задачу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4. Заполнить поле </a:t>
            </a:r>
            <a:r>
              <a:rPr lang="en-US" sz="2000" dirty="0"/>
              <a:t>“</a:t>
            </a:r>
            <a:r>
              <a:rPr lang="ru-RU" sz="2000" dirty="0"/>
              <a:t>Имя задачи</a:t>
            </a:r>
            <a:r>
              <a:rPr lang="en-US" sz="2000" dirty="0"/>
              <a:t>”</a:t>
            </a:r>
            <a:r>
              <a:rPr lang="ru-RU" sz="2000" dirty="0"/>
              <a:t> (например</a:t>
            </a:r>
            <a:r>
              <a:rPr lang="en-US" sz="2000" dirty="0"/>
              <a:t>: “</a:t>
            </a:r>
            <a:r>
              <a:rPr lang="ru-RU" sz="2000" dirty="0"/>
              <a:t>Задача 1</a:t>
            </a:r>
            <a:r>
              <a:rPr lang="en-US" sz="2000" dirty="0"/>
              <a:t>”</a:t>
            </a:r>
            <a:r>
              <a:rPr lang="ru-RU" sz="2000" dirty="0"/>
              <a:t>)</a:t>
            </a:r>
          </a:p>
          <a:p>
            <a:r>
              <a:rPr lang="ru-RU" sz="2000" dirty="0"/>
              <a:t>5. Нажать на кнопку </a:t>
            </a:r>
            <a:r>
              <a:rPr lang="en-US" sz="2000" dirty="0"/>
              <a:t>“</a:t>
            </a:r>
            <a:r>
              <a:rPr lang="ru-RU" sz="2000" dirty="0"/>
              <a:t>Сохранить</a:t>
            </a:r>
            <a:r>
              <a:rPr lang="en-US" sz="2000" dirty="0"/>
              <a:t>”</a:t>
            </a:r>
            <a:endParaRPr lang="ru-RU" sz="2000" dirty="0"/>
          </a:p>
          <a:p>
            <a:endParaRPr lang="ru-RU" sz="2000" dirty="0"/>
          </a:p>
          <a:p>
            <a:r>
              <a:rPr lang="ru-RU" sz="2000" b="1" dirty="0">
                <a:solidFill>
                  <a:srgbClr val="FF0000"/>
                </a:solidFill>
              </a:rPr>
              <a:t>Плохо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ru-RU" sz="2000" b="1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ru-RU" sz="2000" b="1" dirty="0"/>
              <a:t>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Кажется, задачка не сохранилась и не создалась, но вообще должна была</a:t>
            </a:r>
          </a:p>
          <a:p>
            <a:r>
              <a:rPr lang="ru-RU" sz="2000" b="1" dirty="0"/>
              <a:t>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Сохранение не работает корректно</a:t>
            </a:r>
            <a:endParaRPr lang="ru-RU" sz="2000" b="1" dirty="0"/>
          </a:p>
          <a:p>
            <a:endParaRPr lang="ru-RU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076285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0106" y="645558"/>
            <a:ext cx="1068087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1. Войти в систему: (логин</a:t>
            </a:r>
            <a:r>
              <a:rPr lang="en-US" sz="2000" dirty="0"/>
              <a:t>:</a:t>
            </a:r>
            <a:r>
              <a:rPr lang="ru-RU" sz="2000" dirty="0"/>
              <a:t> </a:t>
            </a:r>
            <a:r>
              <a:rPr lang="en-US" sz="2000" dirty="0"/>
              <a:t>admin; </a:t>
            </a:r>
            <a:r>
              <a:rPr lang="ru-RU" sz="2000" dirty="0"/>
              <a:t>пароль</a:t>
            </a:r>
            <a:r>
              <a:rPr lang="en-US" sz="2000" dirty="0"/>
              <a:t>: 123456)</a:t>
            </a:r>
            <a:br>
              <a:rPr lang="ru-RU" sz="2000" dirty="0"/>
            </a:br>
            <a:r>
              <a:rPr lang="ru-RU" sz="2000" dirty="0"/>
              <a:t>2. Открыть</a:t>
            </a:r>
            <a:r>
              <a:rPr lang="en-US" sz="2000" dirty="0"/>
              <a:t> </a:t>
            </a:r>
            <a:r>
              <a:rPr lang="ru-RU" sz="2000" dirty="0"/>
              <a:t>интерфейс </a:t>
            </a:r>
            <a:r>
              <a:rPr lang="en-US" sz="2000" dirty="0"/>
              <a:t>“</a:t>
            </a:r>
            <a:r>
              <a:rPr lang="ru-RU" sz="2000" dirty="0"/>
              <a:t>Мои задачи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3. Нажать на кнопку </a:t>
            </a:r>
            <a:r>
              <a:rPr lang="en-US" sz="2000" dirty="0"/>
              <a:t>“</a:t>
            </a:r>
            <a:r>
              <a:rPr lang="ru-RU" sz="2000" dirty="0"/>
              <a:t>Создать задачу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4. Заполнить поле </a:t>
            </a:r>
            <a:r>
              <a:rPr lang="en-US" sz="2000" dirty="0"/>
              <a:t>“</a:t>
            </a:r>
            <a:r>
              <a:rPr lang="ru-RU" sz="2000" dirty="0"/>
              <a:t>Имя задачи</a:t>
            </a:r>
            <a:r>
              <a:rPr lang="en-US" sz="2000" dirty="0"/>
              <a:t>”</a:t>
            </a:r>
            <a:r>
              <a:rPr lang="ru-RU" sz="2000" dirty="0"/>
              <a:t> (например</a:t>
            </a:r>
            <a:r>
              <a:rPr lang="en-US" sz="2000" dirty="0"/>
              <a:t>: “</a:t>
            </a:r>
            <a:r>
              <a:rPr lang="ru-RU" sz="2000" dirty="0"/>
              <a:t>Задача 1</a:t>
            </a:r>
            <a:r>
              <a:rPr lang="en-US" sz="2000" dirty="0"/>
              <a:t>”</a:t>
            </a:r>
            <a:r>
              <a:rPr lang="ru-RU" sz="2000" dirty="0"/>
              <a:t>)</a:t>
            </a:r>
          </a:p>
          <a:p>
            <a:r>
              <a:rPr lang="ru-RU" sz="2000" dirty="0"/>
              <a:t>5. Нажать на кнопку </a:t>
            </a:r>
            <a:r>
              <a:rPr lang="en-US" sz="2000" dirty="0"/>
              <a:t>“</a:t>
            </a:r>
            <a:r>
              <a:rPr lang="ru-RU" sz="2000" dirty="0"/>
              <a:t>Сохранить</a:t>
            </a:r>
            <a:r>
              <a:rPr lang="en-US" sz="2000" dirty="0"/>
              <a:t>”</a:t>
            </a:r>
            <a:endParaRPr lang="ru-RU" sz="2000" dirty="0"/>
          </a:p>
          <a:p>
            <a:endParaRPr lang="ru-RU" sz="2000" dirty="0"/>
          </a:p>
          <a:p>
            <a:r>
              <a:rPr lang="ru-RU" sz="2000" b="1" dirty="0">
                <a:solidFill>
                  <a:srgbClr val="FF0000"/>
                </a:solidFill>
              </a:rPr>
              <a:t>Плохо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ru-RU" sz="2000" b="1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ru-RU" sz="2000" b="1" dirty="0"/>
              <a:t>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Кажется, задачка не сохранилась и не создалась, но вообще должна была</a:t>
            </a:r>
          </a:p>
          <a:p>
            <a:r>
              <a:rPr lang="ru-RU" sz="2000" b="1" dirty="0"/>
              <a:t>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Сохранение не работает корректно</a:t>
            </a:r>
            <a:endParaRPr lang="ru-RU" sz="2000" b="1" dirty="0"/>
          </a:p>
          <a:p>
            <a:endParaRPr lang="ru-RU" sz="2000" b="1" dirty="0"/>
          </a:p>
          <a:p>
            <a:endParaRPr lang="ru-RU" sz="2000" b="1" dirty="0"/>
          </a:p>
          <a:p>
            <a:endParaRPr lang="en-US" sz="2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9D4930-18B6-4DA6-BB7B-797FAF2960DF}"/>
              </a:ext>
            </a:extLst>
          </p:cNvPr>
          <p:cNvSpPr/>
          <p:nvPr/>
        </p:nvSpPr>
        <p:spPr>
          <a:xfrm>
            <a:off x="910105" y="3790295"/>
            <a:ext cx="1068087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B050"/>
                </a:solidFill>
              </a:rPr>
              <a:t>Хорошо</a:t>
            </a:r>
            <a:r>
              <a:rPr lang="en-US" sz="2000" b="1" dirty="0">
                <a:solidFill>
                  <a:srgbClr val="00B050"/>
                </a:solidFill>
              </a:rPr>
              <a:t>:</a:t>
            </a:r>
          </a:p>
          <a:p>
            <a:r>
              <a:rPr lang="ru-RU" sz="2000" b="1" dirty="0"/>
              <a:t>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Возникло сообщение об успешном создании задачи, но задача не создалась</a:t>
            </a:r>
            <a:r>
              <a:rPr lang="ru-RU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58274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en-US" dirty="0"/>
            </a:br>
            <a:r>
              <a:rPr lang="ru-RU" dirty="0"/>
              <a:t>Ожидаемый результат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10236901" cy="36884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Ожидаемый результат </a:t>
            </a:r>
            <a:r>
              <a:rPr lang="en-US" dirty="0"/>
              <a:t>– </a:t>
            </a:r>
            <a:r>
              <a:rPr lang="ru-RU" dirty="0"/>
              <a:t>указывается что по факту должно было произойти после выполнения шагов.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1339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en-US" dirty="0"/>
            </a:br>
            <a:r>
              <a:rPr lang="ru-RU" dirty="0"/>
              <a:t>Ожидаемый результат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10236901" cy="3688420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Ожидаемый результат </a:t>
            </a:r>
            <a:r>
              <a:rPr lang="en-US" dirty="0"/>
              <a:t>– </a:t>
            </a:r>
            <a:r>
              <a:rPr lang="ru-RU" dirty="0"/>
              <a:t>указывается что по факту должно было произойти после выполнения шагов.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Важно описывать все детали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/>
              <a:t>Нужно добавлять скриншоты/ссылки на макеты дизайна(если они есть)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655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Bug Report</a:t>
            </a:r>
            <a:br>
              <a:rPr lang="en-US" dirty="0"/>
            </a:br>
            <a:r>
              <a:rPr lang="ru-RU" dirty="0"/>
              <a:t>Ожидаемый результат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65492"/>
            <a:ext cx="10236901" cy="393530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/>
              <a:t>Ожидаемый результат </a:t>
            </a:r>
            <a:r>
              <a:rPr lang="en-US" sz="2000" dirty="0"/>
              <a:t>– </a:t>
            </a:r>
            <a:r>
              <a:rPr lang="ru-RU" sz="2000" dirty="0"/>
              <a:t>указывается что по факту должно было произойти после выполнения шагов.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Важно описывать все детали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Нужно добавлять скриншоты/ссылки на макеты дизайна(если они есть)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u-RU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/>
              <a:t>Откуда можно узнать ожидаемый результат?</a:t>
            </a:r>
            <a:endParaRPr lang="ru-RU" sz="2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Спецификация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Макеты дизайна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Бизнес аналитик/тим лид/дизайнер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2000" dirty="0"/>
              <a:t>Здравый смысл</a:t>
            </a:r>
          </a:p>
        </p:txBody>
      </p:sp>
    </p:spTree>
    <p:extLst>
      <p:ext uri="{BB962C8B-B14F-4D97-AF65-F5344CB8AC3E}">
        <p14:creationId xmlns:p14="http://schemas.microsoft.com/office/powerpoint/2010/main" val="3447452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0106" y="645558"/>
            <a:ext cx="1068087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1. Войти в систему: (логин</a:t>
            </a:r>
            <a:r>
              <a:rPr lang="en-US" sz="2000" dirty="0"/>
              <a:t>:</a:t>
            </a:r>
            <a:r>
              <a:rPr lang="ru-RU" sz="2000" dirty="0"/>
              <a:t> </a:t>
            </a:r>
            <a:r>
              <a:rPr lang="en-US" sz="2000" dirty="0"/>
              <a:t>admin; </a:t>
            </a:r>
            <a:r>
              <a:rPr lang="ru-RU" sz="2000" dirty="0"/>
              <a:t>пароль</a:t>
            </a:r>
            <a:r>
              <a:rPr lang="en-US" sz="2000" dirty="0"/>
              <a:t>: 123456)</a:t>
            </a:r>
            <a:br>
              <a:rPr lang="ru-RU" sz="2000" dirty="0"/>
            </a:br>
            <a:r>
              <a:rPr lang="ru-RU" sz="2000" dirty="0"/>
              <a:t>2. Открыть</a:t>
            </a:r>
            <a:r>
              <a:rPr lang="en-US" sz="2000" dirty="0"/>
              <a:t> </a:t>
            </a:r>
            <a:r>
              <a:rPr lang="ru-RU" sz="2000" dirty="0"/>
              <a:t>интерфейс </a:t>
            </a:r>
            <a:r>
              <a:rPr lang="en-US" sz="2000" dirty="0"/>
              <a:t>“</a:t>
            </a:r>
            <a:r>
              <a:rPr lang="ru-RU" sz="2000" dirty="0"/>
              <a:t>Мои задачи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3. Нажать на кнопку </a:t>
            </a:r>
            <a:r>
              <a:rPr lang="en-US" sz="2000" dirty="0"/>
              <a:t>“</a:t>
            </a:r>
            <a:r>
              <a:rPr lang="ru-RU" sz="2000" dirty="0"/>
              <a:t>Создать задачу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4. Заполнить поле </a:t>
            </a:r>
            <a:r>
              <a:rPr lang="en-US" sz="2000" dirty="0"/>
              <a:t>“</a:t>
            </a:r>
            <a:r>
              <a:rPr lang="ru-RU" sz="2000" dirty="0"/>
              <a:t>Имя задачи</a:t>
            </a:r>
            <a:r>
              <a:rPr lang="en-US" sz="2000" dirty="0"/>
              <a:t>”</a:t>
            </a:r>
            <a:r>
              <a:rPr lang="ru-RU" sz="2000" dirty="0"/>
              <a:t> (например</a:t>
            </a:r>
            <a:r>
              <a:rPr lang="en-US" sz="2000" dirty="0"/>
              <a:t>: “</a:t>
            </a:r>
            <a:r>
              <a:rPr lang="ru-RU" sz="2000" dirty="0"/>
              <a:t>Задача 1</a:t>
            </a:r>
            <a:r>
              <a:rPr lang="en-US" sz="2000" dirty="0"/>
              <a:t>”</a:t>
            </a:r>
            <a:r>
              <a:rPr lang="ru-RU" sz="2000" dirty="0"/>
              <a:t>)</a:t>
            </a:r>
          </a:p>
          <a:p>
            <a:r>
              <a:rPr lang="ru-RU" sz="2000" dirty="0"/>
              <a:t>5. Нажать на кнопку </a:t>
            </a:r>
            <a:r>
              <a:rPr lang="en-US" sz="2000" dirty="0"/>
              <a:t>“</a:t>
            </a:r>
            <a:r>
              <a:rPr lang="ru-RU" sz="2000" dirty="0"/>
              <a:t>Сохранить</a:t>
            </a:r>
            <a:r>
              <a:rPr lang="en-US" sz="2000" dirty="0"/>
              <a:t>”</a:t>
            </a:r>
            <a:endParaRPr lang="ru-RU" sz="2000" dirty="0"/>
          </a:p>
          <a:p>
            <a:endParaRPr lang="ru-RU" sz="2000" dirty="0"/>
          </a:p>
          <a:p>
            <a:r>
              <a:rPr lang="ru-RU" sz="2000" b="1" dirty="0"/>
              <a:t>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Возникло сообщение об успешном создании задачи, но задача не создалась.</a:t>
            </a:r>
          </a:p>
          <a:p>
            <a:endParaRPr lang="ru-RU" sz="2000" dirty="0"/>
          </a:p>
          <a:p>
            <a:r>
              <a:rPr lang="ru-RU" sz="2000" b="1" dirty="0">
                <a:solidFill>
                  <a:srgbClr val="FF0000"/>
                </a:solidFill>
              </a:rPr>
              <a:t>Плохо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ru-RU" sz="2000" b="1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ru-RU" sz="2000" b="1" dirty="0"/>
              <a:t>Ожидаемый 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Задача будет создана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89846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0106" y="645558"/>
            <a:ext cx="1068087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1. Войти в систему: (логин</a:t>
            </a:r>
            <a:r>
              <a:rPr lang="en-US" sz="2000" dirty="0"/>
              <a:t>:</a:t>
            </a:r>
            <a:r>
              <a:rPr lang="ru-RU" sz="2000" dirty="0"/>
              <a:t> </a:t>
            </a:r>
            <a:r>
              <a:rPr lang="en-US" sz="2000" dirty="0"/>
              <a:t>admin; </a:t>
            </a:r>
            <a:r>
              <a:rPr lang="ru-RU" sz="2000" dirty="0"/>
              <a:t>пароль</a:t>
            </a:r>
            <a:r>
              <a:rPr lang="en-US" sz="2000" dirty="0"/>
              <a:t>: 123456)</a:t>
            </a:r>
            <a:br>
              <a:rPr lang="ru-RU" sz="2000" dirty="0"/>
            </a:br>
            <a:r>
              <a:rPr lang="ru-RU" sz="2000" dirty="0"/>
              <a:t>2. Открыть</a:t>
            </a:r>
            <a:r>
              <a:rPr lang="en-US" sz="2000" dirty="0"/>
              <a:t> </a:t>
            </a:r>
            <a:r>
              <a:rPr lang="ru-RU" sz="2000" dirty="0"/>
              <a:t>интерфейс </a:t>
            </a:r>
            <a:r>
              <a:rPr lang="en-US" sz="2000" dirty="0"/>
              <a:t>“</a:t>
            </a:r>
            <a:r>
              <a:rPr lang="ru-RU" sz="2000" dirty="0"/>
              <a:t>Мои задачи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3. Нажать на кнопку </a:t>
            </a:r>
            <a:r>
              <a:rPr lang="en-US" sz="2000" dirty="0"/>
              <a:t>“</a:t>
            </a:r>
            <a:r>
              <a:rPr lang="ru-RU" sz="2000" dirty="0"/>
              <a:t>Создать задачу</a:t>
            </a:r>
            <a:r>
              <a:rPr lang="en-US" sz="2000" dirty="0"/>
              <a:t>”</a:t>
            </a:r>
            <a:br>
              <a:rPr lang="ru-RU" sz="2000" dirty="0"/>
            </a:br>
            <a:r>
              <a:rPr lang="ru-RU" sz="2000" dirty="0"/>
              <a:t>4. Заполнить поле </a:t>
            </a:r>
            <a:r>
              <a:rPr lang="en-US" sz="2000" dirty="0"/>
              <a:t>“</a:t>
            </a:r>
            <a:r>
              <a:rPr lang="ru-RU" sz="2000" dirty="0"/>
              <a:t>Имя задачи</a:t>
            </a:r>
            <a:r>
              <a:rPr lang="en-US" sz="2000" dirty="0"/>
              <a:t>”</a:t>
            </a:r>
            <a:r>
              <a:rPr lang="ru-RU" sz="2000" dirty="0"/>
              <a:t> (например</a:t>
            </a:r>
            <a:r>
              <a:rPr lang="en-US" sz="2000" dirty="0"/>
              <a:t>: “</a:t>
            </a:r>
            <a:r>
              <a:rPr lang="ru-RU" sz="2000" dirty="0"/>
              <a:t>Задача 1</a:t>
            </a:r>
            <a:r>
              <a:rPr lang="en-US" sz="2000" dirty="0"/>
              <a:t>”</a:t>
            </a:r>
            <a:r>
              <a:rPr lang="ru-RU" sz="2000" dirty="0"/>
              <a:t>)</a:t>
            </a:r>
          </a:p>
          <a:p>
            <a:r>
              <a:rPr lang="ru-RU" sz="2000" dirty="0"/>
              <a:t>5. Нажать на кнопку </a:t>
            </a:r>
            <a:r>
              <a:rPr lang="en-US" sz="2000" dirty="0"/>
              <a:t>“</a:t>
            </a:r>
            <a:r>
              <a:rPr lang="ru-RU" sz="2000" dirty="0"/>
              <a:t>Сохранить</a:t>
            </a:r>
            <a:r>
              <a:rPr lang="en-US" sz="2000" dirty="0"/>
              <a:t>”</a:t>
            </a:r>
            <a:endParaRPr lang="ru-RU" sz="2000" dirty="0"/>
          </a:p>
          <a:p>
            <a:endParaRPr lang="ru-RU" sz="2000" dirty="0"/>
          </a:p>
          <a:p>
            <a:r>
              <a:rPr lang="ru-RU" sz="2000" b="1" dirty="0"/>
              <a:t>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Возникло сообщение об успешном создании задачи, но задача не создалась.</a:t>
            </a:r>
          </a:p>
          <a:p>
            <a:endParaRPr lang="ru-RU" sz="2000" dirty="0"/>
          </a:p>
          <a:p>
            <a:r>
              <a:rPr lang="ru-RU" sz="2000" b="1" dirty="0">
                <a:solidFill>
                  <a:srgbClr val="FF0000"/>
                </a:solidFill>
              </a:rPr>
              <a:t>Плохо</a:t>
            </a:r>
            <a:r>
              <a:rPr lang="en-US" sz="2000" b="1" dirty="0">
                <a:solidFill>
                  <a:srgbClr val="FF0000"/>
                </a:solidFill>
              </a:rPr>
              <a:t>:</a:t>
            </a:r>
            <a:r>
              <a:rPr lang="ru-RU" sz="2000" b="1" dirty="0">
                <a:solidFill>
                  <a:srgbClr val="FF0000"/>
                </a:solidFill>
              </a:rPr>
              <a:t> 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ru-RU" sz="2000" b="1" dirty="0"/>
              <a:t>Ожидаемый 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Задача будет создана</a:t>
            </a:r>
          </a:p>
          <a:p>
            <a:endParaRPr lang="en-US" sz="2000" b="1" dirty="0"/>
          </a:p>
          <a:p>
            <a:r>
              <a:rPr lang="ru-RU" sz="2000" b="1" dirty="0">
                <a:solidFill>
                  <a:srgbClr val="00B050"/>
                </a:solidFill>
              </a:rPr>
              <a:t>Хорошо</a:t>
            </a:r>
            <a:r>
              <a:rPr lang="en-US" sz="2000" b="1" dirty="0">
                <a:solidFill>
                  <a:srgbClr val="00B050"/>
                </a:solidFill>
              </a:rPr>
              <a:t>:</a:t>
            </a:r>
          </a:p>
          <a:p>
            <a:r>
              <a:rPr lang="ru-RU" sz="2000" b="1" dirty="0"/>
              <a:t>Ожидаемый результат</a:t>
            </a:r>
            <a:r>
              <a:rPr lang="en-US" sz="2000" b="1" dirty="0"/>
              <a:t>:</a:t>
            </a:r>
            <a:r>
              <a:rPr lang="ru-RU" sz="2000" b="1" dirty="0"/>
              <a:t> </a:t>
            </a:r>
            <a:r>
              <a:rPr lang="ru-RU" sz="2000" dirty="0"/>
              <a:t>Возникло сообщение об успешном создании, задача появилась в списке </a:t>
            </a:r>
            <a:r>
              <a:rPr lang="en-US" sz="2000" dirty="0"/>
              <a:t>“Tasks”</a:t>
            </a:r>
            <a:r>
              <a:rPr lang="ru-RU" sz="2000" dirty="0"/>
              <a:t> и она выделена зеленым цветом.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3506962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Серьезность</a:t>
            </a:r>
            <a:r>
              <a:rPr lang="en-US" dirty="0"/>
              <a:t> vs </a:t>
            </a:r>
            <a:r>
              <a:rPr lang="ru-RU" dirty="0"/>
              <a:t>Приоритет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EDE0426-F8FF-4CED-BB9C-E331B69B2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Серьезность (Severity) </a:t>
            </a:r>
            <a:r>
              <a:rPr lang="ru-RU" dirty="0"/>
              <a:t>- характеризует влияние дефекта на работоспособность приложения. </a:t>
            </a:r>
          </a:p>
          <a:p>
            <a:r>
              <a:rPr lang="ru-RU" b="1" dirty="0"/>
              <a:t>Приоритет (Priority)</a:t>
            </a:r>
            <a:r>
              <a:rPr lang="ru-RU" dirty="0"/>
              <a:t> – указывает на очередность выполнения задачи или устранения дефекта. </a:t>
            </a:r>
          </a:p>
        </p:txBody>
      </p:sp>
    </p:spTree>
    <p:extLst>
      <p:ext uri="{BB962C8B-B14F-4D97-AF65-F5344CB8AC3E}">
        <p14:creationId xmlns:p14="http://schemas.microsoft.com/office/powerpoint/2010/main" val="3127311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Градация Серьезности дефекта (</a:t>
            </a:r>
            <a:r>
              <a:rPr lang="en-US" dirty="0"/>
              <a:t>Severity)</a:t>
            </a: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39682"/>
          </a:xfrm>
        </p:spPr>
        <p:txBody>
          <a:bodyPr>
            <a:normAutofit/>
          </a:bodyPr>
          <a:lstStyle/>
          <a:p>
            <a:r>
              <a:rPr lang="ru-RU" b="1" dirty="0"/>
              <a:t>Блокирующая (Blocker)</a:t>
            </a:r>
            <a:endParaRPr lang="ru-RU" dirty="0"/>
          </a:p>
          <a:p>
            <a:r>
              <a:rPr lang="ru-RU" b="1" dirty="0"/>
              <a:t>Критическая (Critical)</a:t>
            </a:r>
            <a:endParaRPr lang="ru-RU" dirty="0"/>
          </a:p>
          <a:p>
            <a:r>
              <a:rPr lang="ru-RU" b="1" dirty="0"/>
              <a:t>Значительная (Major)</a:t>
            </a:r>
            <a:endParaRPr lang="ru-RU" dirty="0"/>
          </a:p>
          <a:p>
            <a:r>
              <a:rPr lang="ru-RU" b="1" dirty="0"/>
              <a:t>Незначительная (</a:t>
            </a:r>
            <a:r>
              <a:rPr lang="en-US" b="1" dirty="0"/>
              <a:t>Normal</a:t>
            </a:r>
            <a:r>
              <a:rPr lang="ru-RU" b="1" dirty="0"/>
              <a:t>)</a:t>
            </a:r>
            <a:endParaRPr lang="ru-RU" dirty="0"/>
          </a:p>
          <a:p>
            <a:r>
              <a:rPr lang="ru-RU" b="1" dirty="0"/>
              <a:t>Тривиальная (</a:t>
            </a:r>
            <a:r>
              <a:rPr lang="en-US" b="1" dirty="0"/>
              <a:t>Minor</a:t>
            </a:r>
            <a:r>
              <a:rPr lang="ru-RU" b="1" dirty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996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ru-RU" b="1" dirty="0"/>
              <a:t>Тривиальная</a:t>
            </a:r>
            <a:r>
              <a:rPr lang="ru-RU" dirty="0"/>
              <a:t> (</a:t>
            </a:r>
            <a:r>
              <a:rPr lang="en-US" dirty="0"/>
              <a:t>Minor</a:t>
            </a:r>
            <a:r>
              <a:rPr lang="ru-RU" dirty="0"/>
              <a:t>)</a:t>
            </a:r>
            <a:br>
              <a:rPr lang="ru-RU" dirty="0"/>
            </a:b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39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Ошибка, не касающаяся бизнес логики приложения, плохо воспроизводимая проблема, малозаметная.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u="sng" dirty="0"/>
              <a:t>Примеры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dirty="0"/>
              <a:t>Лишний символ(точка, запятая и т.д)(</a:t>
            </a:r>
            <a:r>
              <a:rPr lang="ru-RU"/>
              <a:t>и он </a:t>
            </a:r>
            <a:r>
              <a:rPr lang="ru-RU" dirty="0"/>
              <a:t>не на</a:t>
            </a:r>
            <a:r>
              <a:rPr lang="en-US" dirty="0"/>
              <a:t> “</a:t>
            </a:r>
            <a:r>
              <a:rPr lang="ru-RU" dirty="0"/>
              <a:t>виду</a:t>
            </a:r>
            <a:r>
              <a:rPr lang="en-US" dirty="0"/>
              <a:t>”)</a:t>
            </a:r>
            <a:endParaRPr lang="ru-RU" dirty="0"/>
          </a:p>
          <a:p>
            <a:r>
              <a:rPr lang="ru-RU" dirty="0"/>
              <a:t>Сдвиг элемента на пару пикселей</a:t>
            </a:r>
            <a:endParaRPr lang="en-US" dirty="0"/>
          </a:p>
          <a:p>
            <a:r>
              <a:rPr lang="ru-RU" dirty="0"/>
              <a:t>Мелкие ошибки, возникающие в редких ситуациях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8011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253065"/>
            <a:ext cx="9601196" cy="1303867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ru-RU" b="1" dirty="0"/>
              <a:t>Незначительная</a:t>
            </a:r>
            <a:r>
              <a:rPr lang="ru-RU" dirty="0"/>
              <a:t> (</a:t>
            </a:r>
            <a:r>
              <a:rPr lang="en-US" dirty="0"/>
              <a:t>Normal</a:t>
            </a:r>
            <a:r>
              <a:rPr lang="ru-RU" dirty="0"/>
              <a:t>)</a:t>
            </a:r>
            <a:br>
              <a:rPr lang="ru-RU" dirty="0"/>
            </a:br>
            <a:br>
              <a:rPr lang="ru-RU" dirty="0"/>
            </a:b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689" y="2404533"/>
            <a:ext cx="9970908" cy="3792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Проблемы </a:t>
            </a:r>
            <a:r>
              <a:rPr lang="en-US" dirty="0"/>
              <a:t>UI</a:t>
            </a:r>
            <a:r>
              <a:rPr lang="ru-RU" dirty="0"/>
              <a:t> и </a:t>
            </a:r>
            <a:r>
              <a:rPr lang="en-US" dirty="0"/>
              <a:t>Usability</a:t>
            </a:r>
            <a:r>
              <a:rPr lang="ru-RU" dirty="0"/>
              <a:t>, ошибки в консоли, незначительные отличия от требований.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u="sng" dirty="0"/>
              <a:t>Примеры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dirty="0"/>
              <a:t>Функциональные баги, возникающие в редких ситуациях</a:t>
            </a:r>
          </a:p>
          <a:p>
            <a:r>
              <a:rPr lang="ru-RU" dirty="0"/>
              <a:t>Элементы немного смещены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45032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253065"/>
            <a:ext cx="9601196" cy="1303867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ru-RU" b="1" dirty="0"/>
              <a:t>Незначительная</a:t>
            </a:r>
            <a:r>
              <a:rPr lang="ru-RU" dirty="0"/>
              <a:t> (</a:t>
            </a:r>
            <a:r>
              <a:rPr lang="en-US" dirty="0"/>
              <a:t>Normal</a:t>
            </a:r>
            <a:r>
              <a:rPr lang="ru-RU" dirty="0"/>
              <a:t>)</a:t>
            </a:r>
            <a:br>
              <a:rPr lang="ru-RU" dirty="0"/>
            </a:br>
            <a:br>
              <a:rPr lang="ru-RU" dirty="0"/>
            </a:b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689" y="2404533"/>
            <a:ext cx="9970908" cy="37920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Проблемы </a:t>
            </a:r>
            <a:r>
              <a:rPr lang="en-US" dirty="0"/>
              <a:t>UI</a:t>
            </a:r>
            <a:r>
              <a:rPr lang="ru-RU" dirty="0"/>
              <a:t> и </a:t>
            </a:r>
            <a:r>
              <a:rPr lang="en-US" dirty="0"/>
              <a:t>Usability</a:t>
            </a:r>
            <a:r>
              <a:rPr lang="ru-RU" dirty="0"/>
              <a:t>, ошибки в консоли, незначительные отличия от требований.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u="sng" dirty="0"/>
              <a:t>Примеры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dirty="0"/>
              <a:t>Функциональные баги, возникающие в редких ситуациях</a:t>
            </a:r>
          </a:p>
          <a:p>
            <a:r>
              <a:rPr lang="ru-RU" dirty="0"/>
              <a:t>Элементы немного смещены</a:t>
            </a:r>
          </a:p>
          <a:p>
            <a:r>
              <a:rPr lang="ru-RU" dirty="0"/>
              <a:t>Неправильная работа табуляции</a:t>
            </a:r>
          </a:p>
          <a:p>
            <a:r>
              <a:rPr lang="ru-RU" dirty="0"/>
              <a:t>Шрифты и цвета немного отличаются от требований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8890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526821"/>
            <a:ext cx="9601196" cy="1303867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ru-RU" b="1" dirty="0"/>
              <a:t>Значительная</a:t>
            </a:r>
            <a:r>
              <a:rPr lang="ru-RU" dirty="0"/>
              <a:t> (Major)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689" y="2404533"/>
            <a:ext cx="9970908" cy="3792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Часть основной бизнес логики работает некорректно.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u="sng" dirty="0"/>
              <a:t>Примеры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dirty="0"/>
              <a:t>Фукнкциональные баги, заметно отличающиеся от требований</a:t>
            </a:r>
          </a:p>
          <a:p>
            <a:r>
              <a:rPr lang="ru-RU" dirty="0"/>
              <a:t>Некритичные </a:t>
            </a:r>
            <a:r>
              <a:rPr lang="en-US" dirty="0"/>
              <a:t>UI</a:t>
            </a:r>
            <a:r>
              <a:rPr lang="ru-RU" dirty="0"/>
              <a:t> баги, которые находятся </a:t>
            </a:r>
            <a:r>
              <a:rPr lang="en-US" dirty="0"/>
              <a:t>“</a:t>
            </a:r>
            <a:r>
              <a:rPr lang="ru-RU" dirty="0"/>
              <a:t>на виду</a:t>
            </a:r>
            <a:r>
              <a:rPr lang="en-US" dirty="0"/>
              <a:t>”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6739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526821"/>
            <a:ext cx="9601196" cy="1303867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ru-RU" b="1" dirty="0"/>
              <a:t>Значительная</a:t>
            </a:r>
            <a:r>
              <a:rPr lang="ru-RU" dirty="0"/>
              <a:t> (Major)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689" y="2404533"/>
            <a:ext cx="9970908" cy="3792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Часть основной бизнес логики работает некорректно.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u="sng" dirty="0"/>
              <a:t>Примеры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dirty="0"/>
              <a:t>Фукнкциональные баги, заметно отличающиеся от требований</a:t>
            </a:r>
          </a:p>
          <a:p>
            <a:r>
              <a:rPr lang="ru-RU" dirty="0"/>
              <a:t>Некритичные </a:t>
            </a:r>
            <a:r>
              <a:rPr lang="en-US" dirty="0"/>
              <a:t>UI</a:t>
            </a:r>
            <a:r>
              <a:rPr lang="ru-RU" dirty="0"/>
              <a:t> баги, которые находятся </a:t>
            </a:r>
            <a:r>
              <a:rPr lang="en-US" dirty="0"/>
              <a:t>“</a:t>
            </a:r>
            <a:r>
              <a:rPr lang="ru-RU" dirty="0"/>
              <a:t>на виду</a:t>
            </a:r>
            <a:r>
              <a:rPr lang="en-US" dirty="0"/>
              <a:t>”</a:t>
            </a:r>
            <a:endParaRPr lang="ru-RU" dirty="0"/>
          </a:p>
          <a:p>
            <a:r>
              <a:rPr lang="ru-RU" dirty="0"/>
              <a:t>Весомые ошибки, но возникающие в редких ситуациях</a:t>
            </a:r>
          </a:p>
          <a:p>
            <a:r>
              <a:rPr lang="ru-RU" dirty="0"/>
              <a:t>Конкурентные ситуации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7881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526821"/>
            <a:ext cx="9601196" cy="1303867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ru-RU" b="1" dirty="0"/>
              <a:t>Критичная</a:t>
            </a:r>
            <a:r>
              <a:rPr lang="ru-RU" dirty="0"/>
              <a:t> (</a:t>
            </a:r>
            <a:r>
              <a:rPr lang="en-US" dirty="0"/>
              <a:t>Critical</a:t>
            </a:r>
            <a:r>
              <a:rPr lang="ru-RU" dirty="0"/>
              <a:t>)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689" y="2404533"/>
            <a:ext cx="9970908" cy="3792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Логика или </a:t>
            </a:r>
            <a:r>
              <a:rPr lang="en-US" dirty="0"/>
              <a:t>UI</a:t>
            </a:r>
            <a:r>
              <a:rPr lang="ru-RU" dirty="0"/>
              <a:t> функционала значительно отличается от требований, проблемы безопасности.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u="sng" dirty="0"/>
              <a:t>Примеры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dirty="0"/>
              <a:t>Требования по логике не соблюдены полностью или частично</a:t>
            </a:r>
          </a:p>
          <a:p>
            <a:r>
              <a:rPr lang="ru-RU" dirty="0"/>
              <a:t>Внешний вид/расположение элементов сильно отличается от требований</a:t>
            </a:r>
          </a:p>
        </p:txBody>
      </p:sp>
    </p:spTree>
    <p:extLst>
      <p:ext uri="{BB962C8B-B14F-4D97-AF65-F5344CB8AC3E}">
        <p14:creationId xmlns:p14="http://schemas.microsoft.com/office/powerpoint/2010/main" val="3007118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526821"/>
            <a:ext cx="9601196" cy="1303867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ru-RU" b="1" dirty="0"/>
              <a:t>Критичная</a:t>
            </a:r>
            <a:r>
              <a:rPr lang="ru-RU" dirty="0"/>
              <a:t> (</a:t>
            </a:r>
            <a:r>
              <a:rPr lang="en-US" dirty="0"/>
              <a:t>Critical</a:t>
            </a:r>
            <a:r>
              <a:rPr lang="ru-RU" dirty="0"/>
              <a:t>)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688" y="2358813"/>
            <a:ext cx="10577463" cy="3792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Логика или </a:t>
            </a:r>
            <a:r>
              <a:rPr lang="en-US" sz="2200" dirty="0"/>
              <a:t>UI</a:t>
            </a:r>
            <a:r>
              <a:rPr lang="ru-RU" sz="2200" dirty="0"/>
              <a:t> функционала значительно отличается от требований, проблемы безопасности.</a:t>
            </a:r>
          </a:p>
          <a:p>
            <a:pPr marL="0" indent="0">
              <a:spcAft>
                <a:spcPts val="300"/>
              </a:spcAft>
              <a:buNone/>
            </a:pPr>
            <a:endParaRPr lang="ru-RU" sz="2200" dirty="0"/>
          </a:p>
          <a:p>
            <a:pPr marL="0" indent="0">
              <a:buNone/>
            </a:pPr>
            <a:r>
              <a:rPr lang="ru-RU" sz="2200" u="sng" dirty="0"/>
              <a:t>Примеры</a:t>
            </a:r>
            <a:r>
              <a:rPr lang="en-US" sz="2200" u="sng" dirty="0"/>
              <a:t>:</a:t>
            </a:r>
            <a:endParaRPr lang="ru-RU" sz="2200" u="sng" dirty="0"/>
          </a:p>
          <a:p>
            <a:r>
              <a:rPr lang="ru-RU" sz="2200" dirty="0"/>
              <a:t>Требования по логике не соблюдены полностью или частично</a:t>
            </a:r>
          </a:p>
          <a:p>
            <a:r>
              <a:rPr lang="ru-RU" sz="2200" dirty="0"/>
              <a:t>Внешний вид/расположение элементов сильно отличается от требований</a:t>
            </a:r>
          </a:p>
          <a:p>
            <a:r>
              <a:rPr lang="ru-RU" sz="2200" dirty="0"/>
              <a:t>Ошибка приводит в нерабочее состояние часть функционала</a:t>
            </a:r>
          </a:p>
          <a:p>
            <a:r>
              <a:rPr lang="ru-RU" sz="2200" dirty="0"/>
              <a:t>Функциональность работает медленно/уязвимость к </a:t>
            </a:r>
            <a:r>
              <a:rPr lang="en-US" sz="2200" dirty="0"/>
              <a:t>XSS/SQL</a:t>
            </a:r>
            <a:r>
              <a:rPr lang="ru-RU" sz="2200" dirty="0"/>
              <a:t> инъекциям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04525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526821"/>
            <a:ext cx="9601196" cy="1303867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ru-RU" b="1" dirty="0"/>
              <a:t>Блокирующая</a:t>
            </a:r>
            <a:r>
              <a:rPr lang="ru-RU" dirty="0"/>
              <a:t> (</a:t>
            </a:r>
            <a:r>
              <a:rPr lang="en-US" dirty="0"/>
              <a:t>Blocker</a:t>
            </a:r>
            <a:r>
              <a:rPr lang="ru-RU" dirty="0"/>
              <a:t>)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689" y="2404533"/>
            <a:ext cx="9970908" cy="3792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Полностью недоступен функционал/приведение системы в неработающее состояние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u="sng" dirty="0"/>
              <a:t>Примеры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dirty="0"/>
              <a:t>Не выполняется какое-либо действие</a:t>
            </a:r>
          </a:p>
          <a:p>
            <a:r>
              <a:rPr lang="ru-RU" dirty="0"/>
              <a:t>Функциональность не работает с определенным набором данных</a:t>
            </a:r>
          </a:p>
          <a:p>
            <a:r>
              <a:rPr lang="ru-RU" dirty="0"/>
              <a:t>Функциональность не работает с определенным набором настроек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083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526821"/>
            <a:ext cx="9601196" cy="1303867"/>
          </a:xfrm>
        </p:spPr>
        <p:txBody>
          <a:bodyPr>
            <a:normAutofit fontScale="90000"/>
          </a:bodyPr>
          <a:lstStyle/>
          <a:p>
            <a:br>
              <a:rPr lang="ru-RU" b="1" dirty="0"/>
            </a:br>
            <a:br>
              <a:rPr lang="ru-RU" b="1" dirty="0"/>
            </a:br>
            <a:r>
              <a:rPr lang="en-US" dirty="0"/>
              <a:t>Blocker &amp; Critical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689" y="2404533"/>
            <a:ext cx="9970908" cy="37920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/>
              <a:t>Разница между </a:t>
            </a:r>
            <a:r>
              <a:rPr lang="en-US" u="sng" dirty="0"/>
              <a:t>Blocker</a:t>
            </a:r>
            <a:r>
              <a:rPr lang="ru-RU" u="sng" dirty="0"/>
              <a:t> и </a:t>
            </a:r>
            <a:r>
              <a:rPr lang="en-US" u="sng" dirty="0"/>
              <a:t>Critical:</a:t>
            </a:r>
            <a:endParaRPr lang="ru-RU" u="sng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b="1" dirty="0"/>
              <a:t>B</a:t>
            </a:r>
            <a:r>
              <a:rPr lang="ru-RU" b="1" dirty="0"/>
              <a:t>locker</a:t>
            </a:r>
            <a:r>
              <a:rPr lang="en-US" b="1" dirty="0"/>
              <a:t>:</a:t>
            </a:r>
            <a:r>
              <a:rPr lang="ru-RU" dirty="0"/>
              <a:t> У пользователя нет возможности выполнить действие другими способами.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Critical: </a:t>
            </a:r>
            <a:r>
              <a:rPr lang="ru-RU" dirty="0"/>
              <a:t>Функциональность недоступна, но пользователь может выполнить действие обходным путем.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57788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55DE07A-262D-443D-A131-FE5779847FB3}"/>
              </a:ext>
            </a:extLst>
          </p:cNvPr>
          <p:cNvSpPr/>
          <p:nvPr/>
        </p:nvSpPr>
        <p:spPr>
          <a:xfrm>
            <a:off x="9272016" y="1609344"/>
            <a:ext cx="694944" cy="1280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FCCCF-DF9A-4B23-8184-8E306747A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48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291" y="982132"/>
            <a:ext cx="8765309" cy="1303867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принципы при создании баг репорта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dirty="0"/>
              <a:t>Перечитать описание бага сразу после его написания</a:t>
            </a:r>
          </a:p>
          <a:p>
            <a:pPr marL="457200" indent="-457200">
              <a:buAutoNum type="arabicPeriod"/>
            </a:pPr>
            <a:r>
              <a:rPr lang="ru-RU" dirty="0"/>
              <a:t>Одна ошибка – один баг-репорт</a:t>
            </a:r>
          </a:p>
          <a:p>
            <a:pPr marL="457200" indent="-457200">
              <a:buAutoNum type="arabicPeriod"/>
            </a:pPr>
            <a:r>
              <a:rPr lang="ru-RU" dirty="0"/>
              <a:t>Не нужно создавать множество одинаковых багов</a:t>
            </a:r>
          </a:p>
          <a:p>
            <a:pPr marL="457200" indent="-457200">
              <a:buAutoNum type="arabicPeriod"/>
            </a:pPr>
            <a:r>
              <a:rPr lang="ru-RU" dirty="0"/>
              <a:t>Исключить переход на личности</a:t>
            </a:r>
          </a:p>
          <a:p>
            <a:pPr marL="457200" indent="-457200">
              <a:buAutoNum type="arabicPeriod"/>
            </a:pPr>
            <a:r>
              <a:rPr lang="ru-RU" dirty="0"/>
              <a:t>Выявить точный сценарий ошибки</a:t>
            </a:r>
          </a:p>
          <a:p>
            <a:pPr marL="457200" indent="-457200">
              <a:buFont typeface="Arial"/>
              <a:buAutoNum type="arabicPeriod"/>
            </a:pPr>
            <a:r>
              <a:rPr lang="ru-RU" dirty="0"/>
              <a:t>Воспроизвести баг перед его публикацией</a:t>
            </a:r>
          </a:p>
          <a:p>
            <a:pPr marL="457200" indent="-4572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21133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бага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23605"/>
            <a:ext cx="9601196" cy="39150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u="sng" dirty="0"/>
              <a:t>1. Тестировщик создает баг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b="1" dirty="0"/>
              <a:t>Открыт</a:t>
            </a:r>
            <a:r>
              <a:rPr lang="ru-RU" dirty="0"/>
              <a:t> (Opened) – создали баг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u="sng" dirty="0"/>
              <a:t>2. Тим лид решает его судьбу</a:t>
            </a:r>
            <a:r>
              <a:rPr lang="en-US" u="sng" dirty="0"/>
              <a:t>:</a:t>
            </a:r>
          </a:p>
          <a:p>
            <a:r>
              <a:rPr lang="ru-RU" b="1" dirty="0"/>
              <a:t>Отклонен</a:t>
            </a:r>
            <a:r>
              <a:rPr lang="ru-RU" dirty="0"/>
              <a:t> (Rejected) – отклонили баг (например это не баг, а фича)</a:t>
            </a:r>
          </a:p>
          <a:p>
            <a:r>
              <a:rPr lang="ru-RU" b="1" dirty="0"/>
              <a:t>Дубликат</a:t>
            </a:r>
            <a:r>
              <a:rPr lang="ru-RU" dirty="0"/>
              <a:t> (Duplicate) – такой баг уже создан</a:t>
            </a:r>
          </a:p>
          <a:p>
            <a:r>
              <a:rPr lang="ru-RU" b="1" dirty="0"/>
              <a:t>Отложен</a:t>
            </a:r>
            <a:r>
              <a:rPr lang="ru-RU" dirty="0"/>
              <a:t> (Deferred) – отложили по какой-либо причине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6230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бага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23605"/>
            <a:ext cx="9601196" cy="39150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3. </a:t>
            </a:r>
            <a:r>
              <a:rPr lang="ru-RU" u="sng" dirty="0"/>
              <a:t>Баг доходит до программиста</a:t>
            </a:r>
            <a:r>
              <a:rPr lang="en-US" u="sng" dirty="0"/>
              <a:t>:</a:t>
            </a:r>
            <a:r>
              <a:rPr lang="ru-RU" u="sng" dirty="0"/>
              <a:t> </a:t>
            </a:r>
          </a:p>
          <a:p>
            <a:r>
              <a:rPr lang="ru-RU" b="1" dirty="0"/>
              <a:t>Не воспроизвести </a:t>
            </a:r>
            <a:r>
              <a:rPr lang="ru-RU" dirty="0"/>
              <a:t>(</a:t>
            </a:r>
            <a:r>
              <a:rPr lang="en-US" dirty="0"/>
              <a:t>Cannot Reproduce)</a:t>
            </a:r>
            <a:r>
              <a:rPr lang="ru-RU" dirty="0"/>
              <a:t> – не получается воспроизвести</a:t>
            </a:r>
          </a:p>
          <a:p>
            <a:r>
              <a:rPr lang="ru-RU" b="1" dirty="0"/>
              <a:t>В процессе </a:t>
            </a:r>
            <a:r>
              <a:rPr lang="ru-RU" dirty="0"/>
              <a:t>(</a:t>
            </a:r>
            <a:r>
              <a:rPr lang="en-US" dirty="0"/>
              <a:t>In Progress)</a:t>
            </a:r>
            <a:r>
              <a:rPr lang="ru-RU" dirty="0"/>
              <a:t> – баг взят в работу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4. </a:t>
            </a:r>
            <a:r>
              <a:rPr lang="ru-RU" u="sng" dirty="0"/>
              <a:t>Программист завершил работу над багом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b="1" dirty="0"/>
              <a:t>Исправлен </a:t>
            </a:r>
            <a:r>
              <a:rPr lang="ru-RU" dirty="0"/>
              <a:t>(Fixed)</a:t>
            </a:r>
            <a:r>
              <a:rPr lang="en-US" dirty="0"/>
              <a:t> – </a:t>
            </a:r>
            <a:r>
              <a:rPr lang="ru-RU" dirty="0"/>
              <a:t>баг исправлен и готов к проверке</a:t>
            </a:r>
            <a:endParaRPr lang="en-US" dirty="0"/>
          </a:p>
          <a:p>
            <a:endParaRPr lang="ru-RU" u="sng" dirty="0"/>
          </a:p>
        </p:txBody>
      </p:sp>
    </p:spTree>
    <p:extLst>
      <p:ext uri="{BB962C8B-B14F-4D97-AF65-F5344CB8AC3E}">
        <p14:creationId xmlns:p14="http://schemas.microsoft.com/office/powerpoint/2010/main" val="41664746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бага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23605"/>
            <a:ext cx="9601196" cy="39150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5. </a:t>
            </a:r>
            <a:r>
              <a:rPr lang="ru-RU" u="sng" dirty="0"/>
              <a:t>Баг возвращается к тестировщику</a:t>
            </a:r>
            <a:r>
              <a:rPr lang="en-US" u="sng" dirty="0"/>
              <a:t>:</a:t>
            </a:r>
          </a:p>
          <a:p>
            <a:r>
              <a:rPr lang="ru-RU" b="1" dirty="0"/>
              <a:t>В тестировании </a:t>
            </a:r>
            <a:r>
              <a:rPr lang="ru-RU" dirty="0"/>
              <a:t>(</a:t>
            </a:r>
            <a:r>
              <a:rPr lang="en-US" dirty="0"/>
              <a:t>In QA)</a:t>
            </a:r>
            <a:r>
              <a:rPr lang="ru-RU" dirty="0"/>
              <a:t> – баг взят на проверку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6. </a:t>
            </a:r>
            <a:r>
              <a:rPr lang="ru-RU" u="sng" dirty="0"/>
              <a:t>Тестировщик завершил проверку бага</a:t>
            </a:r>
            <a:r>
              <a:rPr lang="en-US" u="sng" dirty="0"/>
              <a:t>:</a:t>
            </a:r>
            <a:endParaRPr lang="ru-RU" u="sng" dirty="0"/>
          </a:p>
          <a:p>
            <a:r>
              <a:rPr lang="ru-RU" b="1" dirty="0"/>
              <a:t>Переоткрыт </a:t>
            </a:r>
            <a:r>
              <a:rPr lang="ru-RU" dirty="0"/>
              <a:t>(Reopened) – баг не исправлен/исправлен частично</a:t>
            </a:r>
          </a:p>
          <a:p>
            <a:r>
              <a:rPr lang="ru-RU" b="1" dirty="0"/>
              <a:t>Закрыт </a:t>
            </a:r>
            <a:r>
              <a:rPr lang="ru-RU" dirty="0"/>
              <a:t>(Closed) – баг исправлен</a:t>
            </a:r>
          </a:p>
          <a:p>
            <a:endParaRPr lang="ru-RU" dirty="0"/>
          </a:p>
          <a:p>
            <a:endParaRPr lang="ru-RU" u="sng" dirty="0"/>
          </a:p>
        </p:txBody>
      </p:sp>
    </p:spTree>
    <p:extLst>
      <p:ext uri="{BB962C8B-B14F-4D97-AF65-F5344CB8AC3E}">
        <p14:creationId xmlns:p14="http://schemas.microsoft.com/office/powerpoint/2010/main" val="19256294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Жизненный цикл бага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23605"/>
            <a:ext cx="9601196" cy="391505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Тестировщик создает баг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Тим лид решает его судьбу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Баг доходит до программиста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Программист завершил работу над багом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Баг возвращается к тестировщику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Тестировщик завершил проверку бага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959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Техники тест-дизайна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Эквивалентное разделение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Анализ граничных значений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Причина / Следствие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Попарное тестирование </a:t>
            </a:r>
            <a:r>
              <a:rPr lang="en-US" dirty="0"/>
              <a:t>(Pairwise)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Исчерпывающее тестирование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Предугадывание ошибки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75980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Эквивалентное разделение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Эквивалентный класс </a:t>
            </a:r>
            <a:r>
              <a:rPr lang="ru-RU" dirty="0"/>
              <a:t>– такой набор тестовых значений, с которым, система предположительно должна вести себя одинаково.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39413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097DE4-7802-43C6-AA7E-D480DBEC31E6}"/>
              </a:ext>
            </a:extLst>
          </p:cNvPr>
          <p:cNvSpPr/>
          <p:nvPr/>
        </p:nvSpPr>
        <p:spPr>
          <a:xfrm>
            <a:off x="979055" y="637309"/>
            <a:ext cx="983672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/>
              <a:t>Спецификация для программы по найму персонала</a:t>
            </a:r>
            <a:r>
              <a:rPr lang="en-US" sz="2000" u="sng" dirty="0"/>
              <a:t>:</a:t>
            </a:r>
            <a:endParaRPr lang="ru-RU" sz="2000" u="sng" dirty="0"/>
          </a:p>
          <a:p>
            <a:endParaRPr lang="ru-RU" dirty="0"/>
          </a:p>
          <a:p>
            <a:r>
              <a:rPr lang="ru-RU" b="1" dirty="0"/>
              <a:t>Установлены следующие условия отбора: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при возрасте от 0 до 16 лет – не нанимать;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при возрасте от 16 до 18 лет – можно нанять только на part time;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при возрасте от 18 до 55 лет – можно нанять на full time;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при возрасте от 55 до 99 лет – не нанимать.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класс эквивалентности NO: 0-16;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класс эквивалентности PART: 17-18;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класс эквивалентности FULL: 19-55;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класс эквивалентности NO: 56-99.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Таким образом, у нас остается только 4 позитивных тест-кейса вместо первоначальных 100 (0-99), например: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10 – не нанимать;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17 – нанимать на неполный день;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40 – нанимать на полный день;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80 – не нанимать.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91702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Анализ граничных значений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683" y="2595419"/>
            <a:ext cx="10157688" cy="363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Проверка значений, находящихся на границах классах эквивалентности.</a:t>
            </a:r>
          </a:p>
          <a:p>
            <a:pPr marL="0" indent="0">
              <a:buNone/>
            </a:pPr>
            <a:r>
              <a:rPr lang="ru-RU" dirty="0"/>
              <a:t>На каждой границе диапазона следует проверить по три значения:</a:t>
            </a:r>
          </a:p>
          <a:p>
            <a:r>
              <a:rPr lang="ru-RU" dirty="0"/>
              <a:t>граничное значение</a:t>
            </a:r>
          </a:p>
          <a:p>
            <a:r>
              <a:rPr lang="ru-RU" dirty="0"/>
              <a:t>значение перед границей</a:t>
            </a:r>
          </a:p>
          <a:p>
            <a:r>
              <a:rPr lang="ru-RU" dirty="0"/>
              <a:t>значение после границы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2E0562-ABAB-4F24-8FDC-CBD701686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644" y="3855791"/>
            <a:ext cx="4533756" cy="237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03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097DE4-7802-43C6-AA7E-D480DBEC31E6}"/>
              </a:ext>
            </a:extLst>
          </p:cNvPr>
          <p:cNvSpPr/>
          <p:nvPr/>
        </p:nvSpPr>
        <p:spPr>
          <a:xfrm>
            <a:off x="979055" y="637309"/>
            <a:ext cx="9836727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u="sng" dirty="0"/>
              <a:t>Спецификация для программы по найму персонала</a:t>
            </a:r>
            <a:r>
              <a:rPr lang="en-US" sz="2000" u="sng" dirty="0"/>
              <a:t>:</a:t>
            </a:r>
            <a:endParaRPr lang="ru-RU" sz="2000" u="sng" dirty="0"/>
          </a:p>
          <a:p>
            <a:endParaRPr lang="ru-RU" dirty="0"/>
          </a:p>
          <a:p>
            <a:r>
              <a:rPr lang="ru-RU" b="1" dirty="0">
                <a:solidFill>
                  <a:schemeClr val="bg1">
                    <a:lumMod val="75000"/>
                  </a:schemeClr>
                </a:solidFill>
              </a:rPr>
              <a:t>Установлены следующие условия отбора: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при возрасте от 0 до 16 лет – не нанимать;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при возрасте от 16 до 18 лет – можно нанять только на part time;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при возрасте от 18 до 55 лет – можно нанять на full time;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при возрасте от 55 до 99 лет – не нанимать.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при возрасте от 0 до 15 лет – не нанимать;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при возрасте от 16 до 17 лет – можно нанять только на part time;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при возрасте от 18 до 54 лет – можно нанять на full time;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при возрасте от 55 до 99 лет – не нанимать.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dirty="0"/>
          </a:p>
          <a:p>
            <a:pPr>
              <a:buClr>
                <a:schemeClr val="accent1"/>
              </a:buClr>
            </a:pPr>
            <a:r>
              <a:rPr lang="ru-RU" dirty="0"/>
              <a:t>Таким образом, набор значений, для которых будут составлены тесты, будет выглядеть так: 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{-1, 0, 1}</a:t>
            </a:r>
            <a:r>
              <a:rPr lang="en-US" dirty="0"/>
              <a:t> 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{1</a:t>
            </a:r>
            <a:r>
              <a:rPr lang="en-US" dirty="0"/>
              <a:t>4</a:t>
            </a:r>
            <a:r>
              <a:rPr lang="ru-RU" dirty="0"/>
              <a:t>, 1</a:t>
            </a:r>
            <a:r>
              <a:rPr lang="en-US" dirty="0"/>
              <a:t>5</a:t>
            </a:r>
            <a:r>
              <a:rPr lang="ru-RU" dirty="0"/>
              <a:t>, 1</a:t>
            </a:r>
            <a:r>
              <a:rPr lang="en-US" dirty="0"/>
              <a:t>6</a:t>
            </a:r>
            <a:r>
              <a:rPr lang="ru-RU" dirty="0"/>
              <a:t>} 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{17, 18, 19} 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{53</a:t>
            </a:r>
            <a:r>
              <a:rPr lang="en-US" dirty="0"/>
              <a:t>, </a:t>
            </a:r>
            <a:r>
              <a:rPr lang="ru-RU" dirty="0"/>
              <a:t>54, 55, 56}</a:t>
            </a:r>
            <a:endParaRPr lang="en-US" dirty="0"/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dirty="0"/>
              <a:t>{98, 99, 100}</a:t>
            </a:r>
          </a:p>
        </p:txBody>
      </p:sp>
    </p:spTree>
    <p:extLst>
      <p:ext uri="{BB962C8B-B14F-4D97-AF65-F5344CB8AC3E}">
        <p14:creationId xmlns:p14="http://schemas.microsoft.com/office/powerpoint/2010/main" val="33262532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Анализ граничных значений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50238"/>
            <a:ext cx="10062410" cy="37818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Условия для скидки в интернет-магазине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&lt;= 100$ - 0%</a:t>
            </a:r>
          </a:p>
          <a:p>
            <a:pPr marL="0" indent="0">
              <a:buNone/>
            </a:pPr>
            <a:r>
              <a:rPr lang="en-US" dirty="0"/>
              <a:t>&lt;= 500$ - 5%</a:t>
            </a:r>
          </a:p>
          <a:p>
            <a:pPr marL="0" indent="0">
              <a:buNone/>
            </a:pPr>
            <a:r>
              <a:rPr lang="en-US" dirty="0"/>
              <a:t>&lt;= 2000$ - 10%</a:t>
            </a:r>
          </a:p>
          <a:p>
            <a:pPr marL="0" indent="0">
              <a:buNone/>
            </a:pPr>
            <a:r>
              <a:rPr lang="en-US" dirty="0"/>
              <a:t>&lt;= 5000$ - 15%</a:t>
            </a:r>
          </a:p>
          <a:p>
            <a:pPr marL="0" indent="0">
              <a:buNone/>
            </a:pPr>
            <a:r>
              <a:rPr lang="en-US" dirty="0"/>
              <a:t>&gt; 5001$ - 20%</a:t>
            </a:r>
          </a:p>
          <a:p>
            <a:pPr marL="0" indent="0">
              <a:buNone/>
            </a:pPr>
            <a:r>
              <a:rPr lang="en-US" dirty="0"/>
              <a:t>5000,50$?</a:t>
            </a:r>
          </a:p>
          <a:p>
            <a:pPr marL="0" indent="0">
              <a:buNone/>
            </a:pPr>
            <a:r>
              <a:rPr lang="ru-RU" sz="1100" dirty="0"/>
              <a:t>*Шаг не всегда может быть равен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2CEC8A-B836-4A7E-A768-942A892EC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192" y="2450238"/>
            <a:ext cx="4687411" cy="378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923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Причина/следствие</a:t>
            </a:r>
            <a:br>
              <a:rPr lang="ru-RU" dirty="0"/>
            </a:br>
            <a:r>
              <a:rPr lang="ru-RU" dirty="0"/>
              <a:t>(состояние переходов)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222222"/>
                </a:solidFill>
              </a:rPr>
              <a:t>Это ввод комбинаций условий (</a:t>
            </a:r>
            <a:r>
              <a:rPr lang="ru-RU" i="1" dirty="0">
                <a:solidFill>
                  <a:srgbClr val="222222"/>
                </a:solidFill>
              </a:rPr>
              <a:t>причин</a:t>
            </a:r>
            <a:r>
              <a:rPr lang="ru-RU" dirty="0">
                <a:solidFill>
                  <a:srgbClr val="222222"/>
                </a:solidFill>
              </a:rPr>
              <a:t>), для получения ответа от системы (</a:t>
            </a:r>
            <a:r>
              <a:rPr lang="ru-RU" i="1" dirty="0">
                <a:solidFill>
                  <a:srgbClr val="222222"/>
                </a:solidFill>
              </a:rPr>
              <a:t>следствие</a:t>
            </a:r>
            <a:r>
              <a:rPr lang="ru-RU" dirty="0">
                <a:solidFill>
                  <a:srgbClr val="222222"/>
                </a:solidFill>
              </a:rPr>
              <a:t>).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Таким образом, можно получить представление о всех возможных состояниях нашей программы.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Визуально, можно отобразить двумя способами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Диаграммы</a:t>
            </a:r>
          </a:p>
          <a:p>
            <a:r>
              <a:rPr lang="ru-RU" dirty="0"/>
              <a:t>Таблицы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238" y="3809622"/>
            <a:ext cx="2337179" cy="233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702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3A31345-7A7D-44F7-B59A-1C52B0ABB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319" y="665825"/>
            <a:ext cx="9729927" cy="5548544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2DBCFE-B0AB-43C0-9F87-ED8D083635D3}"/>
              </a:ext>
            </a:extLst>
          </p:cNvPr>
          <p:cNvCxnSpPr/>
          <p:nvPr/>
        </p:nvCxnSpPr>
        <p:spPr>
          <a:xfrm flipH="1" flipV="1">
            <a:off x="6951216" y="2308194"/>
            <a:ext cx="346229" cy="239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E0D69C-8599-4592-8BB3-913B9C78E399}"/>
              </a:ext>
            </a:extLst>
          </p:cNvPr>
          <p:cNvCxnSpPr>
            <a:cxnSpLocks/>
          </p:cNvCxnSpPr>
          <p:nvPr/>
        </p:nvCxnSpPr>
        <p:spPr>
          <a:xfrm>
            <a:off x="6804734" y="2547891"/>
            <a:ext cx="292964" cy="195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69B341-866E-40F9-BE3E-A96FD2460742}"/>
              </a:ext>
            </a:extLst>
          </p:cNvPr>
          <p:cNvCxnSpPr/>
          <p:nvPr/>
        </p:nvCxnSpPr>
        <p:spPr>
          <a:xfrm>
            <a:off x="8620218" y="2707689"/>
            <a:ext cx="45276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7704B81-F491-4EF0-8B5B-EABD471A49FD}"/>
              </a:ext>
            </a:extLst>
          </p:cNvPr>
          <p:cNvCxnSpPr/>
          <p:nvPr/>
        </p:nvCxnSpPr>
        <p:spPr>
          <a:xfrm>
            <a:off x="8620218" y="2913355"/>
            <a:ext cx="45276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8BDBCD-B27C-4BCA-867C-D1995AF587B0}"/>
              </a:ext>
            </a:extLst>
          </p:cNvPr>
          <p:cNvCxnSpPr/>
          <p:nvPr/>
        </p:nvCxnSpPr>
        <p:spPr>
          <a:xfrm>
            <a:off x="8620218" y="3108664"/>
            <a:ext cx="45276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17B481-1D87-4A9C-AFF7-8C8C5786BEFD}"/>
              </a:ext>
            </a:extLst>
          </p:cNvPr>
          <p:cNvCxnSpPr/>
          <p:nvPr/>
        </p:nvCxnSpPr>
        <p:spPr>
          <a:xfrm>
            <a:off x="8620218" y="3295095"/>
            <a:ext cx="45276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8758563-0C06-4FCD-A61B-537226E3329A}"/>
              </a:ext>
            </a:extLst>
          </p:cNvPr>
          <p:cNvCxnSpPr/>
          <p:nvPr/>
        </p:nvCxnSpPr>
        <p:spPr>
          <a:xfrm>
            <a:off x="8620218" y="3440097"/>
            <a:ext cx="452761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58F6005-C640-470B-95AD-9ADB440B8922}"/>
              </a:ext>
            </a:extLst>
          </p:cNvPr>
          <p:cNvSpPr txBox="1"/>
          <p:nvPr/>
        </p:nvSpPr>
        <p:spPr>
          <a:xfrm>
            <a:off x="3711665" y="651112"/>
            <a:ext cx="6656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Тестирование банкомата</a:t>
            </a:r>
          </a:p>
        </p:txBody>
      </p:sp>
    </p:spTree>
    <p:extLst>
      <p:ext uri="{BB962C8B-B14F-4D97-AF65-F5344CB8AC3E}">
        <p14:creationId xmlns:p14="http://schemas.microsoft.com/office/powerpoint/2010/main" val="18374015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Попарное тестирование </a:t>
            </a:r>
            <a:r>
              <a:rPr lang="en-US" dirty="0"/>
              <a:t>(pairwise)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600" b="1" dirty="0"/>
              <a:t>Попарное тестирование (Pairwise testing) </a:t>
            </a:r>
            <a:r>
              <a:rPr lang="ru-RU" dirty="0"/>
              <a:t> – это техника формирования наборов тестовых данных из полного набора входных данных в системе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u="sng" dirty="0"/>
              <a:t>Главные цели попарного тестирования:</a:t>
            </a:r>
          </a:p>
          <a:p>
            <a:r>
              <a:rPr lang="ru-RU" dirty="0"/>
              <a:t>убрать избыточные проверки</a:t>
            </a:r>
          </a:p>
          <a:p>
            <a:r>
              <a:rPr lang="ru-RU" dirty="0"/>
              <a:t>обеспечить хорошее тестовое покрытие</a:t>
            </a:r>
          </a:p>
          <a:p>
            <a:r>
              <a:rPr lang="ru-RU" dirty="0"/>
              <a:t>выявить наибольшее количество багов на минимальном наборе тестов</a:t>
            </a:r>
          </a:p>
        </p:txBody>
      </p:sp>
    </p:spTree>
    <p:extLst>
      <p:ext uri="{BB962C8B-B14F-4D97-AF65-F5344CB8AC3E}">
        <p14:creationId xmlns:p14="http://schemas.microsoft.com/office/powerpoint/2010/main" val="20255812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Попарное тестирование </a:t>
            </a:r>
            <a:r>
              <a:rPr lang="en-US" dirty="0"/>
              <a:t>(pairwise)</a:t>
            </a:r>
            <a:endParaRPr lang="ru-RU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876A703-9D0A-442F-A520-B596F5B0C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641998"/>
              </p:ext>
            </p:extLst>
          </p:nvPr>
        </p:nvGraphicFramePr>
        <p:xfrm>
          <a:off x="896112" y="2557463"/>
          <a:ext cx="10387584" cy="2112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6896">
                  <a:extLst>
                    <a:ext uri="{9D8B030D-6E8A-4147-A177-3AD203B41FA5}">
                      <a16:colId xmlns:a16="http://schemas.microsoft.com/office/drawing/2014/main" val="1414906429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356011155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967881585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1668122877"/>
                    </a:ext>
                  </a:extLst>
                </a:gridCol>
              </a:tblGrid>
              <a:tr h="528048">
                <a:tc>
                  <a:txBody>
                    <a:bodyPr/>
                    <a:lstStyle/>
                    <a:p>
                      <a:r>
                        <a:rPr lang="ru-RU" b="1" dirty="0"/>
                        <a:t>Операционная система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Браузер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База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b="1" dirty="0"/>
                        <a:t>Локализация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35760"/>
                  </a:ext>
                </a:extLst>
              </a:tr>
              <a:tr h="528048">
                <a:tc>
                  <a:txBody>
                    <a:bodyPr/>
                    <a:lstStyle/>
                    <a:p>
                      <a:r>
                        <a:rPr lang="en-US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044630"/>
                  </a:ext>
                </a:extLst>
              </a:tr>
              <a:tr h="528048">
                <a:tc>
                  <a:txBody>
                    <a:bodyPr/>
                    <a:lstStyle/>
                    <a:p>
                      <a:r>
                        <a:rPr lang="en-US" dirty="0"/>
                        <a:t>Mac OS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Safari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454695"/>
                  </a:ext>
                </a:extLst>
              </a:tr>
              <a:tr h="528048">
                <a:tc>
                  <a:txBody>
                    <a:bodyPr/>
                    <a:lstStyle/>
                    <a:p>
                      <a:r>
                        <a:rPr lang="en-US" dirty="0"/>
                        <a:t>Linux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FireFox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Oracle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1735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E55D4C2-58D1-4874-A472-A39E6629A136}"/>
              </a:ext>
            </a:extLst>
          </p:cNvPr>
          <p:cNvSpPr txBox="1"/>
          <p:nvPr/>
        </p:nvSpPr>
        <p:spPr>
          <a:xfrm>
            <a:off x="896112" y="5166271"/>
            <a:ext cx="4324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Количество вариантов</a:t>
            </a:r>
            <a:r>
              <a:rPr lang="en-US" dirty="0"/>
              <a:t>: 3*3*3*3 = 81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7254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" y="52387"/>
            <a:ext cx="11410950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574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9B42A54-FFFC-4367-BEB4-A4C63C2F7C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651166"/>
              </p:ext>
            </p:extLst>
          </p:nvPr>
        </p:nvGraphicFramePr>
        <p:xfrm>
          <a:off x="1057430" y="713451"/>
          <a:ext cx="10077140" cy="50624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9285">
                  <a:extLst>
                    <a:ext uri="{9D8B030D-6E8A-4147-A177-3AD203B41FA5}">
                      <a16:colId xmlns:a16="http://schemas.microsoft.com/office/drawing/2014/main" val="739845742"/>
                    </a:ext>
                  </a:extLst>
                </a:gridCol>
                <a:gridCol w="2519285">
                  <a:extLst>
                    <a:ext uri="{9D8B030D-6E8A-4147-A177-3AD203B41FA5}">
                      <a16:colId xmlns:a16="http://schemas.microsoft.com/office/drawing/2014/main" val="2638929018"/>
                    </a:ext>
                  </a:extLst>
                </a:gridCol>
                <a:gridCol w="2519285">
                  <a:extLst>
                    <a:ext uri="{9D8B030D-6E8A-4147-A177-3AD203B41FA5}">
                      <a16:colId xmlns:a16="http://schemas.microsoft.com/office/drawing/2014/main" val="3413197000"/>
                    </a:ext>
                  </a:extLst>
                </a:gridCol>
                <a:gridCol w="2519285">
                  <a:extLst>
                    <a:ext uri="{9D8B030D-6E8A-4147-A177-3AD203B41FA5}">
                      <a16:colId xmlns:a16="http://schemas.microsoft.com/office/drawing/2014/main" val="138813452"/>
                    </a:ext>
                  </a:extLst>
                </a:gridCol>
              </a:tblGrid>
              <a:tr h="465508">
                <a:tc>
                  <a:txBody>
                    <a:bodyPr/>
                    <a:lstStyle/>
                    <a:p>
                      <a:r>
                        <a:rPr lang="en-US" b="1" dirty="0"/>
                        <a:t>Windows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762517"/>
                  </a:ext>
                </a:extLst>
              </a:tr>
              <a:tr h="465508">
                <a:tc>
                  <a:txBody>
                    <a:bodyPr/>
                    <a:lstStyle/>
                    <a:p>
                      <a:r>
                        <a:rPr lang="en-US" b="1" dirty="0"/>
                        <a:t>Windows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Safari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61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Windows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FireFox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Oracle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303412"/>
                  </a:ext>
                </a:extLst>
              </a:tr>
              <a:tr h="465508">
                <a:tc>
                  <a:txBody>
                    <a:bodyPr/>
                    <a:lstStyle/>
                    <a:p>
                      <a:r>
                        <a:rPr lang="en-US" b="1" dirty="0"/>
                        <a:t>Mac OS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Oracle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821950"/>
                  </a:ext>
                </a:extLst>
              </a:tr>
              <a:tr h="5933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Mac OS</a:t>
                      </a:r>
                      <a:endParaRPr lang="ru-RU" b="1" dirty="0"/>
                    </a:p>
                    <a:p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Safari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538916"/>
                  </a:ext>
                </a:extLst>
              </a:tr>
              <a:tr h="5933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Mac OS</a:t>
                      </a:r>
                      <a:endParaRPr lang="ru-RU" b="1" dirty="0"/>
                    </a:p>
                    <a:p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FireFox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836268"/>
                  </a:ext>
                </a:extLst>
              </a:tr>
              <a:tr h="465508">
                <a:tc>
                  <a:txBody>
                    <a:bodyPr/>
                    <a:lstStyle/>
                    <a:p>
                      <a:r>
                        <a:rPr lang="en-US" b="1" dirty="0"/>
                        <a:t>Linux</a:t>
                      </a:r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Chrome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680230"/>
                  </a:ext>
                </a:extLst>
              </a:tr>
              <a:tr h="59047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Linux</a:t>
                      </a:r>
                      <a:endParaRPr lang="ru-RU" b="1" dirty="0"/>
                    </a:p>
                    <a:p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Safari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Oracle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205389"/>
                  </a:ext>
                </a:extLst>
              </a:tr>
              <a:tr h="5933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Linux</a:t>
                      </a:r>
                      <a:endParaRPr lang="ru-RU" b="1" dirty="0"/>
                    </a:p>
                    <a:p>
                      <a:endParaRPr lang="ru-R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FireFox</a:t>
                      </a:r>
                      <a:endParaRPr lang="ru-RU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59669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8590CDA-3B07-4C99-BD02-9641419501AD}"/>
              </a:ext>
            </a:extLst>
          </p:cNvPr>
          <p:cNvSpPr txBox="1"/>
          <p:nvPr/>
        </p:nvSpPr>
        <p:spPr>
          <a:xfrm>
            <a:off x="976543" y="5866657"/>
            <a:ext cx="6826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Сократили количество тестов с 81 до 9</a:t>
            </a:r>
          </a:p>
        </p:txBody>
      </p:sp>
    </p:spTree>
    <p:extLst>
      <p:ext uri="{BB962C8B-B14F-4D97-AF65-F5344CB8AC3E}">
        <p14:creationId xmlns:p14="http://schemas.microsoft.com/office/powerpoint/2010/main" val="32771491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Предугадывание ошибки</a:t>
            </a: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ru-RU" altLang="ru-RU" dirty="0">
                <a:solidFill>
                  <a:srgbClr val="000000"/>
                </a:solidFill>
                <a:latin typeface="+mj-lt"/>
              </a:rPr>
              <a:t>Основную роль играет опытность тестировщика, и его интуиция.</a:t>
            </a:r>
            <a:r>
              <a:rPr lang="ru-RU" altLang="ru-RU" dirty="0">
                <a:solidFill>
                  <a:schemeClr val="tx1"/>
                </a:solidFill>
                <a:latin typeface="+mj-lt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ru-RU" altLang="ru-RU" dirty="0">
              <a:solidFill>
                <a:schemeClr val="tx1"/>
              </a:solidFill>
              <a:latin typeface="+mj-lt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ru-RU" altLang="ru-RU" dirty="0">
                <a:solidFill>
                  <a:schemeClr val="tx1"/>
                </a:solidFill>
                <a:latin typeface="+mj-lt"/>
              </a:rPr>
              <a:t>На основе своего опыта, представлении как должно работать приложение, и предположения где может быть ошибка, строятся и проводятся тесты.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3306" y="4508430"/>
            <a:ext cx="2129051" cy="163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0838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Исчерпывающее тестирование</a:t>
            </a:r>
            <a:br>
              <a:rPr lang="en-US" dirty="0"/>
            </a:b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 крайний случай. В пределах этой техники мы должны проверить все возможные комбинации входных значений, и в принципе, это должно обеспечить максимальное покрытие.</a:t>
            </a:r>
          </a:p>
          <a:p>
            <a:r>
              <a:rPr lang="ru-RU" dirty="0"/>
              <a:t>На практике, этот метод применяется редко, из-за огромного количества входных значений. </a:t>
            </a:r>
          </a:p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B58A74-DF0D-45A1-85E3-691544E25B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88" y="4072130"/>
            <a:ext cx="2154934" cy="215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0660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D44B8-00C0-46F9-B145-5D7681B9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9788D-2BC0-4161-805C-DEB5DCB0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Оформить 2-3 бага в </a:t>
            </a:r>
            <a:r>
              <a:rPr lang="en-US" dirty="0"/>
              <a:t>Jira</a:t>
            </a:r>
            <a:r>
              <a:rPr lang="ru-RU" dirty="0"/>
              <a:t>, используя обязательные поля создания баг-репорта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Протестировать </a:t>
            </a:r>
            <a:r>
              <a:rPr lang="en-US" dirty="0"/>
              <a:t>web</a:t>
            </a:r>
            <a:r>
              <a:rPr lang="ru-RU" dirty="0"/>
              <a:t>-проект “</a:t>
            </a:r>
            <a:r>
              <a:rPr lang="en-US" dirty="0" err="1"/>
              <a:t>phptravels</a:t>
            </a:r>
            <a:r>
              <a:rPr lang="ru-RU" dirty="0"/>
              <a:t>”, используя все виды тестирования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Протестировать </a:t>
            </a:r>
            <a:r>
              <a:rPr lang="en-US" dirty="0"/>
              <a:t>web-</a:t>
            </a:r>
            <a:r>
              <a:rPr lang="ru-RU" dirty="0"/>
              <a:t>проект “</a:t>
            </a:r>
            <a:r>
              <a:rPr lang="en-US"/>
              <a:t>espocrm</a:t>
            </a:r>
            <a:r>
              <a:rPr lang="ru-RU"/>
              <a:t>”, </a:t>
            </a:r>
            <a:r>
              <a:rPr lang="ru-RU" dirty="0"/>
              <a:t>используя все виды тестирования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Оформить все найденные баги по всем проектам в </a:t>
            </a:r>
            <a:r>
              <a:rPr lang="en-US" dirty="0"/>
              <a:t>Jira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r>
              <a:rPr lang="ru-RU" dirty="0"/>
              <a:t>В дальнейшем, любые баги нужно создавать в </a:t>
            </a:r>
            <a:r>
              <a:rPr lang="en-US" dirty="0"/>
              <a:t>Jira</a:t>
            </a:r>
            <a:endParaRPr lang="ru-RU" dirty="0"/>
          </a:p>
          <a:p>
            <a:r>
              <a:rPr lang="ru-RU" dirty="0"/>
              <a:t>Инструкции по выполнению будут в папке с общим дз</a:t>
            </a:r>
            <a:endParaRPr lang="en-US" dirty="0"/>
          </a:p>
          <a:p>
            <a:endParaRPr lang="ru-RU" dirty="0"/>
          </a:p>
        </p:txBody>
      </p:sp>
      <p:pic>
        <p:nvPicPr>
          <p:cNvPr id="4" name="Рисунок 2">
            <a:extLst>
              <a:ext uri="{FF2B5EF4-FFF2-40B4-BE49-F238E27FC236}">
                <a16:creationId xmlns:a16="http://schemas.microsoft.com/office/drawing/2014/main" id="{BD2820BC-2A50-4EA6-AED0-E31823BA1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707" y="5024088"/>
            <a:ext cx="1568497" cy="112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129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4842</TotalTime>
  <Words>1827</Words>
  <Application>Microsoft Office PowerPoint</Application>
  <PresentationFormat>Widescreen</PresentationFormat>
  <Paragraphs>379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Garamond</vt:lpstr>
      <vt:lpstr>Organic</vt:lpstr>
      <vt:lpstr>3 урок</vt:lpstr>
      <vt:lpstr>Багтрекинговые системы</vt:lpstr>
      <vt:lpstr>Bug Report</vt:lpstr>
      <vt:lpstr>Bug Report. Составляющие</vt:lpstr>
      <vt:lpstr>Bug Report Короткое описание</vt:lpstr>
      <vt:lpstr>Bug Report Короткое описание</vt:lpstr>
      <vt:lpstr>Bug Report Короткое описание. Примеры:</vt:lpstr>
      <vt:lpstr>Bug Report Короткое описание. Примеры:</vt:lpstr>
      <vt:lpstr>Bug Report Короткое описание. Примеры:</vt:lpstr>
      <vt:lpstr>Bug Report Короткое описание. Примеры:</vt:lpstr>
      <vt:lpstr>Bug Report Шаги для воспроизведения</vt:lpstr>
      <vt:lpstr>PowerPoint Presentation</vt:lpstr>
      <vt:lpstr>PowerPoint Presentation</vt:lpstr>
      <vt:lpstr>Bug Report Результат</vt:lpstr>
      <vt:lpstr>Bug Report Результат</vt:lpstr>
      <vt:lpstr>PowerPoint Presentation</vt:lpstr>
      <vt:lpstr>PowerPoint Presentation</vt:lpstr>
      <vt:lpstr>PowerPoint Presentation</vt:lpstr>
      <vt:lpstr>Bug Report Ожидаемый результат</vt:lpstr>
      <vt:lpstr>Bug Report Ожидаемый результат</vt:lpstr>
      <vt:lpstr>Bug Report Ожидаемый результат</vt:lpstr>
      <vt:lpstr>PowerPoint Presentation</vt:lpstr>
      <vt:lpstr>PowerPoint Presentation</vt:lpstr>
      <vt:lpstr>Серьезность vs Приоритет</vt:lpstr>
      <vt:lpstr>Градация Серьезности дефекта (Severity) </vt:lpstr>
      <vt:lpstr>  Тривиальная (Minor)  </vt:lpstr>
      <vt:lpstr>  Незначительная (Normal)   </vt:lpstr>
      <vt:lpstr>  Незначительная (Normal)   </vt:lpstr>
      <vt:lpstr>  Значительная (Major)    </vt:lpstr>
      <vt:lpstr>  Значительная (Major)    </vt:lpstr>
      <vt:lpstr>  Критичная (Critical)    </vt:lpstr>
      <vt:lpstr>  Критичная (Critical)    </vt:lpstr>
      <vt:lpstr>  Блокирующая (Blocker)    </vt:lpstr>
      <vt:lpstr>  Blocker &amp; Critical    </vt:lpstr>
      <vt:lpstr>PowerPoint Presentation</vt:lpstr>
      <vt:lpstr>Основные принципы при создании баг репорта</vt:lpstr>
      <vt:lpstr>Жизненный цикл бага</vt:lpstr>
      <vt:lpstr>Жизненный цикл бага</vt:lpstr>
      <vt:lpstr>Жизненный цикл бага</vt:lpstr>
      <vt:lpstr>Жизненный цикл бага</vt:lpstr>
      <vt:lpstr>Техники тест-дизайна</vt:lpstr>
      <vt:lpstr>Эквивалентное разделение</vt:lpstr>
      <vt:lpstr>PowerPoint Presentation</vt:lpstr>
      <vt:lpstr>Анализ граничных значений</vt:lpstr>
      <vt:lpstr>PowerPoint Presentation</vt:lpstr>
      <vt:lpstr>Анализ граничных значений</vt:lpstr>
      <vt:lpstr>Причина/следствие (состояние переходов)</vt:lpstr>
      <vt:lpstr>PowerPoint Presentation</vt:lpstr>
      <vt:lpstr>Попарное тестирование (pairwise)</vt:lpstr>
      <vt:lpstr>Попарное тестирование (pairwise)</vt:lpstr>
      <vt:lpstr>PowerPoint Presentation</vt:lpstr>
      <vt:lpstr>PowerPoint Presentation</vt:lpstr>
      <vt:lpstr>Предугадывание ошибки </vt:lpstr>
      <vt:lpstr>Исчерпывающее тестирование </vt:lpstr>
      <vt:lpstr>Домашнее 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урок</dc:title>
  <dc:creator>KATESATOR</dc:creator>
  <cp:lastModifiedBy>Vladimir Vladimir</cp:lastModifiedBy>
  <cp:revision>440</cp:revision>
  <dcterms:created xsi:type="dcterms:W3CDTF">2019-01-24T10:07:02Z</dcterms:created>
  <dcterms:modified xsi:type="dcterms:W3CDTF">2020-04-11T17:29:32Z</dcterms:modified>
</cp:coreProperties>
</file>