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7"/>
  </p:notesMasterIdLst>
  <p:sldIdLst>
    <p:sldId id="256" r:id="rId2"/>
    <p:sldId id="257" r:id="rId3"/>
    <p:sldId id="282" r:id="rId4"/>
    <p:sldId id="284" r:id="rId5"/>
    <p:sldId id="285" r:id="rId6"/>
    <p:sldId id="286" r:id="rId7"/>
    <p:sldId id="287" r:id="rId8"/>
    <p:sldId id="288" r:id="rId9"/>
    <p:sldId id="291" r:id="rId10"/>
    <p:sldId id="292" r:id="rId11"/>
    <p:sldId id="289" r:id="rId12"/>
    <p:sldId id="271" r:id="rId13"/>
    <p:sldId id="294" r:id="rId14"/>
    <p:sldId id="295" r:id="rId15"/>
    <p:sldId id="297" r:id="rId16"/>
    <p:sldId id="296" r:id="rId17"/>
    <p:sldId id="298" r:id="rId18"/>
    <p:sldId id="299" r:id="rId19"/>
    <p:sldId id="300" r:id="rId20"/>
    <p:sldId id="301" r:id="rId21"/>
    <p:sldId id="302" r:id="rId22"/>
    <p:sldId id="303" r:id="rId23"/>
    <p:sldId id="304" r:id="rId24"/>
    <p:sldId id="305" r:id="rId25"/>
    <p:sldId id="306" r:id="rId26"/>
    <p:sldId id="307" r:id="rId27"/>
    <p:sldId id="308" r:id="rId28"/>
    <p:sldId id="309" r:id="rId29"/>
    <p:sldId id="310" r:id="rId30"/>
    <p:sldId id="311" r:id="rId31"/>
    <p:sldId id="312" r:id="rId32"/>
    <p:sldId id="314" r:id="rId33"/>
    <p:sldId id="313" r:id="rId34"/>
    <p:sldId id="315" r:id="rId35"/>
    <p:sldId id="317" r:id="rId36"/>
    <p:sldId id="318" r:id="rId37"/>
    <p:sldId id="319" r:id="rId38"/>
    <p:sldId id="320" r:id="rId39"/>
    <p:sldId id="321" r:id="rId40"/>
    <p:sldId id="323" r:id="rId41"/>
    <p:sldId id="322" r:id="rId42"/>
    <p:sldId id="324" r:id="rId43"/>
    <p:sldId id="325" r:id="rId44"/>
    <p:sldId id="326" r:id="rId45"/>
    <p:sldId id="327" r:id="rId46"/>
    <p:sldId id="328" r:id="rId47"/>
    <p:sldId id="329" r:id="rId48"/>
    <p:sldId id="330" r:id="rId49"/>
    <p:sldId id="332" r:id="rId50"/>
    <p:sldId id="333" r:id="rId51"/>
    <p:sldId id="334" r:id="rId52"/>
    <p:sldId id="335" r:id="rId53"/>
    <p:sldId id="337" r:id="rId54"/>
    <p:sldId id="338" r:id="rId55"/>
    <p:sldId id="340" r:id="rId56"/>
    <p:sldId id="339" r:id="rId57"/>
    <p:sldId id="341" r:id="rId58"/>
    <p:sldId id="342" r:id="rId59"/>
    <p:sldId id="343" r:id="rId60"/>
    <p:sldId id="345" r:id="rId61"/>
    <p:sldId id="347" r:id="rId62"/>
    <p:sldId id="348" r:id="rId63"/>
    <p:sldId id="349" r:id="rId64"/>
    <p:sldId id="350" r:id="rId65"/>
    <p:sldId id="352" r:id="rId66"/>
    <p:sldId id="354" r:id="rId67"/>
    <p:sldId id="355" r:id="rId68"/>
    <p:sldId id="356" r:id="rId69"/>
    <p:sldId id="357" r:id="rId70"/>
    <p:sldId id="358" r:id="rId71"/>
    <p:sldId id="361" r:id="rId72"/>
    <p:sldId id="360" r:id="rId73"/>
    <p:sldId id="362" r:id="rId74"/>
    <p:sldId id="363" r:id="rId75"/>
    <p:sldId id="364" r:id="rId76"/>
    <p:sldId id="365" r:id="rId77"/>
    <p:sldId id="366" r:id="rId78"/>
    <p:sldId id="367" r:id="rId79"/>
    <p:sldId id="368" r:id="rId80"/>
    <p:sldId id="369" r:id="rId81"/>
    <p:sldId id="370" r:id="rId82"/>
    <p:sldId id="371" r:id="rId83"/>
    <p:sldId id="372" r:id="rId84"/>
    <p:sldId id="373" r:id="rId85"/>
    <p:sldId id="374" r:id="rId86"/>
    <p:sldId id="375" r:id="rId87"/>
    <p:sldId id="376" r:id="rId88"/>
    <p:sldId id="377" r:id="rId89"/>
    <p:sldId id="378" r:id="rId90"/>
    <p:sldId id="379" r:id="rId91"/>
    <p:sldId id="381" r:id="rId92"/>
    <p:sldId id="382" r:id="rId93"/>
    <p:sldId id="396" r:id="rId94"/>
    <p:sldId id="395" r:id="rId95"/>
    <p:sldId id="397" r:id="rId96"/>
    <p:sldId id="384" r:id="rId97"/>
    <p:sldId id="386" r:id="rId98"/>
    <p:sldId id="392" r:id="rId99"/>
    <p:sldId id="388" r:id="rId100"/>
    <p:sldId id="389" r:id="rId101"/>
    <p:sldId id="391" r:id="rId102"/>
    <p:sldId id="390" r:id="rId103"/>
    <p:sldId id="393" r:id="rId104"/>
    <p:sldId id="398" r:id="rId105"/>
    <p:sldId id="403" r:id="rId10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94660"/>
  </p:normalViewPr>
  <p:slideViewPr>
    <p:cSldViewPr snapToGrid="0">
      <p:cViewPr varScale="1">
        <p:scale>
          <a:sx n="154" d="100"/>
          <a:sy n="154" d="100"/>
        </p:scale>
        <p:origin x="60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C84469-19A5-4609-B5E3-72F859499D19}" type="datetimeFigureOut">
              <a:rPr lang="ru-RU" smtClean="0"/>
              <a:t>31.01.2021</a:t>
            </a:fld>
            <a:endParaRPr lang="ru-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CD6356-6BE6-4021-8202-B177B399EED9}" type="slidenum">
              <a:rPr lang="ru-RU" smtClean="0"/>
              <a:t>‹#›</a:t>
            </a:fld>
            <a:endParaRPr lang="ru-RU"/>
          </a:p>
        </p:txBody>
      </p:sp>
    </p:spTree>
    <p:extLst>
      <p:ext uri="{BB962C8B-B14F-4D97-AF65-F5344CB8AC3E}">
        <p14:creationId xmlns:p14="http://schemas.microsoft.com/office/powerpoint/2010/main" val="400668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BECD6356-6BE6-4021-8202-B177B399EED9}" type="slidenum">
              <a:rPr lang="ru-RU" smtClean="0"/>
              <a:t>8</a:t>
            </a:fld>
            <a:endParaRPr lang="ru-RU"/>
          </a:p>
        </p:txBody>
      </p:sp>
    </p:spTree>
    <p:extLst>
      <p:ext uri="{BB962C8B-B14F-4D97-AF65-F5344CB8AC3E}">
        <p14:creationId xmlns:p14="http://schemas.microsoft.com/office/powerpoint/2010/main" val="12304961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BECD6356-6BE6-4021-8202-B177B399EED9}" type="slidenum">
              <a:rPr lang="ru-RU" smtClean="0"/>
              <a:t>9</a:t>
            </a:fld>
            <a:endParaRPr lang="ru-RU"/>
          </a:p>
        </p:txBody>
      </p:sp>
    </p:spTree>
    <p:extLst>
      <p:ext uri="{BB962C8B-B14F-4D97-AF65-F5344CB8AC3E}">
        <p14:creationId xmlns:p14="http://schemas.microsoft.com/office/powerpoint/2010/main" val="22205613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BECD6356-6BE6-4021-8202-B177B399EED9}" type="slidenum">
              <a:rPr lang="ru-RU" smtClean="0"/>
              <a:t>10</a:t>
            </a:fld>
            <a:endParaRPr lang="ru-RU"/>
          </a:p>
        </p:txBody>
      </p:sp>
    </p:spTree>
    <p:extLst>
      <p:ext uri="{BB962C8B-B14F-4D97-AF65-F5344CB8AC3E}">
        <p14:creationId xmlns:p14="http://schemas.microsoft.com/office/powerpoint/2010/main" val="22641017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1E2E21F3-2312-42E0-B1CA-F43124894BE0}" type="datetimeFigureOut">
              <a:rPr lang="ru-RU" smtClean="0"/>
              <a:t>31.01.2021</a:t>
            </a:fld>
            <a:endParaRPr lang="ru-RU"/>
          </a:p>
        </p:txBody>
      </p:sp>
      <p:sp>
        <p:nvSpPr>
          <p:cNvPr id="5" name="Footer Placeholder 4"/>
          <p:cNvSpPr>
            <a:spLocks noGrp="1"/>
          </p:cNvSpPr>
          <p:nvPr>
            <p:ph type="ftr" sz="quarter" idx="11"/>
          </p:nvPr>
        </p:nvSpPr>
        <p:spPr>
          <a:xfrm>
            <a:off x="2692397" y="5037663"/>
            <a:ext cx="5214635" cy="279400"/>
          </a:xfrm>
        </p:spPr>
        <p:txBody>
          <a:bodyPr/>
          <a:lstStyle/>
          <a:p>
            <a:endParaRPr lang="ru-RU"/>
          </a:p>
        </p:txBody>
      </p:sp>
      <p:sp>
        <p:nvSpPr>
          <p:cNvPr id="6" name="Slide Number Placeholder 5"/>
          <p:cNvSpPr>
            <a:spLocks noGrp="1"/>
          </p:cNvSpPr>
          <p:nvPr>
            <p:ph type="sldNum" sz="quarter" idx="12"/>
          </p:nvPr>
        </p:nvSpPr>
        <p:spPr>
          <a:xfrm>
            <a:off x="8956900" y="5037663"/>
            <a:ext cx="551167" cy="279400"/>
          </a:xfrm>
        </p:spPr>
        <p:txBody>
          <a:bodyPr/>
          <a:lstStyle/>
          <a:p>
            <a:fld id="{643A5A49-4B77-47A1-9E17-ADDDE403AA4C}" type="slidenum">
              <a:rPr lang="ru-RU" smtClean="0"/>
              <a:t>‹#›</a:t>
            </a:fld>
            <a:endParaRPr lang="ru-RU"/>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3865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2E21F3-2312-42E0-B1CA-F43124894BE0}" type="datetimeFigureOut">
              <a:rPr lang="ru-RU" smtClean="0"/>
              <a:t>31.01.2021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3A5A49-4B77-47A1-9E17-ADDDE403AA4C}" type="slidenum">
              <a:rPr lang="ru-RU" smtClean="0"/>
              <a:t>‹#›</a:t>
            </a:fld>
            <a:endParaRPr lang="ru-RU"/>
          </a:p>
        </p:txBody>
      </p:sp>
    </p:spTree>
    <p:extLst>
      <p:ext uri="{BB962C8B-B14F-4D97-AF65-F5344CB8AC3E}">
        <p14:creationId xmlns:p14="http://schemas.microsoft.com/office/powerpoint/2010/main" val="2394947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2E21F3-2312-42E0-B1CA-F43124894BE0}" type="datetimeFigureOut">
              <a:rPr lang="ru-RU" smtClean="0"/>
              <a:t>31.01.2021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3A5A49-4B77-47A1-9E17-ADDDE403AA4C}" type="slidenum">
              <a:rPr lang="ru-RU" smtClean="0"/>
              <a:t>‹#›</a:t>
            </a:fld>
            <a:endParaRPr lang="ru-RU"/>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1900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2E21F3-2312-42E0-B1CA-F43124894BE0}" type="datetimeFigureOut">
              <a:rPr lang="ru-RU" smtClean="0"/>
              <a:t>31.01.2021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643A5A49-4B77-47A1-9E17-ADDDE403AA4C}" type="slidenum">
              <a:rPr lang="ru-RU" smtClean="0"/>
              <a:t>‹#›</a:t>
            </a:fld>
            <a:endParaRPr lang="ru-RU"/>
          </a:p>
        </p:txBody>
      </p:sp>
    </p:spTree>
    <p:extLst>
      <p:ext uri="{BB962C8B-B14F-4D97-AF65-F5344CB8AC3E}">
        <p14:creationId xmlns:p14="http://schemas.microsoft.com/office/powerpoint/2010/main" val="1879790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2E21F3-2312-42E0-B1CA-F43124894BE0}" type="datetimeFigureOut">
              <a:rPr lang="ru-RU" smtClean="0"/>
              <a:t>31.01.2021</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643A5A49-4B77-47A1-9E17-ADDDE403AA4C}" type="slidenum">
              <a:rPr lang="ru-RU" smtClean="0"/>
              <a:t>‹#›</a:t>
            </a:fld>
            <a:endParaRPr lang="ru-RU"/>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3767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2E21F3-2312-42E0-B1CA-F43124894BE0}" type="datetimeFigureOut">
              <a:rPr lang="ru-RU" smtClean="0"/>
              <a:t>31.01.2021</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643A5A49-4B77-47A1-9E17-ADDDE403AA4C}" type="slidenum">
              <a:rPr lang="ru-RU" smtClean="0"/>
              <a:t>‹#›</a:t>
            </a:fld>
            <a:endParaRPr lang="ru-RU"/>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8744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2E21F3-2312-42E0-B1CA-F43124894BE0}" type="datetimeFigureOut">
              <a:rPr lang="ru-RU" smtClean="0"/>
              <a:t>31.01.2021</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643A5A49-4B77-47A1-9E17-ADDDE403AA4C}" type="slidenum">
              <a:rPr lang="ru-RU" smtClean="0"/>
              <a:t>‹#›</a:t>
            </a:fld>
            <a:endParaRPr lang="ru-RU"/>
          </a:p>
        </p:txBody>
      </p:sp>
    </p:spTree>
    <p:extLst>
      <p:ext uri="{BB962C8B-B14F-4D97-AF65-F5344CB8AC3E}">
        <p14:creationId xmlns:p14="http://schemas.microsoft.com/office/powerpoint/2010/main" val="1771440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2E21F3-2312-42E0-B1CA-F43124894BE0}" type="datetimeFigureOut">
              <a:rPr lang="ru-RU" smtClean="0"/>
              <a:t>31.01.2021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643A5A49-4B77-47A1-9E17-ADDDE403AA4C}" type="slidenum">
              <a:rPr lang="ru-RU" smtClean="0"/>
              <a:t>‹#›</a:t>
            </a:fld>
            <a:endParaRPr lang="ru-RU"/>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6120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2E21F3-2312-42E0-B1CA-F43124894BE0}" type="datetimeFigureOut">
              <a:rPr lang="ru-RU" smtClean="0"/>
              <a:t>31.01.2021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643A5A49-4B77-47A1-9E17-ADDDE403AA4C}" type="slidenum">
              <a:rPr lang="ru-RU" smtClean="0"/>
              <a:t>‹#›</a:t>
            </a:fld>
            <a:endParaRPr lang="ru-RU"/>
          </a:p>
        </p:txBody>
      </p:sp>
    </p:spTree>
    <p:extLst>
      <p:ext uri="{BB962C8B-B14F-4D97-AF65-F5344CB8AC3E}">
        <p14:creationId xmlns:p14="http://schemas.microsoft.com/office/powerpoint/2010/main" val="824675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2E21F3-2312-42E0-B1CA-F43124894BE0}" type="datetimeFigureOut">
              <a:rPr lang="ru-RU" smtClean="0"/>
              <a:t>31.01.2021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643A5A49-4B77-47A1-9E17-ADDDE403AA4C}" type="slidenum">
              <a:rPr lang="ru-RU" smtClean="0"/>
              <a:t>‹#›</a:t>
            </a:fld>
            <a:endParaRPr lang="ru-RU"/>
          </a:p>
        </p:txBody>
      </p:sp>
    </p:spTree>
    <p:extLst>
      <p:ext uri="{BB962C8B-B14F-4D97-AF65-F5344CB8AC3E}">
        <p14:creationId xmlns:p14="http://schemas.microsoft.com/office/powerpoint/2010/main" val="3445729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2E21F3-2312-42E0-B1CA-F43124894BE0}" type="datetimeFigureOut">
              <a:rPr lang="ru-RU" smtClean="0"/>
              <a:t>31.01.2021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3A5A49-4B77-47A1-9E17-ADDDE403AA4C}" type="slidenum">
              <a:rPr lang="ru-RU" smtClean="0"/>
              <a:t>‹#›</a:t>
            </a:fld>
            <a:endParaRPr lang="ru-RU"/>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232758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2E21F3-2312-42E0-B1CA-F43124894BE0}" type="datetimeFigureOut">
              <a:rPr lang="ru-RU" smtClean="0"/>
              <a:t>31.01.2021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3A5A49-4B77-47A1-9E17-ADDDE403AA4C}" type="slidenum">
              <a:rPr lang="ru-RU" smtClean="0"/>
              <a:t>‹#›</a:t>
            </a:fld>
            <a:endParaRPr lang="ru-RU"/>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670456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2E21F3-2312-42E0-B1CA-F43124894BE0}" type="datetimeFigureOut">
              <a:rPr lang="ru-RU" smtClean="0"/>
              <a:t>31.01.2021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3A5A49-4B77-47A1-9E17-ADDDE403AA4C}" type="slidenum">
              <a:rPr lang="ru-RU" smtClean="0"/>
              <a:t>‹#›</a:t>
            </a:fld>
            <a:endParaRPr lang="ru-RU"/>
          </a:p>
        </p:txBody>
      </p:sp>
    </p:spTree>
    <p:extLst>
      <p:ext uri="{BB962C8B-B14F-4D97-AF65-F5344CB8AC3E}">
        <p14:creationId xmlns:p14="http://schemas.microsoft.com/office/powerpoint/2010/main" val="38928860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2E21F3-2312-42E0-B1CA-F43124894BE0}" type="datetimeFigureOut">
              <a:rPr lang="ru-RU" smtClean="0"/>
              <a:t>31.01.2021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3A5A49-4B77-47A1-9E17-ADDDE403AA4C}" type="slidenum">
              <a:rPr lang="ru-RU" smtClean="0"/>
              <a:t>‹#›</a:t>
            </a:fld>
            <a:endParaRPr lang="ru-RU"/>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410899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2E21F3-2312-42E0-B1CA-F43124894BE0}" type="datetimeFigureOut">
              <a:rPr lang="ru-RU" smtClean="0"/>
              <a:t>31.01.2021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3A5A49-4B77-47A1-9E17-ADDDE403AA4C}" type="slidenum">
              <a:rPr lang="ru-RU" smtClean="0"/>
              <a:t>‹#›</a:t>
            </a:fld>
            <a:endParaRPr lang="ru-RU"/>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072609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2E21F3-2312-42E0-B1CA-F43124894BE0}" type="datetimeFigureOut">
              <a:rPr lang="ru-RU" smtClean="0"/>
              <a:t>31.01.2021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3A5A49-4B77-47A1-9E17-ADDDE403AA4C}" type="slidenum">
              <a:rPr lang="ru-RU" smtClean="0"/>
              <a:t>‹#›</a:t>
            </a:fld>
            <a:endParaRPr lang="ru-RU"/>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266356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2E21F3-2312-42E0-B1CA-F43124894BE0}" type="datetimeFigureOut">
              <a:rPr lang="ru-RU" smtClean="0"/>
              <a:t>31.01.2021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43A5A49-4B77-47A1-9E17-ADDDE403AA4C}" type="slidenum">
              <a:rPr lang="ru-RU" smtClean="0"/>
              <a:t>‹#›</a:t>
            </a:fld>
            <a:endParaRPr lang="ru-RU"/>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02090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E2E21F3-2312-42E0-B1CA-F43124894BE0}" type="datetimeFigureOut">
              <a:rPr lang="ru-RU" smtClean="0"/>
              <a:t>31.01.2021</a:t>
            </a:fld>
            <a:endParaRPr lang="ru-RU"/>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ru-RU"/>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43A5A49-4B77-47A1-9E17-ADDDE403AA4C}" type="slidenum">
              <a:rPr lang="ru-RU" smtClean="0"/>
              <a:t>‹#›</a:t>
            </a:fld>
            <a:endParaRPr lang="ru-RU"/>
          </a:p>
        </p:txBody>
      </p:sp>
    </p:spTree>
    <p:extLst>
      <p:ext uri="{BB962C8B-B14F-4D97-AF65-F5344CB8AC3E}">
        <p14:creationId xmlns:p14="http://schemas.microsoft.com/office/powerpoint/2010/main" val="21695308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git-scm.com/download/win" TargetMode="Externa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git-scm.com/download/mac"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 Id="rId4" Type="http://schemas.openxmlformats.org/officeDocument/2006/relationships/image" Target="../media/image63.png"/></Relationships>
</file>

<file path=ppt/slides/_rels/slide4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7.xml"/><Relationship Id="rId4" Type="http://schemas.openxmlformats.org/officeDocument/2006/relationships/image" Target="../media/image7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7.xml"/><Relationship Id="rId4" Type="http://schemas.openxmlformats.org/officeDocument/2006/relationships/image" Target="../media/image78.png"/></Relationships>
</file>

<file path=ppt/slides/_rels/slide5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 Id="rId4" Type="http://schemas.openxmlformats.org/officeDocument/2006/relationships/image" Target="../media/image81.png"/></Relationships>
</file>

<file path=ppt/slides/_rels/slide5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7.xml"/><Relationship Id="rId4" Type="http://schemas.openxmlformats.org/officeDocument/2006/relationships/image" Target="../media/image84.png"/></Relationships>
</file>

<file path=ppt/slides/_rels/slide5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7.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6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7.xml"/><Relationship Id="rId4" Type="http://schemas.openxmlformats.org/officeDocument/2006/relationships/image" Target="../media/image97.png"/></Relationships>
</file>

<file path=ppt/slides/_rels/slide6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7.xml"/><Relationship Id="rId4" Type="http://schemas.openxmlformats.org/officeDocument/2006/relationships/image" Target="../media/image105.png"/></Relationships>
</file>

<file path=ppt/slides/_rels/slide6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7.xml"/><Relationship Id="rId4" Type="http://schemas.openxmlformats.org/officeDocument/2006/relationships/image" Target="../media/image108.png"/></Relationships>
</file>

<file path=ppt/slides/_rels/slide6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7.xml"/><Relationship Id="rId4" Type="http://schemas.openxmlformats.org/officeDocument/2006/relationships/image" Target="../media/image11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hyperlink" Target="https://github.com/" TargetMode="External"/><Relationship Id="rId1" Type="http://schemas.openxmlformats.org/officeDocument/2006/relationships/slideLayout" Target="../slideLayouts/slideLayout7.xml"/><Relationship Id="rId4" Type="http://schemas.openxmlformats.org/officeDocument/2006/relationships/image" Target="../media/image117.png"/></Relationships>
</file>

<file path=ppt/slides/_rels/slide74.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7.xml"/><Relationship Id="rId4" Type="http://schemas.openxmlformats.org/officeDocument/2006/relationships/image" Target="../media/image120.png"/></Relationships>
</file>

<file path=ppt/slides/_rels/slide75.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hyperlink" Target="https://github.com/adam-p/markdown-here/wiki/Markdown-Cheatsheet" TargetMode="Externa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hyperlink" Target="http://practice.automationtesting.in/" TargetMode="Externa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hyperlink" Target="http://practice.automationtesting.in/" TargetMode="Externa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hyperlink" Target="http://practice.automationtesting.in/" TargetMode="Externa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hyperlink" Target="http://practice.automationtesting.in/" TargetMode="Externa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hyperlink" Target="http://practice.automationtesting.in/" TargetMode="Externa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hyperlink" Target="http://practice.automationtesting.in/" TargetMode="Externa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hyperlink" Target="http://practice.automationtesting.in/" TargetMode="Externa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hyperlink" Target="http://practice.automationtesting.in/" TargetMode="Externa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hyperlink" Target="http://practice.automationtesting.in/" TargetMode="Externa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hyperlink" Target="http://practice.automationtesting.in/" TargetMode="Externa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hyperlink" Target="https://forms.gle/qnb6sKioC9BfGtp16" TargetMode="External"/><Relationship Id="rId2" Type="http://schemas.openxmlformats.org/officeDocument/2006/relationships/hyperlink" Target="https://forms.gle/2CwcJGEiJLxfRJRp7" TargetMode="External"/><Relationship Id="rId1" Type="http://schemas.openxmlformats.org/officeDocument/2006/relationships/slideLayout" Target="../slideLayouts/slideLayout2.xml"/><Relationship Id="rId4" Type="http://schemas.openxmlformats.org/officeDocument/2006/relationships/image" Target="../media/image1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68A7C-0092-41BB-9045-B6A4A46AAC47}"/>
              </a:ext>
            </a:extLst>
          </p:cNvPr>
          <p:cNvSpPr>
            <a:spLocks noGrp="1"/>
          </p:cNvSpPr>
          <p:nvPr>
            <p:ph type="ctrTitle"/>
          </p:nvPr>
        </p:nvSpPr>
        <p:spPr/>
        <p:txBody>
          <a:bodyPr/>
          <a:lstStyle/>
          <a:p>
            <a:r>
              <a:rPr lang="ru-RU" dirty="0"/>
              <a:t>Урок 4</a:t>
            </a:r>
          </a:p>
        </p:txBody>
      </p:sp>
      <p:sp>
        <p:nvSpPr>
          <p:cNvPr id="3" name="Subtitle 2">
            <a:extLst>
              <a:ext uri="{FF2B5EF4-FFF2-40B4-BE49-F238E27FC236}">
                <a16:creationId xmlns:a16="http://schemas.microsoft.com/office/drawing/2014/main" id="{56E39086-6D07-4C6B-A3DE-7E436874D4EC}"/>
              </a:ext>
            </a:extLst>
          </p:cNvPr>
          <p:cNvSpPr>
            <a:spLocks noGrp="1"/>
          </p:cNvSpPr>
          <p:nvPr>
            <p:ph type="subTitle" idx="1"/>
          </p:nvPr>
        </p:nvSpPr>
        <p:spPr/>
        <p:txBody>
          <a:bodyPr/>
          <a:lstStyle/>
          <a:p>
            <a:r>
              <a:rPr lang="en-US" dirty="0"/>
              <a:t>Git, GitHub</a:t>
            </a:r>
            <a:endParaRPr lang="ru-RU" dirty="0"/>
          </a:p>
        </p:txBody>
      </p:sp>
    </p:spTree>
    <p:extLst>
      <p:ext uri="{BB962C8B-B14F-4D97-AF65-F5344CB8AC3E}">
        <p14:creationId xmlns:p14="http://schemas.microsoft.com/office/powerpoint/2010/main" val="1750767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68FD3-55EA-4627-8318-3965921C8292}"/>
              </a:ext>
            </a:extLst>
          </p:cNvPr>
          <p:cNvSpPr>
            <a:spLocks noGrp="1"/>
          </p:cNvSpPr>
          <p:nvPr>
            <p:ph type="title"/>
          </p:nvPr>
        </p:nvSpPr>
        <p:spPr/>
        <p:txBody>
          <a:bodyPr/>
          <a:lstStyle/>
          <a:p>
            <a:r>
              <a:rPr lang="ru-RU" dirty="0"/>
              <a:t>Структура 4-го занятия</a:t>
            </a:r>
          </a:p>
        </p:txBody>
      </p:sp>
      <p:sp>
        <p:nvSpPr>
          <p:cNvPr id="3" name="Content Placeholder 2">
            <a:extLst>
              <a:ext uri="{FF2B5EF4-FFF2-40B4-BE49-F238E27FC236}">
                <a16:creationId xmlns:a16="http://schemas.microsoft.com/office/drawing/2014/main" id="{B00F1755-2391-4625-88DF-FE9223A9A5D4}"/>
              </a:ext>
            </a:extLst>
          </p:cNvPr>
          <p:cNvSpPr>
            <a:spLocks noGrp="1"/>
          </p:cNvSpPr>
          <p:nvPr>
            <p:ph idx="1"/>
          </p:nvPr>
        </p:nvSpPr>
        <p:spPr/>
        <p:txBody>
          <a:bodyPr/>
          <a:lstStyle/>
          <a:p>
            <a:pPr marL="457200" indent="-457200">
              <a:buFont typeface="+mj-lt"/>
              <a:buAutoNum type="arabicPeriod"/>
            </a:pPr>
            <a:r>
              <a:rPr lang="en-US" dirty="0"/>
              <a:t>GIT</a:t>
            </a:r>
            <a:r>
              <a:rPr lang="ru-RU" dirty="0"/>
              <a:t> введение</a:t>
            </a:r>
          </a:p>
          <a:p>
            <a:pPr marL="457200" indent="-457200">
              <a:buFont typeface="+mj-lt"/>
              <a:buAutoNum type="arabicPeriod"/>
            </a:pPr>
            <a:r>
              <a:rPr lang="en-US" dirty="0"/>
              <a:t>GIT </a:t>
            </a:r>
            <a:r>
              <a:rPr lang="ru-RU" dirty="0"/>
              <a:t>основные команды</a:t>
            </a:r>
          </a:p>
          <a:p>
            <a:pPr marL="457200" indent="-457200">
              <a:buFont typeface="+mj-lt"/>
              <a:buAutoNum type="arabicPeriod"/>
            </a:pPr>
            <a:r>
              <a:rPr lang="en-US" dirty="0"/>
              <a:t>GIT</a:t>
            </a:r>
            <a:r>
              <a:rPr lang="ru-RU" dirty="0"/>
              <a:t> создание репозитория</a:t>
            </a:r>
          </a:p>
          <a:p>
            <a:pPr marL="457200" indent="-457200">
              <a:buFont typeface="+mj-lt"/>
              <a:buAutoNum type="arabicPeriod"/>
            </a:pPr>
            <a:r>
              <a:rPr lang="ru-RU" dirty="0"/>
              <a:t>Работа с </a:t>
            </a:r>
            <a:r>
              <a:rPr lang="en-US" dirty="0"/>
              <a:t>GitHub</a:t>
            </a:r>
            <a:endParaRPr lang="ru-RU" dirty="0"/>
          </a:p>
          <a:p>
            <a:pPr marL="457200" indent="-457200">
              <a:buFont typeface="+mj-lt"/>
              <a:buAutoNum type="arabicPeriod"/>
            </a:pPr>
            <a:r>
              <a:rPr lang="ru-RU" dirty="0"/>
              <a:t>Практические задания</a:t>
            </a:r>
          </a:p>
        </p:txBody>
      </p:sp>
    </p:spTree>
    <p:extLst>
      <p:ext uri="{BB962C8B-B14F-4D97-AF65-F5344CB8AC3E}">
        <p14:creationId xmlns:p14="http://schemas.microsoft.com/office/powerpoint/2010/main" val="3246244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Система контроля версий</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600" dirty="0"/>
              <a:t>Система контроля версий(</a:t>
            </a:r>
            <a:r>
              <a:rPr lang="ru-RU" sz="1600" i="1" dirty="0"/>
              <a:t>СКВ, VCS, Version Control Systems</a:t>
            </a:r>
            <a:r>
              <a:rPr lang="ru-RU" sz="1600" dirty="0"/>
              <a:t>) — это система, записывающая изменения в файл или набор файлов в течение времени и позволяющая вернуться позже к определённой версии. </a:t>
            </a:r>
          </a:p>
          <a:p>
            <a:pPr marL="0" indent="0">
              <a:buNone/>
            </a:pPr>
            <a:r>
              <a:rPr lang="ru-RU" sz="1600" dirty="0"/>
              <a:t>Система контроля версий(</a:t>
            </a:r>
            <a:r>
              <a:rPr lang="ru-RU" sz="1600" i="1" dirty="0"/>
              <a:t>СКВ</a:t>
            </a:r>
            <a:r>
              <a:rPr lang="ru-RU" sz="1600" dirty="0"/>
              <a:t>) позволяет вернуть файлы к состоянию, в котором они были до изменений, вернуть проект к исходному состоянию, увидеть изменения, увидеть, кто последний менял что-то и вызвал проблему, кто поставил задачу и когда и многое другое. Использование СКВ также значит в целом, что, если вы сломали что-то или потеряли файлы, вы спокойно можете всё исправить, так как вся история изменения сохраняется. </a:t>
            </a:r>
          </a:p>
          <a:p>
            <a:pPr marL="0" indent="0">
              <a:buNone/>
            </a:pPr>
            <a:r>
              <a:rPr lang="ru-RU" sz="1600" dirty="0"/>
              <a:t>Проще говоря, это </a:t>
            </a:r>
            <a:r>
              <a:rPr lang="en-US" sz="1600" dirty="0"/>
              <a:t>"</a:t>
            </a:r>
            <a:r>
              <a:rPr lang="ru-RU" sz="1600" dirty="0"/>
              <a:t>машина времени</a:t>
            </a:r>
            <a:r>
              <a:rPr lang="en-US" sz="1600" dirty="0"/>
              <a:t>"</a:t>
            </a:r>
            <a:r>
              <a:rPr lang="ru-RU" sz="1600" dirty="0"/>
              <a:t> для программиста.</a:t>
            </a:r>
          </a:p>
          <a:p>
            <a:pPr marL="0" indent="0">
              <a:buNone/>
            </a:pPr>
            <a:endParaRPr lang="ru-RU" sz="1600" dirty="0"/>
          </a:p>
          <a:p>
            <a:pPr marL="0" indent="0">
              <a:buNone/>
            </a:pPr>
            <a:r>
              <a:rPr lang="ru-RU" sz="1600" dirty="0"/>
              <a:t>Очень похожий пример это компьютерные игры. В процессе игры мы можем сохраниться перед каким-нибудь сложным уровнем и если вдруг что-то пойдёт не так, всегда можно вернуться к той точке, где мы сохранились.</a:t>
            </a:r>
          </a:p>
        </p:txBody>
      </p:sp>
      <p:pic>
        <p:nvPicPr>
          <p:cNvPr id="6" name="Picture 5">
            <a:extLst>
              <a:ext uri="{FF2B5EF4-FFF2-40B4-BE49-F238E27FC236}">
                <a16:creationId xmlns:a16="http://schemas.microsoft.com/office/drawing/2014/main" id="{58514C5E-B6F8-48A1-9D57-E81A58E238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81603" y="4943239"/>
            <a:ext cx="2286000" cy="1285875"/>
          </a:xfrm>
          <a:prstGeom prst="rect">
            <a:avLst/>
          </a:prstGeom>
        </p:spPr>
      </p:pic>
      <p:sp>
        <p:nvSpPr>
          <p:cNvPr id="5" name="Rectangle 4">
            <a:extLst>
              <a:ext uri="{FF2B5EF4-FFF2-40B4-BE49-F238E27FC236}">
                <a16:creationId xmlns:a16="http://schemas.microsoft.com/office/drawing/2014/main" id="{5251341B-0B55-4CE7-B8E3-C38F395DDE04}"/>
              </a:ext>
            </a:extLst>
          </p:cNvPr>
          <p:cNvSpPr/>
          <p:nvPr/>
        </p:nvSpPr>
        <p:spPr>
          <a:xfrm>
            <a:off x="624397" y="5694185"/>
            <a:ext cx="8007658" cy="523220"/>
          </a:xfrm>
          <a:prstGeom prst="rect">
            <a:avLst/>
          </a:prstGeom>
        </p:spPr>
        <p:txBody>
          <a:bodyPr wrap="square">
            <a:spAutoFit/>
          </a:bodyPr>
          <a:lstStyle/>
          <a:p>
            <a:r>
              <a:rPr lang="ru-RU" sz="1400" b="1" dirty="0">
                <a:solidFill>
                  <a:schemeClr val="bg1">
                    <a:lumMod val="50000"/>
                  </a:schemeClr>
                </a:solidFill>
              </a:rPr>
              <a:t>Примечание</a:t>
            </a:r>
            <a:r>
              <a:rPr lang="en-US" sz="1400" b="1" dirty="0">
                <a:solidFill>
                  <a:schemeClr val="bg1">
                    <a:lumMod val="50000"/>
                  </a:schemeClr>
                </a:solidFill>
              </a:rPr>
              <a:t>:</a:t>
            </a:r>
            <a:r>
              <a:rPr lang="ru-RU" sz="1400" b="1" dirty="0">
                <a:solidFill>
                  <a:schemeClr val="bg1">
                    <a:lumMod val="50000"/>
                  </a:schemeClr>
                </a:solidFill>
              </a:rPr>
              <a:t> </a:t>
            </a:r>
            <a:r>
              <a:rPr lang="ru-RU" sz="1400" dirty="0">
                <a:solidFill>
                  <a:schemeClr val="bg1">
                    <a:lumMod val="50000"/>
                  </a:schemeClr>
                </a:solidFill>
              </a:rPr>
              <a:t>если смотрите презентацию с гугл диска(не скачивая), то возможны небольшие проблемы</a:t>
            </a:r>
          </a:p>
          <a:p>
            <a:r>
              <a:rPr lang="ru-RU" sz="1400" dirty="0">
                <a:solidFill>
                  <a:schemeClr val="bg1">
                    <a:lumMod val="50000"/>
                  </a:schemeClr>
                </a:solidFill>
              </a:rPr>
              <a:t>с вёрсткой некоторых слайдов.</a:t>
            </a:r>
            <a:endParaRPr lang="ru-RU" sz="2000" b="1" dirty="0"/>
          </a:p>
        </p:txBody>
      </p:sp>
    </p:spTree>
    <p:extLst>
      <p:ext uri="{BB962C8B-B14F-4D97-AF65-F5344CB8AC3E}">
        <p14:creationId xmlns:p14="http://schemas.microsoft.com/office/powerpoint/2010/main" val="1932027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Зачем нужен </a:t>
            </a:r>
            <a:r>
              <a:rPr lang="en-US" sz="4200" dirty="0"/>
              <a:t>Git?</a:t>
            </a:r>
            <a:endParaRPr lang="ru-RU" sz="4200" dirty="0"/>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600" dirty="0"/>
              <a:t>Представим вариант разработки по старинке, без</a:t>
            </a:r>
            <a:r>
              <a:rPr lang="en-US" sz="1600" dirty="0"/>
              <a:t> Git</a:t>
            </a:r>
            <a:r>
              <a:rPr lang="ru-RU" sz="1600" dirty="0"/>
              <a:t>. </a:t>
            </a:r>
          </a:p>
          <a:p>
            <a:pPr marL="0" indent="0">
              <a:buNone/>
            </a:pPr>
            <a:r>
              <a:rPr lang="ru-RU" sz="1600" dirty="0"/>
              <a:t>Есть сервер где хранится весь код. Он же будет резервной копией кода, так как если бы код хранился только на нашем компьютере и нигде больше – то это слишком рискованный вариант, ведь если с компьютером что-то произойдет, вся работа будет утеряна.</a:t>
            </a:r>
          </a:p>
          <a:p>
            <a:r>
              <a:rPr lang="ru-RU" sz="1600" dirty="0"/>
              <a:t>Поэтому, каждый раз когда мы хотим поработать с кодом, нам нужно его сначала скачать с сервера в виде файла.</a:t>
            </a:r>
          </a:p>
          <a:p>
            <a:r>
              <a:rPr lang="ru-RU" sz="1600" dirty="0"/>
              <a:t>Допустим, мы внесли какие-нибудь изменения в коде загруженного файла.</a:t>
            </a:r>
          </a:p>
          <a:p>
            <a:r>
              <a:rPr lang="ru-RU" sz="1600" dirty="0"/>
              <a:t>Теперь мы должны обратно загрузить файл на сервер.</a:t>
            </a:r>
          </a:p>
          <a:p>
            <a:pPr marL="0" indent="0">
              <a:buNone/>
            </a:pPr>
            <a:endParaRPr lang="ru-RU" sz="1600" dirty="0"/>
          </a:p>
          <a:p>
            <a:pPr marL="0" indent="0">
              <a:buNone/>
            </a:pPr>
            <a:r>
              <a:rPr lang="ru-RU" sz="1600" dirty="0"/>
              <a:t>Это вполне рабочая схема если над проектом работаем только мы,</a:t>
            </a:r>
          </a:p>
          <a:p>
            <a:pPr marL="0" indent="0">
              <a:buNone/>
            </a:pPr>
            <a:r>
              <a:rPr lang="ru-RU" sz="1600" dirty="0"/>
              <a:t>но что, если вместе с нами работают ещё десятки других коллег?</a:t>
            </a:r>
          </a:p>
          <a:p>
            <a:pPr marL="0" indent="0">
              <a:buNone/>
            </a:pPr>
            <a:endParaRPr lang="ru-RU" sz="1600" dirty="0"/>
          </a:p>
          <a:p>
            <a:pPr marL="0" indent="0">
              <a:buNone/>
            </a:pPr>
            <a:endParaRPr lang="ru-RU" sz="1600" dirty="0"/>
          </a:p>
          <a:p>
            <a:pPr marL="0" indent="0">
              <a:buNone/>
            </a:pPr>
            <a:endParaRPr lang="ru-RU" sz="1600" dirty="0"/>
          </a:p>
        </p:txBody>
      </p:sp>
      <p:pic>
        <p:nvPicPr>
          <p:cNvPr id="7" name="Picture 6">
            <a:extLst>
              <a:ext uri="{FF2B5EF4-FFF2-40B4-BE49-F238E27FC236}">
                <a16:creationId xmlns:a16="http://schemas.microsoft.com/office/drawing/2014/main" id="{87649584-7AEE-4DED-97FA-9905347881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8961" y="3195961"/>
            <a:ext cx="4466598" cy="3042816"/>
          </a:xfrm>
          <a:prstGeom prst="rect">
            <a:avLst/>
          </a:prstGeom>
        </p:spPr>
      </p:pic>
    </p:spTree>
    <p:extLst>
      <p:ext uri="{BB962C8B-B14F-4D97-AF65-F5344CB8AC3E}">
        <p14:creationId xmlns:p14="http://schemas.microsoft.com/office/powerpoint/2010/main" val="757210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Зачем нужен </a:t>
            </a:r>
            <a:r>
              <a:rPr lang="en-US" sz="4200" dirty="0"/>
              <a:t>Git?</a:t>
            </a:r>
            <a:endParaRPr lang="ru-RU" sz="4200" dirty="0"/>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fontScale="925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600" dirty="0"/>
              <a:t>Может возникнуть такая ситуация, когда коллега также скачает к себе на компьютер тот же самый файл что и мы.</a:t>
            </a:r>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r>
              <a:rPr lang="ru-RU" sz="1600" dirty="0"/>
              <a:t>Далее мы оба вносим какие-то изменения в файл и хотим загрузить его обратно на удаленный сервер. В итоге изменения одного из нас(того, кто первый загрузит файл) будут потеряны. Так произойдёт, так как последний загруженный файл просто перезапишет файл на сервере.</a:t>
            </a:r>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r>
              <a:rPr lang="ru-RU" sz="1600" dirty="0"/>
              <a:t> </a:t>
            </a:r>
          </a:p>
          <a:p>
            <a:pPr marL="0" indent="0">
              <a:buNone/>
            </a:pPr>
            <a:endParaRPr lang="ru-RU" sz="1600" dirty="0"/>
          </a:p>
          <a:p>
            <a:pPr marL="0" indent="0">
              <a:buNone/>
            </a:pPr>
            <a:endParaRPr lang="ru-RU" sz="1600" dirty="0"/>
          </a:p>
          <a:p>
            <a:pPr marL="0" indent="0">
              <a:buNone/>
            </a:pPr>
            <a:endParaRPr lang="ru-RU" sz="1600" dirty="0"/>
          </a:p>
        </p:txBody>
      </p:sp>
      <p:pic>
        <p:nvPicPr>
          <p:cNvPr id="6" name="Picture 5">
            <a:extLst>
              <a:ext uri="{FF2B5EF4-FFF2-40B4-BE49-F238E27FC236}">
                <a16:creationId xmlns:a16="http://schemas.microsoft.com/office/drawing/2014/main" id="{753F1763-3C47-4CAB-9FC4-EBA00E3AAB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9338" y="1538702"/>
            <a:ext cx="3631284" cy="2110021"/>
          </a:xfrm>
          <a:prstGeom prst="rect">
            <a:avLst/>
          </a:prstGeom>
        </p:spPr>
      </p:pic>
      <p:pic>
        <p:nvPicPr>
          <p:cNvPr id="9" name="Picture 8">
            <a:extLst>
              <a:ext uri="{FF2B5EF4-FFF2-40B4-BE49-F238E27FC236}">
                <a16:creationId xmlns:a16="http://schemas.microsoft.com/office/drawing/2014/main" id="{8EF104EF-E74E-4DD7-938B-E7F829FDF5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9338" y="4125747"/>
            <a:ext cx="3631284" cy="2110021"/>
          </a:xfrm>
          <a:prstGeom prst="rect">
            <a:avLst/>
          </a:prstGeom>
        </p:spPr>
      </p:pic>
    </p:spTree>
    <p:extLst>
      <p:ext uri="{BB962C8B-B14F-4D97-AF65-F5344CB8AC3E}">
        <p14:creationId xmlns:p14="http://schemas.microsoft.com/office/powerpoint/2010/main" val="1461850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Зачем нужен </a:t>
            </a:r>
            <a:r>
              <a:rPr lang="en-US" sz="4200" dirty="0"/>
              <a:t>Git?</a:t>
            </a:r>
            <a:endParaRPr lang="ru-RU" sz="4200" dirty="0"/>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fontScale="250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6400" dirty="0"/>
              <a:t>Работать в таких условиях – очень неудобно и неэффективно.</a:t>
            </a:r>
          </a:p>
          <a:p>
            <a:pPr marL="0" indent="0">
              <a:buNone/>
            </a:pPr>
            <a:r>
              <a:rPr lang="ru-RU" sz="6400" dirty="0"/>
              <a:t>И здесь, на помощь приходит</a:t>
            </a:r>
            <a:r>
              <a:rPr lang="en-US" sz="6400" dirty="0"/>
              <a:t> Git</a:t>
            </a:r>
            <a:r>
              <a:rPr lang="ru-RU" sz="6400" dirty="0"/>
              <a:t>, который берет на себя функциональность слияния разных версий файлов.</a:t>
            </a:r>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2100" dirty="0">
              <a:solidFill>
                <a:srgbClr val="FFFFFF"/>
              </a:solidFill>
            </a:endParaRPr>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2100" dirty="0"/>
          </a:p>
          <a:p>
            <a:pPr marL="0" indent="0">
              <a:buNone/>
            </a:pPr>
            <a:r>
              <a:rPr lang="ru-RU" sz="6400" dirty="0"/>
              <a:t>Например, если мы изменили файл одним образом, а наш коллега изменил его другим образом, и мы оба хотим загрузить этот файл на сервер, то </a:t>
            </a:r>
            <a:r>
              <a:rPr lang="en-US" sz="6400" dirty="0"/>
              <a:t>Git</a:t>
            </a:r>
            <a:r>
              <a:rPr lang="ru-RU" sz="6400" dirty="0"/>
              <a:t>, постарается слить два файла в один.</a:t>
            </a:r>
          </a:p>
          <a:p>
            <a:r>
              <a:rPr lang="ru-RU" sz="6400" dirty="0"/>
              <a:t>Процесс слияния называется </a:t>
            </a:r>
            <a:r>
              <a:rPr lang="ru-RU" sz="6400" b="1" dirty="0"/>
              <a:t>merging</a:t>
            </a:r>
            <a:r>
              <a:rPr lang="ru-RU" sz="6400" dirty="0"/>
              <a:t>. Может производиться автоматически или в ручном режиме.</a:t>
            </a:r>
          </a:p>
          <a:p>
            <a:r>
              <a:rPr lang="en-US" sz="6400" dirty="0"/>
              <a:t>Git</a:t>
            </a:r>
            <a:r>
              <a:rPr lang="ru-RU" sz="6400" dirty="0"/>
              <a:t> попытается слить на сервер изменения из вашего файла и из файла коллеги в один файл на сервер.</a:t>
            </a:r>
          </a:p>
          <a:p>
            <a:r>
              <a:rPr lang="ru-RU" sz="6400" dirty="0"/>
              <a:t>В итоге на сервере будет файл, в котором есть как наши изменения, так и изменения коллеги.</a:t>
            </a:r>
          </a:p>
          <a:p>
            <a:pPr marL="0" indent="0">
              <a:buNone/>
            </a:pPr>
            <a:r>
              <a:rPr lang="ru-RU" sz="6400" dirty="0"/>
              <a:t>Но, иногда, в автоматическое режиме, так сделать не получится, так как могут возникнуть другие конфликты(которые разберём в дальнейшем), здесь тогда процесс слияния будет происходить в ручном режиме.(также, далее обсудим).</a:t>
            </a: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r>
              <a:rPr lang="ru-RU" sz="1600" dirty="0"/>
              <a:t> </a:t>
            </a:r>
          </a:p>
          <a:p>
            <a:pPr marL="0" indent="0">
              <a:buNone/>
            </a:pPr>
            <a:endParaRPr lang="ru-RU" sz="1600" dirty="0"/>
          </a:p>
          <a:p>
            <a:pPr marL="0" indent="0">
              <a:buNone/>
            </a:pPr>
            <a:endParaRPr lang="ru-RU" sz="1600" dirty="0"/>
          </a:p>
          <a:p>
            <a:pPr marL="0" indent="0">
              <a:buNone/>
            </a:pPr>
            <a:endParaRPr lang="ru-RU" sz="1600" dirty="0"/>
          </a:p>
        </p:txBody>
      </p:sp>
      <p:pic>
        <p:nvPicPr>
          <p:cNvPr id="7" name="Picture 6">
            <a:extLst>
              <a:ext uri="{FF2B5EF4-FFF2-40B4-BE49-F238E27FC236}">
                <a16:creationId xmlns:a16="http://schemas.microsoft.com/office/drawing/2014/main" id="{AE621B13-9718-40ED-A62E-467424BBCF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873" y="1886264"/>
            <a:ext cx="2790116" cy="1966311"/>
          </a:xfrm>
          <a:prstGeom prst="rect">
            <a:avLst/>
          </a:prstGeom>
        </p:spPr>
      </p:pic>
      <p:sp>
        <p:nvSpPr>
          <p:cNvPr id="11" name="Rectangle 10">
            <a:extLst>
              <a:ext uri="{FF2B5EF4-FFF2-40B4-BE49-F238E27FC236}">
                <a16:creationId xmlns:a16="http://schemas.microsoft.com/office/drawing/2014/main" id="{A328548B-EB3C-4F7E-80E7-4FDDA77669CA}"/>
              </a:ext>
            </a:extLst>
          </p:cNvPr>
          <p:cNvSpPr/>
          <p:nvPr/>
        </p:nvSpPr>
        <p:spPr>
          <a:xfrm>
            <a:off x="3701989" y="1886264"/>
            <a:ext cx="481920" cy="196631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FFFF"/>
              </a:solidFill>
            </a:endParaRPr>
          </a:p>
        </p:txBody>
      </p:sp>
      <p:pic>
        <p:nvPicPr>
          <p:cNvPr id="12" name="Picture 11">
            <a:extLst>
              <a:ext uri="{FF2B5EF4-FFF2-40B4-BE49-F238E27FC236}">
                <a16:creationId xmlns:a16="http://schemas.microsoft.com/office/drawing/2014/main" id="{2E731396-FD08-4EDA-AE8D-8060F502EE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0069" y="2470377"/>
            <a:ext cx="963840" cy="798084"/>
          </a:xfrm>
          <a:prstGeom prst="rect">
            <a:avLst/>
          </a:prstGeom>
        </p:spPr>
      </p:pic>
    </p:spTree>
    <p:extLst>
      <p:ext uri="{BB962C8B-B14F-4D97-AF65-F5344CB8AC3E}">
        <p14:creationId xmlns:p14="http://schemas.microsoft.com/office/powerpoint/2010/main" val="990675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Зачем нужен </a:t>
            </a:r>
            <a:r>
              <a:rPr lang="en-US" sz="4200" dirty="0"/>
              <a:t>Git?</a:t>
            </a:r>
            <a:endParaRPr lang="ru-RU" sz="4200" dirty="0"/>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fontScale="250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6400" dirty="0"/>
              <a:t>Также, </a:t>
            </a:r>
            <a:r>
              <a:rPr lang="en-US" sz="6400" dirty="0"/>
              <a:t>Git</a:t>
            </a:r>
            <a:r>
              <a:rPr lang="ru-RU" sz="6400" dirty="0"/>
              <a:t> нужен потому что он является системой контроля версий. Когда Вы используете </a:t>
            </a:r>
            <a:r>
              <a:rPr lang="en-US" sz="6400" dirty="0"/>
              <a:t>Git</a:t>
            </a:r>
            <a:r>
              <a:rPr lang="ru-RU" sz="6400" dirty="0"/>
              <a:t> в проекте, у вас есть полная история изменения всех файлов, и если нужно, Вы можете вернуться к любой версии проекта.</a:t>
            </a:r>
          </a:p>
          <a:p>
            <a:pPr marL="0" indent="0">
              <a:buNone/>
            </a:pPr>
            <a:endParaRPr lang="ru-RU" sz="6400" dirty="0"/>
          </a:p>
          <a:p>
            <a:pPr marL="0" indent="0">
              <a:buNone/>
            </a:pPr>
            <a:endParaRPr lang="ru-RU" sz="6400" dirty="0"/>
          </a:p>
          <a:p>
            <a:pPr marL="0" indent="0">
              <a:buNone/>
            </a:pPr>
            <a:endParaRPr lang="ru-RU" sz="6400" dirty="0"/>
          </a:p>
          <a:p>
            <a:pPr marL="0" indent="0">
              <a:buNone/>
            </a:pPr>
            <a:endParaRPr lang="ru-RU" sz="6400" dirty="0"/>
          </a:p>
          <a:p>
            <a:r>
              <a:rPr lang="ru-RU" sz="6400" dirty="0"/>
              <a:t>На рисунке выше изображена шкала времени слева направо </a:t>
            </a:r>
            <a:endParaRPr lang="en-US" sz="6400" dirty="0"/>
          </a:p>
          <a:p>
            <a:r>
              <a:rPr lang="ru-RU" sz="6400" dirty="0"/>
              <a:t>Вначале был </a:t>
            </a:r>
            <a:r>
              <a:rPr lang="en-US" sz="6400" dirty="0"/>
              <a:t>"</a:t>
            </a:r>
            <a:r>
              <a:rPr lang="ru-RU" sz="6400" dirty="0"/>
              <a:t>Файл 1</a:t>
            </a:r>
            <a:r>
              <a:rPr lang="en-US" sz="6400" dirty="0"/>
              <a:t>"</a:t>
            </a:r>
            <a:endParaRPr lang="ru-RU" sz="6400" dirty="0"/>
          </a:p>
          <a:p>
            <a:r>
              <a:rPr lang="ru-RU" sz="6400" dirty="0"/>
              <a:t>Дальше </a:t>
            </a:r>
            <a:r>
              <a:rPr lang="en-US" sz="6400" dirty="0"/>
              <a:t>"</a:t>
            </a:r>
            <a:r>
              <a:rPr lang="ru-RU" sz="6400" dirty="0"/>
              <a:t>Файл 1</a:t>
            </a:r>
            <a:r>
              <a:rPr lang="en-US" sz="6400" dirty="0"/>
              <a:t>"</a:t>
            </a:r>
            <a:r>
              <a:rPr lang="ru-RU" sz="6400" dirty="0"/>
              <a:t> изменился(красный конверт)</a:t>
            </a:r>
          </a:p>
          <a:p>
            <a:r>
              <a:rPr lang="ru-RU" sz="6400" dirty="0"/>
              <a:t>Спустя время создали новый </a:t>
            </a:r>
            <a:r>
              <a:rPr lang="en-US" sz="6400" dirty="0"/>
              <a:t>"</a:t>
            </a:r>
            <a:r>
              <a:rPr lang="ru-RU" sz="6400" dirty="0"/>
              <a:t>Файл 2</a:t>
            </a:r>
            <a:r>
              <a:rPr lang="en-US" sz="6400" dirty="0"/>
              <a:t>"</a:t>
            </a:r>
            <a:endParaRPr lang="ru-RU" sz="6400" dirty="0"/>
          </a:p>
          <a:p>
            <a:r>
              <a:rPr lang="ru-RU" sz="6400" dirty="0"/>
              <a:t>В финальной точке </a:t>
            </a:r>
            <a:r>
              <a:rPr lang="en-US" sz="6400" dirty="0"/>
              <a:t>"</a:t>
            </a:r>
            <a:r>
              <a:rPr lang="ru-RU" sz="6400" dirty="0"/>
              <a:t>Файл 1</a:t>
            </a:r>
            <a:r>
              <a:rPr lang="en-US" sz="6400" dirty="0"/>
              <a:t>"</a:t>
            </a:r>
            <a:r>
              <a:rPr lang="ru-RU" sz="6400" dirty="0"/>
              <a:t> ещё как-то поменялся</a:t>
            </a:r>
          </a:p>
          <a:p>
            <a:pPr marL="0" indent="0">
              <a:buNone/>
            </a:pPr>
            <a:endParaRPr lang="ru-RU" sz="6400" dirty="0"/>
          </a:p>
          <a:p>
            <a:pPr marL="0" indent="0">
              <a:buNone/>
            </a:pPr>
            <a:r>
              <a:rPr lang="ru-RU" sz="6400" dirty="0"/>
              <a:t>И все эти контрольные точки(версии) будут сохранены в </a:t>
            </a:r>
            <a:r>
              <a:rPr lang="en-US" sz="6400" dirty="0"/>
              <a:t>Git</a:t>
            </a:r>
            <a:r>
              <a:rPr lang="ru-RU" sz="6400" dirty="0"/>
              <a:t>. Можно будет в любой момент откатиться к любой из этих версий(или просто посмотреть что там было) и это очень удобно.</a:t>
            </a:r>
          </a:p>
          <a:p>
            <a:pPr marL="0" indent="0">
              <a:buNone/>
            </a:pPr>
            <a:r>
              <a:rPr lang="ru-RU" sz="6400" dirty="0"/>
              <a:t>Это будет полезно, например, если нашли какой-то баг из-за которого система вообще перестала функционировать.</a:t>
            </a:r>
          </a:p>
          <a:p>
            <a:pPr marL="0" indent="0">
              <a:buNone/>
            </a:pPr>
            <a:r>
              <a:rPr lang="ru-RU" sz="6400" dirty="0"/>
              <a:t>Есть много и других ситуаций, когда такая возможность будет полезна, об этом узнаем чуть позже.</a:t>
            </a:r>
            <a:endParaRPr lang="ru-RU" sz="2100" dirty="0"/>
          </a:p>
          <a:p>
            <a:pPr marL="0" indent="0">
              <a:buNone/>
            </a:pPr>
            <a:endParaRPr lang="ru-RU" sz="6400" dirty="0"/>
          </a:p>
          <a:p>
            <a:pPr marL="0" indent="0">
              <a:buNone/>
            </a:pPr>
            <a:endParaRPr lang="ru-RU" sz="2100" dirty="0"/>
          </a:p>
          <a:p>
            <a:pPr marL="0" indent="0">
              <a:buNone/>
            </a:pPr>
            <a:endParaRPr lang="ru-RU" sz="2100" dirty="0">
              <a:solidFill>
                <a:srgbClr val="FFFFFF"/>
              </a:solidFill>
            </a:endParaRPr>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r>
              <a:rPr lang="ru-RU" sz="1600" dirty="0"/>
              <a:t> </a:t>
            </a:r>
          </a:p>
          <a:p>
            <a:pPr marL="0" indent="0">
              <a:buNone/>
            </a:pPr>
            <a:endParaRPr lang="ru-RU" sz="1600" dirty="0"/>
          </a:p>
          <a:p>
            <a:pPr marL="0" indent="0">
              <a:buNone/>
            </a:pPr>
            <a:endParaRPr lang="ru-RU" sz="1600" dirty="0"/>
          </a:p>
          <a:p>
            <a:pPr marL="0" indent="0">
              <a:buNone/>
            </a:pPr>
            <a:endParaRPr lang="ru-RU" sz="1600" dirty="0"/>
          </a:p>
        </p:txBody>
      </p:sp>
      <p:pic>
        <p:nvPicPr>
          <p:cNvPr id="6" name="Picture 5">
            <a:extLst>
              <a:ext uri="{FF2B5EF4-FFF2-40B4-BE49-F238E27FC236}">
                <a16:creationId xmlns:a16="http://schemas.microsoft.com/office/drawing/2014/main" id="{E4610C94-CB03-413E-BCEC-A221BCCA12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7767" y="1668993"/>
            <a:ext cx="6949736" cy="1394170"/>
          </a:xfrm>
          <a:prstGeom prst="rect">
            <a:avLst/>
          </a:prstGeom>
        </p:spPr>
      </p:pic>
    </p:spTree>
    <p:extLst>
      <p:ext uri="{BB962C8B-B14F-4D97-AF65-F5344CB8AC3E}">
        <p14:creationId xmlns:p14="http://schemas.microsoft.com/office/powerpoint/2010/main" val="2043922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Способы хранения данных</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fontScale="250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5600" u="sng" dirty="0"/>
              <a:t>Говоря о способах хранения данных, можно выделить два спсооба</a:t>
            </a:r>
            <a:r>
              <a:rPr lang="en-US" sz="5600" u="sng" dirty="0"/>
              <a:t>:</a:t>
            </a:r>
            <a:r>
              <a:rPr lang="ru-RU" sz="5600" u="sng" dirty="0"/>
              <a:t> централизованный и распределенный.</a:t>
            </a:r>
            <a:endParaRPr lang="ru-RU" sz="5600" b="1" u="sng" dirty="0"/>
          </a:p>
          <a:p>
            <a:pPr marL="0" indent="0">
              <a:buNone/>
            </a:pPr>
            <a:r>
              <a:rPr lang="ru-RU" sz="5600" b="1" dirty="0"/>
              <a:t>Централизованный</a:t>
            </a:r>
            <a:r>
              <a:rPr lang="ru-RU" sz="5600" dirty="0"/>
              <a:t> - когда данные хранятся только в одном месте на центральном сервере, а все сотрудники сливают свои части кода в этот сервер.(рисунок 1)</a:t>
            </a:r>
          </a:p>
          <a:p>
            <a:r>
              <a:rPr lang="ru-RU" sz="5600" dirty="0"/>
              <a:t>Весь проект находится только на в центральном сервере. Такой подход имеет существенный недостаток - выход сервера из строя обернётся потерей всех данных.</a:t>
            </a:r>
          </a:p>
          <a:p>
            <a:pPr marL="0" indent="0">
              <a:buNone/>
            </a:pPr>
            <a:r>
              <a:rPr lang="ru-RU" sz="5600" b="1" dirty="0"/>
              <a:t>Распределенный </a:t>
            </a:r>
            <a:r>
              <a:rPr lang="ru-RU" sz="5600" dirty="0"/>
              <a:t>- когда есть какая-то версия на центральном сервере, но помимо этого, у каждого разработчика есть полная копия это проекта у себя на компьютере(такая же копия как и на центральном сервере).</a:t>
            </a:r>
          </a:p>
          <a:p>
            <a:r>
              <a:rPr lang="ru-RU" sz="5600" dirty="0"/>
              <a:t>И этот подход лучше, так как разработчики могут вносить изменения в код даже будучи в оффлайне. Можно внести изменения у себя на компьютере, а потом, подключившись к интернету, останется только слить эти изменения в центральный сервер.</a:t>
            </a:r>
          </a:p>
          <a:p>
            <a:r>
              <a:rPr lang="ru-RU" sz="5600" dirty="0"/>
              <a:t>Также, здесь нет зависимости от центрального сервера. Если он сломается или его украдут или сгорит или что-то ещё, то у нас какая-то из версий проекта целиком останется у кого-нибудь из программистов, так как у каждого из них есть копия проекта.</a:t>
            </a:r>
            <a:endParaRPr lang="ru-RU" sz="5600" b="1" dirty="0"/>
          </a:p>
          <a:p>
            <a:pPr marL="0" indent="0">
              <a:buNone/>
            </a:pPr>
            <a:endParaRPr lang="ru-RU" sz="5600" b="1" dirty="0"/>
          </a:p>
          <a:p>
            <a:pPr marL="0" indent="0">
              <a:buNone/>
            </a:pPr>
            <a:r>
              <a:rPr lang="ru-RU" sz="5600" b="1" dirty="0"/>
              <a:t>GIT - распределенная система контроля версий.</a:t>
            </a:r>
          </a:p>
          <a:p>
            <a:pPr marL="0" indent="0">
              <a:buNone/>
            </a:pPr>
            <a:endParaRPr lang="en-US" sz="5600" dirty="0"/>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r>
              <a:rPr lang="ru-RU" sz="1600" dirty="0"/>
              <a:t> </a:t>
            </a:r>
          </a:p>
          <a:p>
            <a:pPr marL="0" indent="0">
              <a:buNone/>
            </a:pPr>
            <a:endParaRPr lang="ru-RU" sz="1600" dirty="0"/>
          </a:p>
          <a:p>
            <a:pPr marL="0" indent="0">
              <a:buNone/>
            </a:pPr>
            <a:endParaRPr lang="ru-RU" sz="1600" dirty="0"/>
          </a:p>
          <a:p>
            <a:pPr marL="0" indent="0">
              <a:buNone/>
            </a:pPr>
            <a:endParaRPr lang="ru-RU" sz="1600" dirty="0"/>
          </a:p>
        </p:txBody>
      </p:sp>
      <p:pic>
        <p:nvPicPr>
          <p:cNvPr id="9" name="Picture 8">
            <a:extLst>
              <a:ext uri="{FF2B5EF4-FFF2-40B4-BE49-F238E27FC236}">
                <a16:creationId xmlns:a16="http://schemas.microsoft.com/office/drawing/2014/main" id="{30D1E417-E465-48B7-812B-27B246DCB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07512" y="3792614"/>
            <a:ext cx="1592638" cy="2222496"/>
          </a:xfrm>
          <a:prstGeom prst="rect">
            <a:avLst/>
          </a:prstGeom>
        </p:spPr>
      </p:pic>
      <p:pic>
        <p:nvPicPr>
          <p:cNvPr id="11" name="Picture 10">
            <a:extLst>
              <a:ext uri="{FF2B5EF4-FFF2-40B4-BE49-F238E27FC236}">
                <a16:creationId xmlns:a16="http://schemas.microsoft.com/office/drawing/2014/main" id="{6B024A51-0298-4BB6-8BCF-B0872CDEC7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2821" y="3792614"/>
            <a:ext cx="1611947" cy="2220394"/>
          </a:xfrm>
          <a:prstGeom prst="rect">
            <a:avLst/>
          </a:prstGeom>
        </p:spPr>
      </p:pic>
      <p:sp>
        <p:nvSpPr>
          <p:cNvPr id="12" name="TextBox 11">
            <a:extLst>
              <a:ext uri="{FF2B5EF4-FFF2-40B4-BE49-F238E27FC236}">
                <a16:creationId xmlns:a16="http://schemas.microsoft.com/office/drawing/2014/main" id="{8FFA1CD0-7459-414B-BFD1-97A012659013}"/>
              </a:ext>
            </a:extLst>
          </p:cNvPr>
          <p:cNvSpPr txBox="1"/>
          <p:nvPr/>
        </p:nvSpPr>
        <p:spPr>
          <a:xfrm>
            <a:off x="7920604" y="6013008"/>
            <a:ext cx="1333501" cy="246221"/>
          </a:xfrm>
          <a:prstGeom prst="rect">
            <a:avLst/>
          </a:prstGeom>
          <a:noFill/>
        </p:spPr>
        <p:txBody>
          <a:bodyPr wrap="square" rtlCol="0">
            <a:spAutoFit/>
          </a:bodyPr>
          <a:lstStyle/>
          <a:p>
            <a:r>
              <a:rPr lang="ru-RU" sz="1000" b="1" dirty="0"/>
              <a:t>Централизованный</a:t>
            </a:r>
          </a:p>
        </p:txBody>
      </p:sp>
      <p:sp>
        <p:nvSpPr>
          <p:cNvPr id="13" name="TextBox 12">
            <a:extLst>
              <a:ext uri="{FF2B5EF4-FFF2-40B4-BE49-F238E27FC236}">
                <a16:creationId xmlns:a16="http://schemas.microsoft.com/office/drawing/2014/main" id="{E7ADB2C6-9ADC-4DC5-A8BD-388B391DF4C0}"/>
              </a:ext>
            </a:extLst>
          </p:cNvPr>
          <p:cNvSpPr txBox="1"/>
          <p:nvPr/>
        </p:nvSpPr>
        <p:spPr>
          <a:xfrm>
            <a:off x="10236846" y="6030292"/>
            <a:ext cx="1333501" cy="246221"/>
          </a:xfrm>
          <a:prstGeom prst="rect">
            <a:avLst/>
          </a:prstGeom>
          <a:noFill/>
        </p:spPr>
        <p:txBody>
          <a:bodyPr wrap="square" rtlCol="0">
            <a:spAutoFit/>
          </a:bodyPr>
          <a:lstStyle/>
          <a:p>
            <a:r>
              <a:rPr lang="ru-RU" sz="1000" b="1" dirty="0"/>
              <a:t>Распрделенный</a:t>
            </a:r>
          </a:p>
        </p:txBody>
      </p:sp>
    </p:spTree>
    <p:extLst>
      <p:ext uri="{BB962C8B-B14F-4D97-AF65-F5344CB8AC3E}">
        <p14:creationId xmlns:p14="http://schemas.microsoft.com/office/powerpoint/2010/main" val="3161272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Термины</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fontScale="250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ru-RU" sz="6400" b="1" dirty="0"/>
              <a:t>Git или Гит</a:t>
            </a:r>
            <a:r>
              <a:rPr lang="ru-RU" sz="6400" dirty="0"/>
              <a:t> – система контроля и управления версиями файлов.</a:t>
            </a:r>
          </a:p>
          <a:p>
            <a:r>
              <a:rPr lang="ru-RU" sz="6400" b="1" dirty="0"/>
              <a:t>CVS (Control Version System), система контроля версий</a:t>
            </a:r>
            <a:r>
              <a:rPr lang="ru-RU" sz="6400" dirty="0"/>
              <a:t> – программное обеспечение, облегчающее работу с изменяющейся информацией. Позволяет, например, вернуться к определённой версии файла или определить, кем и когда были сделаны изменения в файле.</a:t>
            </a:r>
          </a:p>
          <a:p>
            <a:r>
              <a:rPr lang="ru-RU" sz="6400" b="1" dirty="0"/>
              <a:t>GitHub или Гитхаб</a:t>
            </a:r>
            <a:r>
              <a:rPr lang="ru-RU" sz="6400" dirty="0"/>
              <a:t> – веб-сервис для размещения репозиториев и совместной разработки проектов.</a:t>
            </a:r>
          </a:p>
          <a:p>
            <a:r>
              <a:rPr lang="ru-RU" sz="6400" b="1" dirty="0"/>
              <a:t>Репозиторий Git</a:t>
            </a:r>
            <a:r>
              <a:rPr lang="ru-RU" sz="6400" dirty="0"/>
              <a:t> – каталог файловой системы, в котором находятся: файлы конфигурации, файлы журналов операций, выполняемых над репозиторием, индекс расположения файлов и хранилище, содержащее сами контролируемые файлы.</a:t>
            </a:r>
          </a:p>
          <a:p>
            <a:r>
              <a:rPr lang="ru-RU" sz="6400" b="1" dirty="0"/>
              <a:t>Локальный репозиторий</a:t>
            </a:r>
            <a:r>
              <a:rPr lang="ru-RU" sz="6400" dirty="0"/>
              <a:t> – репозиторий, расположенный на локальном компьютере разработчика в каталоге. Именно в нём происходит разработка и фиксация изменений, которые отправляются на удалённый репозиторий.</a:t>
            </a:r>
          </a:p>
          <a:p>
            <a:r>
              <a:rPr lang="ru-RU" sz="6400" b="1" dirty="0"/>
              <a:t>Удалённый репозиторий</a:t>
            </a:r>
            <a:r>
              <a:rPr lang="ru-RU" sz="6400" dirty="0"/>
              <a:t> – репозиторий, находящийся на удалённом сервере. Это общий репозиторий, в который приходят все изменения и из которого забираются все обновления</a:t>
            </a:r>
            <a:endParaRPr lang="ru-RU" sz="6400" b="1" dirty="0"/>
          </a:p>
          <a:p>
            <a:r>
              <a:rPr lang="ru-RU" sz="6400" b="1" dirty="0"/>
              <a:t>Терминал, консоль, оболочка командной строки</a:t>
            </a:r>
            <a:r>
              <a:rPr lang="ru-RU" sz="6400" dirty="0"/>
              <a:t> – интерфейс командной строки.</a:t>
            </a:r>
          </a:p>
          <a:p>
            <a:r>
              <a:rPr lang="ru-RU" sz="6400" b="1" dirty="0"/>
              <a:t>Коммит (commit)</a:t>
            </a:r>
            <a:r>
              <a:rPr lang="ru-RU" sz="6400" dirty="0"/>
              <a:t> – фиксация состояния проекта в репозитории Git.</a:t>
            </a:r>
          </a:p>
          <a:p>
            <a:r>
              <a:rPr lang="ru-RU" sz="6400" b="1" dirty="0"/>
              <a:t>Индекс Git</a:t>
            </a:r>
            <a:r>
              <a:rPr lang="ru-RU" sz="6400" dirty="0"/>
              <a:t> – список файлов, изменения в которых система Git отслеживает. В индексе также предварительно сохраняются все изменённые файлы, которые будут зафиксированы в репозитории при следующем коммите.</a:t>
            </a:r>
          </a:p>
          <a:p>
            <a:r>
              <a:rPr lang="ru-RU" sz="6400" b="1" dirty="0"/>
              <a:t>Ветка Git</a:t>
            </a:r>
            <a:r>
              <a:rPr lang="ru-RU" sz="6400" dirty="0"/>
              <a:t> – изолированный независимый поток разработки, в котором можно делать коммиты, недоступные для других веток.</a:t>
            </a:r>
          </a:p>
          <a:p>
            <a:endParaRPr lang="ru-RU" sz="6400" dirty="0"/>
          </a:p>
          <a:p>
            <a:pPr marL="0" indent="0">
              <a:buNone/>
            </a:pPr>
            <a:endParaRPr lang="ru-RU" dirty="0"/>
          </a:p>
          <a:p>
            <a:pPr marL="0" indent="0">
              <a:buNone/>
            </a:pPr>
            <a:endParaRPr lang="ru-RU" sz="2100" dirty="0"/>
          </a:p>
          <a:p>
            <a:pPr marL="0" indent="0">
              <a:buNone/>
            </a:pPr>
            <a:endParaRPr lang="en-US" sz="5600" dirty="0"/>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r>
              <a:rPr lang="ru-RU" sz="1600" dirty="0"/>
              <a:t> </a:t>
            </a:r>
          </a:p>
          <a:p>
            <a:pPr marL="0" indent="0">
              <a:buNone/>
            </a:pPr>
            <a:endParaRPr lang="ru-RU" sz="1600" dirty="0"/>
          </a:p>
          <a:p>
            <a:pPr marL="0" indent="0">
              <a:buNone/>
            </a:pPr>
            <a:endParaRPr lang="ru-RU" sz="1600" dirty="0"/>
          </a:p>
          <a:p>
            <a:pPr marL="0" indent="0">
              <a:buNone/>
            </a:pPr>
            <a:endParaRPr lang="ru-RU" sz="1600" dirty="0"/>
          </a:p>
        </p:txBody>
      </p:sp>
    </p:spTree>
    <p:extLst>
      <p:ext uri="{BB962C8B-B14F-4D97-AF65-F5344CB8AC3E}">
        <p14:creationId xmlns:p14="http://schemas.microsoft.com/office/powerpoint/2010/main" val="3692222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200" dirty="0"/>
              <a:t>Git</a:t>
            </a:r>
            <a:r>
              <a:rPr lang="ru-RU" sz="4200" dirty="0"/>
              <a:t>. Краткие итоги</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fontScale="250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5600" u="sng" dirty="0"/>
              <a:t>Разберём ещё несколько возможностей и преимуществ</a:t>
            </a:r>
            <a:r>
              <a:rPr lang="en-US" sz="5600" u="sng" dirty="0"/>
              <a:t> Git</a:t>
            </a:r>
            <a:r>
              <a:rPr lang="ru-RU" sz="5600" u="sng" dirty="0"/>
              <a:t> и подытожим всё сказанное</a:t>
            </a:r>
            <a:r>
              <a:rPr lang="en-US" sz="5600" u="sng" dirty="0"/>
              <a:t>:</a:t>
            </a:r>
            <a:endParaRPr lang="ru-RU" sz="5600" u="sng" dirty="0"/>
          </a:p>
          <a:p>
            <a:r>
              <a:rPr lang="ru-RU" sz="4800" dirty="0"/>
              <a:t>Git – распределённая система контроля версий, которая в принципе может работать вообще без единого централизованного сервера. Это означает, что у каждого разработчика стоит локальная копия общего репозитория(</a:t>
            </a:r>
            <a:r>
              <a:rPr lang="ru-RU" sz="4800" i="1" dirty="0"/>
              <a:t>хранилище для истории разработки проекта</a:t>
            </a:r>
            <a:r>
              <a:rPr lang="ru-RU" sz="4800" dirty="0"/>
              <a:t>), содержащая полную историю разработки проекта.</a:t>
            </a:r>
          </a:p>
          <a:p>
            <a:r>
              <a:rPr lang="ru-RU" sz="4800" dirty="0"/>
              <a:t>При этом постоянное подключение к сети не требуется, поэтому система работает быстро, что выгодно отличает Git от централизованных CVS типа SVN (Subversion). </a:t>
            </a:r>
          </a:p>
          <a:p>
            <a:r>
              <a:rPr lang="ru-RU" sz="4800" dirty="0"/>
              <a:t>При командной разработке репозитории разработчиков должны синхронизироваться (проект – общий и его состояние должно быть у всех одинаковым). </a:t>
            </a:r>
          </a:p>
          <a:p>
            <a:r>
              <a:rPr lang="ru-RU" sz="4800" dirty="0"/>
              <a:t>Git позволяет при помощи определённых команд синхронизировать репозитории пользователей друг с другом, однако удобнее использовать один общий репозиторий на сервере.</a:t>
            </a:r>
          </a:p>
          <a:p>
            <a:r>
              <a:rPr lang="ru-RU" sz="4800" dirty="0"/>
              <a:t> В этом случае все разработчики будут синхронизировать свои локальные репозитории Git с одним удаленным репозиторием. При этом не обязательно самостоятельно разворачивать и настраивать инфраструктуру для подобных репозиториев, можно воспользоваться бесплатными облачными ресурсами GitHub, GitLab или Bitbucket.</a:t>
            </a:r>
          </a:p>
          <a:p>
            <a:pPr marL="0" indent="0">
              <a:buNone/>
            </a:pPr>
            <a:endParaRPr lang="ru-RU" sz="4800" u="sng" dirty="0"/>
          </a:p>
          <a:p>
            <a:pPr marL="0" indent="0">
              <a:buNone/>
            </a:pPr>
            <a:r>
              <a:rPr lang="ru-RU" sz="5600" u="sng" dirty="0"/>
              <a:t>Основные преимущества Git, обеспечивающие ему большую популярность в мире CVS: </a:t>
            </a:r>
          </a:p>
          <a:p>
            <a:r>
              <a:rPr lang="ru-RU" sz="4800" dirty="0"/>
              <a:t>Наличие удобных инструментов для работы с системой. Управлять Git можно с помощью консольных команд, также доступны различные графические утилиты (например, GitKraken, SmartGit, SourceTree) и расширения для популярных IDE (Visual Studio, PHPStorm, IntelliJ IDEA и пр.). </a:t>
            </a:r>
          </a:p>
          <a:p>
            <a:r>
              <a:rPr lang="ru-RU" sz="4800" dirty="0"/>
              <a:t>Локальность операций. Для осуществления практически всех операций Git требуются только локальные файлы и ресурсы – это сильно ускоряет работу по сравнению с централизованными системами, обращающимися к ресурсам на сетевых серверах. </a:t>
            </a:r>
          </a:p>
          <a:p>
            <a:r>
              <a:rPr lang="ru-RU" sz="4800" dirty="0"/>
              <a:t>Высокий уровень надежности системы. Для всех файлов в репозитории хранятся их контрольные суммы, поэтому повреждения данных быстро обнаруживаются. В случае повреждения локального репозитория данные можно восстановить с централизованного сервера или из репозитория коллеги, работающего над тем же проектом. </a:t>
            </a:r>
          </a:p>
          <a:p>
            <a:r>
              <a:rPr lang="ru-RU" sz="4800" dirty="0"/>
              <a:t>Возможность хранения в репозитории результатов работы по нескольким параллельно открытым задачам без влияния промежуточных результатов друг на друга. При этом окончательные результаты можно быстро скомбинировать в одну итоговую версию приложения. </a:t>
            </a:r>
          </a:p>
          <a:p>
            <a:r>
              <a:rPr lang="ru-RU" sz="4800" dirty="0"/>
              <a:t>Существование и доступность бесплатных ресурсов GitHub и Bitbucket, на которых размещены тысячи репозиториев с программами на различных языках. </a:t>
            </a:r>
          </a:p>
          <a:p>
            <a:pPr marL="0" indent="0">
              <a:buNone/>
            </a:pPr>
            <a:endParaRPr lang="ru-RU" dirty="0"/>
          </a:p>
          <a:p>
            <a:pPr marL="0" indent="0">
              <a:buNone/>
            </a:pPr>
            <a:endParaRPr lang="ru-RU" sz="2100" dirty="0"/>
          </a:p>
          <a:p>
            <a:pPr marL="0" indent="0">
              <a:buNone/>
            </a:pPr>
            <a:endParaRPr lang="en-US" sz="5600" dirty="0"/>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r>
              <a:rPr lang="ru-RU" sz="1600" dirty="0"/>
              <a:t> </a:t>
            </a:r>
          </a:p>
          <a:p>
            <a:pPr marL="0" indent="0">
              <a:buNone/>
            </a:pPr>
            <a:endParaRPr lang="ru-RU" sz="1600" dirty="0"/>
          </a:p>
          <a:p>
            <a:pPr marL="0" indent="0">
              <a:buNone/>
            </a:pPr>
            <a:endParaRPr lang="ru-RU" sz="1600" dirty="0"/>
          </a:p>
          <a:p>
            <a:pPr marL="0" indent="0">
              <a:buNone/>
            </a:pPr>
            <a:endParaRPr lang="ru-RU" sz="1600" dirty="0"/>
          </a:p>
        </p:txBody>
      </p:sp>
    </p:spTree>
    <p:extLst>
      <p:ext uri="{BB962C8B-B14F-4D97-AF65-F5344CB8AC3E}">
        <p14:creationId xmlns:p14="http://schemas.microsoft.com/office/powerpoint/2010/main" val="2664216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Установка</a:t>
            </a:r>
            <a:r>
              <a:rPr lang="en-US" sz="4200" dirty="0"/>
              <a:t> Git</a:t>
            </a:r>
            <a:r>
              <a:rPr lang="ru-RU" sz="4200" dirty="0"/>
              <a:t> на </a:t>
            </a:r>
            <a:r>
              <a:rPr lang="en-US" sz="4200" dirty="0"/>
              <a:t>Windows (1/7)</a:t>
            </a:r>
            <a:endParaRPr lang="ru-RU" sz="4200" dirty="0"/>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fontScale="325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342900" indent="-342900">
              <a:buFont typeface="+mj-lt"/>
              <a:buAutoNum type="arabicPeriod"/>
            </a:pPr>
            <a:endParaRPr lang="en-US" sz="4000" dirty="0"/>
          </a:p>
          <a:p>
            <a:pPr marL="342900" indent="-342900">
              <a:buFont typeface="+mj-lt"/>
              <a:buAutoNum type="arabicPeriod"/>
            </a:pPr>
            <a:r>
              <a:rPr lang="ru-RU" sz="4000" dirty="0"/>
              <a:t>Для начала нужно скачать </a:t>
            </a:r>
            <a:r>
              <a:rPr lang="en-US" sz="4000" dirty="0"/>
              <a:t>Git</a:t>
            </a:r>
            <a:r>
              <a:rPr lang="ru-RU" sz="4000" dirty="0"/>
              <a:t>. Для этого на </a:t>
            </a:r>
            <a:r>
              <a:rPr lang="ru-RU" sz="4000" dirty="0">
                <a:hlinkClick r:id="rId2"/>
              </a:rPr>
              <a:t>официальной странице</a:t>
            </a:r>
            <a:r>
              <a:rPr lang="ru-RU" sz="4000" dirty="0"/>
              <a:t> (загрузка подходящей версии начнётся автоматически), но если этого не произошло, выберите вручную версию для Windows (64-разрядная или 32-разрядная).</a:t>
            </a:r>
          </a:p>
          <a:p>
            <a:pPr marL="342900" indent="-342900">
              <a:buFont typeface="+mj-lt"/>
              <a:buAutoNum type="arabicPeriod"/>
            </a:pPr>
            <a:endParaRPr lang="en-US" sz="4000" dirty="0"/>
          </a:p>
          <a:p>
            <a:pPr marL="0" indent="0">
              <a:buNone/>
            </a:pPr>
            <a:endParaRPr lang="ru-RU" sz="2100" dirty="0"/>
          </a:p>
          <a:p>
            <a:pPr marL="0" indent="0">
              <a:buNone/>
            </a:pPr>
            <a:endParaRPr lang="ru-RU" sz="2100" dirty="0">
              <a:solidFill>
                <a:srgbClr val="FFFFFF"/>
              </a:solidFill>
            </a:endParaRPr>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2100" dirty="0"/>
          </a:p>
          <a:p>
            <a:r>
              <a:rPr lang="ru-RU" sz="4000" dirty="0"/>
              <a:t>Запустите файл и в появившемся окне нажмите</a:t>
            </a:r>
            <a:r>
              <a:rPr lang="en-US" sz="4000" dirty="0"/>
              <a:t> "Next"</a:t>
            </a:r>
            <a:endParaRPr lang="ru-RU" sz="4000" dirty="0"/>
          </a:p>
          <a:p>
            <a:pPr marL="0" indent="0">
              <a:buNone/>
            </a:pPr>
            <a:endParaRPr lang="ru-RU" sz="2100" dirty="0"/>
          </a:p>
          <a:p>
            <a:pPr marL="0" indent="0">
              <a:buNone/>
            </a:pPr>
            <a:endParaRPr lang="ru-RU" sz="21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r>
              <a:rPr lang="ru-RU" sz="1600" dirty="0"/>
              <a:t> </a:t>
            </a:r>
          </a:p>
          <a:p>
            <a:pPr marL="0" indent="0">
              <a:buNone/>
            </a:pPr>
            <a:endParaRPr lang="ru-RU" sz="1600" dirty="0"/>
          </a:p>
          <a:p>
            <a:pPr marL="0" indent="0">
              <a:buNone/>
            </a:pPr>
            <a:endParaRPr lang="ru-RU" sz="1600" dirty="0"/>
          </a:p>
          <a:p>
            <a:pPr marL="0" indent="0">
              <a:buNone/>
            </a:pPr>
            <a:endParaRPr lang="ru-RU" sz="1600" dirty="0"/>
          </a:p>
        </p:txBody>
      </p:sp>
      <p:pic>
        <p:nvPicPr>
          <p:cNvPr id="5" name="Picture 4">
            <a:extLst>
              <a:ext uri="{FF2B5EF4-FFF2-40B4-BE49-F238E27FC236}">
                <a16:creationId xmlns:a16="http://schemas.microsoft.com/office/drawing/2014/main" id="{9CCF61B4-8250-4BDD-968A-4E5CA1E73AF9}"/>
              </a:ext>
            </a:extLst>
          </p:cNvPr>
          <p:cNvPicPr>
            <a:picLocks noChangeAspect="1"/>
          </p:cNvPicPr>
          <p:nvPr/>
        </p:nvPicPr>
        <p:blipFill>
          <a:blip r:embed="rId3"/>
          <a:stretch>
            <a:fillRect/>
          </a:stretch>
        </p:blipFill>
        <p:spPr>
          <a:xfrm>
            <a:off x="840419" y="1900961"/>
            <a:ext cx="2950346" cy="1684638"/>
          </a:xfrm>
          <a:prstGeom prst="rect">
            <a:avLst/>
          </a:prstGeom>
        </p:spPr>
      </p:pic>
      <p:pic>
        <p:nvPicPr>
          <p:cNvPr id="7" name="Picture 6">
            <a:extLst>
              <a:ext uri="{FF2B5EF4-FFF2-40B4-BE49-F238E27FC236}">
                <a16:creationId xmlns:a16="http://schemas.microsoft.com/office/drawing/2014/main" id="{69022F84-1FA8-4303-B2D5-F31ED67EF2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9809" y="4119238"/>
            <a:ext cx="2619954" cy="2030066"/>
          </a:xfrm>
          <a:prstGeom prst="rect">
            <a:avLst/>
          </a:prstGeom>
        </p:spPr>
      </p:pic>
    </p:spTree>
    <p:extLst>
      <p:ext uri="{BB962C8B-B14F-4D97-AF65-F5344CB8AC3E}">
        <p14:creationId xmlns:p14="http://schemas.microsoft.com/office/powerpoint/2010/main" val="2512843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5BABD942-55A3-4887-87E1-7BA0B24D87AA}"/>
              </a:ext>
            </a:extLst>
          </p:cNvPr>
          <p:cNvSpPr txBox="1">
            <a:spLocks/>
          </p:cNvSpPr>
          <p:nvPr/>
        </p:nvSpPr>
        <p:spPr>
          <a:xfrm>
            <a:off x="843379" y="1234000"/>
            <a:ext cx="10644326" cy="5335479"/>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342900" indent="-342900">
              <a:buFont typeface="+mj-lt"/>
              <a:buAutoNum type="arabicPeriod" startAt="2"/>
            </a:pPr>
            <a:r>
              <a:rPr lang="ru-RU" sz="1300" dirty="0"/>
              <a:t>Путь установки лучше оставить без изменений, нажмите</a:t>
            </a:r>
            <a:r>
              <a:rPr lang="en-US" sz="1300" dirty="0"/>
              <a:t> "Next"</a:t>
            </a:r>
          </a:p>
          <a:p>
            <a:endParaRPr lang="ru-RU" sz="1600" dirty="0"/>
          </a:p>
          <a:p>
            <a:endParaRPr lang="en-US" sz="1600" dirty="0"/>
          </a:p>
          <a:p>
            <a:endParaRPr lang="en-US" sz="1600" dirty="0"/>
          </a:p>
          <a:p>
            <a:endParaRPr lang="en-US" sz="1600" dirty="0"/>
          </a:p>
          <a:p>
            <a:pPr marL="0" indent="0">
              <a:buNone/>
            </a:pPr>
            <a:endParaRPr lang="ru-RU" sz="1600" dirty="0"/>
          </a:p>
          <a:p>
            <a:pPr marL="0" indent="0">
              <a:buNone/>
            </a:pPr>
            <a:endParaRPr lang="ru-RU" sz="1600" dirty="0"/>
          </a:p>
          <a:p>
            <a:pPr marL="342900" indent="-342900">
              <a:buFont typeface="+mj-lt"/>
              <a:buAutoNum type="arabicPeriod" startAt="3"/>
            </a:pPr>
            <a:r>
              <a:rPr lang="ru-RU" sz="1300" dirty="0"/>
              <a:t>Здесь все компоненты оставляем по умолчанию, нажмите</a:t>
            </a:r>
            <a:r>
              <a:rPr lang="en-US" sz="1300" dirty="0"/>
              <a:t> "Next"</a:t>
            </a:r>
            <a:endParaRPr lang="ru-RU" sz="1300" dirty="0"/>
          </a:p>
          <a:p>
            <a:pPr marL="0" indent="0">
              <a:buNone/>
            </a:pPr>
            <a:r>
              <a:rPr lang="ru-RU" sz="1600" dirty="0"/>
              <a:t> </a:t>
            </a:r>
          </a:p>
          <a:p>
            <a:pPr marL="0" indent="0">
              <a:buNone/>
            </a:pPr>
            <a:endParaRPr lang="ru-RU" sz="1600" dirty="0"/>
          </a:p>
        </p:txBody>
      </p:sp>
      <p:sp>
        <p:nvSpPr>
          <p:cNvPr id="4" name="Title 1">
            <a:extLst>
              <a:ext uri="{FF2B5EF4-FFF2-40B4-BE49-F238E27FC236}">
                <a16:creationId xmlns:a16="http://schemas.microsoft.com/office/drawing/2014/main" id="{B013CD96-ABF7-466C-A9DC-D0FB631847AB}"/>
              </a:ext>
            </a:extLst>
          </p:cNvPr>
          <p:cNvSpPr txBox="1">
            <a:spLocks/>
          </p:cNvSpPr>
          <p:nvPr/>
        </p:nvSpPr>
        <p:spPr>
          <a:xfrm>
            <a:off x="1366424" y="493859"/>
            <a:ext cx="9601196" cy="1303867"/>
          </a:xfrm>
          <a:prstGeom prst="rect">
            <a:avLst/>
          </a:prstGeom>
        </p:spPr>
        <p:txBody>
          <a:bodyPr>
            <a:norm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000" dirty="0"/>
              <a:t>Установка</a:t>
            </a:r>
            <a:r>
              <a:rPr lang="en-US" sz="4000" dirty="0"/>
              <a:t> Git </a:t>
            </a:r>
            <a:r>
              <a:rPr lang="ru-RU" sz="4000" dirty="0"/>
              <a:t>на </a:t>
            </a:r>
            <a:r>
              <a:rPr lang="en-US" sz="4000" dirty="0"/>
              <a:t>Windows </a:t>
            </a:r>
            <a:r>
              <a:rPr lang="ru-RU" sz="4000" dirty="0"/>
              <a:t>(</a:t>
            </a:r>
            <a:r>
              <a:rPr lang="en-US" sz="4000" dirty="0"/>
              <a:t>2</a:t>
            </a:r>
            <a:r>
              <a:rPr lang="ru-RU" sz="4000" dirty="0"/>
              <a:t>/</a:t>
            </a:r>
            <a:r>
              <a:rPr lang="en-US" sz="4000" dirty="0"/>
              <a:t>7</a:t>
            </a:r>
            <a:r>
              <a:rPr lang="ru-RU" sz="4000" dirty="0"/>
              <a:t>)</a:t>
            </a:r>
          </a:p>
        </p:txBody>
      </p:sp>
      <p:pic>
        <p:nvPicPr>
          <p:cNvPr id="5" name="Picture 4">
            <a:extLst>
              <a:ext uri="{FF2B5EF4-FFF2-40B4-BE49-F238E27FC236}">
                <a16:creationId xmlns:a16="http://schemas.microsoft.com/office/drawing/2014/main" id="{108257B7-BF5F-4A84-98E4-49DA729A65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380" y="1497500"/>
            <a:ext cx="2574524" cy="1992006"/>
          </a:xfrm>
          <a:prstGeom prst="rect">
            <a:avLst/>
          </a:prstGeom>
        </p:spPr>
      </p:pic>
      <p:pic>
        <p:nvPicPr>
          <p:cNvPr id="7" name="Picture 6">
            <a:extLst>
              <a:ext uri="{FF2B5EF4-FFF2-40B4-BE49-F238E27FC236}">
                <a16:creationId xmlns:a16="http://schemas.microsoft.com/office/drawing/2014/main" id="{271EE31B-04EE-42AE-8E6D-0349DEB44B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3378" y="4065857"/>
            <a:ext cx="2978146" cy="2298284"/>
          </a:xfrm>
          <a:prstGeom prst="rect">
            <a:avLst/>
          </a:prstGeom>
        </p:spPr>
      </p:pic>
    </p:spTree>
    <p:extLst>
      <p:ext uri="{BB962C8B-B14F-4D97-AF65-F5344CB8AC3E}">
        <p14:creationId xmlns:p14="http://schemas.microsoft.com/office/powerpoint/2010/main" val="199552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5BABD942-55A3-4887-87E1-7BA0B24D87AA}"/>
              </a:ext>
            </a:extLst>
          </p:cNvPr>
          <p:cNvSpPr txBox="1">
            <a:spLocks/>
          </p:cNvSpPr>
          <p:nvPr/>
        </p:nvSpPr>
        <p:spPr>
          <a:xfrm>
            <a:off x="843378" y="1234000"/>
            <a:ext cx="10733103" cy="5335479"/>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342900" indent="-342900">
              <a:buFont typeface="+mj-lt"/>
              <a:buAutoNum type="arabicPeriod" startAt="4"/>
            </a:pPr>
            <a:r>
              <a:rPr lang="ru-RU" sz="1200" dirty="0"/>
              <a:t>Нажмите </a:t>
            </a:r>
            <a:r>
              <a:rPr lang="en-US" sz="1200" dirty="0"/>
              <a:t>"Next"</a:t>
            </a:r>
          </a:p>
          <a:p>
            <a:endParaRPr lang="ru-RU" sz="1600" dirty="0"/>
          </a:p>
          <a:p>
            <a:endParaRPr lang="en-US" sz="1600" dirty="0"/>
          </a:p>
          <a:p>
            <a:endParaRPr lang="en-US" sz="1600" dirty="0"/>
          </a:p>
          <a:p>
            <a:endParaRPr lang="en-US" sz="1600" dirty="0"/>
          </a:p>
          <a:p>
            <a:pPr marL="0" indent="0">
              <a:buNone/>
            </a:pPr>
            <a:endParaRPr lang="en-US" sz="1600" dirty="0"/>
          </a:p>
          <a:p>
            <a:pPr marL="0" indent="0">
              <a:buNone/>
            </a:pPr>
            <a:endParaRPr lang="ru-RU" sz="1600" dirty="0"/>
          </a:p>
          <a:p>
            <a:pPr marL="342900" indent="-342900">
              <a:buFont typeface="+mj-lt"/>
              <a:buAutoNum type="arabicPeriod" startAt="5"/>
            </a:pPr>
            <a:r>
              <a:rPr lang="ru-RU" sz="1200" dirty="0"/>
              <a:t>В этом окне нужно указать, какой текстовый редактор будет использоваться в Git по умолчанию. Можно выбрать любой удобный для Вас</a:t>
            </a:r>
          </a:p>
          <a:p>
            <a:pPr marL="0" indent="0">
              <a:buNone/>
            </a:pPr>
            <a:endParaRPr lang="ru-RU" sz="1600" dirty="0"/>
          </a:p>
        </p:txBody>
      </p:sp>
      <p:sp>
        <p:nvSpPr>
          <p:cNvPr id="4" name="Title 1">
            <a:extLst>
              <a:ext uri="{FF2B5EF4-FFF2-40B4-BE49-F238E27FC236}">
                <a16:creationId xmlns:a16="http://schemas.microsoft.com/office/drawing/2014/main" id="{B013CD96-ABF7-466C-A9DC-D0FB631847AB}"/>
              </a:ext>
            </a:extLst>
          </p:cNvPr>
          <p:cNvSpPr txBox="1">
            <a:spLocks/>
          </p:cNvSpPr>
          <p:nvPr/>
        </p:nvSpPr>
        <p:spPr>
          <a:xfrm>
            <a:off x="1366424" y="493859"/>
            <a:ext cx="9601196" cy="1303867"/>
          </a:xfrm>
          <a:prstGeom prst="rect">
            <a:avLst/>
          </a:prstGeom>
        </p:spPr>
        <p:txBody>
          <a:bodyPr>
            <a:norm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000" dirty="0"/>
              <a:t>Установка</a:t>
            </a:r>
            <a:r>
              <a:rPr lang="en-US" sz="4000" dirty="0"/>
              <a:t> Git </a:t>
            </a:r>
            <a:r>
              <a:rPr lang="ru-RU" sz="4000" dirty="0"/>
              <a:t>на </a:t>
            </a:r>
            <a:r>
              <a:rPr lang="en-US" sz="4000" dirty="0"/>
              <a:t>Windows </a:t>
            </a:r>
            <a:r>
              <a:rPr lang="ru-RU" sz="4000" dirty="0"/>
              <a:t>(</a:t>
            </a:r>
            <a:r>
              <a:rPr lang="en-US" sz="4000" dirty="0"/>
              <a:t>3</a:t>
            </a:r>
            <a:r>
              <a:rPr lang="ru-RU" sz="4000" dirty="0"/>
              <a:t>/</a:t>
            </a:r>
            <a:r>
              <a:rPr lang="en-US" sz="4000" dirty="0"/>
              <a:t>7</a:t>
            </a:r>
            <a:r>
              <a:rPr lang="ru-RU" sz="4000" dirty="0"/>
              <a:t>)</a:t>
            </a:r>
          </a:p>
        </p:txBody>
      </p:sp>
      <p:pic>
        <p:nvPicPr>
          <p:cNvPr id="6" name="Picture 5">
            <a:extLst>
              <a:ext uri="{FF2B5EF4-FFF2-40B4-BE49-F238E27FC236}">
                <a16:creationId xmlns:a16="http://schemas.microsoft.com/office/drawing/2014/main" id="{F2B711BD-03D5-4636-B9ED-FFB2C160EE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378" y="1525773"/>
            <a:ext cx="2693042" cy="2081234"/>
          </a:xfrm>
          <a:prstGeom prst="rect">
            <a:avLst/>
          </a:prstGeom>
        </p:spPr>
      </p:pic>
      <p:pic>
        <p:nvPicPr>
          <p:cNvPr id="9" name="Picture 8">
            <a:extLst>
              <a:ext uri="{FF2B5EF4-FFF2-40B4-BE49-F238E27FC236}">
                <a16:creationId xmlns:a16="http://schemas.microsoft.com/office/drawing/2014/main" id="{7E1F014D-DF60-40A3-9A22-A4BB06B2D1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3378" y="4065973"/>
            <a:ext cx="2947134" cy="2298168"/>
          </a:xfrm>
          <a:prstGeom prst="rect">
            <a:avLst/>
          </a:prstGeom>
        </p:spPr>
      </p:pic>
    </p:spTree>
    <p:extLst>
      <p:ext uri="{BB962C8B-B14F-4D97-AF65-F5344CB8AC3E}">
        <p14:creationId xmlns:p14="http://schemas.microsoft.com/office/powerpoint/2010/main" val="16598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5BABD942-55A3-4887-87E1-7BA0B24D87AA}"/>
              </a:ext>
            </a:extLst>
          </p:cNvPr>
          <p:cNvSpPr txBox="1">
            <a:spLocks/>
          </p:cNvSpPr>
          <p:nvPr/>
        </p:nvSpPr>
        <p:spPr>
          <a:xfrm>
            <a:off x="843378" y="1234000"/>
            <a:ext cx="10733103" cy="5335479"/>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342900" indent="-342900">
              <a:buFont typeface="+mj-lt"/>
              <a:buAutoNum type="arabicPeriod" startAt="6"/>
            </a:pPr>
            <a:r>
              <a:rPr lang="ru-RU" sz="1300" dirty="0"/>
              <a:t>Оставим предложенный по умолчанию </a:t>
            </a:r>
            <a:r>
              <a:rPr lang="ru-RU" sz="1300" b="1" dirty="0"/>
              <a:t>второй</a:t>
            </a:r>
            <a:r>
              <a:rPr lang="ru-RU" sz="1300" dirty="0"/>
              <a:t> вариант, нажмите </a:t>
            </a:r>
            <a:r>
              <a:rPr lang="en-US" sz="1300" dirty="0"/>
              <a:t>"Next"</a:t>
            </a:r>
          </a:p>
          <a:p>
            <a:endParaRPr lang="ru-RU" sz="1600" dirty="0"/>
          </a:p>
          <a:p>
            <a:endParaRPr lang="en-US" sz="1600" dirty="0"/>
          </a:p>
          <a:p>
            <a:endParaRPr lang="en-US" sz="1600" dirty="0"/>
          </a:p>
          <a:p>
            <a:endParaRPr lang="en-US" sz="1600" dirty="0"/>
          </a:p>
          <a:p>
            <a:pPr marL="0" indent="0">
              <a:buNone/>
            </a:pPr>
            <a:endParaRPr lang="en-US" sz="1600" dirty="0"/>
          </a:p>
          <a:p>
            <a:pPr marL="0" indent="0">
              <a:buNone/>
            </a:pPr>
            <a:endParaRPr lang="ru-RU" sz="1600" dirty="0"/>
          </a:p>
          <a:p>
            <a:pPr marL="342900" indent="-342900">
              <a:buFont typeface="+mj-lt"/>
              <a:buAutoNum type="arabicPeriod" startAt="7"/>
            </a:pPr>
            <a:r>
              <a:rPr lang="ru-RU" sz="1300" dirty="0"/>
              <a:t>Оставим без изменений первый вариант(это выбор утилиты с помощью которой Git будет обращаться к сетевым ресурсам по протоколу SSH.)</a:t>
            </a:r>
          </a:p>
        </p:txBody>
      </p:sp>
      <p:sp>
        <p:nvSpPr>
          <p:cNvPr id="4" name="Title 1">
            <a:extLst>
              <a:ext uri="{FF2B5EF4-FFF2-40B4-BE49-F238E27FC236}">
                <a16:creationId xmlns:a16="http://schemas.microsoft.com/office/drawing/2014/main" id="{B013CD96-ABF7-466C-A9DC-D0FB631847AB}"/>
              </a:ext>
            </a:extLst>
          </p:cNvPr>
          <p:cNvSpPr txBox="1">
            <a:spLocks/>
          </p:cNvSpPr>
          <p:nvPr/>
        </p:nvSpPr>
        <p:spPr>
          <a:xfrm>
            <a:off x="1366424" y="493859"/>
            <a:ext cx="9601196" cy="1303867"/>
          </a:xfrm>
          <a:prstGeom prst="rect">
            <a:avLst/>
          </a:prstGeom>
        </p:spPr>
        <p:txBody>
          <a:bodyPr>
            <a:norm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000" dirty="0"/>
              <a:t>Установка</a:t>
            </a:r>
            <a:r>
              <a:rPr lang="en-US" sz="4000" dirty="0"/>
              <a:t> Git</a:t>
            </a:r>
            <a:r>
              <a:rPr lang="ru-RU" sz="4000" dirty="0"/>
              <a:t> на </a:t>
            </a:r>
            <a:r>
              <a:rPr lang="en-US" sz="4000" dirty="0"/>
              <a:t>Windows </a:t>
            </a:r>
            <a:r>
              <a:rPr lang="ru-RU" sz="4000" dirty="0"/>
              <a:t>(</a:t>
            </a:r>
            <a:r>
              <a:rPr lang="en-US" sz="4000" dirty="0"/>
              <a:t>4</a:t>
            </a:r>
            <a:r>
              <a:rPr lang="ru-RU" sz="4000" dirty="0"/>
              <a:t>/</a:t>
            </a:r>
            <a:r>
              <a:rPr lang="en-US" sz="4000" dirty="0"/>
              <a:t>7</a:t>
            </a:r>
            <a:r>
              <a:rPr lang="ru-RU" sz="4000" dirty="0"/>
              <a:t>)</a:t>
            </a:r>
          </a:p>
        </p:txBody>
      </p:sp>
      <p:pic>
        <p:nvPicPr>
          <p:cNvPr id="5" name="Picture 4">
            <a:extLst>
              <a:ext uri="{FF2B5EF4-FFF2-40B4-BE49-F238E27FC236}">
                <a16:creationId xmlns:a16="http://schemas.microsoft.com/office/drawing/2014/main" id="{B7E387C3-1520-4A8C-A801-CC34980876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378" y="1518219"/>
            <a:ext cx="2835778" cy="2195440"/>
          </a:xfrm>
          <a:prstGeom prst="rect">
            <a:avLst/>
          </a:prstGeom>
        </p:spPr>
      </p:pic>
      <p:pic>
        <p:nvPicPr>
          <p:cNvPr id="8" name="Picture 7">
            <a:extLst>
              <a:ext uri="{FF2B5EF4-FFF2-40B4-BE49-F238E27FC236}">
                <a16:creationId xmlns:a16="http://schemas.microsoft.com/office/drawing/2014/main" id="{8437A18B-48F5-4F70-B550-523A4E62FE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3378" y="4091855"/>
            <a:ext cx="2946218" cy="2272286"/>
          </a:xfrm>
          <a:prstGeom prst="rect">
            <a:avLst/>
          </a:prstGeom>
        </p:spPr>
      </p:pic>
    </p:spTree>
    <p:extLst>
      <p:ext uri="{BB962C8B-B14F-4D97-AF65-F5344CB8AC3E}">
        <p14:creationId xmlns:p14="http://schemas.microsoft.com/office/powerpoint/2010/main" val="9047973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5BABD942-55A3-4887-87E1-7BA0B24D87AA}"/>
              </a:ext>
            </a:extLst>
          </p:cNvPr>
          <p:cNvSpPr txBox="1">
            <a:spLocks/>
          </p:cNvSpPr>
          <p:nvPr/>
        </p:nvSpPr>
        <p:spPr>
          <a:xfrm>
            <a:off x="843378" y="1234000"/>
            <a:ext cx="10733103" cy="5335479"/>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342900" indent="-342900">
              <a:buFont typeface="+mj-lt"/>
              <a:buAutoNum type="arabicPeriod" startAt="8"/>
            </a:pPr>
            <a:r>
              <a:rPr lang="ru-RU" sz="1300" dirty="0"/>
              <a:t>Оставим предложенный по умолчанию первый вариант, нажмите </a:t>
            </a:r>
            <a:r>
              <a:rPr lang="en-US" sz="1300" dirty="0"/>
              <a:t>"Next"</a:t>
            </a:r>
          </a:p>
          <a:p>
            <a:endParaRPr lang="ru-RU" sz="1600" dirty="0"/>
          </a:p>
          <a:p>
            <a:endParaRPr lang="en-US" sz="1600" dirty="0"/>
          </a:p>
          <a:p>
            <a:endParaRPr lang="en-US" sz="1600" dirty="0"/>
          </a:p>
          <a:p>
            <a:endParaRPr lang="en-US" sz="1600" dirty="0"/>
          </a:p>
          <a:p>
            <a:pPr marL="0" indent="0">
              <a:buNone/>
            </a:pPr>
            <a:endParaRPr lang="en-US" sz="1600" dirty="0"/>
          </a:p>
          <a:p>
            <a:pPr marL="0" indent="0">
              <a:buNone/>
            </a:pPr>
            <a:endParaRPr lang="ru-RU" sz="1600" dirty="0"/>
          </a:p>
          <a:p>
            <a:pPr marL="342900" indent="-342900">
              <a:buFont typeface="+mj-lt"/>
              <a:buAutoNum type="arabicPeriod" startAt="9"/>
            </a:pPr>
            <a:r>
              <a:rPr lang="ru-RU" sz="1300" dirty="0"/>
              <a:t>Оставим предложенный по умолчанию первый вариант, нажмите </a:t>
            </a:r>
            <a:r>
              <a:rPr lang="en-US" sz="1300" dirty="0"/>
              <a:t>"Next"</a:t>
            </a:r>
          </a:p>
        </p:txBody>
      </p:sp>
      <p:sp>
        <p:nvSpPr>
          <p:cNvPr id="4" name="Title 1">
            <a:extLst>
              <a:ext uri="{FF2B5EF4-FFF2-40B4-BE49-F238E27FC236}">
                <a16:creationId xmlns:a16="http://schemas.microsoft.com/office/drawing/2014/main" id="{B013CD96-ABF7-466C-A9DC-D0FB631847AB}"/>
              </a:ext>
            </a:extLst>
          </p:cNvPr>
          <p:cNvSpPr txBox="1">
            <a:spLocks/>
          </p:cNvSpPr>
          <p:nvPr/>
        </p:nvSpPr>
        <p:spPr>
          <a:xfrm>
            <a:off x="1366424" y="493859"/>
            <a:ext cx="9601196" cy="1303867"/>
          </a:xfrm>
          <a:prstGeom prst="rect">
            <a:avLst/>
          </a:prstGeom>
        </p:spPr>
        <p:txBody>
          <a:bodyPr>
            <a:norm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000" dirty="0"/>
              <a:t>Установка</a:t>
            </a:r>
            <a:r>
              <a:rPr lang="en-US" sz="4000" dirty="0"/>
              <a:t> Git</a:t>
            </a:r>
            <a:r>
              <a:rPr lang="ru-RU" sz="4000" dirty="0"/>
              <a:t> на </a:t>
            </a:r>
            <a:r>
              <a:rPr lang="en-US" sz="4000" dirty="0"/>
              <a:t>Windows </a:t>
            </a:r>
            <a:r>
              <a:rPr lang="ru-RU" sz="4000" dirty="0"/>
              <a:t>(</a:t>
            </a:r>
            <a:r>
              <a:rPr lang="en-US" sz="4000" dirty="0"/>
              <a:t>5</a:t>
            </a:r>
            <a:r>
              <a:rPr lang="ru-RU" sz="4000" dirty="0"/>
              <a:t>/</a:t>
            </a:r>
            <a:r>
              <a:rPr lang="en-US" sz="4000" dirty="0"/>
              <a:t>7</a:t>
            </a:r>
            <a:r>
              <a:rPr lang="ru-RU" sz="4000" dirty="0"/>
              <a:t>)</a:t>
            </a:r>
          </a:p>
        </p:txBody>
      </p:sp>
      <p:pic>
        <p:nvPicPr>
          <p:cNvPr id="6" name="Picture 5">
            <a:extLst>
              <a:ext uri="{FF2B5EF4-FFF2-40B4-BE49-F238E27FC236}">
                <a16:creationId xmlns:a16="http://schemas.microsoft.com/office/drawing/2014/main" id="{32D03CD3-A5B0-4784-B011-766139C008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7218" y="1518871"/>
            <a:ext cx="2841356" cy="2202914"/>
          </a:xfrm>
          <a:prstGeom prst="rect">
            <a:avLst/>
          </a:prstGeom>
        </p:spPr>
      </p:pic>
      <p:pic>
        <p:nvPicPr>
          <p:cNvPr id="9" name="Picture 8">
            <a:extLst>
              <a:ext uri="{FF2B5EF4-FFF2-40B4-BE49-F238E27FC236}">
                <a16:creationId xmlns:a16="http://schemas.microsoft.com/office/drawing/2014/main" id="{082DD818-59FB-4E38-BAB9-419DDF9F6D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4972" y="4089139"/>
            <a:ext cx="2946218" cy="2275002"/>
          </a:xfrm>
          <a:prstGeom prst="rect">
            <a:avLst/>
          </a:prstGeom>
        </p:spPr>
      </p:pic>
    </p:spTree>
    <p:extLst>
      <p:ext uri="{BB962C8B-B14F-4D97-AF65-F5344CB8AC3E}">
        <p14:creationId xmlns:p14="http://schemas.microsoft.com/office/powerpoint/2010/main" val="3456136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5BABD942-55A3-4887-87E1-7BA0B24D87AA}"/>
              </a:ext>
            </a:extLst>
          </p:cNvPr>
          <p:cNvSpPr txBox="1">
            <a:spLocks/>
          </p:cNvSpPr>
          <p:nvPr/>
        </p:nvSpPr>
        <p:spPr>
          <a:xfrm>
            <a:off x="843378" y="1234000"/>
            <a:ext cx="10733103" cy="5335479"/>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342900" indent="-342900">
              <a:buFont typeface="+mj-lt"/>
              <a:buAutoNum type="arabicPeriod" startAt="10"/>
            </a:pPr>
            <a:r>
              <a:rPr lang="ru-RU" sz="1300" b="1" dirty="0"/>
              <a:t>Рекомендуем выбрать второй вариант </a:t>
            </a:r>
            <a:r>
              <a:rPr lang="ru-RU" sz="1300" dirty="0"/>
              <a:t>(относится к </a:t>
            </a:r>
            <a:r>
              <a:rPr lang="en-US" sz="1300" dirty="0"/>
              <a:t>Git Bash</a:t>
            </a:r>
            <a:r>
              <a:rPr lang="ru-RU" sz="1300" dirty="0"/>
              <a:t>. Это специальная оболочка командной строки для запуска Git)</a:t>
            </a:r>
            <a:endParaRPr lang="en-US" sz="1300" dirty="0"/>
          </a:p>
          <a:p>
            <a:endParaRPr lang="ru-RU" sz="1600" dirty="0"/>
          </a:p>
          <a:p>
            <a:endParaRPr lang="en-US" sz="1600" dirty="0"/>
          </a:p>
          <a:p>
            <a:endParaRPr lang="en-US" sz="1600" dirty="0"/>
          </a:p>
          <a:p>
            <a:endParaRPr lang="en-US" sz="1600" dirty="0"/>
          </a:p>
          <a:p>
            <a:pPr marL="0" indent="0">
              <a:buNone/>
            </a:pPr>
            <a:endParaRPr lang="en-US" sz="1600" dirty="0"/>
          </a:p>
          <a:p>
            <a:pPr marL="0" indent="0">
              <a:buNone/>
            </a:pPr>
            <a:endParaRPr lang="ru-RU" sz="1600" dirty="0"/>
          </a:p>
          <a:p>
            <a:pPr marL="342900" indent="-342900">
              <a:buFont typeface="+mj-lt"/>
              <a:buAutoNum type="arabicPeriod" startAt="11"/>
            </a:pPr>
            <a:r>
              <a:rPr lang="ru-RU" sz="1300" dirty="0"/>
              <a:t>Дальше можно оставить</a:t>
            </a:r>
            <a:r>
              <a:rPr lang="en-US" sz="1300" dirty="0"/>
              <a:t> Default</a:t>
            </a:r>
            <a:r>
              <a:rPr lang="ru-RU" sz="1300" dirty="0"/>
              <a:t> и нажать</a:t>
            </a:r>
            <a:r>
              <a:rPr lang="en-US" sz="1300" dirty="0"/>
              <a:t> "Next"</a:t>
            </a:r>
          </a:p>
        </p:txBody>
      </p:sp>
      <p:sp>
        <p:nvSpPr>
          <p:cNvPr id="4" name="Title 1">
            <a:extLst>
              <a:ext uri="{FF2B5EF4-FFF2-40B4-BE49-F238E27FC236}">
                <a16:creationId xmlns:a16="http://schemas.microsoft.com/office/drawing/2014/main" id="{B013CD96-ABF7-466C-A9DC-D0FB631847AB}"/>
              </a:ext>
            </a:extLst>
          </p:cNvPr>
          <p:cNvSpPr txBox="1">
            <a:spLocks/>
          </p:cNvSpPr>
          <p:nvPr/>
        </p:nvSpPr>
        <p:spPr>
          <a:xfrm>
            <a:off x="1366424" y="493859"/>
            <a:ext cx="9601196" cy="1303867"/>
          </a:xfrm>
          <a:prstGeom prst="rect">
            <a:avLst/>
          </a:prstGeom>
        </p:spPr>
        <p:txBody>
          <a:bodyPr>
            <a:norm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000" dirty="0"/>
              <a:t>Установка</a:t>
            </a:r>
            <a:r>
              <a:rPr lang="en-US" sz="4000" dirty="0"/>
              <a:t> Git</a:t>
            </a:r>
            <a:r>
              <a:rPr lang="ru-RU" sz="4000" dirty="0"/>
              <a:t> на </a:t>
            </a:r>
            <a:r>
              <a:rPr lang="en-US" sz="4000" dirty="0"/>
              <a:t>Windows </a:t>
            </a:r>
            <a:r>
              <a:rPr lang="ru-RU" sz="4000" dirty="0"/>
              <a:t>(</a:t>
            </a:r>
            <a:r>
              <a:rPr lang="en-US" sz="4000" dirty="0"/>
              <a:t>6</a:t>
            </a:r>
            <a:r>
              <a:rPr lang="ru-RU" sz="4000" dirty="0"/>
              <a:t>/</a:t>
            </a:r>
            <a:r>
              <a:rPr lang="en-US" sz="4000" dirty="0"/>
              <a:t>7</a:t>
            </a:r>
            <a:r>
              <a:rPr lang="ru-RU" sz="4000" dirty="0"/>
              <a:t>)</a:t>
            </a:r>
          </a:p>
        </p:txBody>
      </p:sp>
      <p:pic>
        <p:nvPicPr>
          <p:cNvPr id="11" name="Picture 10">
            <a:extLst>
              <a:ext uri="{FF2B5EF4-FFF2-40B4-BE49-F238E27FC236}">
                <a16:creationId xmlns:a16="http://schemas.microsoft.com/office/drawing/2014/main" id="{EDF1A5B6-0915-411F-946B-C7184AC5B4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4972" y="1522193"/>
            <a:ext cx="2856016" cy="2199592"/>
          </a:xfrm>
          <a:prstGeom prst="rect">
            <a:avLst/>
          </a:prstGeom>
        </p:spPr>
      </p:pic>
      <p:pic>
        <p:nvPicPr>
          <p:cNvPr id="13" name="Picture 12">
            <a:extLst>
              <a:ext uri="{FF2B5EF4-FFF2-40B4-BE49-F238E27FC236}">
                <a16:creationId xmlns:a16="http://schemas.microsoft.com/office/drawing/2014/main" id="{52FC94CC-ED4B-4152-84DD-298226F6FF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3378" y="4148567"/>
            <a:ext cx="2856016" cy="2215574"/>
          </a:xfrm>
          <a:prstGeom prst="rect">
            <a:avLst/>
          </a:prstGeom>
        </p:spPr>
      </p:pic>
    </p:spTree>
    <p:extLst>
      <p:ext uri="{BB962C8B-B14F-4D97-AF65-F5344CB8AC3E}">
        <p14:creationId xmlns:p14="http://schemas.microsoft.com/office/powerpoint/2010/main" val="214090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5BABD942-55A3-4887-87E1-7BA0B24D87AA}"/>
              </a:ext>
            </a:extLst>
          </p:cNvPr>
          <p:cNvSpPr txBox="1">
            <a:spLocks/>
          </p:cNvSpPr>
          <p:nvPr/>
        </p:nvSpPr>
        <p:spPr>
          <a:xfrm>
            <a:off x="843378" y="1234000"/>
            <a:ext cx="10733103" cy="5335480"/>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342900" indent="-342900">
              <a:buFont typeface="+mj-lt"/>
              <a:buAutoNum type="arabicPeriod" startAt="12"/>
            </a:pPr>
            <a:r>
              <a:rPr lang="ru-RU" sz="1300" dirty="0"/>
              <a:t>В оставшихся 3-х окнах можно оставить всё по умолчанию и нажимать</a:t>
            </a:r>
            <a:r>
              <a:rPr lang="en-US" sz="1300" dirty="0"/>
              <a:t> "Next"</a:t>
            </a:r>
            <a:endParaRPr lang="ru-RU" sz="1300" dirty="0"/>
          </a:p>
          <a:p>
            <a:pPr marL="342900" indent="-342900">
              <a:buFont typeface="+mj-lt"/>
              <a:buAutoNum type="arabicPeriod" startAt="12"/>
            </a:pPr>
            <a:r>
              <a:rPr lang="ru-RU" sz="1300" dirty="0"/>
              <a:t>В последнем окне Нажмите </a:t>
            </a:r>
            <a:r>
              <a:rPr lang="en-US" sz="1300" dirty="0"/>
              <a:t>"Install"</a:t>
            </a:r>
          </a:p>
          <a:p>
            <a:pPr marL="342900" indent="-342900">
              <a:buFont typeface="+mj-lt"/>
              <a:buAutoNum type="arabicPeriod" startAt="12"/>
            </a:pPr>
            <a:endParaRPr lang="en-US" sz="1300" dirty="0"/>
          </a:p>
          <a:p>
            <a:pPr marL="342900" indent="-342900">
              <a:buFont typeface="+mj-lt"/>
              <a:buAutoNum type="arabicPeriod" startAt="12"/>
            </a:pPr>
            <a:endParaRPr lang="en-US" sz="1300" dirty="0"/>
          </a:p>
          <a:p>
            <a:pPr marL="342900" indent="-342900">
              <a:buFont typeface="+mj-lt"/>
              <a:buAutoNum type="arabicPeriod" startAt="12"/>
            </a:pPr>
            <a:endParaRPr lang="en-US" sz="1300" dirty="0"/>
          </a:p>
          <a:p>
            <a:pPr marL="342900" indent="-342900">
              <a:buFont typeface="+mj-lt"/>
              <a:buAutoNum type="arabicPeriod" startAt="12"/>
            </a:pPr>
            <a:endParaRPr lang="en-US" sz="1300" dirty="0"/>
          </a:p>
          <a:p>
            <a:pPr marL="342900" indent="-342900">
              <a:buFont typeface="+mj-lt"/>
              <a:buAutoNum type="arabicPeriod" startAt="12"/>
            </a:pPr>
            <a:endParaRPr lang="en-US" sz="1300" dirty="0"/>
          </a:p>
          <a:p>
            <a:pPr marL="342900" indent="-342900">
              <a:buFont typeface="+mj-lt"/>
              <a:buAutoNum type="arabicPeriod" startAt="12"/>
            </a:pPr>
            <a:endParaRPr lang="en-US" sz="1300" dirty="0"/>
          </a:p>
          <a:p>
            <a:pPr marL="342900" indent="-342900">
              <a:buFont typeface="+mj-lt"/>
              <a:buAutoNum type="arabicPeriod" startAt="12"/>
            </a:pPr>
            <a:endParaRPr lang="en-US" sz="1300" dirty="0"/>
          </a:p>
          <a:p>
            <a:pPr marL="342900" indent="-342900">
              <a:buFont typeface="+mj-lt"/>
              <a:buAutoNum type="arabicPeriod" startAt="12"/>
            </a:pPr>
            <a:endParaRPr lang="en-US" sz="1300" dirty="0"/>
          </a:p>
          <a:p>
            <a:pPr marL="342900" indent="-342900">
              <a:buFont typeface="+mj-lt"/>
              <a:buAutoNum type="arabicPeriod" startAt="12"/>
            </a:pPr>
            <a:endParaRPr lang="en-US" sz="1300" dirty="0"/>
          </a:p>
          <a:p>
            <a:pPr marL="342900" indent="-342900">
              <a:buFont typeface="+mj-lt"/>
              <a:buAutoNum type="arabicPeriod" startAt="12"/>
            </a:pPr>
            <a:endParaRPr lang="en-US" sz="1300" dirty="0"/>
          </a:p>
          <a:p>
            <a:pPr marL="342900" indent="-342900">
              <a:buFont typeface="+mj-lt"/>
              <a:buAutoNum type="arabicPeriod" startAt="12"/>
            </a:pPr>
            <a:endParaRPr lang="en-US" sz="1300" dirty="0"/>
          </a:p>
          <a:p>
            <a:pPr marL="0" indent="0">
              <a:buNone/>
            </a:pPr>
            <a:endParaRPr lang="ru-RU" sz="1400" dirty="0"/>
          </a:p>
          <a:p>
            <a:r>
              <a:rPr lang="ru-RU" sz="1400" dirty="0"/>
              <a:t>Готово! </a:t>
            </a:r>
            <a:r>
              <a:rPr lang="en-US" sz="1400" dirty="0"/>
              <a:t>Git</a:t>
            </a:r>
            <a:r>
              <a:rPr lang="ru-RU" sz="1400" dirty="0"/>
              <a:t> уже на нашем компьютере, теперь можно приступать к работе с ним </a:t>
            </a:r>
            <a:r>
              <a:rPr lang="en-US" sz="1400" dirty="0"/>
              <a:t>:)</a:t>
            </a:r>
            <a:endParaRPr lang="ru-RU" sz="1400" dirty="0"/>
          </a:p>
          <a:p>
            <a:endParaRPr lang="en-US" sz="1600" dirty="0"/>
          </a:p>
          <a:p>
            <a:pPr marL="0" indent="0">
              <a:buNone/>
            </a:pPr>
            <a:endParaRPr lang="en-US" sz="1600" dirty="0"/>
          </a:p>
          <a:p>
            <a:endParaRPr lang="en-US" sz="1600" dirty="0"/>
          </a:p>
          <a:p>
            <a:pPr marL="0" indent="0">
              <a:buNone/>
            </a:pPr>
            <a:endParaRPr lang="en-US" sz="1600" dirty="0"/>
          </a:p>
          <a:p>
            <a:pPr marL="0" indent="0">
              <a:buNone/>
            </a:pPr>
            <a:endParaRPr lang="ru-RU" sz="1600" dirty="0"/>
          </a:p>
        </p:txBody>
      </p:sp>
      <p:sp>
        <p:nvSpPr>
          <p:cNvPr id="4" name="Title 1">
            <a:extLst>
              <a:ext uri="{FF2B5EF4-FFF2-40B4-BE49-F238E27FC236}">
                <a16:creationId xmlns:a16="http://schemas.microsoft.com/office/drawing/2014/main" id="{B013CD96-ABF7-466C-A9DC-D0FB631847AB}"/>
              </a:ext>
            </a:extLst>
          </p:cNvPr>
          <p:cNvSpPr txBox="1">
            <a:spLocks/>
          </p:cNvSpPr>
          <p:nvPr/>
        </p:nvSpPr>
        <p:spPr>
          <a:xfrm>
            <a:off x="1366424" y="493859"/>
            <a:ext cx="9601196" cy="1303867"/>
          </a:xfrm>
          <a:prstGeom prst="rect">
            <a:avLst/>
          </a:prstGeom>
        </p:spPr>
        <p:txBody>
          <a:bodyPr>
            <a:norm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000" dirty="0"/>
              <a:t>Установка</a:t>
            </a:r>
            <a:r>
              <a:rPr lang="en-US" sz="4000" dirty="0"/>
              <a:t> Git</a:t>
            </a:r>
            <a:r>
              <a:rPr lang="ru-RU" sz="4000" dirty="0"/>
              <a:t> на </a:t>
            </a:r>
            <a:r>
              <a:rPr lang="en-US" sz="4000" dirty="0"/>
              <a:t>Windows </a:t>
            </a:r>
            <a:r>
              <a:rPr lang="ru-RU" sz="4000" dirty="0"/>
              <a:t>(</a:t>
            </a:r>
            <a:r>
              <a:rPr lang="en-US" sz="4000" dirty="0"/>
              <a:t>7</a:t>
            </a:r>
            <a:r>
              <a:rPr lang="ru-RU" sz="4000" dirty="0"/>
              <a:t>/</a:t>
            </a:r>
            <a:r>
              <a:rPr lang="en-US" sz="4000" dirty="0"/>
              <a:t>7</a:t>
            </a:r>
            <a:r>
              <a:rPr lang="ru-RU" sz="4000" dirty="0"/>
              <a:t>)</a:t>
            </a:r>
          </a:p>
        </p:txBody>
      </p:sp>
      <p:pic>
        <p:nvPicPr>
          <p:cNvPr id="5" name="Picture 4">
            <a:extLst>
              <a:ext uri="{FF2B5EF4-FFF2-40B4-BE49-F238E27FC236}">
                <a16:creationId xmlns:a16="http://schemas.microsoft.com/office/drawing/2014/main" id="{7D0F1614-7E70-4465-8FC3-6E5D60798B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519" y="1993070"/>
            <a:ext cx="3605862" cy="2871860"/>
          </a:xfrm>
          <a:prstGeom prst="rect">
            <a:avLst/>
          </a:prstGeom>
        </p:spPr>
      </p:pic>
      <p:pic>
        <p:nvPicPr>
          <p:cNvPr id="7" name="Picture 6">
            <a:extLst>
              <a:ext uri="{FF2B5EF4-FFF2-40B4-BE49-F238E27FC236}">
                <a16:creationId xmlns:a16="http://schemas.microsoft.com/office/drawing/2014/main" id="{320F12C0-3EAA-46FF-8124-E360723A1A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5123" y="1993068"/>
            <a:ext cx="3689986" cy="2871861"/>
          </a:xfrm>
          <a:prstGeom prst="rect">
            <a:avLst/>
          </a:prstGeom>
        </p:spPr>
      </p:pic>
      <p:pic>
        <p:nvPicPr>
          <p:cNvPr id="9" name="Picture 8">
            <a:extLst>
              <a:ext uri="{FF2B5EF4-FFF2-40B4-BE49-F238E27FC236}">
                <a16:creationId xmlns:a16="http://schemas.microsoft.com/office/drawing/2014/main" id="{B7B4612D-A2A3-432B-B6F8-2C5584AFD0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4403" y="1993070"/>
            <a:ext cx="3591430" cy="2871860"/>
          </a:xfrm>
          <a:prstGeom prst="rect">
            <a:avLst/>
          </a:prstGeom>
        </p:spPr>
      </p:pic>
    </p:spTree>
    <p:extLst>
      <p:ext uri="{BB962C8B-B14F-4D97-AF65-F5344CB8AC3E}">
        <p14:creationId xmlns:p14="http://schemas.microsoft.com/office/powerpoint/2010/main" val="2786750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Установка</a:t>
            </a:r>
            <a:r>
              <a:rPr lang="en-US" sz="4200" dirty="0"/>
              <a:t> Git</a:t>
            </a:r>
            <a:r>
              <a:rPr lang="ru-RU" sz="4200" dirty="0"/>
              <a:t> на </a:t>
            </a:r>
            <a:r>
              <a:rPr lang="en-US" sz="4200" dirty="0"/>
              <a:t>Mac</a:t>
            </a:r>
            <a:endParaRPr lang="ru-RU" sz="4200" dirty="0"/>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fontScale="250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342900" indent="-342900">
              <a:buFont typeface="+mj-lt"/>
              <a:buAutoNum type="arabicPeriod"/>
            </a:pPr>
            <a:endParaRPr lang="en-US" sz="4000" dirty="0"/>
          </a:p>
          <a:p>
            <a:pPr marL="342900" indent="-342900">
              <a:buFont typeface="+mj-lt"/>
              <a:buAutoNum type="arabicPeriod"/>
            </a:pPr>
            <a:r>
              <a:rPr lang="ru-RU" sz="6400" dirty="0"/>
              <a:t>Скачать </a:t>
            </a:r>
            <a:r>
              <a:rPr lang="en-US" sz="6400" dirty="0"/>
              <a:t>Git</a:t>
            </a:r>
            <a:r>
              <a:rPr lang="ru-RU" sz="6400" dirty="0"/>
              <a:t> можно на </a:t>
            </a:r>
            <a:r>
              <a:rPr lang="ru-RU" sz="6400" dirty="0">
                <a:hlinkClick r:id="rId2"/>
              </a:rPr>
              <a:t>официальной странице</a:t>
            </a:r>
            <a:r>
              <a:rPr lang="ru-RU" sz="6400" dirty="0"/>
              <a:t> </a:t>
            </a:r>
            <a:endParaRPr lang="en-US" sz="6400" dirty="0"/>
          </a:p>
          <a:p>
            <a:pPr marL="0" indent="0">
              <a:buNone/>
            </a:pPr>
            <a:endParaRPr lang="ru-RU" sz="2100" dirty="0"/>
          </a:p>
          <a:p>
            <a:pPr marL="0" indent="0">
              <a:buNone/>
            </a:pPr>
            <a:endParaRPr lang="ru-RU" sz="2100" dirty="0">
              <a:solidFill>
                <a:srgbClr val="FFFFFF"/>
              </a:solidFill>
            </a:endParaRPr>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2100" dirty="0"/>
          </a:p>
          <a:p>
            <a:pPr marL="0" indent="0">
              <a:buNone/>
            </a:pPr>
            <a:endParaRPr lang="ru-RU" sz="2100" dirty="0"/>
          </a:p>
          <a:p>
            <a:pPr marL="0" indent="0">
              <a:buNone/>
            </a:pPr>
            <a:r>
              <a:rPr lang="ru-RU" sz="2100" dirty="0"/>
              <a:t>\</a:t>
            </a:r>
          </a:p>
          <a:p>
            <a:pPr marL="0" indent="0">
              <a:buNone/>
            </a:pPr>
            <a:endParaRPr lang="ru-RU" sz="21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4000" dirty="0"/>
          </a:p>
          <a:p>
            <a:pPr marL="0" indent="0">
              <a:buNone/>
            </a:pPr>
            <a:endParaRPr lang="ru-RU" sz="4000" dirty="0"/>
          </a:p>
          <a:p>
            <a:pPr marL="0" indent="0">
              <a:buNone/>
            </a:pPr>
            <a:endParaRPr lang="ru-RU" sz="4000" dirty="0"/>
          </a:p>
          <a:p>
            <a:pPr marL="0" indent="0">
              <a:buNone/>
            </a:pPr>
            <a:r>
              <a:rPr lang="ru-RU" sz="6400" dirty="0"/>
              <a:t>На выбор будет предложено несколько способов установки. Можно установить через</a:t>
            </a:r>
            <a:r>
              <a:rPr lang="en-US" sz="6400" dirty="0"/>
              <a:t> homebrew</a:t>
            </a:r>
            <a:r>
              <a:rPr lang="ru-RU" sz="6400" dirty="0"/>
              <a:t>(как было в примере с установкой </a:t>
            </a:r>
            <a:r>
              <a:rPr lang="en-US" sz="6400" dirty="0"/>
              <a:t>python</a:t>
            </a:r>
            <a:r>
              <a:rPr lang="ru-RU" sz="6400" dirty="0"/>
              <a:t> на 1-м уроке), через </a:t>
            </a:r>
            <a:r>
              <a:rPr lang="en-US" sz="6400" dirty="0"/>
              <a:t>xcode</a:t>
            </a:r>
            <a:r>
              <a:rPr lang="ru-RU" sz="6400" dirty="0"/>
              <a:t> или через установщик(</a:t>
            </a:r>
            <a:r>
              <a:rPr lang="en-US" sz="6400" dirty="0"/>
              <a:t>binary installer)</a:t>
            </a:r>
            <a:r>
              <a:rPr lang="ru-RU" sz="6400" dirty="0"/>
              <a:t>.</a:t>
            </a:r>
          </a:p>
          <a:p>
            <a:pPr marL="0" indent="0">
              <a:buNone/>
            </a:pPr>
            <a:r>
              <a:rPr lang="ru-RU" sz="6400" dirty="0"/>
              <a:t>В процессе установки достаточно нажимать</a:t>
            </a:r>
            <a:r>
              <a:rPr lang="en-US" sz="6400" dirty="0"/>
              <a:t> "Next"</a:t>
            </a:r>
            <a:r>
              <a:rPr lang="ru-RU" sz="6400" dirty="0"/>
              <a:t>, каких-то особых настроек не потребуется.</a:t>
            </a:r>
          </a:p>
          <a:p>
            <a:pPr marL="0" indent="0">
              <a:buNone/>
            </a:pPr>
            <a:r>
              <a:rPr lang="ru-RU" sz="6400" dirty="0"/>
              <a:t>Ещё можно установить через терминал,</a:t>
            </a:r>
            <a:r>
              <a:rPr lang="en-US" sz="6400" dirty="0"/>
              <a:t> </a:t>
            </a:r>
            <a:r>
              <a:rPr lang="ru-RU" sz="6400" dirty="0"/>
              <a:t>введя команду</a:t>
            </a:r>
            <a:r>
              <a:rPr lang="en-US" sz="6400" dirty="0"/>
              <a:t>: </a:t>
            </a:r>
            <a:r>
              <a:rPr lang="ru-RU" sz="6400" b="1" dirty="0"/>
              <a:t>git –version </a:t>
            </a:r>
            <a:r>
              <a:rPr lang="ru-RU" sz="6400" dirty="0"/>
              <a:t>(установка начнётся автоматически)</a:t>
            </a:r>
            <a:endParaRPr lang="ru-RU" sz="1600" b="1" dirty="0"/>
          </a:p>
          <a:p>
            <a:pPr marL="0" indent="0">
              <a:buNone/>
            </a:pPr>
            <a:endParaRPr lang="ru-RU" sz="1600" dirty="0"/>
          </a:p>
          <a:p>
            <a:pPr marL="0" indent="0">
              <a:buNone/>
            </a:pPr>
            <a:r>
              <a:rPr lang="ru-RU" sz="1600" dirty="0"/>
              <a:t> </a:t>
            </a:r>
          </a:p>
          <a:p>
            <a:pPr marL="0" indent="0">
              <a:buNone/>
            </a:pPr>
            <a:endParaRPr lang="ru-RU" sz="1600" dirty="0"/>
          </a:p>
          <a:p>
            <a:pPr marL="0" indent="0">
              <a:buNone/>
            </a:pPr>
            <a:endParaRPr lang="ru-RU" sz="1600" dirty="0"/>
          </a:p>
          <a:p>
            <a:pPr marL="0" indent="0">
              <a:buNone/>
            </a:pPr>
            <a:endParaRPr lang="ru-RU" sz="1600" dirty="0"/>
          </a:p>
        </p:txBody>
      </p:sp>
      <p:pic>
        <p:nvPicPr>
          <p:cNvPr id="6" name="Picture 5">
            <a:extLst>
              <a:ext uri="{FF2B5EF4-FFF2-40B4-BE49-F238E27FC236}">
                <a16:creationId xmlns:a16="http://schemas.microsoft.com/office/drawing/2014/main" id="{67E0C4AF-F4AC-47DB-A9AD-29C2AD66C864}"/>
              </a:ext>
            </a:extLst>
          </p:cNvPr>
          <p:cNvPicPr>
            <a:picLocks noChangeAspect="1"/>
          </p:cNvPicPr>
          <p:nvPr/>
        </p:nvPicPr>
        <p:blipFill>
          <a:blip r:embed="rId3"/>
          <a:stretch>
            <a:fillRect/>
          </a:stretch>
        </p:blipFill>
        <p:spPr>
          <a:xfrm>
            <a:off x="840419" y="1879104"/>
            <a:ext cx="3957912" cy="2583238"/>
          </a:xfrm>
          <a:prstGeom prst="rect">
            <a:avLst/>
          </a:prstGeom>
        </p:spPr>
      </p:pic>
    </p:spTree>
    <p:extLst>
      <p:ext uri="{BB962C8B-B14F-4D97-AF65-F5344CB8AC3E}">
        <p14:creationId xmlns:p14="http://schemas.microsoft.com/office/powerpoint/2010/main" val="393110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Использование</a:t>
            </a:r>
            <a:r>
              <a:rPr lang="en-US" sz="4200" dirty="0"/>
              <a:t> Git</a:t>
            </a:r>
            <a:r>
              <a:rPr lang="ru-RU" sz="4200" dirty="0"/>
              <a:t> в консольном режиме</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700" dirty="0"/>
              <a:t>Хотя существует несколько удобных графических оболочек для управления </a:t>
            </a:r>
            <a:r>
              <a:rPr lang="en-US" sz="1700" dirty="0"/>
              <a:t>Git</a:t>
            </a:r>
            <a:r>
              <a:rPr lang="ru-RU" sz="1700" dirty="0"/>
              <a:t>(например </a:t>
            </a:r>
            <a:r>
              <a:rPr lang="en-US" sz="1700" dirty="0"/>
              <a:t>G</a:t>
            </a:r>
            <a:r>
              <a:rPr lang="ru-RU" sz="1700" dirty="0"/>
              <a:t>it</a:t>
            </a:r>
            <a:r>
              <a:rPr lang="en-US" sz="1700" dirty="0"/>
              <a:t>K</a:t>
            </a:r>
            <a:r>
              <a:rPr lang="ru-RU" sz="1700" dirty="0"/>
              <a:t>raken, Smart</a:t>
            </a:r>
            <a:r>
              <a:rPr lang="en-US" sz="1700" dirty="0"/>
              <a:t>G</a:t>
            </a:r>
            <a:r>
              <a:rPr lang="ru-RU" sz="1700" dirty="0"/>
              <a:t>it, </a:t>
            </a:r>
            <a:r>
              <a:rPr lang="en-US" sz="1700" dirty="0"/>
              <a:t>S</a:t>
            </a:r>
            <a:r>
              <a:rPr lang="ru-RU" sz="1700" dirty="0"/>
              <a:t>ource</a:t>
            </a:r>
            <a:r>
              <a:rPr lang="en-US" sz="1700" dirty="0"/>
              <a:t>T</a:t>
            </a:r>
            <a:r>
              <a:rPr lang="ru-RU" sz="1700" dirty="0"/>
              <a:t>ree), мы будем учиться работать </a:t>
            </a:r>
            <a:r>
              <a:rPr lang="en-US" sz="1700" dirty="0"/>
              <a:t>c Git</a:t>
            </a:r>
            <a:r>
              <a:rPr lang="ru-RU" sz="1700" dirty="0"/>
              <a:t> в консольном режиме, вводя команды в терминале. Почему?</a:t>
            </a:r>
          </a:p>
          <a:p>
            <a:r>
              <a:rPr lang="ru-RU" sz="1700" dirty="0"/>
              <a:t>Во-первых, именно командная строка даёт доступ ко всем возможностям </a:t>
            </a:r>
            <a:r>
              <a:rPr lang="en-US" sz="1700" dirty="0"/>
              <a:t>Git</a:t>
            </a:r>
            <a:r>
              <a:rPr lang="ru-RU" sz="1700" dirty="0"/>
              <a:t>.</a:t>
            </a:r>
          </a:p>
          <a:p>
            <a:r>
              <a:rPr lang="ru-RU" sz="1700" dirty="0"/>
              <a:t>Во-вторых, непосредственное выполнение команд в терминале позволяет лучше понять логику и алгоритм работы системы.</a:t>
            </a:r>
          </a:p>
          <a:p>
            <a:r>
              <a:rPr lang="ru-RU" sz="1700" dirty="0"/>
              <a:t>В-третьих, это очень широко распространённая практика.</a:t>
            </a:r>
          </a:p>
          <a:p>
            <a:r>
              <a:rPr lang="ru-RU" sz="1700" dirty="0"/>
              <a:t>Наконец, освоив работу с </a:t>
            </a:r>
            <a:r>
              <a:rPr lang="en-US" sz="1700" dirty="0"/>
              <a:t>G</a:t>
            </a:r>
            <a:r>
              <a:rPr lang="ru-RU" sz="1700" dirty="0"/>
              <a:t>it из командной строки, Вы в дальнейшем сможете разобраться с интерфейсом любой графической утилиты для управления </a:t>
            </a:r>
            <a:r>
              <a:rPr lang="en-US" sz="1700" dirty="0"/>
              <a:t>Git</a:t>
            </a:r>
            <a:r>
              <a:rPr lang="ru-RU" sz="2500" dirty="0"/>
              <a:t>. </a:t>
            </a:r>
          </a:p>
          <a:p>
            <a:pPr marL="0" indent="0">
              <a:buNone/>
            </a:pPr>
            <a:endParaRPr lang="ru-RU" sz="2500" b="1" dirty="0"/>
          </a:p>
          <a:p>
            <a:pPr marL="0" indent="0">
              <a:buNone/>
            </a:pPr>
            <a:endParaRPr lang="ru-RU" sz="1600" dirty="0"/>
          </a:p>
          <a:p>
            <a:pPr marL="0" indent="0">
              <a:buNone/>
            </a:pPr>
            <a:endParaRPr lang="ru-RU" sz="1600" dirty="0"/>
          </a:p>
          <a:p>
            <a:pPr marL="0" indent="0">
              <a:buNone/>
            </a:pPr>
            <a:r>
              <a:rPr lang="ru-RU" sz="1600" dirty="0"/>
              <a:t> </a:t>
            </a:r>
          </a:p>
          <a:p>
            <a:pPr marL="0" indent="0">
              <a:buNone/>
            </a:pPr>
            <a:endParaRPr lang="ru-RU" sz="1600" dirty="0"/>
          </a:p>
          <a:p>
            <a:pPr marL="0" indent="0">
              <a:buNone/>
            </a:pPr>
            <a:endParaRPr lang="ru-RU" sz="1600" dirty="0"/>
          </a:p>
          <a:p>
            <a:pPr marL="0" indent="0">
              <a:buNone/>
            </a:pPr>
            <a:endParaRPr lang="ru-RU" sz="1600" dirty="0"/>
          </a:p>
        </p:txBody>
      </p:sp>
    </p:spTree>
    <p:extLst>
      <p:ext uri="{BB962C8B-B14F-4D97-AF65-F5344CB8AC3E}">
        <p14:creationId xmlns:p14="http://schemas.microsoft.com/office/powerpoint/2010/main" val="39539801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Оболочки командной строки в разных ОС</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600" dirty="0"/>
              <a:t>В Unix-подобных операционных системах Mac OS и Linux самыми популярными оболочками командной строки являются bash и zsh. В Windows используются две оболочки: стандартный командный интерпретатор cmd.exe и современная облачка Window Powershell.</a:t>
            </a:r>
          </a:p>
          <a:p>
            <a:pPr marL="0" indent="0">
              <a:buNone/>
            </a:pPr>
            <a:r>
              <a:rPr lang="ru-RU" sz="1600" dirty="0"/>
              <a:t>Принцип работы у всех оболочек одинаков: вводим с клавиатуры команду, нажимаем Enter, команда выполняет заданные действия и выводит сообщение о результатах работы на экран.</a:t>
            </a:r>
          </a:p>
          <a:p>
            <a:pPr marL="0" indent="0">
              <a:buNone/>
            </a:pPr>
            <a:r>
              <a:rPr lang="ru-RU" sz="1600" dirty="0"/>
              <a:t>Внешне, все оболочки также похожи друг на друга. Слева выводится приветствие командной строки (command promt), в котором обычно написан путь к текущему каталогу и, возможно, другие дополнительные параметры (например, имя активного пользователя или компьютера, на котором мы работаем). Затем печатается символ окончания приветствия (обычно это </a:t>
            </a:r>
            <a:r>
              <a:rPr lang="en-US" sz="1600" dirty="0"/>
              <a:t>"</a:t>
            </a:r>
            <a:r>
              <a:rPr lang="ru-RU" sz="1600" dirty="0"/>
              <a:t>$</a:t>
            </a:r>
            <a:r>
              <a:rPr lang="en-US" sz="1600" dirty="0"/>
              <a:t>"</a:t>
            </a:r>
            <a:r>
              <a:rPr lang="ru-RU" sz="1600" dirty="0"/>
              <a:t> или </a:t>
            </a:r>
            <a:r>
              <a:rPr lang="en-US" sz="1600" dirty="0"/>
              <a:t>"</a:t>
            </a:r>
            <a:r>
              <a:rPr lang="ru-RU" sz="1600" dirty="0"/>
              <a:t>&gt;</a:t>
            </a:r>
            <a:r>
              <a:rPr lang="en-US" sz="1600" dirty="0"/>
              <a:t>"</a:t>
            </a:r>
            <a:r>
              <a:rPr lang="ru-RU" sz="1600" dirty="0"/>
              <a:t>), после которого размещается мигающий курсор - именно здесь вводятся команды.</a:t>
            </a:r>
          </a:p>
          <a:p>
            <a:pPr marL="0" indent="0">
              <a:buNone/>
            </a:pPr>
            <a:endParaRPr lang="ru-RU" sz="1600" dirty="0"/>
          </a:p>
          <a:p>
            <a:pPr marL="0" indent="0">
              <a:buNone/>
            </a:pPr>
            <a:endParaRPr lang="ru-RU" sz="1600" dirty="0"/>
          </a:p>
          <a:p>
            <a:pPr marL="0" indent="0">
              <a:buNone/>
            </a:pPr>
            <a:r>
              <a:rPr lang="ru-RU" sz="1600" dirty="0"/>
              <a:t> </a:t>
            </a:r>
          </a:p>
          <a:p>
            <a:pPr marL="0" indent="0">
              <a:buNone/>
            </a:pPr>
            <a:endParaRPr lang="ru-RU" sz="1600" dirty="0"/>
          </a:p>
          <a:p>
            <a:pPr marL="0" indent="0">
              <a:buNone/>
            </a:pPr>
            <a:endParaRPr lang="ru-RU" sz="1600" dirty="0"/>
          </a:p>
          <a:p>
            <a:pPr marL="0" indent="0">
              <a:buNone/>
            </a:pPr>
            <a:endParaRPr lang="ru-RU" sz="1600" dirty="0"/>
          </a:p>
        </p:txBody>
      </p:sp>
      <p:pic>
        <p:nvPicPr>
          <p:cNvPr id="6" name="Picture 5">
            <a:extLst>
              <a:ext uri="{FF2B5EF4-FFF2-40B4-BE49-F238E27FC236}">
                <a16:creationId xmlns:a16="http://schemas.microsoft.com/office/drawing/2014/main" id="{7478CC32-BD96-4878-944E-A8DABB9BEAFD}"/>
              </a:ext>
            </a:extLst>
          </p:cNvPr>
          <p:cNvPicPr>
            <a:picLocks noChangeAspect="1"/>
          </p:cNvPicPr>
          <p:nvPr/>
        </p:nvPicPr>
        <p:blipFill>
          <a:blip r:embed="rId2"/>
          <a:stretch>
            <a:fillRect/>
          </a:stretch>
        </p:blipFill>
        <p:spPr>
          <a:xfrm>
            <a:off x="686538" y="3980663"/>
            <a:ext cx="4554248" cy="1857375"/>
          </a:xfrm>
          <a:prstGeom prst="rect">
            <a:avLst/>
          </a:prstGeom>
        </p:spPr>
      </p:pic>
      <p:pic>
        <p:nvPicPr>
          <p:cNvPr id="7" name="Picture 6">
            <a:extLst>
              <a:ext uri="{FF2B5EF4-FFF2-40B4-BE49-F238E27FC236}">
                <a16:creationId xmlns:a16="http://schemas.microsoft.com/office/drawing/2014/main" id="{49826C5F-0189-4F43-AEE2-A36B13F26D47}"/>
              </a:ext>
            </a:extLst>
          </p:cNvPr>
          <p:cNvPicPr>
            <a:picLocks noChangeAspect="1"/>
          </p:cNvPicPr>
          <p:nvPr/>
        </p:nvPicPr>
        <p:blipFill>
          <a:blip r:embed="rId3"/>
          <a:stretch>
            <a:fillRect/>
          </a:stretch>
        </p:blipFill>
        <p:spPr>
          <a:xfrm>
            <a:off x="5486401" y="3988376"/>
            <a:ext cx="4768408" cy="1849662"/>
          </a:xfrm>
          <a:prstGeom prst="rect">
            <a:avLst/>
          </a:prstGeom>
        </p:spPr>
      </p:pic>
      <p:sp>
        <p:nvSpPr>
          <p:cNvPr id="8" name="TextBox 7">
            <a:extLst>
              <a:ext uri="{FF2B5EF4-FFF2-40B4-BE49-F238E27FC236}">
                <a16:creationId xmlns:a16="http://schemas.microsoft.com/office/drawing/2014/main" id="{9C2D2261-9917-4FBC-8428-9D4480F8EA17}"/>
              </a:ext>
            </a:extLst>
          </p:cNvPr>
          <p:cNvSpPr txBox="1"/>
          <p:nvPr/>
        </p:nvSpPr>
        <p:spPr>
          <a:xfrm>
            <a:off x="923278" y="5592849"/>
            <a:ext cx="3577700" cy="553998"/>
          </a:xfrm>
          <a:prstGeom prst="rect">
            <a:avLst/>
          </a:prstGeom>
          <a:noFill/>
        </p:spPr>
        <p:txBody>
          <a:bodyPr wrap="square" rtlCol="0">
            <a:spAutoFit/>
          </a:bodyPr>
          <a:lstStyle/>
          <a:p>
            <a:endParaRPr lang="ru-RU" dirty="0"/>
          </a:p>
          <a:p>
            <a:r>
              <a:rPr lang="ru-RU" sz="1200" dirty="0"/>
              <a:t>Интерпретатор командной строки cmd.exe в Windows</a:t>
            </a:r>
          </a:p>
        </p:txBody>
      </p:sp>
      <p:sp>
        <p:nvSpPr>
          <p:cNvPr id="9" name="TextBox 8">
            <a:extLst>
              <a:ext uri="{FF2B5EF4-FFF2-40B4-BE49-F238E27FC236}">
                <a16:creationId xmlns:a16="http://schemas.microsoft.com/office/drawing/2014/main" id="{DC67928D-EEFB-4FFC-B469-DB101090AE3B}"/>
              </a:ext>
            </a:extLst>
          </p:cNvPr>
          <p:cNvSpPr txBox="1"/>
          <p:nvPr/>
        </p:nvSpPr>
        <p:spPr>
          <a:xfrm>
            <a:off x="7148005" y="5592849"/>
            <a:ext cx="1518081" cy="553998"/>
          </a:xfrm>
          <a:prstGeom prst="rect">
            <a:avLst/>
          </a:prstGeom>
          <a:noFill/>
        </p:spPr>
        <p:txBody>
          <a:bodyPr wrap="square" rtlCol="0">
            <a:spAutoFit/>
          </a:bodyPr>
          <a:lstStyle/>
          <a:p>
            <a:endParaRPr lang="ru-RU" dirty="0"/>
          </a:p>
          <a:p>
            <a:r>
              <a:rPr lang="ru-RU" sz="1200" dirty="0"/>
              <a:t>Оболочка </a:t>
            </a:r>
            <a:r>
              <a:rPr lang="en-US" sz="1200" dirty="0"/>
              <a:t>Git Bash</a:t>
            </a:r>
            <a:endParaRPr lang="ru-RU" sz="1200" dirty="0"/>
          </a:p>
        </p:txBody>
      </p:sp>
    </p:spTree>
    <p:extLst>
      <p:ext uri="{BB962C8B-B14F-4D97-AF65-F5344CB8AC3E}">
        <p14:creationId xmlns:p14="http://schemas.microsoft.com/office/powerpoint/2010/main" val="4250564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Консоль для</a:t>
            </a:r>
            <a:r>
              <a:rPr lang="en-US" sz="4200" dirty="0"/>
              <a:t> Git</a:t>
            </a:r>
            <a:r>
              <a:rPr lang="ru-RU" sz="4200" dirty="0"/>
              <a:t> в</a:t>
            </a:r>
            <a:r>
              <a:rPr lang="en-US" sz="4200" dirty="0"/>
              <a:t> Windows</a:t>
            </a:r>
            <a:endParaRPr lang="ru-RU" sz="4200" dirty="0"/>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600" dirty="0"/>
              <a:t>При установке Git в систему автоматически ставится специальная оболочка командной строки Git Bash, которая поддерживает команды интерпретатора bash и умеет дополнять команды Git. В приветствии командной строки этой оболочки выводятся имя пользователя, имя компьютера (для Git Bash это MINGW64), путь к текущему каталогу и текущая ветка Git (основная ветка проекта обычно называется master).</a:t>
            </a:r>
          </a:p>
          <a:p>
            <a:pPr marL="0" indent="0">
              <a:buNone/>
            </a:pPr>
            <a:endParaRPr lang="ru-RU" sz="1600" dirty="0"/>
          </a:p>
          <a:p>
            <a:pPr marL="0" indent="0">
              <a:buNone/>
            </a:pPr>
            <a:r>
              <a:rPr lang="ru-RU" sz="1600" dirty="0"/>
              <a:t>Ярлык для запуска </a:t>
            </a:r>
            <a:r>
              <a:rPr lang="ru-RU" sz="1600" b="1" dirty="0"/>
              <a:t>Git Bash </a:t>
            </a:r>
            <a:r>
              <a:rPr lang="ru-RU" sz="1600" dirty="0"/>
              <a:t>находится в группе Git меню "Пуск" (после открытия оболочки текущим будет каталог с профилем пользователя).</a:t>
            </a:r>
          </a:p>
          <a:p>
            <a:pPr marL="0" indent="0">
              <a:buNone/>
            </a:pPr>
            <a:endParaRPr lang="ru-RU" sz="1600" dirty="0"/>
          </a:p>
          <a:p>
            <a:pPr marL="0" indent="0">
              <a:buNone/>
            </a:pPr>
            <a:r>
              <a:rPr lang="ru-RU" sz="1600" dirty="0"/>
              <a:t> </a:t>
            </a:r>
          </a:p>
          <a:p>
            <a:pPr marL="0" indent="0">
              <a:buNone/>
            </a:pPr>
            <a:endParaRPr lang="ru-RU" sz="1600" dirty="0"/>
          </a:p>
          <a:p>
            <a:pPr marL="0" indent="0">
              <a:buNone/>
            </a:pPr>
            <a:endParaRPr lang="ru-RU" sz="1600" dirty="0"/>
          </a:p>
          <a:p>
            <a:pPr marL="0" indent="0">
              <a:buNone/>
            </a:pPr>
            <a:endParaRPr lang="ru-RU" sz="1600" dirty="0"/>
          </a:p>
        </p:txBody>
      </p:sp>
      <p:pic>
        <p:nvPicPr>
          <p:cNvPr id="10" name="Picture 9">
            <a:extLst>
              <a:ext uri="{FF2B5EF4-FFF2-40B4-BE49-F238E27FC236}">
                <a16:creationId xmlns:a16="http://schemas.microsoft.com/office/drawing/2014/main" id="{E35351B8-8F25-44ED-9A24-1051A72A0327}"/>
              </a:ext>
            </a:extLst>
          </p:cNvPr>
          <p:cNvPicPr>
            <a:picLocks noChangeAspect="1"/>
          </p:cNvPicPr>
          <p:nvPr/>
        </p:nvPicPr>
        <p:blipFill>
          <a:blip r:embed="rId2"/>
          <a:stretch>
            <a:fillRect/>
          </a:stretch>
        </p:blipFill>
        <p:spPr>
          <a:xfrm>
            <a:off x="840419" y="3961743"/>
            <a:ext cx="4768408" cy="1849662"/>
          </a:xfrm>
          <a:prstGeom prst="rect">
            <a:avLst/>
          </a:prstGeom>
        </p:spPr>
      </p:pic>
      <p:pic>
        <p:nvPicPr>
          <p:cNvPr id="12" name="Picture 11">
            <a:extLst>
              <a:ext uri="{FF2B5EF4-FFF2-40B4-BE49-F238E27FC236}">
                <a16:creationId xmlns:a16="http://schemas.microsoft.com/office/drawing/2014/main" id="{10AE873F-5B7B-4E87-B66B-0B3AF3D6537E}"/>
              </a:ext>
            </a:extLst>
          </p:cNvPr>
          <p:cNvPicPr>
            <a:picLocks noChangeAspect="1"/>
          </p:cNvPicPr>
          <p:nvPr/>
        </p:nvPicPr>
        <p:blipFill>
          <a:blip r:embed="rId3"/>
          <a:stretch>
            <a:fillRect/>
          </a:stretch>
        </p:blipFill>
        <p:spPr>
          <a:xfrm>
            <a:off x="6506776" y="3138995"/>
            <a:ext cx="2838450" cy="3048000"/>
          </a:xfrm>
          <a:prstGeom prst="rect">
            <a:avLst/>
          </a:prstGeom>
        </p:spPr>
      </p:pic>
    </p:spTree>
    <p:extLst>
      <p:ext uri="{BB962C8B-B14F-4D97-AF65-F5344CB8AC3E}">
        <p14:creationId xmlns:p14="http://schemas.microsoft.com/office/powerpoint/2010/main" val="5475091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Начальная настройка</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600" dirty="0"/>
              <a:t>После установки на компьютере системы Git нужно настроить ее окружение. Делается это с помощью команды </a:t>
            </a:r>
            <a:r>
              <a:rPr lang="ru-RU" sz="1600" b="1" dirty="0"/>
              <a:t>git config</a:t>
            </a:r>
            <a:r>
              <a:rPr lang="ru-RU" sz="1600" dirty="0"/>
              <a:t>, позволяющей получать и устанавливать переменные конфигурации Git. Эти переменные бывают трех типов и хранятся в разных файлах. </a:t>
            </a:r>
          </a:p>
          <a:p>
            <a:pPr marL="0" indent="0">
              <a:buNone/>
            </a:pPr>
            <a:endParaRPr lang="ru-RU" sz="1600" dirty="0"/>
          </a:p>
          <a:p>
            <a:r>
              <a:rPr lang="ru-RU" sz="1600" b="1" dirty="0"/>
              <a:t>Системные переменные</a:t>
            </a:r>
            <a:r>
              <a:rPr lang="ru-RU" sz="1600" dirty="0"/>
              <a:t>, действующие для всех пользователей системы и всех их репозиториев. Хранятся эти переменные в файле /etc/gitconfig (в Windows в файле C:\Program Files\Git\etc\gitconfig), работать с ними позволяет ключ </a:t>
            </a:r>
            <a:r>
              <a:rPr lang="ru-RU" sz="1600" b="1" dirty="0"/>
              <a:t>–system </a:t>
            </a:r>
            <a:r>
              <a:rPr lang="ru-RU" sz="1600" dirty="0"/>
              <a:t>команды </a:t>
            </a:r>
            <a:r>
              <a:rPr lang="ru-RU" sz="1600" b="1" dirty="0"/>
              <a:t>git config</a:t>
            </a:r>
            <a:r>
              <a:rPr lang="ru-RU" sz="1600" dirty="0"/>
              <a:t>. </a:t>
            </a:r>
          </a:p>
          <a:p>
            <a:r>
              <a:rPr lang="ru-RU" sz="1600" b="1" dirty="0"/>
              <a:t>Глобальные переменные</a:t>
            </a:r>
            <a:r>
              <a:rPr lang="ru-RU" sz="1600" dirty="0"/>
              <a:t>, влияющие на все репозитории конкретного пользователя. Хранятся эти переменные в файле ~/.gitconfig (в Windows в файле C:\Users\&lt;USERNAME&gt;\.gitconfig), работать с ними позволяет ключ </a:t>
            </a:r>
            <a:r>
              <a:rPr lang="ru-RU" sz="1600" b="1" dirty="0"/>
              <a:t>--global </a:t>
            </a:r>
            <a:r>
              <a:rPr lang="ru-RU" sz="1600" dirty="0"/>
              <a:t>команды </a:t>
            </a:r>
            <a:r>
              <a:rPr lang="ru-RU" sz="1600" b="1" dirty="0"/>
              <a:t>git config</a:t>
            </a:r>
            <a:r>
              <a:rPr lang="ru-RU" sz="1600" dirty="0"/>
              <a:t>. </a:t>
            </a:r>
          </a:p>
          <a:p>
            <a:r>
              <a:rPr lang="ru-RU" sz="1600" b="1" dirty="0"/>
              <a:t>Локальные переменные, </a:t>
            </a:r>
            <a:r>
              <a:rPr lang="ru-RU" sz="1600" dirty="0"/>
              <a:t>хранящиеся в конкретном репозитории в файле &lt;project&gt;/.git/config и действующие только на этот репозиторий. Для работы с локальными переменными используется команда </a:t>
            </a:r>
            <a:r>
              <a:rPr lang="ru-RU" sz="1600" b="1" dirty="0"/>
              <a:t>git config </a:t>
            </a:r>
            <a:r>
              <a:rPr lang="ru-RU" sz="1600" dirty="0"/>
              <a:t>без дополнительных ключей. </a:t>
            </a:r>
          </a:p>
          <a:p>
            <a:pPr marL="0" indent="0">
              <a:buNone/>
            </a:pPr>
            <a:endParaRPr lang="ru-RU" sz="1600" dirty="0"/>
          </a:p>
          <a:p>
            <a:pPr marL="0" indent="0">
              <a:buNone/>
            </a:pPr>
            <a:r>
              <a:rPr lang="ru-RU" sz="1600" dirty="0"/>
              <a:t> </a:t>
            </a:r>
          </a:p>
          <a:p>
            <a:pPr marL="0" indent="0">
              <a:buNone/>
            </a:pPr>
            <a:endParaRPr lang="ru-RU" sz="1600" dirty="0"/>
          </a:p>
          <a:p>
            <a:pPr marL="0" indent="0">
              <a:buNone/>
            </a:pPr>
            <a:endParaRPr lang="ru-RU" sz="1600" dirty="0"/>
          </a:p>
          <a:p>
            <a:pPr marL="0" indent="0">
              <a:buNone/>
            </a:pPr>
            <a:endParaRPr lang="ru-RU" sz="1600" dirty="0"/>
          </a:p>
        </p:txBody>
      </p:sp>
    </p:spTree>
    <p:extLst>
      <p:ext uri="{BB962C8B-B14F-4D97-AF65-F5344CB8AC3E}">
        <p14:creationId xmlns:p14="http://schemas.microsoft.com/office/powerpoint/2010/main" val="38571660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Начальная настройка</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600" u="sng" dirty="0"/>
              <a:t>Установка имени и почтового адреса пользователя</a:t>
            </a:r>
            <a:r>
              <a:rPr lang="en-US" sz="1600" u="sng" dirty="0"/>
              <a:t>:</a:t>
            </a:r>
            <a:endParaRPr lang="ru-RU" sz="1600" u="sng" dirty="0"/>
          </a:p>
          <a:p>
            <a:pPr marL="0" indent="0">
              <a:buNone/>
            </a:pPr>
            <a:r>
              <a:rPr lang="ru-RU" sz="1600" dirty="0"/>
              <a:t>Первое, что нужно сделать после установки Git – указать свое имя и адрес электронной почты. Эту информацию Git будет включать во все создаваемые вами коммиты и именно по этим реквизитам устанавливается авторство изменений в общем репозитории. Имя и адрес электронной почты удобнее сохранить в глобальные переменные с помощью следующих команд: </a:t>
            </a:r>
          </a:p>
          <a:p>
            <a:pPr marL="0" indent="0">
              <a:buNone/>
            </a:pPr>
            <a:endParaRPr lang="en-US" sz="1600" dirty="0"/>
          </a:p>
          <a:p>
            <a:pPr marL="342900" indent="-342900">
              <a:buFont typeface="+mj-lt"/>
              <a:buAutoNum type="arabicPeriod"/>
            </a:pPr>
            <a:r>
              <a:rPr lang="ru-RU" sz="1600" dirty="0"/>
              <a:t>В меню пуск, найдите и запустите </a:t>
            </a:r>
            <a:r>
              <a:rPr lang="en-US" sz="1600" dirty="0"/>
              <a:t>Git Bash</a:t>
            </a:r>
            <a:endParaRPr lang="ru-RU" sz="1600" dirty="0"/>
          </a:p>
          <a:p>
            <a:pPr marL="342900" indent="-342900">
              <a:buFont typeface="+mj-lt"/>
              <a:buAutoNum type="arabicPeriod"/>
            </a:pPr>
            <a:r>
              <a:rPr lang="ru-RU" sz="1600" dirty="0">
                <a:solidFill>
                  <a:schemeClr val="tx1"/>
                </a:solidFill>
              </a:rPr>
              <a:t>Введите</a:t>
            </a:r>
            <a:r>
              <a:rPr lang="en-US" sz="1600" dirty="0">
                <a:solidFill>
                  <a:schemeClr val="tx1"/>
                </a:solidFill>
              </a:rPr>
              <a:t>: </a:t>
            </a:r>
            <a:r>
              <a:rPr lang="en-US" sz="1600" b="1" dirty="0"/>
              <a:t>git config --global user.name </a:t>
            </a:r>
            <a:r>
              <a:rPr lang="en-US" sz="1600" dirty="0"/>
              <a:t>"</a:t>
            </a:r>
            <a:r>
              <a:rPr lang="ru-RU" sz="1600" dirty="0"/>
              <a:t>Ваше Имя Фамилия</a:t>
            </a:r>
            <a:r>
              <a:rPr lang="en-US" sz="1600" dirty="0"/>
              <a:t>" </a:t>
            </a:r>
            <a:r>
              <a:rPr lang="en-US" sz="1600" dirty="0">
                <a:solidFill>
                  <a:schemeClr val="bg1">
                    <a:lumMod val="50000"/>
                  </a:schemeClr>
                </a:solidFill>
              </a:rPr>
              <a:t>#</a:t>
            </a:r>
            <a:r>
              <a:rPr lang="ru-RU" sz="1600" dirty="0">
                <a:solidFill>
                  <a:schemeClr val="bg1">
                    <a:lumMod val="50000"/>
                  </a:schemeClr>
                </a:solidFill>
              </a:rPr>
              <a:t> лучше написать на английском</a:t>
            </a:r>
            <a:endParaRPr lang="en-US" sz="1600" dirty="0">
              <a:solidFill>
                <a:schemeClr val="bg1">
                  <a:lumMod val="50000"/>
                </a:schemeClr>
              </a:solidFill>
            </a:endParaRPr>
          </a:p>
          <a:p>
            <a:pPr marL="342900" indent="-342900">
              <a:buFont typeface="+mj-lt"/>
              <a:buAutoNum type="arabicPeriod"/>
            </a:pPr>
            <a:r>
              <a:rPr lang="ru-RU" sz="1600" dirty="0">
                <a:solidFill>
                  <a:schemeClr val="tx1"/>
                </a:solidFill>
              </a:rPr>
              <a:t>Введите</a:t>
            </a:r>
            <a:r>
              <a:rPr lang="en-US" sz="1600" dirty="0">
                <a:solidFill>
                  <a:schemeClr val="tx1"/>
                </a:solidFill>
              </a:rPr>
              <a:t>: </a:t>
            </a:r>
            <a:r>
              <a:rPr lang="en-US" sz="1600" b="1" dirty="0"/>
              <a:t>git config --global user.email </a:t>
            </a:r>
            <a:r>
              <a:rPr lang="en-US" sz="1600" dirty="0"/>
              <a:t>"</a:t>
            </a:r>
            <a:r>
              <a:rPr lang="ru-RU" sz="1600" dirty="0"/>
              <a:t>Ваша почта</a:t>
            </a:r>
            <a:r>
              <a:rPr lang="en-US" sz="1600" dirty="0"/>
              <a:t>" </a:t>
            </a:r>
          </a:p>
          <a:p>
            <a:r>
              <a:rPr lang="ru-RU" sz="1600" dirty="0"/>
              <a:t>Посмотреть все установленные параметры Git можно с помощью ключа </a:t>
            </a:r>
            <a:r>
              <a:rPr lang="ru-RU" sz="1600" b="1" dirty="0"/>
              <a:t>--list</a:t>
            </a:r>
            <a:r>
              <a:rPr lang="ru-RU" sz="1600" dirty="0"/>
              <a:t>: </a:t>
            </a:r>
          </a:p>
          <a:p>
            <a:pPr lvl="1"/>
            <a:r>
              <a:rPr lang="en-US" sz="1600" b="1" dirty="0"/>
              <a:t>git config --list </a:t>
            </a:r>
            <a:r>
              <a:rPr lang="ru-RU" sz="1600" b="1" dirty="0"/>
              <a:t>	</a:t>
            </a:r>
            <a:r>
              <a:rPr lang="en-US" sz="1600" dirty="0">
                <a:solidFill>
                  <a:schemeClr val="bg1">
                    <a:lumMod val="50000"/>
                  </a:schemeClr>
                </a:solidFill>
              </a:rPr>
              <a:t>#</a:t>
            </a:r>
            <a:r>
              <a:rPr lang="ru-RU" sz="1600" dirty="0">
                <a:solidFill>
                  <a:schemeClr val="bg1">
                    <a:lumMod val="50000"/>
                  </a:schemeClr>
                </a:solidFill>
              </a:rPr>
              <a:t> можно проверить, что в списке отобразились данные из шага 2 и 3</a:t>
            </a:r>
            <a:endParaRPr lang="ru-RU" sz="1600" dirty="0"/>
          </a:p>
          <a:p>
            <a:endParaRPr lang="ru-RU" sz="1600" dirty="0"/>
          </a:p>
          <a:p>
            <a:pPr marL="0" indent="0">
              <a:buNone/>
            </a:pPr>
            <a:endParaRPr lang="ru-RU" sz="1600" dirty="0"/>
          </a:p>
        </p:txBody>
      </p:sp>
    </p:spTree>
    <p:extLst>
      <p:ext uri="{BB962C8B-B14F-4D97-AF65-F5344CB8AC3E}">
        <p14:creationId xmlns:p14="http://schemas.microsoft.com/office/powerpoint/2010/main" val="8792777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Создание репозитория</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600" dirty="0"/>
              <a:t>Давайте создадим свой первый репозиторий. Для этого, тажке, откроем консоль, создадим новую папку </a:t>
            </a:r>
            <a:r>
              <a:rPr lang="en-US" sz="1600" dirty="0"/>
              <a:t>lesson_4_git </a:t>
            </a:r>
            <a:r>
              <a:rPr lang="ru-RU" sz="1600" dirty="0"/>
              <a:t>, в которой будем работать в дальнейшем, и перейдем в нее.</a:t>
            </a:r>
          </a:p>
          <a:p>
            <a:pPr marL="0" indent="0">
              <a:buNone/>
            </a:pPr>
            <a:r>
              <a:rPr lang="ru-RU" sz="1600" u="sng" dirty="0"/>
              <a:t>Введите в консоли</a:t>
            </a:r>
            <a:r>
              <a:rPr lang="en-US" sz="1600" u="sng" dirty="0"/>
              <a:t> Git Bash:</a:t>
            </a:r>
            <a:r>
              <a:rPr lang="ru-RU" sz="1600" u="sng" dirty="0"/>
              <a:t> </a:t>
            </a:r>
          </a:p>
          <a:p>
            <a:pPr marL="342900" indent="-342900">
              <a:buFont typeface="+mj-lt"/>
              <a:buAutoNum type="arabicPeriod"/>
            </a:pPr>
            <a:r>
              <a:rPr lang="en-US" sz="1600" b="1" dirty="0"/>
              <a:t>mkdir </a:t>
            </a:r>
            <a:r>
              <a:rPr lang="en-US" sz="1600" dirty="0"/>
              <a:t>lesson_4_git</a:t>
            </a:r>
            <a:r>
              <a:rPr lang="en-US" sz="1600" b="1" dirty="0"/>
              <a:t> </a:t>
            </a:r>
            <a:r>
              <a:rPr lang="ru-RU" sz="1600" b="1" dirty="0"/>
              <a:t> </a:t>
            </a:r>
            <a:r>
              <a:rPr lang="en-US" sz="1600" b="1" dirty="0">
                <a:solidFill>
                  <a:schemeClr val="bg1">
                    <a:lumMod val="50000"/>
                  </a:schemeClr>
                </a:solidFill>
              </a:rPr>
              <a:t>#</a:t>
            </a:r>
            <a:r>
              <a:rPr lang="ru-RU" sz="1600" b="1" dirty="0">
                <a:solidFill>
                  <a:schemeClr val="bg1">
                    <a:lumMod val="50000"/>
                  </a:schemeClr>
                </a:solidFill>
              </a:rPr>
              <a:t> </a:t>
            </a:r>
            <a:r>
              <a:rPr lang="en-US" sz="1600" b="1" dirty="0">
                <a:solidFill>
                  <a:schemeClr val="bg1">
                    <a:lumMod val="50000"/>
                  </a:schemeClr>
                </a:solidFill>
              </a:rPr>
              <a:t>mkdir</a:t>
            </a:r>
            <a:r>
              <a:rPr lang="ru-RU" sz="1600" b="1" dirty="0">
                <a:solidFill>
                  <a:schemeClr val="bg1">
                    <a:lumMod val="50000"/>
                  </a:schemeClr>
                </a:solidFill>
              </a:rPr>
              <a:t> </a:t>
            </a:r>
            <a:r>
              <a:rPr lang="ru-RU" sz="1600" dirty="0">
                <a:solidFill>
                  <a:schemeClr val="bg1">
                    <a:lumMod val="50000"/>
                  </a:schemeClr>
                </a:solidFill>
              </a:rPr>
              <a:t>- создание новых директорий</a:t>
            </a:r>
            <a:r>
              <a:rPr lang="en-US" sz="1600" dirty="0">
                <a:solidFill>
                  <a:schemeClr val="bg1">
                    <a:lumMod val="50000"/>
                  </a:schemeClr>
                </a:solidFill>
              </a:rPr>
              <a:t>(</a:t>
            </a:r>
            <a:r>
              <a:rPr lang="ru-RU" sz="1600" dirty="0">
                <a:solidFill>
                  <a:schemeClr val="bg1">
                    <a:lumMod val="50000"/>
                  </a:schemeClr>
                </a:solidFill>
              </a:rPr>
              <a:t>создаём папку)</a:t>
            </a:r>
            <a:r>
              <a:rPr lang="en-US" sz="1600" dirty="0">
                <a:solidFill>
                  <a:schemeClr val="bg1">
                    <a:lumMod val="50000"/>
                  </a:schemeClr>
                </a:solidFill>
              </a:rPr>
              <a:t>,</a:t>
            </a:r>
            <a:r>
              <a:rPr lang="ru-RU" sz="1600" dirty="0">
                <a:solidFill>
                  <a:schemeClr val="bg1">
                    <a:lumMod val="50000"/>
                  </a:schemeClr>
                </a:solidFill>
              </a:rPr>
              <a:t> через пробел указывается имя папки</a:t>
            </a:r>
          </a:p>
          <a:p>
            <a:pPr marL="342900" indent="-342900">
              <a:buFont typeface="+mj-lt"/>
              <a:buAutoNum type="arabicPeriod"/>
            </a:pPr>
            <a:r>
              <a:rPr lang="en-US" sz="1600" b="1" dirty="0">
                <a:solidFill>
                  <a:schemeClr val="tx1"/>
                </a:solidFill>
              </a:rPr>
              <a:t>cd</a:t>
            </a:r>
            <a:r>
              <a:rPr lang="en-US" sz="1600" dirty="0">
                <a:solidFill>
                  <a:schemeClr val="tx1"/>
                </a:solidFill>
              </a:rPr>
              <a:t> lesson_4_git</a:t>
            </a:r>
            <a:r>
              <a:rPr lang="ru-RU" sz="1600" dirty="0">
                <a:solidFill>
                  <a:schemeClr val="tx1"/>
                </a:solidFill>
              </a:rPr>
              <a:t> 	      </a:t>
            </a:r>
            <a:r>
              <a:rPr lang="en-US" sz="1600" b="1" dirty="0">
                <a:solidFill>
                  <a:schemeClr val="bg1">
                    <a:lumMod val="50000"/>
                  </a:schemeClr>
                </a:solidFill>
              </a:rPr>
              <a:t>#</a:t>
            </a:r>
            <a:r>
              <a:rPr lang="ru-RU" sz="1600" b="1" dirty="0">
                <a:solidFill>
                  <a:schemeClr val="bg1">
                    <a:lumMod val="50000"/>
                  </a:schemeClr>
                </a:solidFill>
              </a:rPr>
              <a:t> </a:t>
            </a:r>
            <a:r>
              <a:rPr lang="en-US" sz="1600" b="1" dirty="0">
                <a:solidFill>
                  <a:schemeClr val="bg1">
                    <a:lumMod val="50000"/>
                  </a:schemeClr>
                </a:solidFill>
              </a:rPr>
              <a:t>cd</a:t>
            </a:r>
            <a:r>
              <a:rPr lang="ru-RU" sz="1600" b="1" dirty="0">
                <a:solidFill>
                  <a:schemeClr val="bg1">
                    <a:lumMod val="50000"/>
                  </a:schemeClr>
                </a:solidFill>
              </a:rPr>
              <a:t> </a:t>
            </a:r>
            <a:r>
              <a:rPr lang="ru-RU" sz="1600" dirty="0">
                <a:solidFill>
                  <a:schemeClr val="bg1">
                    <a:lumMod val="50000"/>
                  </a:schemeClr>
                </a:solidFill>
              </a:rPr>
              <a:t>- смена текущей директории, через пробел указывается новая директория для перехода</a:t>
            </a:r>
            <a:endParaRPr lang="en-US" sz="1600" dirty="0">
              <a:solidFill>
                <a:schemeClr val="tx1"/>
              </a:solidFill>
            </a:endParaRPr>
          </a:p>
          <a:p>
            <a:pPr marL="342900" indent="-342900">
              <a:buFont typeface="+mj-lt"/>
              <a:buAutoNum type="arabicPeriod"/>
            </a:pPr>
            <a:r>
              <a:rPr lang="en-US" sz="1600" b="1" dirty="0"/>
              <a:t>git init </a:t>
            </a:r>
            <a:r>
              <a:rPr lang="ru-RU" sz="1600" b="1" dirty="0"/>
              <a:t>	</a:t>
            </a:r>
            <a:r>
              <a:rPr lang="en-US" sz="1600" dirty="0">
                <a:solidFill>
                  <a:schemeClr val="bg1">
                    <a:lumMod val="50000"/>
                  </a:schemeClr>
                </a:solidFill>
              </a:rPr>
              <a:t># </a:t>
            </a:r>
            <a:r>
              <a:rPr lang="ru-RU" sz="1600" dirty="0">
                <a:solidFill>
                  <a:schemeClr val="bg1">
                    <a:lumMod val="50000"/>
                  </a:schemeClr>
                </a:solidFill>
              </a:rPr>
              <a:t>инициализация системы </a:t>
            </a:r>
            <a:r>
              <a:rPr lang="en-US" sz="1600" dirty="0">
                <a:solidFill>
                  <a:schemeClr val="bg1">
                    <a:lumMod val="50000"/>
                  </a:schemeClr>
                </a:solidFill>
              </a:rPr>
              <a:t>Git</a:t>
            </a:r>
            <a:r>
              <a:rPr lang="ru-RU" sz="1600" dirty="0">
                <a:solidFill>
                  <a:schemeClr val="bg1">
                    <a:lumMod val="50000"/>
                  </a:schemeClr>
                </a:solidFill>
              </a:rPr>
              <a:t> для текущей папки и созданение нового пустого репозитория</a:t>
            </a:r>
            <a:endParaRPr lang="ru-RU" sz="1600" b="1" dirty="0">
              <a:solidFill>
                <a:schemeClr val="bg1">
                  <a:lumMod val="50000"/>
                </a:schemeClr>
              </a:solidFill>
            </a:endParaRPr>
          </a:p>
          <a:p>
            <a:pPr marL="0" indent="0">
              <a:buNone/>
            </a:pPr>
            <a:endParaRPr lang="ru-RU" sz="1600" dirty="0"/>
          </a:p>
          <a:p>
            <a:pPr marL="0" indent="0">
              <a:buNone/>
            </a:pPr>
            <a:r>
              <a:rPr lang="ru-RU" sz="1600" dirty="0"/>
              <a:t>В результате увидим ннициализирован пустой репозиторий </a:t>
            </a:r>
            <a:r>
              <a:rPr lang="en-US" sz="1600" dirty="0"/>
              <a:t>Git </a:t>
            </a:r>
            <a:r>
              <a:rPr lang="ru-RU" sz="1600" dirty="0"/>
              <a:t>в /</a:t>
            </a:r>
            <a:r>
              <a:rPr lang="en-US" sz="1600" dirty="0"/>
              <a:t>Users/</a:t>
            </a:r>
            <a:r>
              <a:rPr lang="ru-RU" sz="1600" dirty="0"/>
              <a:t>имя пользователя</a:t>
            </a:r>
            <a:r>
              <a:rPr lang="en-US" sz="1600" dirty="0"/>
              <a:t>/</a:t>
            </a:r>
            <a:r>
              <a:rPr lang="fr-FR" sz="1600" dirty="0"/>
              <a:t>lesson_4</a:t>
            </a:r>
            <a:r>
              <a:rPr lang="ru-RU" sz="1600" dirty="0"/>
              <a:t>_</a:t>
            </a:r>
            <a:r>
              <a:rPr lang="en-US" sz="1600" dirty="0"/>
              <a:t>git</a:t>
            </a:r>
            <a:r>
              <a:rPr lang="fr-FR" sz="1600" dirty="0"/>
              <a:t>/.git/</a:t>
            </a:r>
            <a:endParaRPr lang="ru-RU" dirty="0"/>
          </a:p>
          <a:p>
            <a:pPr marL="0" indent="0">
              <a:buNone/>
            </a:pPr>
            <a:r>
              <a:rPr lang="ru-RU" sz="1600" dirty="0"/>
              <a:t>В текущей папке будет создан каталог </a:t>
            </a:r>
            <a:r>
              <a:rPr lang="ru-RU" sz="1600" b="1" dirty="0"/>
              <a:t>.git</a:t>
            </a:r>
            <a:r>
              <a:rPr lang="ru-RU" sz="1600" dirty="0"/>
              <a:t>, в котором будут находиться все необходимые для Git файлы. </a:t>
            </a:r>
          </a:p>
          <a:p>
            <a:pPr marL="0" indent="0">
              <a:buNone/>
            </a:pPr>
            <a:endParaRPr lang="ru-RU" sz="1600" dirty="0"/>
          </a:p>
          <a:p>
            <a:pPr marL="0" indent="0">
              <a:buNone/>
            </a:pPr>
            <a:r>
              <a:rPr lang="ru-RU" sz="1600" u="sng" dirty="0"/>
              <a:t>Несколько советов</a:t>
            </a:r>
            <a:r>
              <a:rPr lang="en-US" sz="1600" u="sng" dirty="0"/>
              <a:t>:</a:t>
            </a:r>
          </a:p>
          <a:p>
            <a:r>
              <a:rPr lang="ru-RU" sz="1600" dirty="0"/>
              <a:t>Для очистки содержимого в консоли можно ввести команду</a:t>
            </a:r>
            <a:r>
              <a:rPr lang="en-US" sz="1600" dirty="0"/>
              <a:t> </a:t>
            </a:r>
            <a:r>
              <a:rPr lang="en-US" sz="1600" b="1" dirty="0"/>
              <a:t>clear</a:t>
            </a:r>
            <a:endParaRPr lang="ru-RU" sz="1600" b="1" dirty="0"/>
          </a:p>
          <a:p>
            <a:r>
              <a:rPr lang="ru-RU" sz="1600" dirty="0"/>
              <a:t>Чтобы быстро повторить предыдущую команду, можно нажать на клавиаутре </a:t>
            </a:r>
            <a:r>
              <a:rPr lang="en-US" sz="1600" dirty="0"/>
              <a:t>"↑"</a:t>
            </a:r>
            <a:endParaRPr lang="ru-RU" sz="1600" dirty="0"/>
          </a:p>
          <a:p>
            <a:r>
              <a:rPr lang="ru-RU" sz="1600" dirty="0"/>
              <a:t>Для получения списка всех команд, можно ввести</a:t>
            </a:r>
            <a:r>
              <a:rPr lang="en-US" sz="1600" dirty="0"/>
              <a:t> </a:t>
            </a:r>
            <a:r>
              <a:rPr lang="en-US" sz="1600" b="1" dirty="0"/>
              <a:t>git --help</a:t>
            </a:r>
            <a:endParaRPr lang="ru-RU" sz="1600" dirty="0">
              <a:solidFill>
                <a:schemeClr val="bg1">
                  <a:lumMod val="50000"/>
                </a:schemeClr>
              </a:solidFill>
            </a:endParaRPr>
          </a:p>
          <a:p>
            <a:pPr marL="0" indent="0">
              <a:buNone/>
            </a:pPr>
            <a:endParaRPr lang="ru-RU" sz="1600" dirty="0"/>
          </a:p>
          <a:p>
            <a:pPr marL="0" indent="0">
              <a:buNone/>
            </a:pPr>
            <a:endParaRPr lang="ru-RU" sz="1600" dirty="0"/>
          </a:p>
        </p:txBody>
      </p:sp>
    </p:spTree>
    <p:extLst>
      <p:ext uri="{BB962C8B-B14F-4D97-AF65-F5344CB8AC3E}">
        <p14:creationId xmlns:p14="http://schemas.microsoft.com/office/powerpoint/2010/main" val="38388536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Добавление файлов в индекс</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300" b="1" dirty="0"/>
              <a:t>Создадим в папке git-example файл </a:t>
            </a:r>
            <a:r>
              <a:rPr lang="en-US" sz="1300" b="1" dirty="0"/>
              <a:t>"</a:t>
            </a:r>
            <a:r>
              <a:rPr lang="ru-RU" sz="1300" b="1" dirty="0"/>
              <a:t>index.html</a:t>
            </a:r>
            <a:r>
              <a:rPr lang="en-US" sz="1300" b="1" dirty="0"/>
              <a:t>"</a:t>
            </a:r>
            <a:r>
              <a:rPr lang="ru-RU" sz="1300" b="1" dirty="0"/>
              <a:t> со следующим содержимым:</a:t>
            </a:r>
          </a:p>
          <a:p>
            <a:pPr marL="0" indent="0">
              <a:buNone/>
            </a:pPr>
            <a:r>
              <a:rPr lang="ru-RU" sz="1300" dirty="0"/>
              <a:t>&lt;h1&gt;</a:t>
            </a:r>
            <a:r>
              <a:rPr lang="en-US" sz="1300" dirty="0"/>
              <a:t>Hello Git</a:t>
            </a:r>
            <a:r>
              <a:rPr lang="ru-RU" sz="1300" dirty="0"/>
              <a:t>&lt;/h1&gt;</a:t>
            </a:r>
          </a:p>
          <a:p>
            <a:pPr marL="0" indent="0">
              <a:buNone/>
            </a:pPr>
            <a:r>
              <a:rPr lang="ru-RU" sz="1300" u="sng" dirty="0"/>
              <a:t>Для этого,</a:t>
            </a:r>
            <a:r>
              <a:rPr lang="en-US" sz="1300" u="sng" dirty="0"/>
              <a:t> </a:t>
            </a:r>
            <a:r>
              <a:rPr lang="ru-RU" sz="1300" u="sng" dirty="0"/>
              <a:t>находясь в директории репозитория, введём в консоли</a:t>
            </a:r>
            <a:r>
              <a:rPr lang="en-US" sz="1300" u="sng" dirty="0"/>
              <a:t>:</a:t>
            </a:r>
            <a:endParaRPr lang="ru-RU" sz="1300" u="sng" dirty="0"/>
          </a:p>
          <a:p>
            <a:pPr marL="342900" indent="-342900">
              <a:buFont typeface="+mj-lt"/>
              <a:buAutoNum type="arabicPeriod"/>
            </a:pPr>
            <a:r>
              <a:rPr lang="en-US" sz="1300" b="1" dirty="0"/>
              <a:t>touch index.html</a:t>
            </a:r>
            <a:r>
              <a:rPr lang="ru-RU" sz="1300" b="1" dirty="0"/>
              <a:t>      </a:t>
            </a:r>
            <a:r>
              <a:rPr lang="en-US" sz="1300" dirty="0">
                <a:solidFill>
                  <a:schemeClr val="bg1">
                    <a:lumMod val="50000"/>
                  </a:schemeClr>
                </a:solidFill>
              </a:rPr>
              <a:t>#</a:t>
            </a:r>
            <a:r>
              <a:rPr lang="ru-RU" sz="1300" dirty="0">
                <a:solidFill>
                  <a:schemeClr val="bg1">
                    <a:lumMod val="50000"/>
                  </a:schemeClr>
                </a:solidFill>
              </a:rPr>
              <a:t> создаём новый файл </a:t>
            </a:r>
            <a:r>
              <a:rPr lang="en-US" sz="1300" dirty="0">
                <a:solidFill>
                  <a:schemeClr val="bg1">
                    <a:lumMod val="50000"/>
                  </a:schemeClr>
                </a:solidFill>
              </a:rPr>
              <a:t>index.html</a:t>
            </a:r>
          </a:p>
          <a:p>
            <a:pPr marL="342900" indent="-342900">
              <a:buFont typeface="+mj-lt"/>
              <a:buAutoNum type="arabicPeriod"/>
            </a:pPr>
            <a:r>
              <a:rPr lang="en-US" sz="1300" b="1" dirty="0"/>
              <a:t>notepad index.html  </a:t>
            </a:r>
            <a:r>
              <a:rPr lang="en-US" sz="1300" b="1" dirty="0">
                <a:solidFill>
                  <a:schemeClr val="bg1">
                    <a:lumMod val="50000"/>
                  </a:schemeClr>
                </a:solidFill>
              </a:rPr>
              <a:t>#</a:t>
            </a:r>
            <a:r>
              <a:rPr lang="ru-RU" sz="1300" b="1" dirty="0">
                <a:solidFill>
                  <a:schemeClr val="bg1">
                    <a:lumMod val="50000"/>
                  </a:schemeClr>
                </a:solidFill>
              </a:rPr>
              <a:t> </a:t>
            </a:r>
            <a:r>
              <a:rPr lang="ru-RU" sz="1300" dirty="0">
                <a:solidFill>
                  <a:schemeClr val="bg1">
                    <a:lumMod val="50000"/>
                  </a:schemeClr>
                </a:solidFill>
              </a:rPr>
              <a:t>открываем файл в блокноте</a:t>
            </a:r>
            <a:r>
              <a:rPr lang="ru-RU" sz="1300" b="1" dirty="0">
                <a:solidFill>
                  <a:schemeClr val="bg1">
                    <a:lumMod val="50000"/>
                  </a:schemeClr>
                </a:solidFill>
              </a:rPr>
              <a:t> </a:t>
            </a:r>
            <a:r>
              <a:rPr lang="ru-RU" sz="1300" dirty="0">
                <a:solidFill>
                  <a:schemeClr val="bg1">
                    <a:lumMod val="50000"/>
                  </a:schemeClr>
                </a:solidFill>
              </a:rPr>
              <a:t>(для </a:t>
            </a:r>
            <a:r>
              <a:rPr lang="en-US" sz="1300" dirty="0">
                <a:solidFill>
                  <a:schemeClr val="bg1">
                    <a:lumMod val="50000"/>
                  </a:schemeClr>
                </a:solidFill>
              </a:rPr>
              <a:t>mac/linux</a:t>
            </a:r>
            <a:r>
              <a:rPr lang="ru-RU" sz="1300" dirty="0">
                <a:solidFill>
                  <a:schemeClr val="bg1">
                    <a:lumMod val="50000"/>
                  </a:schemeClr>
                </a:solidFill>
              </a:rPr>
              <a:t> можно использовать</a:t>
            </a:r>
            <a:r>
              <a:rPr lang="en-US" sz="1300" dirty="0">
                <a:solidFill>
                  <a:schemeClr val="bg1">
                    <a:lumMod val="50000"/>
                  </a:schemeClr>
                </a:solidFill>
              </a:rPr>
              <a:t> vi index.html</a:t>
            </a:r>
            <a:r>
              <a:rPr lang="ru-RU" sz="1300" dirty="0">
                <a:solidFill>
                  <a:schemeClr val="bg1">
                    <a:lumMod val="50000"/>
                  </a:schemeClr>
                </a:solidFill>
              </a:rPr>
              <a:t>)</a:t>
            </a:r>
            <a:endParaRPr lang="ru-RU" sz="1300" b="1" dirty="0">
              <a:solidFill>
                <a:schemeClr val="bg1">
                  <a:lumMod val="50000"/>
                </a:schemeClr>
              </a:solidFill>
            </a:endParaRPr>
          </a:p>
          <a:p>
            <a:pPr marL="342900" indent="-342900">
              <a:buFont typeface="+mj-lt"/>
              <a:buAutoNum type="arabicPeriod"/>
            </a:pPr>
            <a:r>
              <a:rPr lang="ru-RU" sz="1300" dirty="0"/>
              <a:t>В блокноте введём </a:t>
            </a:r>
            <a:r>
              <a:rPr lang="en-US" sz="1300" dirty="0"/>
              <a:t>"</a:t>
            </a:r>
            <a:r>
              <a:rPr lang="ru-RU" sz="1300" dirty="0"/>
              <a:t>&lt;h1&gt;</a:t>
            </a:r>
            <a:r>
              <a:rPr lang="en-US" sz="1300" dirty="0"/>
              <a:t>Hello Git</a:t>
            </a:r>
            <a:r>
              <a:rPr lang="ru-RU" sz="1300" dirty="0"/>
              <a:t>&lt;/h1&gt;</a:t>
            </a:r>
            <a:r>
              <a:rPr lang="en-US" sz="1300" dirty="0"/>
              <a:t>"</a:t>
            </a:r>
            <a:r>
              <a:rPr lang="ru-RU" sz="1300" dirty="0"/>
              <a:t>. После чего сохраним и закроем блокнот</a:t>
            </a:r>
            <a:endParaRPr lang="en-US" sz="1300" dirty="0"/>
          </a:p>
          <a:p>
            <a:pPr marL="0" indent="0">
              <a:buNone/>
            </a:pPr>
            <a:r>
              <a:rPr lang="ru-RU" sz="1300" u="sng" dirty="0"/>
              <a:t>Посмотрим статус файлов нашего проекта с помощью команды </a:t>
            </a:r>
            <a:r>
              <a:rPr lang="ru-RU" sz="1300" b="1" u="sng" dirty="0"/>
              <a:t>git status</a:t>
            </a:r>
            <a:endParaRPr lang="en-US" sz="1300" u="sng" dirty="0"/>
          </a:p>
          <a:p>
            <a:pPr marL="342900" indent="-342900">
              <a:buFont typeface="+mj-lt"/>
              <a:buAutoNum type="arabicPeriod" startAt="4"/>
            </a:pPr>
            <a:r>
              <a:rPr lang="ru-RU" sz="1300" b="1" dirty="0"/>
              <a:t>git status</a:t>
            </a:r>
          </a:p>
          <a:p>
            <a:pPr marL="0" indent="0">
              <a:buNone/>
            </a:pPr>
            <a:endParaRPr lang="ru-RU" sz="1300" dirty="0"/>
          </a:p>
          <a:p>
            <a:pPr marL="0" indent="0">
              <a:buNone/>
            </a:pPr>
            <a:endParaRPr lang="ru-RU" sz="1300" dirty="0"/>
          </a:p>
          <a:p>
            <a:pPr marL="0" indent="0">
              <a:buNone/>
            </a:pPr>
            <a:r>
              <a:rPr lang="ru-RU" sz="1300" dirty="0"/>
              <a:t>									  </a:t>
            </a:r>
          </a:p>
          <a:p>
            <a:pPr marL="0" indent="0">
              <a:buNone/>
            </a:pPr>
            <a:r>
              <a:rPr lang="ru-RU" sz="1300" dirty="0"/>
              <a:t>									</a:t>
            </a:r>
          </a:p>
          <a:p>
            <a:pPr marL="0" indent="0">
              <a:buNone/>
            </a:pPr>
            <a:endParaRPr lang="ru-RU" sz="1300" dirty="0"/>
          </a:p>
          <a:p>
            <a:pPr marL="0" indent="0">
              <a:buNone/>
            </a:pPr>
            <a:endParaRPr lang="ru-RU" sz="1300" dirty="0"/>
          </a:p>
          <a:p>
            <a:pPr marL="0" indent="0">
              <a:buNone/>
            </a:pPr>
            <a:r>
              <a:rPr lang="ru-RU" sz="1300" dirty="0"/>
              <a:t>Мы видим, что у нас пока нет файлов для фиксации состояния проекта (</a:t>
            </a:r>
            <a:r>
              <a:rPr lang="ru-RU" sz="1300" b="1" dirty="0"/>
              <a:t>коммита</a:t>
            </a:r>
            <a:r>
              <a:rPr lang="ru-RU" sz="1300" dirty="0"/>
              <a:t>), а за изменениями в файле </a:t>
            </a:r>
            <a:r>
              <a:rPr lang="ru-RU" sz="1300" b="1" dirty="0"/>
              <a:t>index.html </a:t>
            </a:r>
            <a:r>
              <a:rPr lang="ru-RU" sz="1300" dirty="0"/>
              <a:t>Git не следит. Нужно явно указать, за какими файлами Git должен наблюдать – для этого используется команда </a:t>
            </a:r>
            <a:r>
              <a:rPr lang="ru-RU" sz="1300" b="1" dirty="0"/>
              <a:t>git add</a:t>
            </a:r>
            <a:endParaRPr lang="ru-RU" sz="1600" dirty="0"/>
          </a:p>
        </p:txBody>
      </p:sp>
      <p:pic>
        <p:nvPicPr>
          <p:cNvPr id="5" name="Picture 4">
            <a:extLst>
              <a:ext uri="{FF2B5EF4-FFF2-40B4-BE49-F238E27FC236}">
                <a16:creationId xmlns:a16="http://schemas.microsoft.com/office/drawing/2014/main" id="{ACF916D9-5F83-4FA5-B583-D08CA8CB7E6A}"/>
              </a:ext>
            </a:extLst>
          </p:cNvPr>
          <p:cNvPicPr>
            <a:picLocks noChangeAspect="1"/>
          </p:cNvPicPr>
          <p:nvPr/>
        </p:nvPicPr>
        <p:blipFill>
          <a:blip r:embed="rId2"/>
          <a:stretch>
            <a:fillRect/>
          </a:stretch>
        </p:blipFill>
        <p:spPr>
          <a:xfrm>
            <a:off x="840419" y="3720164"/>
            <a:ext cx="4087788" cy="1846306"/>
          </a:xfrm>
          <a:prstGeom prst="rect">
            <a:avLst/>
          </a:prstGeom>
        </p:spPr>
      </p:pic>
      <p:sp>
        <p:nvSpPr>
          <p:cNvPr id="6" name="TextBox 5">
            <a:extLst>
              <a:ext uri="{FF2B5EF4-FFF2-40B4-BE49-F238E27FC236}">
                <a16:creationId xmlns:a16="http://schemas.microsoft.com/office/drawing/2014/main" id="{5B7A2F79-7E7B-4C58-9C29-83ED76161293}"/>
              </a:ext>
            </a:extLst>
          </p:cNvPr>
          <p:cNvSpPr txBox="1"/>
          <p:nvPr/>
        </p:nvSpPr>
        <p:spPr>
          <a:xfrm>
            <a:off x="5129432" y="3766028"/>
            <a:ext cx="6019059" cy="1661993"/>
          </a:xfrm>
          <a:prstGeom prst="rect">
            <a:avLst/>
          </a:prstGeom>
          <a:noFill/>
        </p:spPr>
        <p:txBody>
          <a:bodyPr wrap="square" rtlCol="0">
            <a:spAutoFit/>
          </a:bodyPr>
          <a:lstStyle/>
          <a:p>
            <a:r>
              <a:rPr lang="en-US" sz="1000" dirty="0">
                <a:solidFill>
                  <a:schemeClr val="bg1">
                    <a:lumMod val="50000"/>
                  </a:schemeClr>
                </a:solidFill>
              </a:rPr>
              <a:t>$ </a:t>
            </a:r>
            <a:r>
              <a:rPr lang="ru-RU" sz="1000" dirty="0">
                <a:solidFill>
                  <a:schemeClr val="bg1">
                    <a:lumMod val="50000"/>
                  </a:schemeClr>
                </a:solidFill>
              </a:rPr>
              <a:t>git status</a:t>
            </a:r>
            <a:endParaRPr lang="en-US" sz="1000" dirty="0">
              <a:solidFill>
                <a:schemeClr val="bg1">
                  <a:lumMod val="50000"/>
                </a:schemeClr>
              </a:solidFill>
            </a:endParaRPr>
          </a:p>
          <a:p>
            <a:r>
              <a:rPr lang="ru-RU" sz="1000" dirty="0">
                <a:solidFill>
                  <a:schemeClr val="bg1">
                    <a:lumMod val="50000"/>
                  </a:schemeClr>
                </a:solidFill>
              </a:rPr>
              <a:t>На ветке master</a:t>
            </a:r>
            <a:endParaRPr lang="en-US" sz="1000" dirty="0">
              <a:solidFill>
                <a:schemeClr val="bg1">
                  <a:lumMod val="50000"/>
                </a:schemeClr>
              </a:solidFill>
            </a:endParaRPr>
          </a:p>
          <a:p>
            <a:br>
              <a:rPr lang="ru-RU" sz="1200" dirty="0">
                <a:solidFill>
                  <a:schemeClr val="bg1">
                    <a:lumMod val="50000"/>
                  </a:schemeClr>
                </a:solidFill>
              </a:rPr>
            </a:br>
            <a:r>
              <a:rPr lang="ru-RU" sz="1000" dirty="0">
                <a:solidFill>
                  <a:schemeClr val="bg1">
                    <a:lumMod val="50000"/>
                  </a:schemeClr>
                </a:solidFill>
              </a:rPr>
              <a:t>Пока нет коммитов</a:t>
            </a:r>
            <a:endParaRPr lang="en-US" sz="1000" dirty="0">
              <a:solidFill>
                <a:schemeClr val="bg1">
                  <a:lumMod val="50000"/>
                </a:schemeClr>
              </a:solidFill>
            </a:endParaRPr>
          </a:p>
          <a:p>
            <a:endParaRPr lang="en-US" sz="1000" dirty="0">
              <a:solidFill>
                <a:schemeClr val="bg1">
                  <a:lumMod val="50000"/>
                </a:schemeClr>
              </a:solidFill>
            </a:endParaRPr>
          </a:p>
          <a:p>
            <a:r>
              <a:rPr lang="ru-RU" sz="1000" dirty="0">
                <a:solidFill>
                  <a:schemeClr val="bg1">
                    <a:lumMod val="50000"/>
                  </a:schemeClr>
                </a:solidFill>
              </a:rPr>
              <a:t>Неотслеживаемые файлы: </a:t>
            </a:r>
            <a:endParaRPr lang="en-US" sz="1000" dirty="0">
              <a:solidFill>
                <a:schemeClr val="bg1">
                  <a:lumMod val="50000"/>
                </a:schemeClr>
              </a:solidFill>
            </a:endParaRPr>
          </a:p>
          <a:p>
            <a:r>
              <a:rPr lang="en-US" sz="1000" dirty="0">
                <a:solidFill>
                  <a:schemeClr val="bg1">
                    <a:lumMod val="50000"/>
                  </a:schemeClr>
                </a:solidFill>
              </a:rPr>
              <a:t>	</a:t>
            </a:r>
            <a:r>
              <a:rPr lang="ru-RU" sz="1000" dirty="0">
                <a:solidFill>
                  <a:schemeClr val="bg1">
                    <a:lumMod val="50000"/>
                  </a:schemeClr>
                </a:solidFill>
              </a:rPr>
              <a:t>(используйте «git add &lt;файл&gt;…», чтобы добавить в то, что будет включено в коммит) </a:t>
            </a:r>
            <a:endParaRPr lang="en-US" sz="1000" dirty="0">
              <a:solidFill>
                <a:schemeClr val="bg1">
                  <a:lumMod val="50000"/>
                </a:schemeClr>
              </a:solidFill>
            </a:endParaRPr>
          </a:p>
          <a:p>
            <a:r>
              <a:rPr lang="en-US" sz="1000" dirty="0">
                <a:solidFill>
                  <a:schemeClr val="bg1">
                    <a:lumMod val="50000"/>
                  </a:schemeClr>
                </a:solidFill>
              </a:rPr>
              <a:t>			</a:t>
            </a:r>
            <a:r>
              <a:rPr lang="ru-RU" sz="1000" dirty="0">
                <a:solidFill>
                  <a:schemeClr val="bg1">
                    <a:lumMod val="50000"/>
                  </a:schemeClr>
                </a:solidFill>
              </a:rPr>
              <a:t>index.html</a:t>
            </a:r>
            <a:endParaRPr lang="en-US" sz="1000" dirty="0">
              <a:solidFill>
                <a:schemeClr val="bg1">
                  <a:lumMod val="50000"/>
                </a:schemeClr>
              </a:solidFill>
            </a:endParaRPr>
          </a:p>
          <a:p>
            <a:endParaRPr lang="en-US" sz="1000" dirty="0">
              <a:solidFill>
                <a:schemeClr val="bg1">
                  <a:lumMod val="50000"/>
                </a:schemeClr>
              </a:solidFill>
            </a:endParaRPr>
          </a:p>
          <a:p>
            <a:r>
              <a:rPr lang="ru-RU" sz="1000" dirty="0">
                <a:solidFill>
                  <a:schemeClr val="bg1">
                    <a:lumMod val="50000"/>
                  </a:schemeClr>
                </a:solidFill>
              </a:rPr>
              <a:t>ничего не добавлено в коммит, но есть неотслеживаемые файлы (используйте «git add», чтобы отслеживать их)</a:t>
            </a:r>
          </a:p>
        </p:txBody>
      </p:sp>
    </p:spTree>
    <p:extLst>
      <p:ext uri="{BB962C8B-B14F-4D97-AF65-F5344CB8AC3E}">
        <p14:creationId xmlns:p14="http://schemas.microsoft.com/office/powerpoint/2010/main" val="10533851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Добавление файлов в индекс</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600" u="sng" dirty="0"/>
              <a:t>Добавим файл для отслеживания</a:t>
            </a:r>
            <a:r>
              <a:rPr lang="en-US" sz="1600" u="sng" dirty="0"/>
              <a:t>:</a:t>
            </a:r>
            <a:endParaRPr lang="ru-RU" sz="1600" u="sng" dirty="0"/>
          </a:p>
          <a:p>
            <a:pPr marL="0" indent="0">
              <a:buNone/>
            </a:pPr>
            <a:r>
              <a:rPr lang="ru-RU" sz="1600" b="1" dirty="0"/>
              <a:t>git add index.html </a:t>
            </a:r>
          </a:p>
          <a:p>
            <a:pPr marL="0" indent="0">
              <a:buNone/>
            </a:pPr>
            <a:r>
              <a:rPr lang="ru-RU" sz="1600" u="sng" dirty="0"/>
              <a:t>Снова проверим статус:</a:t>
            </a:r>
          </a:p>
          <a:p>
            <a:pPr marL="0" indent="0">
              <a:buNone/>
            </a:pPr>
            <a:r>
              <a:rPr lang="ru-RU" sz="1600" b="1" dirty="0"/>
              <a:t>git status</a:t>
            </a:r>
          </a:p>
          <a:p>
            <a:pPr marL="0" indent="0">
              <a:buNone/>
            </a:pPr>
            <a:endParaRPr lang="en-US" sz="1600" dirty="0"/>
          </a:p>
          <a:p>
            <a:pPr marL="0" indent="0">
              <a:buNone/>
            </a:pPr>
            <a:endParaRPr lang="en-US" sz="1600" dirty="0"/>
          </a:p>
          <a:p>
            <a:pPr marL="0" indent="0">
              <a:buNone/>
            </a:pPr>
            <a:endParaRPr lang="ru-RU" sz="1600" dirty="0"/>
          </a:p>
          <a:p>
            <a:pPr marL="0" indent="0">
              <a:buNone/>
            </a:pPr>
            <a:endParaRPr lang="ru-RU" sz="1600" dirty="0"/>
          </a:p>
          <a:p>
            <a:pPr marL="0" indent="0">
              <a:buNone/>
            </a:pPr>
            <a:endParaRPr lang="en-US" sz="1600" dirty="0"/>
          </a:p>
          <a:p>
            <a:pPr marL="0" indent="0">
              <a:buNone/>
            </a:pPr>
            <a:endParaRPr lang="en-US" sz="1600" dirty="0"/>
          </a:p>
          <a:p>
            <a:pPr marL="0" indent="0">
              <a:buNone/>
            </a:pPr>
            <a:r>
              <a:rPr lang="ru-RU" sz="1600" dirty="0"/>
              <a:t>Теперь в нашем проекте есть новый файл </a:t>
            </a:r>
            <a:r>
              <a:rPr lang="ru-RU" sz="1600" b="1" dirty="0"/>
              <a:t>index.html</a:t>
            </a:r>
            <a:r>
              <a:rPr lang="ru-RU" sz="1600" dirty="0"/>
              <a:t>, который попадёт в репозиторий Git при следующем коммите.</a:t>
            </a:r>
            <a:endParaRPr lang="en-US" sz="1600" dirty="0"/>
          </a:p>
          <a:p>
            <a:pPr marL="0" indent="0">
              <a:buNone/>
            </a:pPr>
            <a:endParaRPr lang="ru-RU" sz="1600" b="1" dirty="0"/>
          </a:p>
          <a:p>
            <a:pPr marL="0" indent="0">
              <a:buNone/>
            </a:pPr>
            <a:r>
              <a:rPr lang="ru-RU" sz="1600" b="1" dirty="0"/>
              <a:t>Важно</a:t>
            </a:r>
            <a:r>
              <a:rPr lang="en-US" sz="1600" b="1" dirty="0"/>
              <a:t>:</a:t>
            </a:r>
            <a:r>
              <a:rPr lang="ru-RU" sz="1600" b="1" dirty="0"/>
              <a:t> </a:t>
            </a:r>
            <a:r>
              <a:rPr lang="ru-RU" sz="1600" dirty="0"/>
              <a:t>обратите внимание, что нельзя сохранить состояние файла в репозитории сразу после его создания или изменения – файл необходимо предварительно индексировать (записать его в индекс)</a:t>
            </a:r>
            <a:r>
              <a:rPr lang="en-US" sz="1600" dirty="0"/>
              <a:t>,</a:t>
            </a:r>
            <a:r>
              <a:rPr lang="ru-RU" sz="1600" dirty="0"/>
              <a:t> для этого используется команда </a:t>
            </a:r>
            <a:r>
              <a:rPr lang="en-US" sz="1600" b="1" dirty="0"/>
              <a:t>git add</a:t>
            </a:r>
            <a:endParaRPr lang="ru-RU" sz="1600" b="1" dirty="0"/>
          </a:p>
        </p:txBody>
      </p:sp>
      <p:pic>
        <p:nvPicPr>
          <p:cNvPr id="6" name="Picture 5">
            <a:extLst>
              <a:ext uri="{FF2B5EF4-FFF2-40B4-BE49-F238E27FC236}">
                <a16:creationId xmlns:a16="http://schemas.microsoft.com/office/drawing/2014/main" id="{34776510-38BD-469A-A714-6B93F6535E53}"/>
              </a:ext>
            </a:extLst>
          </p:cNvPr>
          <p:cNvPicPr>
            <a:picLocks noChangeAspect="1"/>
          </p:cNvPicPr>
          <p:nvPr/>
        </p:nvPicPr>
        <p:blipFill>
          <a:blip r:embed="rId2"/>
          <a:stretch>
            <a:fillRect/>
          </a:stretch>
        </p:blipFill>
        <p:spPr>
          <a:xfrm>
            <a:off x="840419" y="2782970"/>
            <a:ext cx="4462510" cy="2143672"/>
          </a:xfrm>
          <a:prstGeom prst="rect">
            <a:avLst/>
          </a:prstGeom>
        </p:spPr>
      </p:pic>
    </p:spTree>
    <p:extLst>
      <p:ext uri="{BB962C8B-B14F-4D97-AF65-F5344CB8AC3E}">
        <p14:creationId xmlns:p14="http://schemas.microsoft.com/office/powerpoint/2010/main" val="815564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Добавление файлов в индекс</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600" b="1" dirty="0"/>
              <a:t>Создадим ещё один файл</a:t>
            </a:r>
            <a:r>
              <a:rPr lang="en-US" sz="1600" b="1" dirty="0"/>
              <a:t> "second_file.html",</a:t>
            </a:r>
            <a:r>
              <a:rPr lang="ru-RU" sz="1600" b="1" dirty="0"/>
              <a:t> состоящий из одной строки</a:t>
            </a:r>
            <a:r>
              <a:rPr lang="en-US" sz="1600" b="1" dirty="0"/>
              <a:t>:</a:t>
            </a:r>
            <a:endParaRPr lang="ru-RU" sz="1600" b="1" dirty="0"/>
          </a:p>
          <a:p>
            <a:pPr marL="0" indent="0">
              <a:buNone/>
            </a:pPr>
            <a:r>
              <a:rPr lang="ru-RU" sz="1600" dirty="0"/>
              <a:t>&lt;h2&gt;</a:t>
            </a:r>
            <a:r>
              <a:rPr lang="en-US" sz="1600" dirty="0"/>
              <a:t>Second file text</a:t>
            </a:r>
            <a:r>
              <a:rPr lang="ru-RU" sz="1600" dirty="0"/>
              <a:t>&lt;/h2&gt;</a:t>
            </a:r>
          </a:p>
          <a:p>
            <a:pPr marL="0" indent="0">
              <a:buNone/>
            </a:pPr>
            <a:r>
              <a:rPr lang="ru-RU" sz="1600" u="sng" dirty="0"/>
              <a:t>Проверим статус:</a:t>
            </a:r>
          </a:p>
          <a:p>
            <a:pPr marL="0" indent="0">
              <a:buNone/>
            </a:pPr>
            <a:r>
              <a:rPr lang="ru-RU" sz="1600" b="1" dirty="0"/>
              <a:t>git status</a:t>
            </a:r>
            <a:endParaRPr lang="en-US" sz="1600" b="1"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r>
              <a:rPr lang="ru-RU" sz="1600" dirty="0"/>
              <a:t>Сейчас в нашей папке два файла, Git следит за изменениями в </a:t>
            </a:r>
            <a:r>
              <a:rPr lang="ru-RU" sz="1600" b="1" dirty="0"/>
              <a:t>index.html</a:t>
            </a:r>
            <a:r>
              <a:rPr lang="ru-RU" sz="1600" dirty="0"/>
              <a:t>, а файл </a:t>
            </a:r>
            <a:r>
              <a:rPr lang="en-US" sz="1600" b="1" dirty="0"/>
              <a:t>second_file</a:t>
            </a:r>
            <a:r>
              <a:rPr lang="ru-RU" sz="1600" b="1" dirty="0"/>
              <a:t>.html </a:t>
            </a:r>
            <a:r>
              <a:rPr lang="ru-RU" sz="1600" dirty="0"/>
              <a:t>не отслеживается, изменения в нем игнорируются. </a:t>
            </a:r>
          </a:p>
        </p:txBody>
      </p:sp>
      <p:pic>
        <p:nvPicPr>
          <p:cNvPr id="5" name="Picture 4">
            <a:extLst>
              <a:ext uri="{FF2B5EF4-FFF2-40B4-BE49-F238E27FC236}">
                <a16:creationId xmlns:a16="http://schemas.microsoft.com/office/drawing/2014/main" id="{2297A4A2-FA79-4629-A7D4-520D8C891DC1}"/>
              </a:ext>
            </a:extLst>
          </p:cNvPr>
          <p:cNvPicPr>
            <a:picLocks noChangeAspect="1"/>
          </p:cNvPicPr>
          <p:nvPr/>
        </p:nvPicPr>
        <p:blipFill>
          <a:blip r:embed="rId2"/>
          <a:stretch>
            <a:fillRect/>
          </a:stretch>
        </p:blipFill>
        <p:spPr>
          <a:xfrm>
            <a:off x="840419" y="2781309"/>
            <a:ext cx="4807462" cy="2849256"/>
          </a:xfrm>
          <a:prstGeom prst="rect">
            <a:avLst/>
          </a:prstGeom>
        </p:spPr>
      </p:pic>
    </p:spTree>
    <p:extLst>
      <p:ext uri="{BB962C8B-B14F-4D97-AF65-F5344CB8AC3E}">
        <p14:creationId xmlns:p14="http://schemas.microsoft.com/office/powerpoint/2010/main" val="28295866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Добавление файлов в индекс</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600" b="1" dirty="0"/>
              <a:t>Создадим ещё один файл</a:t>
            </a:r>
            <a:r>
              <a:rPr lang="en-US" sz="1600" b="1" dirty="0"/>
              <a:t> "third_file.html",</a:t>
            </a:r>
            <a:r>
              <a:rPr lang="ru-RU" sz="1600" b="1" dirty="0"/>
              <a:t> состоящий из одной строки</a:t>
            </a:r>
            <a:r>
              <a:rPr lang="en-US" sz="1600" b="1" dirty="0"/>
              <a:t>:</a:t>
            </a:r>
            <a:endParaRPr lang="ru-RU" sz="1600" b="1" dirty="0"/>
          </a:p>
          <a:p>
            <a:pPr marL="0" indent="0">
              <a:buNone/>
            </a:pPr>
            <a:r>
              <a:rPr lang="ru-RU" sz="1600" dirty="0"/>
              <a:t>&lt;h</a:t>
            </a:r>
            <a:r>
              <a:rPr lang="en-US" sz="1600" dirty="0"/>
              <a:t>3</a:t>
            </a:r>
            <a:r>
              <a:rPr lang="ru-RU" sz="1600" dirty="0"/>
              <a:t>&gt;</a:t>
            </a:r>
            <a:r>
              <a:rPr lang="en-US" sz="1600" dirty="0"/>
              <a:t>Third file text</a:t>
            </a:r>
            <a:r>
              <a:rPr lang="ru-RU" sz="1600" dirty="0"/>
              <a:t>&lt;/h</a:t>
            </a:r>
            <a:r>
              <a:rPr lang="en-US" sz="1600" dirty="0"/>
              <a:t>3</a:t>
            </a:r>
            <a:r>
              <a:rPr lang="ru-RU" sz="1600" dirty="0"/>
              <a:t>&gt;</a:t>
            </a:r>
          </a:p>
          <a:p>
            <a:pPr marL="0" indent="0">
              <a:buNone/>
            </a:pPr>
            <a:r>
              <a:rPr lang="ru-RU" sz="1600" u="sng" dirty="0"/>
              <a:t>Проверим статус:</a:t>
            </a:r>
          </a:p>
          <a:p>
            <a:pPr marL="0" indent="0">
              <a:buNone/>
            </a:pPr>
            <a:r>
              <a:rPr lang="ru-RU" sz="1600" b="1" dirty="0"/>
              <a:t>git status</a:t>
            </a:r>
            <a:endParaRPr lang="en-US" sz="1600" b="1"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r>
              <a:rPr lang="ru-RU" sz="1600" dirty="0"/>
              <a:t>Сейчас в нашей папке три файла, Git следит за изменениями в </a:t>
            </a:r>
            <a:r>
              <a:rPr lang="ru-RU" sz="1600" b="1" dirty="0"/>
              <a:t>index.html</a:t>
            </a:r>
            <a:r>
              <a:rPr lang="ru-RU" sz="1600" dirty="0"/>
              <a:t>, а файлы </a:t>
            </a:r>
            <a:r>
              <a:rPr lang="en-US" sz="1600" b="1" dirty="0"/>
              <a:t>second_file</a:t>
            </a:r>
            <a:r>
              <a:rPr lang="ru-RU" sz="1600" b="1" dirty="0"/>
              <a:t>.html, </a:t>
            </a:r>
            <a:r>
              <a:rPr lang="en-US" sz="1600" b="1" dirty="0"/>
              <a:t>third_file</a:t>
            </a:r>
            <a:r>
              <a:rPr lang="ru-RU" sz="1600" b="1" dirty="0"/>
              <a:t>.html </a:t>
            </a:r>
            <a:r>
              <a:rPr lang="ru-RU" sz="1600" dirty="0"/>
              <a:t>не отслеживаются, изменения в них игнорируются. Изменим эту ситуацию</a:t>
            </a:r>
            <a:r>
              <a:rPr lang="en-US" sz="1600" dirty="0"/>
              <a:t>:</a:t>
            </a:r>
            <a:endParaRPr lang="ru-RU" sz="1600" dirty="0"/>
          </a:p>
        </p:txBody>
      </p:sp>
      <p:pic>
        <p:nvPicPr>
          <p:cNvPr id="7" name="Picture 6">
            <a:extLst>
              <a:ext uri="{FF2B5EF4-FFF2-40B4-BE49-F238E27FC236}">
                <a16:creationId xmlns:a16="http://schemas.microsoft.com/office/drawing/2014/main" id="{E75E9211-4C3A-4FBC-930C-B2BA250393EE}"/>
              </a:ext>
            </a:extLst>
          </p:cNvPr>
          <p:cNvPicPr>
            <a:picLocks noChangeAspect="1"/>
          </p:cNvPicPr>
          <p:nvPr/>
        </p:nvPicPr>
        <p:blipFill>
          <a:blip r:embed="rId2"/>
          <a:stretch>
            <a:fillRect/>
          </a:stretch>
        </p:blipFill>
        <p:spPr>
          <a:xfrm>
            <a:off x="840419" y="2713819"/>
            <a:ext cx="4976338" cy="2916746"/>
          </a:xfrm>
          <a:prstGeom prst="rect">
            <a:avLst/>
          </a:prstGeom>
        </p:spPr>
      </p:pic>
    </p:spTree>
    <p:extLst>
      <p:ext uri="{BB962C8B-B14F-4D97-AF65-F5344CB8AC3E}">
        <p14:creationId xmlns:p14="http://schemas.microsoft.com/office/powerpoint/2010/main" val="40321564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Добавление файлов в индекс</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600" dirty="0"/>
              <a:t>Укажем Git следить за всеми файлами проекта. Для этого можно в команде </a:t>
            </a:r>
            <a:r>
              <a:rPr lang="ru-RU" sz="1600" b="1" dirty="0"/>
              <a:t>git add </a:t>
            </a:r>
            <a:r>
              <a:rPr lang="ru-RU" sz="1600" dirty="0"/>
              <a:t>перечислить имена всех неотслеживаемых файлов: </a:t>
            </a:r>
            <a:r>
              <a:rPr lang="ru-RU" sz="1600" b="1" dirty="0"/>
              <a:t>git add </a:t>
            </a:r>
            <a:r>
              <a:rPr lang="en-US" sz="1600" b="1" dirty="0"/>
              <a:t>second_file</a:t>
            </a:r>
            <a:r>
              <a:rPr lang="ru-RU" sz="1600" b="1" dirty="0"/>
              <a:t>.html third</a:t>
            </a:r>
            <a:r>
              <a:rPr lang="en-US" sz="1600" b="1" dirty="0"/>
              <a:t>_file</a:t>
            </a:r>
            <a:r>
              <a:rPr lang="ru-RU" sz="1600" b="1" dirty="0"/>
              <a:t>.html </a:t>
            </a:r>
            <a:endParaRPr lang="ru-RU" sz="1600" dirty="0"/>
          </a:p>
          <a:p>
            <a:pPr marL="0" indent="0">
              <a:buNone/>
            </a:pPr>
            <a:r>
              <a:rPr lang="ru-RU" sz="1600" dirty="0"/>
              <a:t>Второй более удобный вариант – указать в качестве параметра команды git add путь к текущей папке (точку): </a:t>
            </a:r>
            <a:r>
              <a:rPr lang="ru-RU" sz="1600" b="1" dirty="0"/>
              <a:t>git add . </a:t>
            </a:r>
            <a:endParaRPr lang="ru-RU" sz="1600" dirty="0"/>
          </a:p>
          <a:p>
            <a:pPr marL="0" indent="0">
              <a:buNone/>
            </a:pPr>
            <a:r>
              <a:rPr lang="ru-RU" sz="1600" dirty="0"/>
              <a:t>При этом в индекс добавятся все файлы из текущего каталога и всех его подкаталогов:</a:t>
            </a: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r>
              <a:rPr lang="ru-RU" sz="1600" dirty="0"/>
              <a:t>Теперь Git следит за изменениями во всех трёх файлах.</a:t>
            </a:r>
          </a:p>
        </p:txBody>
      </p:sp>
      <p:pic>
        <p:nvPicPr>
          <p:cNvPr id="5" name="Picture 4">
            <a:extLst>
              <a:ext uri="{FF2B5EF4-FFF2-40B4-BE49-F238E27FC236}">
                <a16:creationId xmlns:a16="http://schemas.microsoft.com/office/drawing/2014/main" id="{5A7F7412-BA2C-49A6-8632-6618E1C72748}"/>
              </a:ext>
            </a:extLst>
          </p:cNvPr>
          <p:cNvPicPr>
            <a:picLocks noChangeAspect="1"/>
          </p:cNvPicPr>
          <p:nvPr/>
        </p:nvPicPr>
        <p:blipFill>
          <a:blip r:embed="rId2"/>
          <a:stretch>
            <a:fillRect/>
          </a:stretch>
        </p:blipFill>
        <p:spPr>
          <a:xfrm>
            <a:off x="840419" y="2644581"/>
            <a:ext cx="4959240" cy="2484908"/>
          </a:xfrm>
          <a:prstGeom prst="rect">
            <a:avLst/>
          </a:prstGeom>
        </p:spPr>
      </p:pic>
    </p:spTree>
    <p:extLst>
      <p:ext uri="{BB962C8B-B14F-4D97-AF65-F5344CB8AC3E}">
        <p14:creationId xmlns:p14="http://schemas.microsoft.com/office/powerpoint/2010/main" val="40257918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Добавление файлов в индекс</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600" b="1" dirty="0"/>
              <a:t>Изменим теперь содержимое файла index.html:</a:t>
            </a:r>
          </a:p>
          <a:p>
            <a:pPr marL="0" indent="0">
              <a:buNone/>
            </a:pPr>
            <a:r>
              <a:rPr lang="en-US" sz="1600" dirty="0"/>
              <a:t>&lt;h1&gt;Hello new Git!&lt;/h1&gt; </a:t>
            </a:r>
            <a:endParaRPr lang="ru-RU" sz="1600" dirty="0"/>
          </a:p>
          <a:p>
            <a:pPr marL="0" indent="0">
              <a:buNone/>
            </a:pPr>
            <a:r>
              <a:rPr lang="ru-RU" sz="1600" u="sng" dirty="0"/>
              <a:t>Проверим статус:</a:t>
            </a:r>
          </a:p>
          <a:p>
            <a:pPr marL="0" indent="0">
              <a:buNone/>
            </a:pPr>
            <a:r>
              <a:rPr lang="ru-RU" sz="1600" b="1" dirty="0"/>
              <a:t>git status</a:t>
            </a:r>
            <a:endParaRPr lang="en-US" sz="1600" b="1"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r>
              <a:rPr lang="ru-RU" sz="1600" dirty="0"/>
              <a:t>Как видим, файл index.html представлен два раза: как индексированный файл (в следующий коммит этот файл попадёт как раз в данном состоянии) и как файл, последние изменения в котором не попадут в следующий коммит.</a:t>
            </a:r>
          </a:p>
        </p:txBody>
      </p:sp>
      <p:pic>
        <p:nvPicPr>
          <p:cNvPr id="5" name="Picture 4">
            <a:extLst>
              <a:ext uri="{FF2B5EF4-FFF2-40B4-BE49-F238E27FC236}">
                <a16:creationId xmlns:a16="http://schemas.microsoft.com/office/drawing/2014/main" id="{BAFF524E-D387-470E-97BA-63F97D198AF1}"/>
              </a:ext>
            </a:extLst>
          </p:cNvPr>
          <p:cNvPicPr>
            <a:picLocks noChangeAspect="1"/>
          </p:cNvPicPr>
          <p:nvPr/>
        </p:nvPicPr>
        <p:blipFill>
          <a:blip r:embed="rId2"/>
          <a:stretch>
            <a:fillRect/>
          </a:stretch>
        </p:blipFill>
        <p:spPr>
          <a:xfrm>
            <a:off x="840419" y="2775010"/>
            <a:ext cx="4843736" cy="2605596"/>
          </a:xfrm>
          <a:prstGeom prst="rect">
            <a:avLst/>
          </a:prstGeom>
        </p:spPr>
      </p:pic>
    </p:spTree>
    <p:extLst>
      <p:ext uri="{BB962C8B-B14F-4D97-AF65-F5344CB8AC3E}">
        <p14:creationId xmlns:p14="http://schemas.microsoft.com/office/powerpoint/2010/main" val="32720073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Добавление файлов в индекс</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fontScale="925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500" b="1" dirty="0"/>
              <a:t>Создадим еще один файл fourth.html из одной строки:</a:t>
            </a:r>
            <a:endParaRPr lang="en-US" sz="1500" b="1" dirty="0"/>
          </a:p>
          <a:p>
            <a:pPr marL="0" indent="0">
              <a:buNone/>
            </a:pPr>
            <a:r>
              <a:rPr lang="en-US" sz="1500" dirty="0"/>
              <a:t>&lt;h4&gt;Fourth file&lt;/h4&gt;</a:t>
            </a:r>
          </a:p>
          <a:p>
            <a:pPr marL="0" indent="0">
              <a:buNone/>
            </a:pPr>
            <a:r>
              <a:rPr lang="ru-RU" sz="1500" u="sng" dirty="0"/>
              <a:t>Проверим статус:</a:t>
            </a:r>
          </a:p>
          <a:p>
            <a:pPr marL="0" indent="0">
              <a:buNone/>
            </a:pPr>
            <a:r>
              <a:rPr lang="ru-RU" sz="1500" b="1" dirty="0"/>
              <a:t>git status</a:t>
            </a:r>
            <a:endParaRPr lang="en-US" sz="1500" b="1"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r>
              <a:rPr lang="ru-RU" sz="1500" u="sng" dirty="0"/>
              <a:t>Здесь мы видим три типа записей о файлах и изменениях в них:</a:t>
            </a:r>
            <a:endParaRPr lang="en-US" sz="1500" u="sng" dirty="0"/>
          </a:p>
          <a:p>
            <a:r>
              <a:rPr lang="ru-RU" sz="1500" dirty="0"/>
              <a:t>Файлы, находящиеся в индексе Git и готовые к включению в коммит (имена файлов выделены зеленым цветом).</a:t>
            </a:r>
          </a:p>
          <a:p>
            <a:r>
              <a:rPr lang="ru-RU" sz="1500" dirty="0"/>
              <a:t>Файлы, за которыми Git следит, но информация об их изменениях не будет добавлена в коммит, так как последние версии этих файлов еще не добавлены в индекс (файлы не проиндексированы).</a:t>
            </a:r>
          </a:p>
          <a:p>
            <a:r>
              <a:rPr lang="ru-RU" sz="1500" dirty="0"/>
              <a:t>Файлы, за изменениями которых Git не следит.</a:t>
            </a:r>
          </a:p>
        </p:txBody>
      </p:sp>
      <p:pic>
        <p:nvPicPr>
          <p:cNvPr id="6" name="Picture 5">
            <a:extLst>
              <a:ext uri="{FF2B5EF4-FFF2-40B4-BE49-F238E27FC236}">
                <a16:creationId xmlns:a16="http://schemas.microsoft.com/office/drawing/2014/main" id="{F8FAC969-36FD-4AAD-888D-63520B89EE83}"/>
              </a:ext>
            </a:extLst>
          </p:cNvPr>
          <p:cNvPicPr>
            <a:picLocks noChangeAspect="1"/>
          </p:cNvPicPr>
          <p:nvPr/>
        </p:nvPicPr>
        <p:blipFill>
          <a:blip r:embed="rId2"/>
          <a:stretch>
            <a:fillRect/>
          </a:stretch>
        </p:blipFill>
        <p:spPr>
          <a:xfrm>
            <a:off x="811339" y="2356087"/>
            <a:ext cx="4382098" cy="2465882"/>
          </a:xfrm>
          <a:prstGeom prst="rect">
            <a:avLst/>
          </a:prstGeom>
        </p:spPr>
      </p:pic>
      <p:sp>
        <p:nvSpPr>
          <p:cNvPr id="7" name="TextBox 6">
            <a:extLst>
              <a:ext uri="{FF2B5EF4-FFF2-40B4-BE49-F238E27FC236}">
                <a16:creationId xmlns:a16="http://schemas.microsoft.com/office/drawing/2014/main" id="{FA785726-FF5C-499F-8776-E763B7754FA9}"/>
              </a:ext>
            </a:extLst>
          </p:cNvPr>
          <p:cNvSpPr txBox="1"/>
          <p:nvPr/>
        </p:nvSpPr>
        <p:spPr>
          <a:xfrm>
            <a:off x="5563342" y="2180036"/>
            <a:ext cx="6019059" cy="2723823"/>
          </a:xfrm>
          <a:prstGeom prst="rect">
            <a:avLst/>
          </a:prstGeom>
          <a:noFill/>
        </p:spPr>
        <p:txBody>
          <a:bodyPr wrap="square" rtlCol="0">
            <a:spAutoFit/>
          </a:bodyPr>
          <a:lstStyle/>
          <a:p>
            <a:r>
              <a:rPr lang="en-US" sz="900" dirty="0">
                <a:solidFill>
                  <a:schemeClr val="bg1">
                    <a:lumMod val="50000"/>
                  </a:schemeClr>
                </a:solidFill>
              </a:rPr>
              <a:t>$ </a:t>
            </a:r>
            <a:r>
              <a:rPr lang="ru-RU" sz="900" dirty="0">
                <a:solidFill>
                  <a:schemeClr val="bg1">
                    <a:lumMod val="50000"/>
                  </a:schemeClr>
                </a:solidFill>
              </a:rPr>
              <a:t>git status</a:t>
            </a:r>
          </a:p>
          <a:p>
            <a:r>
              <a:rPr lang="ru-RU" sz="900" dirty="0">
                <a:solidFill>
                  <a:schemeClr val="bg1">
                    <a:lumMod val="50000"/>
                  </a:schemeClr>
                </a:solidFill>
              </a:rPr>
              <a:t>На ветке master</a:t>
            </a:r>
          </a:p>
          <a:p>
            <a:endParaRPr lang="ru-RU" sz="900" dirty="0">
              <a:solidFill>
                <a:schemeClr val="bg1">
                  <a:lumMod val="50000"/>
                </a:schemeClr>
              </a:solidFill>
            </a:endParaRPr>
          </a:p>
          <a:p>
            <a:r>
              <a:rPr lang="ru-RU" sz="900" dirty="0">
                <a:solidFill>
                  <a:schemeClr val="bg1">
                    <a:lumMod val="50000"/>
                  </a:schemeClr>
                </a:solidFill>
              </a:rPr>
              <a:t>Пока нет коммитов</a:t>
            </a:r>
          </a:p>
          <a:p>
            <a:endParaRPr lang="ru-RU" sz="900" dirty="0">
              <a:solidFill>
                <a:schemeClr val="bg1">
                  <a:lumMod val="50000"/>
                </a:schemeClr>
              </a:solidFill>
            </a:endParaRPr>
          </a:p>
          <a:p>
            <a:r>
              <a:rPr lang="ru-RU" sz="900" dirty="0">
                <a:solidFill>
                  <a:schemeClr val="bg1">
                    <a:lumMod val="50000"/>
                  </a:schemeClr>
                </a:solidFill>
              </a:rPr>
              <a:t>Изменения, которые будут включены в коммит:</a:t>
            </a:r>
          </a:p>
          <a:p>
            <a:r>
              <a:rPr lang="ru-RU" sz="900" dirty="0">
                <a:solidFill>
                  <a:schemeClr val="bg1">
                    <a:lumMod val="50000"/>
                  </a:schemeClr>
                </a:solidFill>
              </a:rPr>
              <a:t>         (используйте «git rm --cached &lt;файл&gt;…», чтобы убрать из индекса)</a:t>
            </a:r>
          </a:p>
          <a:p>
            <a:pPr lvl="1"/>
            <a:r>
              <a:rPr lang="ru-RU" sz="900" b="1" dirty="0">
                <a:solidFill>
                  <a:schemeClr val="bg1">
                    <a:lumMod val="50000"/>
                  </a:schemeClr>
                </a:solidFill>
              </a:rPr>
              <a:t>новый файл: another.html</a:t>
            </a:r>
          </a:p>
          <a:p>
            <a:pPr lvl="1"/>
            <a:r>
              <a:rPr lang="ru-RU" sz="900" b="1" dirty="0">
                <a:solidFill>
                  <a:schemeClr val="bg1">
                    <a:lumMod val="50000"/>
                  </a:schemeClr>
                </a:solidFill>
              </a:rPr>
              <a:t>новый файл: index.html</a:t>
            </a:r>
          </a:p>
          <a:p>
            <a:pPr lvl="1"/>
            <a:r>
              <a:rPr lang="ru-RU" sz="900" b="1" dirty="0">
                <a:solidFill>
                  <a:schemeClr val="bg1">
                    <a:lumMod val="50000"/>
                  </a:schemeClr>
                </a:solidFill>
              </a:rPr>
              <a:t>новый файл: third.html</a:t>
            </a:r>
          </a:p>
          <a:p>
            <a:endParaRPr lang="ru-RU" sz="900" dirty="0">
              <a:solidFill>
                <a:schemeClr val="bg1">
                  <a:lumMod val="50000"/>
                </a:schemeClr>
              </a:solidFill>
            </a:endParaRPr>
          </a:p>
          <a:p>
            <a:r>
              <a:rPr lang="ru-RU" sz="900" dirty="0">
                <a:solidFill>
                  <a:schemeClr val="bg1">
                    <a:lumMod val="50000"/>
                  </a:schemeClr>
                </a:solidFill>
              </a:rPr>
              <a:t>Изменения, которые не в индексе для коммита:</a:t>
            </a:r>
          </a:p>
          <a:p>
            <a:r>
              <a:rPr lang="ru-RU" sz="900" dirty="0">
                <a:solidFill>
                  <a:schemeClr val="bg1">
                    <a:lumMod val="50000"/>
                  </a:schemeClr>
                </a:solidFill>
              </a:rPr>
              <a:t>           (используйте «git add &lt;файл&gt;…», чтобы добавить файл в индекс)</a:t>
            </a:r>
          </a:p>
          <a:p>
            <a:r>
              <a:rPr lang="ru-RU" sz="900" dirty="0">
                <a:solidFill>
                  <a:schemeClr val="bg1">
                    <a:lumMod val="50000"/>
                  </a:schemeClr>
                </a:solidFill>
              </a:rPr>
              <a:t>           (используйте «git checkout -- &lt;файл&gt;…», чтобы отменить изменения в рабочем каталоге)</a:t>
            </a:r>
          </a:p>
          <a:p>
            <a:r>
              <a:rPr lang="ru-RU" sz="900" dirty="0">
                <a:solidFill>
                  <a:schemeClr val="bg1">
                    <a:lumMod val="50000"/>
                  </a:schemeClr>
                </a:solidFill>
              </a:rPr>
              <a:t>		</a:t>
            </a:r>
            <a:r>
              <a:rPr lang="ru-RU" sz="900" b="1" dirty="0">
                <a:solidFill>
                  <a:schemeClr val="bg1">
                    <a:lumMod val="50000"/>
                  </a:schemeClr>
                </a:solidFill>
              </a:rPr>
              <a:t>изменено: index.html</a:t>
            </a:r>
          </a:p>
          <a:p>
            <a:endParaRPr lang="ru-RU" sz="900" dirty="0">
              <a:solidFill>
                <a:schemeClr val="bg1">
                  <a:lumMod val="50000"/>
                </a:schemeClr>
              </a:solidFill>
            </a:endParaRPr>
          </a:p>
          <a:p>
            <a:r>
              <a:rPr lang="ru-RU" sz="900" dirty="0">
                <a:solidFill>
                  <a:schemeClr val="bg1">
                    <a:lumMod val="50000"/>
                  </a:schemeClr>
                </a:solidFill>
              </a:rPr>
              <a:t>Неотслеживаемые файлы:</a:t>
            </a:r>
          </a:p>
          <a:p>
            <a:r>
              <a:rPr lang="ru-RU" sz="900" dirty="0">
                <a:solidFill>
                  <a:schemeClr val="bg1">
                    <a:lumMod val="50000"/>
                  </a:schemeClr>
                </a:solidFill>
              </a:rPr>
              <a:t>            (используйте «git add &lt;файл&gt;…», чтобы добавить в то, что будет включено в коммит)</a:t>
            </a:r>
          </a:p>
          <a:p>
            <a:r>
              <a:rPr lang="ru-RU" sz="900" dirty="0">
                <a:solidFill>
                  <a:schemeClr val="bg1">
                    <a:lumMod val="50000"/>
                  </a:schemeClr>
                </a:solidFill>
              </a:rPr>
              <a:t>		</a:t>
            </a:r>
            <a:r>
              <a:rPr lang="ru-RU" sz="900" b="1" dirty="0">
                <a:solidFill>
                  <a:schemeClr val="bg1">
                    <a:lumMod val="50000"/>
                  </a:schemeClr>
                </a:solidFill>
              </a:rPr>
              <a:t>fourth.html</a:t>
            </a:r>
          </a:p>
        </p:txBody>
      </p:sp>
    </p:spTree>
    <p:extLst>
      <p:ext uri="{BB962C8B-B14F-4D97-AF65-F5344CB8AC3E}">
        <p14:creationId xmlns:p14="http://schemas.microsoft.com/office/powerpoint/2010/main" val="960200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Добавление файлов в индекс</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600" dirty="0"/>
              <a:t>Команда </a:t>
            </a:r>
            <a:r>
              <a:rPr lang="ru-RU" sz="1600" b="1" dirty="0"/>
              <a:t>git add </a:t>
            </a:r>
            <a:r>
              <a:rPr lang="ru-RU" sz="1600" dirty="0"/>
              <a:t>позволяет добавлять в индекс как новые файлы, так и те файлы, за которыми Git следит и которые изменились с момента последнего коммита. Фактически эта команда добавляет актуальную версию файла в снимок состояния (моментальную копию) нашего проекта, который мы хотим запомнить в репозитории Git. </a:t>
            </a:r>
            <a:endParaRPr lang="en-US" sz="1600" dirty="0"/>
          </a:p>
          <a:p>
            <a:pPr marL="0" indent="0">
              <a:buNone/>
            </a:pPr>
            <a:r>
              <a:rPr lang="ru-RU" sz="1600" u="sng" dirty="0"/>
              <a:t>Добавим в индекс Git все новые и модифицированные файлы из текущего каталога и посмотрим на статус: </a:t>
            </a:r>
          </a:p>
          <a:p>
            <a:pPr marL="0" indent="0">
              <a:buNone/>
            </a:pPr>
            <a:r>
              <a:rPr lang="en-US" sz="1600" b="1" dirty="0"/>
              <a:t>git add .</a:t>
            </a:r>
          </a:p>
          <a:p>
            <a:pPr marL="0" indent="0">
              <a:buNone/>
            </a:pPr>
            <a:r>
              <a:rPr lang="en-US" sz="1600" b="1" dirty="0"/>
              <a:t>git status</a:t>
            </a:r>
          </a:p>
          <a:p>
            <a:pPr marL="0" indent="0">
              <a:buNone/>
            </a:pPr>
            <a:endParaRPr lang="en-US" sz="1600" b="1" dirty="0"/>
          </a:p>
          <a:p>
            <a:pPr marL="0" indent="0">
              <a:buNone/>
            </a:pPr>
            <a:endParaRPr lang="en-US" sz="1600" b="1" dirty="0"/>
          </a:p>
          <a:p>
            <a:pPr marL="0" indent="0">
              <a:buNone/>
            </a:pPr>
            <a:endParaRPr lang="en-US" sz="1600" b="1" dirty="0"/>
          </a:p>
          <a:p>
            <a:pPr marL="0" indent="0">
              <a:buNone/>
            </a:pPr>
            <a:endParaRPr lang="en-US" sz="1600" b="1" dirty="0"/>
          </a:p>
          <a:p>
            <a:pPr marL="0" indent="0">
              <a:buNone/>
            </a:pPr>
            <a:endParaRPr lang="en-US" sz="1600" b="1" dirty="0"/>
          </a:p>
          <a:p>
            <a:pPr marL="0" indent="0">
              <a:buNone/>
            </a:pPr>
            <a:endParaRPr lang="en-US" sz="1600" b="1" dirty="0"/>
          </a:p>
          <a:p>
            <a:pPr marL="0" indent="0">
              <a:buNone/>
            </a:pPr>
            <a:endParaRPr lang="en-US" sz="1600" b="1" dirty="0"/>
          </a:p>
          <a:p>
            <a:pPr marL="0" indent="0">
              <a:buNone/>
            </a:pPr>
            <a:r>
              <a:rPr lang="ru-RU" sz="1600" dirty="0"/>
              <a:t>Все четыре файла добавлены в индекс Git – снимок состояния проекта, который можно теперь сохранить в репозитории (выполнить коммит).</a:t>
            </a: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p:txBody>
      </p:sp>
      <p:pic>
        <p:nvPicPr>
          <p:cNvPr id="5" name="Picture 4">
            <a:extLst>
              <a:ext uri="{FF2B5EF4-FFF2-40B4-BE49-F238E27FC236}">
                <a16:creationId xmlns:a16="http://schemas.microsoft.com/office/drawing/2014/main" id="{A4C9041F-DB64-4CA9-B869-387619AB8FD9}"/>
              </a:ext>
            </a:extLst>
          </p:cNvPr>
          <p:cNvPicPr>
            <a:picLocks noChangeAspect="1"/>
          </p:cNvPicPr>
          <p:nvPr/>
        </p:nvPicPr>
        <p:blipFill>
          <a:blip r:embed="rId2"/>
          <a:stretch>
            <a:fillRect/>
          </a:stretch>
        </p:blipFill>
        <p:spPr>
          <a:xfrm>
            <a:off x="840419" y="3109861"/>
            <a:ext cx="4562475" cy="2343150"/>
          </a:xfrm>
          <a:prstGeom prst="rect">
            <a:avLst/>
          </a:prstGeom>
        </p:spPr>
      </p:pic>
    </p:spTree>
    <p:extLst>
      <p:ext uri="{BB962C8B-B14F-4D97-AF65-F5344CB8AC3E}">
        <p14:creationId xmlns:p14="http://schemas.microsoft.com/office/powerpoint/2010/main" val="22351190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Создание коммита</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dirty="0"/>
              <a:t>В предыдущах шагах мы подготовили снимок состояния системы, но еще не сохранили его в репозитории. Здесь можно провести аналогию с бумажной фотокарточкой и альбомом для фотографий – у нас на руках уже есть распечатанный снимок, но мы его еще не вставили в альбом. После того, как фотография (снимок состояния проекта) будет помещена в альбом (репозиторий Git), можно будет листать его и возвращаться к нужной нам фотографии (состоянию файлов проекта). Запись содержимого индекса в репозиторий называется фиксацией изменений или коммитом. </a:t>
            </a:r>
            <a:endParaRPr lang="ru-RU" sz="1200" u="sng" dirty="0"/>
          </a:p>
          <a:p>
            <a:pPr marL="0" indent="0">
              <a:buNone/>
            </a:pPr>
            <a:r>
              <a:rPr lang="ru-RU" sz="1200" u="sng" dirty="0"/>
              <a:t>Создадим наш первый коммит командной </a:t>
            </a:r>
            <a:r>
              <a:rPr lang="ru-RU" sz="1200" b="1" u="sng" dirty="0"/>
              <a:t>git commit</a:t>
            </a:r>
            <a:endParaRPr lang="en-US" sz="1200" b="1" u="sng" dirty="0"/>
          </a:p>
          <a:p>
            <a:pPr marL="342900" indent="-342900">
              <a:buFont typeface="+mj-lt"/>
              <a:buAutoNum type="arabicPeriod"/>
            </a:pPr>
            <a:r>
              <a:rPr lang="ru-RU" sz="1200" dirty="0"/>
              <a:t>Откройте консоль</a:t>
            </a:r>
            <a:r>
              <a:rPr lang="en-US" sz="1200" dirty="0"/>
              <a:t>(</a:t>
            </a:r>
            <a:r>
              <a:rPr lang="ru-RU" sz="1200" dirty="0"/>
              <a:t>перейдите в папку проекта, если Вы всё еще не там) </a:t>
            </a:r>
          </a:p>
          <a:p>
            <a:pPr marL="342900" indent="-342900">
              <a:buFont typeface="+mj-lt"/>
              <a:buAutoNum type="arabicPeriod"/>
            </a:pPr>
            <a:r>
              <a:rPr lang="ru-RU" sz="1200" dirty="0"/>
              <a:t>Введите </a:t>
            </a:r>
            <a:r>
              <a:rPr lang="en-US" sz="1200" b="1" dirty="0"/>
              <a:t>git commit</a:t>
            </a:r>
            <a:endParaRPr lang="ru-RU" sz="1200" b="1" dirty="0"/>
          </a:p>
          <a:p>
            <a:pPr marL="0" indent="0">
              <a:buNone/>
            </a:pPr>
            <a:r>
              <a:rPr lang="ru-RU" sz="1200" dirty="0"/>
              <a:t>В результате выполнения этой команды откроется текстовый редактор, привязанный к Git (выбирали его на этапе установки) в котором нужно описать содержимое коммита. Описание коммита может занимать несколько строк, символ # является признаком комментария (такие комментарии генерируются автоматически и в репозитории Git не сохраняются)</a:t>
            </a:r>
            <a:r>
              <a:rPr lang="en-US" sz="1200" dirty="0"/>
              <a:t>.</a:t>
            </a:r>
            <a:endParaRPr lang="ru-RU" sz="1200" dirty="0"/>
          </a:p>
          <a:p>
            <a:pPr marL="342900" indent="-342900">
              <a:buFont typeface="+mj-lt"/>
              <a:buAutoNum type="arabicPeriod" startAt="3"/>
            </a:pPr>
            <a:r>
              <a:rPr lang="ru-RU" sz="1200" dirty="0"/>
              <a:t>Напишите в текстовом редакторе в самой первой строчке описание коммита, например</a:t>
            </a:r>
            <a:r>
              <a:rPr lang="en-US" sz="1200" dirty="0"/>
              <a:t>: "</a:t>
            </a:r>
            <a:r>
              <a:rPr lang="ru-RU" sz="1200" dirty="0"/>
              <a:t>Первый тестовый коммит</a:t>
            </a:r>
            <a:r>
              <a:rPr lang="en-US" sz="1200" dirty="0"/>
              <a:t>"</a:t>
            </a:r>
          </a:p>
          <a:p>
            <a:pPr lvl="1"/>
            <a:r>
              <a:rPr lang="ru-RU" sz="1100" dirty="0"/>
              <a:t>Коммиты могут быть на русском или английском, в зависимости от принятой практики в компании</a:t>
            </a:r>
          </a:p>
          <a:p>
            <a:pPr lvl="1"/>
            <a:r>
              <a:rPr lang="ru-RU" sz="1100" dirty="0"/>
              <a:t>В коммитах принято писать понятные, осмысленные сообщения, чтобы другие разработчики тоже понимали что происходило в этом коммите</a:t>
            </a:r>
          </a:p>
          <a:p>
            <a:pPr marL="342900" indent="-342900">
              <a:buFont typeface="+mj-lt"/>
              <a:buAutoNum type="arabicPeriod" startAt="3"/>
            </a:pPr>
            <a:r>
              <a:rPr lang="ru-RU" sz="1200" dirty="0"/>
              <a:t>Сохраните и закройте текстовый редактор</a:t>
            </a:r>
          </a:p>
          <a:p>
            <a:pPr marL="342900" indent="-342900">
              <a:buFont typeface="+mj-lt"/>
              <a:buAutoNum type="arabicPeriod" startAt="3"/>
            </a:pPr>
            <a:endParaRPr lang="ru-RU" sz="1200" dirty="0"/>
          </a:p>
          <a:p>
            <a:pPr marL="342900" indent="-342900">
              <a:buFont typeface="+mj-lt"/>
              <a:buAutoNum type="arabicPeriod" startAt="3"/>
            </a:pPr>
            <a:endParaRPr lang="ru-RU" sz="1200" dirty="0"/>
          </a:p>
          <a:p>
            <a:pPr marL="342900" indent="-342900">
              <a:buFont typeface="+mj-lt"/>
              <a:buAutoNum type="arabicPeriod" startAt="3"/>
            </a:pPr>
            <a:endParaRPr lang="ru-RU" sz="1200" dirty="0"/>
          </a:p>
          <a:p>
            <a:pPr marL="0" indent="0">
              <a:buNone/>
            </a:pPr>
            <a:r>
              <a:rPr lang="ru-RU" sz="1200" dirty="0"/>
              <a:t>В качестве результата команда </a:t>
            </a:r>
            <a:r>
              <a:rPr lang="ru-RU" sz="1200" b="1" dirty="0"/>
              <a:t>git commit </a:t>
            </a:r>
            <a:r>
              <a:rPr lang="ru-RU" sz="1200" dirty="0"/>
              <a:t>выводит семизначный шестнадцатеричный хэш (идентификатор) выполненного коммита (в нашем случае </a:t>
            </a:r>
            <a:r>
              <a:rPr lang="en-US" sz="1200" dirty="0"/>
              <a:t>30b5ca4</a:t>
            </a:r>
            <a:r>
              <a:rPr lang="ru-RU" sz="1200" dirty="0"/>
              <a:t>), описание коммита и список файлов, вошедших в коммит.</a:t>
            </a:r>
            <a:endParaRPr lang="en-US" sz="1200" dirty="0"/>
          </a:p>
        </p:txBody>
      </p:sp>
      <p:pic>
        <p:nvPicPr>
          <p:cNvPr id="7" name="Picture 6">
            <a:extLst>
              <a:ext uri="{FF2B5EF4-FFF2-40B4-BE49-F238E27FC236}">
                <a16:creationId xmlns:a16="http://schemas.microsoft.com/office/drawing/2014/main" id="{8E2617F0-BA81-47D8-8477-33511219F7BE}"/>
              </a:ext>
            </a:extLst>
          </p:cNvPr>
          <p:cNvPicPr>
            <a:picLocks noChangeAspect="1"/>
          </p:cNvPicPr>
          <p:nvPr/>
        </p:nvPicPr>
        <p:blipFill>
          <a:blip r:embed="rId2"/>
          <a:stretch>
            <a:fillRect/>
          </a:stretch>
        </p:blipFill>
        <p:spPr>
          <a:xfrm>
            <a:off x="840419" y="4720239"/>
            <a:ext cx="3158462" cy="938434"/>
          </a:xfrm>
          <a:prstGeom prst="rect">
            <a:avLst/>
          </a:prstGeom>
        </p:spPr>
      </p:pic>
    </p:spTree>
    <p:extLst>
      <p:ext uri="{BB962C8B-B14F-4D97-AF65-F5344CB8AC3E}">
        <p14:creationId xmlns:p14="http://schemas.microsoft.com/office/powerpoint/2010/main" val="11697221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Создание коммита</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400" u="sng" dirty="0"/>
              <a:t>Проверим статус:</a:t>
            </a:r>
          </a:p>
          <a:p>
            <a:pPr marL="0" indent="0">
              <a:buNone/>
            </a:pPr>
            <a:r>
              <a:rPr lang="ru-RU" sz="1400" b="1" dirty="0"/>
              <a:t>git status</a:t>
            </a:r>
            <a:endParaRPr lang="en-US" sz="1400" b="1" dirty="0"/>
          </a:p>
          <a:p>
            <a:pPr marL="0" indent="0">
              <a:buNone/>
            </a:pPr>
            <a:endParaRPr lang="en-US" sz="1400" b="1" dirty="0"/>
          </a:p>
          <a:p>
            <a:pPr marL="0" indent="0">
              <a:buNone/>
            </a:pPr>
            <a:endParaRPr lang="en-US" sz="1400" b="1" dirty="0"/>
          </a:p>
          <a:p>
            <a:pPr marL="0" indent="0">
              <a:buNone/>
            </a:pPr>
            <a:r>
              <a:rPr lang="ru-RU" sz="1400" dirty="0"/>
              <a:t>Сейчас команда </a:t>
            </a:r>
            <a:r>
              <a:rPr lang="ru-RU" sz="1400" b="1" dirty="0"/>
              <a:t>git status </a:t>
            </a:r>
            <a:r>
              <a:rPr lang="ru-RU" sz="1400" dirty="0"/>
              <a:t>не вывела информации о файлах – это означает, что содержимое рабочего каталога проекта, индекса Git и последнего зафиксированного коммита в репозитории Git соответствуют друг другу. В этом случае говорят, что проект имеет чистый статус.</a:t>
            </a:r>
            <a:endParaRPr lang="en-US" sz="1400" dirty="0"/>
          </a:p>
          <a:p>
            <a:pPr marL="0" indent="0">
              <a:buNone/>
            </a:pPr>
            <a:r>
              <a:rPr lang="ru-RU" sz="1400" dirty="0"/>
              <a:t>Посмотреть историю коммитов можно с помощью команды </a:t>
            </a:r>
            <a:r>
              <a:rPr lang="ru-RU" sz="1400" b="1" dirty="0"/>
              <a:t>git log</a:t>
            </a:r>
            <a:endParaRPr lang="en-US" sz="1400" dirty="0"/>
          </a:p>
          <a:p>
            <a:pPr marL="0" indent="0">
              <a:buNone/>
            </a:pPr>
            <a:endParaRPr lang="ru-RU" sz="1400" dirty="0"/>
          </a:p>
          <a:p>
            <a:pPr marL="0" indent="0">
              <a:buNone/>
            </a:pPr>
            <a:endParaRPr lang="en-US" sz="1400" dirty="0"/>
          </a:p>
          <a:p>
            <a:pPr marL="0" indent="0">
              <a:buNone/>
            </a:pPr>
            <a:endParaRPr lang="en-US" sz="1400" dirty="0"/>
          </a:p>
          <a:p>
            <a:pPr marL="0" indent="0">
              <a:buNone/>
            </a:pPr>
            <a:endParaRPr lang="en-US" sz="1400" dirty="0"/>
          </a:p>
          <a:p>
            <a:pPr marL="0" indent="0">
              <a:buNone/>
            </a:pPr>
            <a:r>
              <a:rPr lang="ru-RU" sz="1400" dirty="0"/>
              <a:t>Здесь мы увидим полный хэш (идентификатор) коммита, его описание и информацию об авторе коммита и времени его создания. </a:t>
            </a:r>
            <a:endParaRPr lang="en-US" sz="1400" dirty="0"/>
          </a:p>
          <a:p>
            <a:pPr marL="0" indent="0">
              <a:buNone/>
            </a:pPr>
            <a:r>
              <a:rPr lang="ru-RU" sz="1400" dirty="0"/>
              <a:t>Обратите внимание, что семизначный идентификатор коммита, выводимого после выполнения команды </a:t>
            </a:r>
            <a:r>
              <a:rPr lang="ru-RU" sz="1400" b="1" dirty="0"/>
              <a:t>git config</a:t>
            </a:r>
            <a:r>
              <a:rPr lang="ru-RU" sz="1400" dirty="0"/>
              <a:t>, совпадает с первыми символами в полном идентификаторе. Git позволяет обращаться к коммитам как по длинному, так и по короткому идентификатору.</a:t>
            </a:r>
            <a:endParaRPr lang="en-US" sz="1400" dirty="0"/>
          </a:p>
        </p:txBody>
      </p:sp>
      <p:pic>
        <p:nvPicPr>
          <p:cNvPr id="5" name="Picture 4">
            <a:extLst>
              <a:ext uri="{FF2B5EF4-FFF2-40B4-BE49-F238E27FC236}">
                <a16:creationId xmlns:a16="http://schemas.microsoft.com/office/drawing/2014/main" id="{36C856FC-80AF-4884-8C9B-646FFDAB8BAB}"/>
              </a:ext>
            </a:extLst>
          </p:cNvPr>
          <p:cNvPicPr>
            <a:picLocks noChangeAspect="1"/>
          </p:cNvPicPr>
          <p:nvPr/>
        </p:nvPicPr>
        <p:blipFill>
          <a:blip r:embed="rId2"/>
          <a:stretch>
            <a:fillRect/>
          </a:stretch>
        </p:blipFill>
        <p:spPr>
          <a:xfrm>
            <a:off x="840419" y="1910353"/>
            <a:ext cx="4410075" cy="638175"/>
          </a:xfrm>
          <a:prstGeom prst="rect">
            <a:avLst/>
          </a:prstGeom>
        </p:spPr>
      </p:pic>
      <p:sp>
        <p:nvSpPr>
          <p:cNvPr id="6" name="TextBox 5">
            <a:extLst>
              <a:ext uri="{FF2B5EF4-FFF2-40B4-BE49-F238E27FC236}">
                <a16:creationId xmlns:a16="http://schemas.microsoft.com/office/drawing/2014/main" id="{1D91B0BC-5352-4D17-9329-BB9607E511CB}"/>
              </a:ext>
            </a:extLst>
          </p:cNvPr>
          <p:cNvSpPr txBox="1"/>
          <p:nvPr/>
        </p:nvSpPr>
        <p:spPr>
          <a:xfrm>
            <a:off x="5496109" y="1910353"/>
            <a:ext cx="3527392" cy="707886"/>
          </a:xfrm>
          <a:prstGeom prst="rect">
            <a:avLst/>
          </a:prstGeom>
          <a:noFill/>
        </p:spPr>
        <p:txBody>
          <a:bodyPr wrap="square" rtlCol="0">
            <a:spAutoFit/>
          </a:bodyPr>
          <a:lstStyle/>
          <a:p>
            <a:r>
              <a:rPr lang="en-US" sz="1000" dirty="0">
                <a:solidFill>
                  <a:schemeClr val="bg1">
                    <a:lumMod val="50000"/>
                  </a:schemeClr>
                </a:solidFill>
              </a:rPr>
              <a:t>$ </a:t>
            </a:r>
            <a:r>
              <a:rPr lang="ru-RU" sz="1000" dirty="0">
                <a:solidFill>
                  <a:schemeClr val="bg1">
                    <a:lumMod val="50000"/>
                  </a:schemeClr>
                </a:solidFill>
              </a:rPr>
              <a:t>git status</a:t>
            </a:r>
          </a:p>
          <a:p>
            <a:r>
              <a:rPr lang="ru-RU" sz="1000" dirty="0">
                <a:solidFill>
                  <a:schemeClr val="bg1">
                    <a:lumMod val="50000"/>
                  </a:schemeClr>
                </a:solidFill>
              </a:rPr>
              <a:t>На ветке master</a:t>
            </a:r>
          </a:p>
          <a:p>
            <a:r>
              <a:rPr lang="ru-RU" sz="1000" dirty="0">
                <a:solidFill>
                  <a:schemeClr val="bg1">
                    <a:lumMod val="50000"/>
                  </a:schemeClr>
                </a:solidFill>
              </a:rPr>
              <a:t>нечего коммитить, нет изменений в рабочем каталоге</a:t>
            </a:r>
          </a:p>
          <a:p>
            <a:endParaRPr lang="ru-RU" sz="1000" dirty="0">
              <a:solidFill>
                <a:schemeClr val="bg1">
                  <a:lumMod val="50000"/>
                </a:schemeClr>
              </a:solidFill>
            </a:endParaRPr>
          </a:p>
        </p:txBody>
      </p:sp>
      <p:pic>
        <p:nvPicPr>
          <p:cNvPr id="7" name="Picture 6">
            <a:extLst>
              <a:ext uri="{FF2B5EF4-FFF2-40B4-BE49-F238E27FC236}">
                <a16:creationId xmlns:a16="http://schemas.microsoft.com/office/drawing/2014/main" id="{5A453502-CDA0-4668-9195-F1A4391C30C5}"/>
              </a:ext>
            </a:extLst>
          </p:cNvPr>
          <p:cNvPicPr>
            <a:picLocks noChangeAspect="1"/>
          </p:cNvPicPr>
          <p:nvPr/>
        </p:nvPicPr>
        <p:blipFill>
          <a:blip r:embed="rId3"/>
          <a:stretch>
            <a:fillRect/>
          </a:stretch>
        </p:blipFill>
        <p:spPr>
          <a:xfrm>
            <a:off x="840419" y="3539646"/>
            <a:ext cx="4933950" cy="1076325"/>
          </a:xfrm>
          <a:prstGeom prst="rect">
            <a:avLst/>
          </a:prstGeom>
        </p:spPr>
      </p:pic>
    </p:spTree>
    <p:extLst>
      <p:ext uri="{BB962C8B-B14F-4D97-AF65-F5344CB8AC3E}">
        <p14:creationId xmlns:p14="http://schemas.microsoft.com/office/powerpoint/2010/main" val="32615741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Создание коммита</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400" b="1" dirty="0"/>
              <a:t>Изменим содержимое файла fourth.html на:</a:t>
            </a:r>
            <a:endParaRPr lang="en-US" sz="1400" b="1" dirty="0"/>
          </a:p>
          <a:p>
            <a:pPr marL="0" indent="0">
              <a:buNone/>
            </a:pPr>
            <a:r>
              <a:rPr lang="en-US" sz="1400" dirty="0"/>
              <a:t>&lt;h4&gt;Fourth file new text&lt;/h4&gt;</a:t>
            </a:r>
          </a:p>
          <a:p>
            <a:pPr marL="0" indent="0">
              <a:buNone/>
            </a:pPr>
            <a:r>
              <a:rPr lang="ru-RU" sz="1400" u="sng" dirty="0"/>
              <a:t>Проверим статус:</a:t>
            </a:r>
          </a:p>
          <a:p>
            <a:pPr marL="0" indent="0">
              <a:buNone/>
            </a:pPr>
            <a:r>
              <a:rPr lang="ru-RU" sz="1400" b="1" dirty="0"/>
              <a:t>git status</a:t>
            </a:r>
            <a:endParaRPr lang="en-US" sz="1400" b="1" dirty="0"/>
          </a:p>
          <a:p>
            <a:pPr marL="0" indent="0">
              <a:buNone/>
            </a:pPr>
            <a:endParaRPr lang="en-US" sz="1400" b="1" dirty="0"/>
          </a:p>
          <a:p>
            <a:pPr marL="0" indent="0">
              <a:buNone/>
            </a:pPr>
            <a:endParaRPr lang="en-US" sz="1400" b="1" dirty="0"/>
          </a:p>
          <a:p>
            <a:pPr marL="0" indent="0">
              <a:buNone/>
            </a:pPr>
            <a:endParaRPr lang="en-US" sz="1400" dirty="0"/>
          </a:p>
          <a:p>
            <a:pPr marL="0" indent="0">
              <a:buNone/>
            </a:pPr>
            <a:endParaRPr lang="en-US" sz="1400" dirty="0"/>
          </a:p>
          <a:p>
            <a:pPr marL="0" indent="0">
              <a:buNone/>
            </a:pPr>
            <a:r>
              <a:rPr lang="ru-RU" sz="1400" dirty="0"/>
              <a:t>Добавим изменения в индекс – раньше мы это делали с помощью команды </a:t>
            </a:r>
            <a:r>
              <a:rPr lang="ru-RU" sz="1400" b="1" dirty="0"/>
              <a:t>git add </a:t>
            </a:r>
            <a:r>
              <a:rPr lang="ru-RU" sz="1800" b="1" dirty="0"/>
              <a:t>.</a:t>
            </a:r>
            <a:r>
              <a:rPr lang="ru-RU" sz="1400" dirty="0"/>
              <a:t>,</a:t>
            </a:r>
            <a:r>
              <a:rPr lang="ru-RU" sz="1400" b="1" dirty="0"/>
              <a:t> </a:t>
            </a:r>
            <a:r>
              <a:rPr lang="ru-RU" sz="1400" dirty="0"/>
              <a:t>а теперь воспользуемся ключом </a:t>
            </a:r>
            <a:r>
              <a:rPr lang="ru-RU" sz="1400" b="1" dirty="0"/>
              <a:t>-A</a:t>
            </a:r>
            <a:r>
              <a:rPr lang="ru-RU" sz="1400" dirty="0"/>
              <a:t> (добавить в индекс все файлы, как отслеживаемые, так и не отслеживаемые):</a:t>
            </a:r>
            <a:endParaRPr lang="en-US" sz="1400" dirty="0"/>
          </a:p>
          <a:p>
            <a:pPr marL="0" indent="0">
              <a:buNone/>
            </a:pPr>
            <a:endParaRPr lang="ru-RU" sz="1400" dirty="0"/>
          </a:p>
          <a:p>
            <a:pPr marL="0" indent="0">
              <a:buNone/>
            </a:pPr>
            <a:endParaRPr lang="en-US" sz="1400" dirty="0"/>
          </a:p>
          <a:p>
            <a:pPr marL="0" indent="0">
              <a:buNone/>
            </a:pPr>
            <a:endParaRPr lang="en-US" sz="1400" dirty="0"/>
          </a:p>
        </p:txBody>
      </p:sp>
      <p:pic>
        <p:nvPicPr>
          <p:cNvPr id="8" name="Picture 7">
            <a:extLst>
              <a:ext uri="{FF2B5EF4-FFF2-40B4-BE49-F238E27FC236}">
                <a16:creationId xmlns:a16="http://schemas.microsoft.com/office/drawing/2014/main" id="{0FEAE67B-5DF5-467B-B85A-0AF317C9AB78}"/>
              </a:ext>
            </a:extLst>
          </p:cNvPr>
          <p:cNvPicPr>
            <a:picLocks noChangeAspect="1"/>
          </p:cNvPicPr>
          <p:nvPr/>
        </p:nvPicPr>
        <p:blipFill>
          <a:blip r:embed="rId2"/>
          <a:stretch>
            <a:fillRect/>
          </a:stretch>
        </p:blipFill>
        <p:spPr>
          <a:xfrm>
            <a:off x="840419" y="2530772"/>
            <a:ext cx="5476875" cy="1381125"/>
          </a:xfrm>
          <a:prstGeom prst="rect">
            <a:avLst/>
          </a:prstGeom>
        </p:spPr>
      </p:pic>
      <p:pic>
        <p:nvPicPr>
          <p:cNvPr id="9" name="Picture 8">
            <a:extLst>
              <a:ext uri="{FF2B5EF4-FFF2-40B4-BE49-F238E27FC236}">
                <a16:creationId xmlns:a16="http://schemas.microsoft.com/office/drawing/2014/main" id="{64FD20D2-DC81-4279-B21B-95F3AA3E44D1}"/>
              </a:ext>
            </a:extLst>
          </p:cNvPr>
          <p:cNvPicPr>
            <a:picLocks noChangeAspect="1"/>
          </p:cNvPicPr>
          <p:nvPr/>
        </p:nvPicPr>
        <p:blipFill>
          <a:blip r:embed="rId3"/>
          <a:stretch>
            <a:fillRect/>
          </a:stretch>
        </p:blipFill>
        <p:spPr>
          <a:xfrm>
            <a:off x="840419" y="4627185"/>
            <a:ext cx="4457700" cy="1438275"/>
          </a:xfrm>
          <a:prstGeom prst="rect">
            <a:avLst/>
          </a:prstGeom>
        </p:spPr>
      </p:pic>
    </p:spTree>
    <p:extLst>
      <p:ext uri="{BB962C8B-B14F-4D97-AF65-F5344CB8AC3E}">
        <p14:creationId xmlns:p14="http://schemas.microsoft.com/office/powerpoint/2010/main" val="27803268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Создание коммита</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400" b="1" dirty="0"/>
              <a:t>Создадим новый коммит: </a:t>
            </a:r>
            <a:endParaRPr lang="en-US" sz="1400" b="1" dirty="0"/>
          </a:p>
          <a:p>
            <a:pPr marL="0" indent="0">
              <a:buNone/>
            </a:pPr>
            <a:r>
              <a:rPr lang="en-US" sz="1400" b="1" dirty="0"/>
              <a:t>git commit -m </a:t>
            </a:r>
            <a:r>
              <a:rPr lang="en-US" sz="1400" dirty="0"/>
              <a:t>'changed line commit' </a:t>
            </a:r>
            <a:r>
              <a:rPr lang="ru-RU" sz="1400" dirty="0"/>
              <a:t>	</a:t>
            </a:r>
            <a:r>
              <a:rPr lang="en-US" sz="1400" dirty="0">
                <a:solidFill>
                  <a:schemeClr val="bg1">
                    <a:lumMod val="50000"/>
                  </a:schemeClr>
                </a:solidFill>
              </a:rPr>
              <a:t>#</a:t>
            </a:r>
            <a:r>
              <a:rPr lang="ru-RU" sz="1400" dirty="0">
                <a:solidFill>
                  <a:schemeClr val="bg1">
                    <a:lumMod val="50000"/>
                  </a:schemeClr>
                </a:solidFill>
              </a:rPr>
              <a:t> описание указывается в кавычках</a:t>
            </a:r>
            <a:r>
              <a:rPr lang="en-US" sz="1400" dirty="0">
                <a:solidFill>
                  <a:schemeClr val="bg1">
                    <a:lumMod val="50000"/>
                  </a:schemeClr>
                </a:solidFill>
              </a:rPr>
              <a:t> </a:t>
            </a:r>
            <a:endParaRPr lang="en-US" sz="1400" b="1" dirty="0">
              <a:solidFill>
                <a:schemeClr val="bg1">
                  <a:lumMod val="50000"/>
                </a:schemeClr>
              </a:solidFill>
            </a:endParaRPr>
          </a:p>
          <a:p>
            <a:pPr marL="0" indent="0">
              <a:buNone/>
            </a:pPr>
            <a:endParaRPr lang="en-US" sz="1400" b="1" dirty="0"/>
          </a:p>
          <a:p>
            <a:pPr marL="0" indent="0">
              <a:buNone/>
            </a:pPr>
            <a:endParaRPr lang="en-US" sz="1400" b="1" dirty="0"/>
          </a:p>
          <a:p>
            <a:pPr marL="0" indent="0">
              <a:buNone/>
            </a:pPr>
            <a:r>
              <a:rPr lang="ru-RU" sz="1400" dirty="0"/>
              <a:t>Ключ </a:t>
            </a:r>
            <a:r>
              <a:rPr lang="ru-RU" sz="1400" b="1" dirty="0"/>
              <a:t>-m</a:t>
            </a:r>
            <a:r>
              <a:rPr lang="ru-RU" sz="1400" dirty="0"/>
              <a:t> в команде </a:t>
            </a:r>
            <a:r>
              <a:rPr lang="ru-RU" sz="1400" b="1" dirty="0"/>
              <a:t>git commit </a:t>
            </a:r>
            <a:r>
              <a:rPr lang="ru-RU" sz="1400" dirty="0"/>
              <a:t>позволяет задавать описание коммита сразу, без формирования файла с описанием в текстовом редакторе. Такой вариант используется чаще, так как он удобнее и быстрее.</a:t>
            </a:r>
            <a:endParaRPr lang="en-US" sz="1400" dirty="0"/>
          </a:p>
          <a:p>
            <a:pPr marL="0" indent="0">
              <a:buNone/>
            </a:pPr>
            <a:endParaRPr lang="en-US" sz="1400" dirty="0"/>
          </a:p>
          <a:p>
            <a:pPr marL="0" indent="0">
              <a:buNone/>
            </a:pPr>
            <a:r>
              <a:rPr lang="ru-RU" sz="1400" dirty="0"/>
              <a:t>Команда </a:t>
            </a:r>
            <a:r>
              <a:rPr lang="ru-RU" sz="1400" b="1" dirty="0"/>
              <a:t>git log </a:t>
            </a:r>
            <a:r>
              <a:rPr lang="ru-RU" sz="1400" dirty="0"/>
              <a:t>теперь покажет нам информацию о двух сделанных нами коммитах:</a:t>
            </a:r>
            <a:endParaRPr lang="en-US" sz="1400" dirty="0"/>
          </a:p>
          <a:p>
            <a:pPr marL="0" indent="0">
              <a:buNone/>
            </a:pPr>
            <a:endParaRPr lang="en-US" sz="1400" dirty="0"/>
          </a:p>
          <a:p>
            <a:pPr marL="0" indent="0">
              <a:buNone/>
            </a:pPr>
            <a:endParaRPr lang="en-US" sz="1400" dirty="0"/>
          </a:p>
          <a:p>
            <a:pPr marL="0" indent="0">
              <a:buNone/>
            </a:pPr>
            <a:endParaRPr lang="ru-RU" sz="1400" dirty="0"/>
          </a:p>
          <a:p>
            <a:pPr marL="0" indent="0">
              <a:buNone/>
            </a:pPr>
            <a:endParaRPr lang="en-US" sz="1400" dirty="0"/>
          </a:p>
          <a:p>
            <a:pPr marL="0" indent="0">
              <a:buNone/>
            </a:pPr>
            <a:endParaRPr lang="en-US" sz="1400" dirty="0"/>
          </a:p>
        </p:txBody>
      </p:sp>
      <p:pic>
        <p:nvPicPr>
          <p:cNvPr id="5" name="Picture 4">
            <a:extLst>
              <a:ext uri="{FF2B5EF4-FFF2-40B4-BE49-F238E27FC236}">
                <a16:creationId xmlns:a16="http://schemas.microsoft.com/office/drawing/2014/main" id="{4C4E1E43-AE4C-459A-A379-4F815886AD59}"/>
              </a:ext>
            </a:extLst>
          </p:cNvPr>
          <p:cNvPicPr>
            <a:picLocks noChangeAspect="1"/>
          </p:cNvPicPr>
          <p:nvPr/>
        </p:nvPicPr>
        <p:blipFill>
          <a:blip r:embed="rId2"/>
          <a:stretch>
            <a:fillRect/>
          </a:stretch>
        </p:blipFill>
        <p:spPr>
          <a:xfrm>
            <a:off x="840419" y="1898109"/>
            <a:ext cx="4286250" cy="638175"/>
          </a:xfrm>
          <a:prstGeom prst="rect">
            <a:avLst/>
          </a:prstGeom>
        </p:spPr>
      </p:pic>
      <p:pic>
        <p:nvPicPr>
          <p:cNvPr id="6" name="Picture 5">
            <a:extLst>
              <a:ext uri="{FF2B5EF4-FFF2-40B4-BE49-F238E27FC236}">
                <a16:creationId xmlns:a16="http://schemas.microsoft.com/office/drawing/2014/main" id="{9337E3A9-3707-4008-AA96-1BE540E02068}"/>
              </a:ext>
            </a:extLst>
          </p:cNvPr>
          <p:cNvPicPr>
            <a:picLocks noChangeAspect="1"/>
          </p:cNvPicPr>
          <p:nvPr/>
        </p:nvPicPr>
        <p:blipFill>
          <a:blip r:embed="rId3"/>
          <a:stretch>
            <a:fillRect/>
          </a:stretch>
        </p:blipFill>
        <p:spPr>
          <a:xfrm>
            <a:off x="840419" y="3917457"/>
            <a:ext cx="4905375" cy="2019300"/>
          </a:xfrm>
          <a:prstGeom prst="rect">
            <a:avLst/>
          </a:prstGeom>
        </p:spPr>
      </p:pic>
    </p:spTree>
    <p:extLst>
      <p:ext uri="{BB962C8B-B14F-4D97-AF65-F5344CB8AC3E}">
        <p14:creationId xmlns:p14="http://schemas.microsoft.com/office/powerpoint/2010/main" val="4188667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Создание коммита</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300" u="sng" dirty="0"/>
              <a:t>Git позволяет увидеть, что именно менялось в файлах коммита. Для этого нужно скопировать идентификатор нужного коммита и выполнить команду: </a:t>
            </a:r>
            <a:endParaRPr lang="en-US" sz="1300" b="1" u="sng" dirty="0"/>
          </a:p>
          <a:p>
            <a:pPr marL="0" indent="0">
              <a:buNone/>
            </a:pPr>
            <a:r>
              <a:rPr lang="en-US" sz="1300" b="1" dirty="0"/>
              <a:t>git diff </a:t>
            </a:r>
            <a:r>
              <a:rPr lang="en-US" sz="1300" dirty="0"/>
              <a:t>30b5ca483c25bb9bf2fe9a6779053482dad8115f </a:t>
            </a:r>
            <a:r>
              <a:rPr lang="ru-RU" sz="1300" dirty="0"/>
              <a:t>	</a:t>
            </a:r>
            <a:r>
              <a:rPr lang="en-US" sz="1300" b="1" dirty="0">
                <a:solidFill>
                  <a:schemeClr val="bg1">
                    <a:lumMod val="50000"/>
                  </a:schemeClr>
                </a:solidFill>
              </a:rPr>
              <a:t>#</a:t>
            </a:r>
            <a:r>
              <a:rPr lang="ru-RU" sz="1300" b="1" dirty="0">
                <a:solidFill>
                  <a:schemeClr val="bg1">
                    <a:lumMod val="50000"/>
                  </a:schemeClr>
                </a:solidFill>
              </a:rPr>
              <a:t> у вас будет другой ключ, его можно скопировать его из консоли</a:t>
            </a:r>
            <a:endParaRPr lang="en-US" sz="1300" b="1" dirty="0">
              <a:solidFill>
                <a:schemeClr val="bg1">
                  <a:lumMod val="50000"/>
                </a:schemeClr>
              </a:solidFill>
            </a:endParaRPr>
          </a:p>
          <a:p>
            <a:pPr marL="0" indent="0">
              <a:buNone/>
            </a:pPr>
            <a:endParaRPr lang="ru-RU" sz="1300" dirty="0"/>
          </a:p>
          <a:p>
            <a:pPr marL="0" indent="0">
              <a:buNone/>
            </a:pPr>
            <a:endParaRPr lang="ru-RU" sz="1300" dirty="0"/>
          </a:p>
          <a:p>
            <a:pPr marL="0" indent="0">
              <a:buNone/>
            </a:pPr>
            <a:endParaRPr lang="ru-RU" sz="1300" dirty="0"/>
          </a:p>
          <a:p>
            <a:pPr marL="0" indent="0">
              <a:buNone/>
            </a:pPr>
            <a:endParaRPr lang="ru-RU" sz="1300" dirty="0"/>
          </a:p>
          <a:p>
            <a:pPr marL="0" indent="0">
              <a:buNone/>
            </a:pPr>
            <a:endParaRPr lang="en-US" sz="1300" dirty="0"/>
          </a:p>
          <a:p>
            <a:pPr marL="0" indent="0">
              <a:buNone/>
            </a:pPr>
            <a:r>
              <a:rPr lang="ru-RU" sz="1300" dirty="0"/>
              <a:t>Если вызвать команду </a:t>
            </a:r>
            <a:r>
              <a:rPr lang="ru-RU" sz="1300" b="1" dirty="0"/>
              <a:t>git diff </a:t>
            </a:r>
            <a:r>
              <a:rPr lang="ru-RU" sz="1300" dirty="0"/>
              <a:t>без идентификатора коммита, то она покажет изменения в текущем коммите (аналогично команде </a:t>
            </a:r>
            <a:r>
              <a:rPr lang="ru-RU" sz="1300" b="1" dirty="0"/>
              <a:t>git status</a:t>
            </a:r>
            <a:r>
              <a:rPr lang="ru-RU" sz="1300" dirty="0"/>
              <a:t>, но в более расширенном варианте). Для проверки изменим файл </a:t>
            </a:r>
            <a:r>
              <a:rPr lang="ru-RU" sz="1300" b="1" dirty="0"/>
              <a:t>index.html</a:t>
            </a:r>
            <a:r>
              <a:rPr lang="ru-RU" sz="1300" dirty="0"/>
              <a:t>, добавим в него ещё одно слово "new":</a:t>
            </a:r>
            <a:endParaRPr lang="en-US" sz="1300" dirty="0"/>
          </a:p>
          <a:p>
            <a:pPr marL="0" indent="0">
              <a:buNone/>
            </a:pPr>
            <a:r>
              <a:rPr lang="en-US" sz="1300" dirty="0"/>
              <a:t>&lt;h1&gt;Hello new new world!&lt;/h1&gt;</a:t>
            </a:r>
          </a:p>
          <a:p>
            <a:pPr marL="0" indent="0">
              <a:buNone/>
            </a:pPr>
            <a:r>
              <a:rPr lang="en-US" sz="1300" b="1" dirty="0"/>
              <a:t>git diff</a:t>
            </a:r>
          </a:p>
          <a:p>
            <a:pPr marL="0" indent="0">
              <a:buNone/>
            </a:pPr>
            <a:endParaRPr lang="ru-RU" sz="1300" dirty="0"/>
          </a:p>
          <a:p>
            <a:pPr marL="0" indent="0">
              <a:buNone/>
            </a:pPr>
            <a:endParaRPr lang="en-US" sz="1300" dirty="0"/>
          </a:p>
          <a:p>
            <a:pPr marL="0" indent="0">
              <a:buNone/>
            </a:pPr>
            <a:endParaRPr lang="ru-RU" sz="1300" dirty="0"/>
          </a:p>
          <a:p>
            <a:pPr marL="0" indent="0">
              <a:buNone/>
            </a:pPr>
            <a:endParaRPr lang="ru-RU" sz="1300" dirty="0"/>
          </a:p>
          <a:p>
            <a:pPr marL="0" indent="0">
              <a:buNone/>
            </a:pPr>
            <a:endParaRPr lang="en-US" sz="1300" dirty="0"/>
          </a:p>
          <a:p>
            <a:pPr marL="0" indent="0">
              <a:buNone/>
            </a:pPr>
            <a:r>
              <a:rPr lang="ru-RU" sz="1300" dirty="0"/>
              <a:t>Здесь мы видим не только имя файла, в котором произошли изменения, как это было в команде </a:t>
            </a:r>
            <a:r>
              <a:rPr lang="ru-RU" sz="1300" b="1" dirty="0"/>
              <a:t>git status</a:t>
            </a:r>
            <a:r>
              <a:rPr lang="ru-RU" sz="1300" dirty="0"/>
              <a:t>, но и сами изменённые строки.</a:t>
            </a:r>
            <a:endParaRPr lang="en-US" sz="1300" dirty="0"/>
          </a:p>
        </p:txBody>
      </p:sp>
      <p:pic>
        <p:nvPicPr>
          <p:cNvPr id="8" name="Picture 7">
            <a:extLst>
              <a:ext uri="{FF2B5EF4-FFF2-40B4-BE49-F238E27FC236}">
                <a16:creationId xmlns:a16="http://schemas.microsoft.com/office/drawing/2014/main" id="{DC5F78C3-FE9F-4036-BA19-8F5137F0B6EF}"/>
              </a:ext>
            </a:extLst>
          </p:cNvPr>
          <p:cNvPicPr>
            <a:picLocks noChangeAspect="1"/>
          </p:cNvPicPr>
          <p:nvPr/>
        </p:nvPicPr>
        <p:blipFill>
          <a:blip r:embed="rId2"/>
          <a:stretch>
            <a:fillRect/>
          </a:stretch>
        </p:blipFill>
        <p:spPr>
          <a:xfrm>
            <a:off x="840419" y="1834171"/>
            <a:ext cx="3483006" cy="1393202"/>
          </a:xfrm>
          <a:prstGeom prst="rect">
            <a:avLst/>
          </a:prstGeom>
        </p:spPr>
      </p:pic>
      <p:pic>
        <p:nvPicPr>
          <p:cNvPr id="9" name="Picture 8">
            <a:extLst>
              <a:ext uri="{FF2B5EF4-FFF2-40B4-BE49-F238E27FC236}">
                <a16:creationId xmlns:a16="http://schemas.microsoft.com/office/drawing/2014/main" id="{C82325D9-569E-4721-8135-AEB909606C7E}"/>
              </a:ext>
            </a:extLst>
          </p:cNvPr>
          <p:cNvPicPr>
            <a:picLocks noChangeAspect="1"/>
          </p:cNvPicPr>
          <p:nvPr/>
        </p:nvPicPr>
        <p:blipFill>
          <a:blip r:embed="rId3"/>
          <a:stretch>
            <a:fillRect/>
          </a:stretch>
        </p:blipFill>
        <p:spPr>
          <a:xfrm>
            <a:off x="840419" y="4296791"/>
            <a:ext cx="4324350" cy="1561386"/>
          </a:xfrm>
          <a:prstGeom prst="rect">
            <a:avLst/>
          </a:prstGeom>
        </p:spPr>
      </p:pic>
    </p:spTree>
    <p:extLst>
      <p:ext uri="{BB962C8B-B14F-4D97-AF65-F5344CB8AC3E}">
        <p14:creationId xmlns:p14="http://schemas.microsoft.com/office/powerpoint/2010/main" val="5475862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Создание коммита</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400" u="sng" dirty="0"/>
              <a:t>Закоммитим все наши изменения: </a:t>
            </a:r>
          </a:p>
          <a:p>
            <a:pPr marL="0" indent="0">
              <a:buNone/>
            </a:pPr>
            <a:r>
              <a:rPr lang="en-US" sz="1400" b="1" dirty="0"/>
              <a:t>git add .</a:t>
            </a:r>
            <a:endParaRPr lang="ru-RU" sz="1400" b="1" dirty="0"/>
          </a:p>
          <a:p>
            <a:pPr marL="0" indent="0">
              <a:buNone/>
            </a:pPr>
            <a:r>
              <a:rPr lang="ru-RU" sz="1400" b="1" dirty="0"/>
              <a:t>git commit -m </a:t>
            </a:r>
            <a:r>
              <a:rPr lang="ru-RU" sz="1400" dirty="0"/>
              <a:t>'третий коммит'</a:t>
            </a:r>
          </a:p>
          <a:p>
            <a:pPr marL="0" indent="0">
              <a:buNone/>
            </a:pPr>
            <a:endParaRPr lang="ru-RU" sz="1400" dirty="0"/>
          </a:p>
          <a:p>
            <a:pPr marL="0" indent="0">
              <a:buNone/>
            </a:pPr>
            <a:endParaRPr lang="ru-RU" sz="1400" dirty="0"/>
          </a:p>
          <a:p>
            <a:pPr marL="0" indent="0">
              <a:buNone/>
            </a:pPr>
            <a:endParaRPr lang="en-US" sz="1400" dirty="0"/>
          </a:p>
          <a:p>
            <a:pPr marL="0" indent="0">
              <a:buNone/>
            </a:pPr>
            <a:endParaRPr lang="ru-RU" sz="1400" dirty="0"/>
          </a:p>
          <a:p>
            <a:pPr marL="0" indent="0">
              <a:buNone/>
            </a:pPr>
            <a:r>
              <a:rPr lang="ru-RU" sz="1400" u="sng" dirty="0"/>
              <a:t>В репозитории теперь будут храниться три коммита:</a:t>
            </a:r>
            <a:endParaRPr lang="en-US" sz="1400" u="sng" dirty="0"/>
          </a:p>
        </p:txBody>
      </p:sp>
      <p:pic>
        <p:nvPicPr>
          <p:cNvPr id="5" name="Picture 4">
            <a:extLst>
              <a:ext uri="{FF2B5EF4-FFF2-40B4-BE49-F238E27FC236}">
                <a16:creationId xmlns:a16="http://schemas.microsoft.com/office/drawing/2014/main" id="{C4ECD3D3-88AE-47B3-BD75-0B97AE386308}"/>
              </a:ext>
            </a:extLst>
          </p:cNvPr>
          <p:cNvPicPr>
            <a:picLocks noChangeAspect="1"/>
          </p:cNvPicPr>
          <p:nvPr/>
        </p:nvPicPr>
        <p:blipFill>
          <a:blip r:embed="rId2"/>
          <a:stretch>
            <a:fillRect/>
          </a:stretch>
        </p:blipFill>
        <p:spPr>
          <a:xfrm>
            <a:off x="840419" y="2175862"/>
            <a:ext cx="4438650" cy="1085850"/>
          </a:xfrm>
          <a:prstGeom prst="rect">
            <a:avLst/>
          </a:prstGeom>
        </p:spPr>
      </p:pic>
      <p:pic>
        <p:nvPicPr>
          <p:cNvPr id="6" name="Picture 5">
            <a:extLst>
              <a:ext uri="{FF2B5EF4-FFF2-40B4-BE49-F238E27FC236}">
                <a16:creationId xmlns:a16="http://schemas.microsoft.com/office/drawing/2014/main" id="{028EAEEA-8531-4859-A455-B5AA01A78A48}"/>
              </a:ext>
            </a:extLst>
          </p:cNvPr>
          <p:cNvPicPr>
            <a:picLocks noChangeAspect="1"/>
          </p:cNvPicPr>
          <p:nvPr/>
        </p:nvPicPr>
        <p:blipFill>
          <a:blip r:embed="rId3"/>
          <a:stretch>
            <a:fillRect/>
          </a:stretch>
        </p:blipFill>
        <p:spPr>
          <a:xfrm>
            <a:off x="840419" y="3879346"/>
            <a:ext cx="3805932" cy="2260002"/>
          </a:xfrm>
          <a:prstGeom prst="rect">
            <a:avLst/>
          </a:prstGeom>
        </p:spPr>
      </p:pic>
    </p:spTree>
    <p:extLst>
      <p:ext uri="{BB962C8B-B14F-4D97-AF65-F5344CB8AC3E}">
        <p14:creationId xmlns:p14="http://schemas.microsoft.com/office/powerpoint/2010/main" val="25175040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Навигация по коммитам</a:t>
            </a:r>
            <a:r>
              <a:rPr lang="en-US" sz="4200" dirty="0"/>
              <a:t>: </a:t>
            </a:r>
            <a:r>
              <a:rPr lang="ru-RU" sz="4200" dirty="0"/>
              <a:t>отмена изменений</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dirty="0"/>
              <a:t>Рассмотрим, каким образом во время разработки можно отменять сохранённые в Git изменения файлов. Для понимания этой процедуры разберём, как Git работает с файлами проекта.</a:t>
            </a:r>
          </a:p>
          <a:p>
            <a:pPr marL="0" indent="0">
              <a:buNone/>
            </a:pPr>
            <a:r>
              <a:rPr lang="ru-RU" sz="1200" dirty="0"/>
              <a:t>Каждый Git-проект состоит из трёх областей: </a:t>
            </a:r>
            <a:r>
              <a:rPr lang="ru-RU" sz="1200" b="1" dirty="0"/>
              <a:t>рабочий каталог, индекс и репозиторий.</a:t>
            </a:r>
            <a:endParaRPr lang="ru-RU" sz="1200" dirty="0"/>
          </a:p>
          <a:p>
            <a:pPr marL="0" indent="0">
              <a:buNone/>
            </a:pPr>
            <a:endParaRPr lang="ru-RU" sz="1200" dirty="0"/>
          </a:p>
          <a:p>
            <a:pPr marL="0" indent="0">
              <a:buNone/>
            </a:pPr>
            <a:endParaRPr lang="ru-RU" sz="1200" dirty="0"/>
          </a:p>
          <a:p>
            <a:pPr marL="0" indent="0">
              <a:buNone/>
            </a:pPr>
            <a:endParaRPr lang="ru-RU" sz="1200" dirty="0"/>
          </a:p>
          <a:p>
            <a:pPr marL="0" indent="0">
              <a:buNone/>
            </a:pPr>
            <a:endParaRPr lang="ru-RU" sz="1200" dirty="0"/>
          </a:p>
          <a:p>
            <a:pPr marL="0" indent="0">
              <a:buNone/>
            </a:pPr>
            <a:endParaRPr lang="ru-RU" sz="1200" dirty="0"/>
          </a:p>
          <a:p>
            <a:pPr marL="0" indent="0">
              <a:buNone/>
            </a:pPr>
            <a:endParaRPr lang="ru-RU" sz="1200" dirty="0"/>
          </a:p>
          <a:p>
            <a:pPr marL="0" indent="0">
              <a:buNone/>
            </a:pPr>
            <a:endParaRPr lang="ru-RU" sz="1200" dirty="0"/>
          </a:p>
          <a:p>
            <a:pPr marL="0" indent="0">
              <a:buNone/>
            </a:pPr>
            <a:endParaRPr lang="ru-RU" sz="1200" dirty="0"/>
          </a:p>
          <a:p>
            <a:endParaRPr lang="ru-RU" sz="1200" b="1" dirty="0"/>
          </a:p>
          <a:p>
            <a:r>
              <a:rPr lang="ru-RU" sz="1200" b="1" dirty="0"/>
              <a:t>Рабочий катало</a:t>
            </a:r>
            <a:r>
              <a:rPr lang="ru-RU" sz="1200" dirty="0"/>
              <a:t>г - это место, куда выполняется выгрузка одной из версий проекта. Когда мы создаем новые файлы или изменяем уже существующие, то эти файлы сохраняются в рабочем каталоге. Рабочий каталог не имеет отношение к папке .git.</a:t>
            </a:r>
          </a:p>
          <a:p>
            <a:r>
              <a:rPr lang="ru-RU" sz="1200" b="1" dirty="0"/>
              <a:t>Область индексирования</a:t>
            </a:r>
            <a:r>
              <a:rPr lang="ru-RU" sz="1200" dirty="0"/>
              <a:t> (</a:t>
            </a:r>
            <a:r>
              <a:rPr lang="ru-RU" sz="1200" b="1" dirty="0"/>
              <a:t>индекс</a:t>
            </a:r>
            <a:r>
              <a:rPr lang="ru-RU" sz="1200" dirty="0"/>
              <a:t> или </a:t>
            </a:r>
            <a:r>
              <a:rPr lang="ru-RU" sz="1200" b="1" dirty="0"/>
              <a:t>промежуточная область</a:t>
            </a:r>
            <a:r>
              <a:rPr lang="ru-RU" sz="1200" dirty="0"/>
              <a:t>) находится в папке .git и содержит информацию о том, какие именно файлы и в каком состоянии будут зафиксированы при следующем коммите.</a:t>
            </a:r>
          </a:p>
          <a:p>
            <a:r>
              <a:rPr lang="ru-RU" sz="1200" b="1" dirty="0"/>
              <a:t>Репозиторий </a:t>
            </a:r>
            <a:r>
              <a:rPr lang="ru-RU" sz="1200" dirty="0"/>
              <a:t> - хранится в папке .git и содержит все выполненные коммиты, то есть снимки состояния файлов для каждого коммита. При этом на последний коммит ссылается специальный указатель HEAD.</a:t>
            </a:r>
          </a:p>
          <a:p>
            <a:pPr marL="0" indent="0">
              <a:buNone/>
            </a:pPr>
            <a:endParaRPr lang="ru-RU" sz="1400" dirty="0"/>
          </a:p>
          <a:p>
            <a:pPr marL="0" indent="0">
              <a:buNone/>
            </a:pPr>
            <a:endParaRPr lang="en-US" sz="1400" dirty="0"/>
          </a:p>
          <a:p>
            <a:pPr marL="0" indent="0">
              <a:buNone/>
            </a:pPr>
            <a:endParaRPr lang="ru-RU" sz="1400" dirty="0"/>
          </a:p>
        </p:txBody>
      </p:sp>
      <p:pic>
        <p:nvPicPr>
          <p:cNvPr id="7" name="Picture 6">
            <a:extLst>
              <a:ext uri="{FF2B5EF4-FFF2-40B4-BE49-F238E27FC236}">
                <a16:creationId xmlns:a16="http://schemas.microsoft.com/office/drawing/2014/main" id="{D03F97CD-F88F-44C3-AB8A-F11166F3FCEA}"/>
              </a:ext>
            </a:extLst>
          </p:cNvPr>
          <p:cNvPicPr>
            <a:picLocks noChangeAspect="1"/>
          </p:cNvPicPr>
          <p:nvPr/>
        </p:nvPicPr>
        <p:blipFill>
          <a:blip r:embed="rId2"/>
          <a:stretch>
            <a:fillRect/>
          </a:stretch>
        </p:blipFill>
        <p:spPr>
          <a:xfrm>
            <a:off x="840419" y="1943046"/>
            <a:ext cx="4863108" cy="2463236"/>
          </a:xfrm>
          <a:prstGeom prst="rect">
            <a:avLst/>
          </a:prstGeom>
        </p:spPr>
      </p:pic>
    </p:spTree>
    <p:extLst>
      <p:ext uri="{BB962C8B-B14F-4D97-AF65-F5344CB8AC3E}">
        <p14:creationId xmlns:p14="http://schemas.microsoft.com/office/powerpoint/2010/main" val="31977332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Навигация по коммитам</a:t>
            </a:r>
            <a:r>
              <a:rPr lang="en-US" sz="4200" dirty="0"/>
              <a:t>: </a:t>
            </a:r>
            <a:r>
              <a:rPr lang="ru-RU" sz="4200" dirty="0"/>
              <a:t>отмена изменений</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u="sng" dirty="0"/>
              <a:t>Обработка файлов в Git происходит следующим образом:</a:t>
            </a:r>
          </a:p>
          <a:p>
            <a:pPr fontAlgn="base"/>
            <a:r>
              <a:rPr lang="ru-RU" sz="1200" dirty="0"/>
              <a:t>Мы редактируем файл в рабочем каталоге. У такого файла будет состояние </a:t>
            </a:r>
            <a:r>
              <a:rPr lang="en-US" sz="1200" dirty="0"/>
              <a:t>"</a:t>
            </a:r>
            <a:r>
              <a:rPr lang="ru-RU" sz="1200" dirty="0"/>
              <a:t>Изменён</a:t>
            </a:r>
            <a:r>
              <a:rPr lang="en-US" sz="1200" dirty="0"/>
              <a:t>"</a:t>
            </a:r>
            <a:r>
              <a:rPr lang="ru-RU" sz="1200" dirty="0"/>
              <a:t> (modified).</a:t>
            </a:r>
          </a:p>
          <a:p>
            <a:pPr fontAlgn="base"/>
            <a:r>
              <a:rPr lang="ru-RU" sz="1200" dirty="0"/>
              <a:t>Индексируем изменённый файл, добавляя его в индекс командой </a:t>
            </a:r>
            <a:r>
              <a:rPr lang="ru-RU" sz="1200" b="1" dirty="0"/>
              <a:t>git add</a:t>
            </a:r>
            <a:r>
              <a:rPr lang="ru-RU" sz="1200" dirty="0"/>
              <a:t>. Статус такого файла – </a:t>
            </a:r>
            <a:r>
              <a:rPr lang="en-US" sz="1200" dirty="0"/>
              <a:t>"</a:t>
            </a:r>
            <a:r>
              <a:rPr lang="ru-RU" sz="1200" dirty="0"/>
              <a:t>Индексирован</a:t>
            </a:r>
            <a:r>
              <a:rPr lang="en-US" sz="1200" dirty="0"/>
              <a:t>"</a:t>
            </a:r>
            <a:r>
              <a:rPr lang="ru-RU" sz="1200" dirty="0"/>
              <a:t> (staged).</a:t>
            </a:r>
          </a:p>
          <a:p>
            <a:pPr fontAlgn="base"/>
            <a:r>
              <a:rPr lang="ru-RU" sz="1200" dirty="0"/>
              <a:t>Сохраняем изменения в репозитории, выполняя коммит с помощью </a:t>
            </a:r>
            <a:r>
              <a:rPr lang="ru-RU" sz="1200" b="1" dirty="0"/>
              <a:t>git commit</a:t>
            </a:r>
            <a:r>
              <a:rPr lang="ru-RU" sz="1200" dirty="0"/>
              <a:t>. Статус такого файла – </a:t>
            </a:r>
            <a:r>
              <a:rPr lang="en-US" sz="1200" dirty="0"/>
              <a:t>"</a:t>
            </a:r>
            <a:r>
              <a:rPr lang="ru-RU" sz="1200" dirty="0"/>
              <a:t>Зафиксирован</a:t>
            </a:r>
            <a:r>
              <a:rPr lang="en-US" sz="1200" dirty="0"/>
              <a:t>"</a:t>
            </a:r>
            <a:r>
              <a:rPr lang="ru-RU" sz="1200" dirty="0"/>
              <a:t> (fixed).</a:t>
            </a:r>
          </a:p>
          <a:p>
            <a:pPr marL="0" indent="0">
              <a:buNone/>
            </a:pPr>
            <a:endParaRPr lang="ru-RU" sz="1400" dirty="0"/>
          </a:p>
          <a:p>
            <a:pPr marL="0" indent="0">
              <a:buNone/>
            </a:pPr>
            <a:endParaRPr lang="ru-RU" sz="1400" dirty="0"/>
          </a:p>
          <a:p>
            <a:pPr marL="0" indent="0">
              <a:buNone/>
            </a:pPr>
            <a:endParaRPr lang="ru-RU" sz="1400" dirty="0"/>
          </a:p>
          <a:p>
            <a:pPr marL="0" indent="0">
              <a:buNone/>
            </a:pPr>
            <a:endParaRPr lang="ru-RU" sz="1400" dirty="0"/>
          </a:p>
          <a:p>
            <a:pPr marL="0" indent="0">
              <a:buNone/>
            </a:pPr>
            <a:endParaRPr lang="ru-RU" sz="1400" dirty="0"/>
          </a:p>
          <a:p>
            <a:pPr marL="0" indent="0">
              <a:buNone/>
            </a:pPr>
            <a:endParaRPr lang="ru-RU" sz="1400" dirty="0"/>
          </a:p>
          <a:p>
            <a:pPr marL="0" indent="0">
              <a:buNone/>
            </a:pPr>
            <a:endParaRPr lang="ru-RU" sz="1400" dirty="0"/>
          </a:p>
          <a:p>
            <a:pPr marL="0" indent="0">
              <a:buNone/>
            </a:pPr>
            <a:endParaRPr lang="ru-RU" sz="1400" dirty="0"/>
          </a:p>
          <a:p>
            <a:pPr marL="0" indent="0">
              <a:buNone/>
            </a:pPr>
            <a:r>
              <a:rPr lang="ru-RU" sz="1400" dirty="0"/>
              <a:t>С помощью Git можно легко отменить изменения в не зафиксированном файле, вернув его в состояние последнего коммита, или откатить файл в состояние, в котором он был после выполнения определённого коммита. </a:t>
            </a:r>
          </a:p>
          <a:p>
            <a:pPr marL="0" indent="0">
              <a:buNone/>
            </a:pPr>
            <a:r>
              <a:rPr lang="ru-RU" sz="1400" dirty="0"/>
              <a:t>Давайте проделаем эти процедуры для нашего проекта</a:t>
            </a:r>
            <a:r>
              <a:rPr lang="en-US" sz="1400" dirty="0"/>
              <a:t>:</a:t>
            </a:r>
            <a:endParaRPr lang="ru-RU" sz="1400" dirty="0"/>
          </a:p>
          <a:p>
            <a:pPr marL="0" indent="0">
              <a:buNone/>
            </a:pPr>
            <a:endParaRPr lang="ru-RU" sz="1400" dirty="0"/>
          </a:p>
          <a:p>
            <a:pPr marL="0" indent="0">
              <a:buNone/>
            </a:pPr>
            <a:endParaRPr lang="en-US" sz="1400" dirty="0"/>
          </a:p>
          <a:p>
            <a:pPr marL="0" indent="0">
              <a:buNone/>
            </a:pPr>
            <a:endParaRPr lang="ru-RU" sz="1400" dirty="0"/>
          </a:p>
        </p:txBody>
      </p:sp>
      <p:pic>
        <p:nvPicPr>
          <p:cNvPr id="7" name="Picture 6">
            <a:extLst>
              <a:ext uri="{FF2B5EF4-FFF2-40B4-BE49-F238E27FC236}">
                <a16:creationId xmlns:a16="http://schemas.microsoft.com/office/drawing/2014/main" id="{D03F97CD-F88F-44C3-AB8A-F11166F3FCEA}"/>
              </a:ext>
            </a:extLst>
          </p:cNvPr>
          <p:cNvPicPr>
            <a:picLocks noChangeAspect="1"/>
          </p:cNvPicPr>
          <p:nvPr/>
        </p:nvPicPr>
        <p:blipFill>
          <a:blip r:embed="rId2"/>
          <a:stretch>
            <a:fillRect/>
          </a:stretch>
        </p:blipFill>
        <p:spPr>
          <a:xfrm>
            <a:off x="840419" y="2488546"/>
            <a:ext cx="4863108" cy="2463236"/>
          </a:xfrm>
          <a:prstGeom prst="rect">
            <a:avLst/>
          </a:prstGeom>
        </p:spPr>
      </p:pic>
    </p:spTree>
    <p:extLst>
      <p:ext uri="{BB962C8B-B14F-4D97-AF65-F5344CB8AC3E}">
        <p14:creationId xmlns:p14="http://schemas.microsoft.com/office/powerpoint/2010/main" val="10543294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Навигация по коммитам</a:t>
            </a:r>
            <a:r>
              <a:rPr lang="en-US" sz="4200" dirty="0"/>
              <a:t>: </a:t>
            </a:r>
            <a:r>
              <a:rPr lang="ru-RU" sz="4200" dirty="0"/>
              <a:t>отмена изменений</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600" u="sng" dirty="0"/>
              <a:t>Изменим содержимое файла index.html убрав одно слово </a:t>
            </a:r>
            <a:r>
              <a:rPr lang="en-US" sz="1600" u="sng" dirty="0"/>
              <a:t>"</a:t>
            </a:r>
            <a:r>
              <a:rPr lang="ru-RU" sz="1600" u="sng" dirty="0"/>
              <a:t>new</a:t>
            </a:r>
            <a:r>
              <a:rPr lang="en-US" sz="1600" u="sng" dirty="0"/>
              <a:t>"</a:t>
            </a:r>
            <a:r>
              <a:rPr lang="ru-RU" sz="1600" u="sng" dirty="0"/>
              <a:t>:</a:t>
            </a:r>
          </a:p>
          <a:p>
            <a:pPr marL="0" indent="0">
              <a:buNone/>
            </a:pPr>
            <a:r>
              <a:rPr lang="ru-RU" sz="1600" dirty="0"/>
              <a:t>&lt;h1&gt;Hello new world&lt;/h1&gt;</a:t>
            </a:r>
          </a:p>
          <a:p>
            <a:pPr marL="0" indent="0">
              <a:buNone/>
            </a:pPr>
            <a:r>
              <a:rPr lang="ru-RU" sz="1600" dirty="0"/>
              <a:t>Эти изменения мы проделали в рабочем каталоге, о чем и говорит команда </a:t>
            </a:r>
            <a:r>
              <a:rPr lang="ru-RU" sz="1600" b="1" dirty="0"/>
              <a:t>git status</a:t>
            </a:r>
            <a:r>
              <a:rPr lang="ru-RU" sz="1600" dirty="0"/>
              <a:t>:</a:t>
            </a:r>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r>
              <a:rPr lang="ru-RU" sz="1600" dirty="0"/>
              <a:t>Добавим изменённые файлы в индекс: </a:t>
            </a:r>
            <a:endParaRPr lang="en-US" sz="1600" dirty="0"/>
          </a:p>
          <a:p>
            <a:pPr marL="0" indent="0">
              <a:buNone/>
            </a:pPr>
            <a:r>
              <a:rPr lang="en-US" sz="1600" b="1" dirty="0"/>
              <a:t>git add .</a:t>
            </a:r>
            <a:endParaRPr lang="ru-RU" sz="1600" b="1" dirty="0"/>
          </a:p>
          <a:p>
            <a:pPr marL="0" indent="0">
              <a:buNone/>
            </a:pPr>
            <a:r>
              <a:rPr lang="en-US" sz="1600" b="1" dirty="0"/>
              <a:t>git status</a:t>
            </a:r>
          </a:p>
          <a:p>
            <a:pPr marL="0" indent="0">
              <a:buNone/>
            </a:pPr>
            <a:endParaRPr lang="en-US" sz="1400" dirty="0"/>
          </a:p>
          <a:p>
            <a:pPr marL="0" indent="0">
              <a:buNone/>
            </a:pPr>
            <a:endParaRPr lang="ru-RU" sz="1400" dirty="0"/>
          </a:p>
        </p:txBody>
      </p:sp>
      <p:pic>
        <p:nvPicPr>
          <p:cNvPr id="5" name="Picture 4">
            <a:extLst>
              <a:ext uri="{FF2B5EF4-FFF2-40B4-BE49-F238E27FC236}">
                <a16:creationId xmlns:a16="http://schemas.microsoft.com/office/drawing/2014/main" id="{4188865D-C88C-4375-9E65-94C23293FD91}"/>
              </a:ext>
            </a:extLst>
          </p:cNvPr>
          <p:cNvPicPr>
            <a:picLocks noChangeAspect="1"/>
          </p:cNvPicPr>
          <p:nvPr/>
        </p:nvPicPr>
        <p:blipFill>
          <a:blip r:embed="rId2"/>
          <a:stretch>
            <a:fillRect/>
          </a:stretch>
        </p:blipFill>
        <p:spPr>
          <a:xfrm>
            <a:off x="840419" y="2345509"/>
            <a:ext cx="5543550" cy="1438275"/>
          </a:xfrm>
          <a:prstGeom prst="rect">
            <a:avLst/>
          </a:prstGeom>
        </p:spPr>
      </p:pic>
      <p:pic>
        <p:nvPicPr>
          <p:cNvPr id="6" name="Picture 5">
            <a:extLst>
              <a:ext uri="{FF2B5EF4-FFF2-40B4-BE49-F238E27FC236}">
                <a16:creationId xmlns:a16="http://schemas.microsoft.com/office/drawing/2014/main" id="{55659738-63EC-4E49-91A6-770A748EC4A1}"/>
              </a:ext>
            </a:extLst>
          </p:cNvPr>
          <p:cNvPicPr>
            <a:picLocks noChangeAspect="1"/>
          </p:cNvPicPr>
          <p:nvPr/>
        </p:nvPicPr>
        <p:blipFill>
          <a:blip r:embed="rId3"/>
          <a:stretch>
            <a:fillRect/>
          </a:stretch>
        </p:blipFill>
        <p:spPr>
          <a:xfrm>
            <a:off x="840419" y="5163840"/>
            <a:ext cx="4343400" cy="933450"/>
          </a:xfrm>
          <a:prstGeom prst="rect">
            <a:avLst/>
          </a:prstGeom>
        </p:spPr>
      </p:pic>
    </p:spTree>
    <p:extLst>
      <p:ext uri="{BB962C8B-B14F-4D97-AF65-F5344CB8AC3E}">
        <p14:creationId xmlns:p14="http://schemas.microsoft.com/office/powerpoint/2010/main" val="35915044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Навигация по коммитам</a:t>
            </a:r>
            <a:r>
              <a:rPr lang="en-US" sz="4200" dirty="0"/>
              <a:t>: </a:t>
            </a:r>
            <a:r>
              <a:rPr lang="ru-RU" sz="4200" dirty="0"/>
              <a:t>отмена изменений</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600" u="sng" dirty="0"/>
              <a:t>Теперь файл </a:t>
            </a:r>
            <a:r>
              <a:rPr lang="en-US" sz="1600" u="sng" dirty="0"/>
              <a:t>index.html </a:t>
            </a:r>
            <a:r>
              <a:rPr lang="ru-RU" sz="1600" u="sng" dirty="0"/>
              <a:t>можно закоммитить:</a:t>
            </a:r>
          </a:p>
          <a:p>
            <a:pPr marL="0" indent="0">
              <a:buNone/>
            </a:pPr>
            <a:r>
              <a:rPr lang="en-US" sz="1600" b="1" dirty="0"/>
              <a:t>git commit -m 'index changed’</a:t>
            </a:r>
          </a:p>
          <a:p>
            <a:pPr marL="0" indent="0">
              <a:buNone/>
            </a:pPr>
            <a:endParaRPr lang="en-US" sz="1600" dirty="0"/>
          </a:p>
          <a:p>
            <a:pPr marL="0" indent="0">
              <a:buNone/>
            </a:pPr>
            <a:endParaRPr lang="en-US" sz="1600" dirty="0"/>
          </a:p>
          <a:p>
            <a:pPr marL="0" indent="0">
              <a:buNone/>
            </a:pPr>
            <a:r>
              <a:rPr lang="en-US" sz="1600" b="1" dirty="0"/>
              <a:t>git log</a:t>
            </a:r>
          </a:p>
          <a:p>
            <a:pPr marL="0" indent="0">
              <a:buNone/>
            </a:pPr>
            <a:r>
              <a:rPr lang="ru-RU" sz="1600" dirty="0"/>
              <a:t>Указатель </a:t>
            </a:r>
            <a:r>
              <a:rPr lang="ru-RU" sz="1600" b="1" dirty="0"/>
              <a:t>HEAD</a:t>
            </a:r>
            <a:r>
              <a:rPr lang="ru-RU" sz="1600" dirty="0"/>
              <a:t> сейчас ссылается на этот коммит:</a:t>
            </a:r>
            <a:endParaRPr lang="en-US" sz="1600" dirty="0"/>
          </a:p>
          <a:p>
            <a:pPr marL="0" indent="0">
              <a:buNone/>
            </a:pPr>
            <a:r>
              <a:rPr lang="ru-RU" sz="1600" dirty="0"/>
              <a:t> </a:t>
            </a: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ru-RU" sz="1600" dirty="0"/>
          </a:p>
          <a:p>
            <a:pPr marL="0" indent="0">
              <a:buNone/>
            </a:pPr>
            <a:r>
              <a:rPr lang="ru-RU" sz="1600" dirty="0"/>
              <a:t>Из текущего коммита, на который ссылается </a:t>
            </a:r>
            <a:r>
              <a:rPr lang="ru-RU" sz="1600" b="1" dirty="0"/>
              <a:t>HEAD</a:t>
            </a:r>
            <a:r>
              <a:rPr lang="ru-RU" sz="1600" dirty="0"/>
              <a:t>, можно вернуть файл в рабочий каталог с помощью команды </a:t>
            </a:r>
            <a:r>
              <a:rPr lang="ru-RU" sz="1600" b="1" dirty="0"/>
              <a:t>git checkout</a:t>
            </a:r>
            <a:r>
              <a:rPr lang="ru-RU" sz="1600" dirty="0"/>
              <a:t>. Попробуем сделать это</a:t>
            </a:r>
            <a:r>
              <a:rPr lang="en-US" sz="1600" dirty="0"/>
              <a:t>:</a:t>
            </a:r>
            <a:endParaRPr lang="ru-RU" sz="1600" dirty="0"/>
          </a:p>
        </p:txBody>
      </p:sp>
      <p:pic>
        <p:nvPicPr>
          <p:cNvPr id="7" name="Picture 6">
            <a:extLst>
              <a:ext uri="{FF2B5EF4-FFF2-40B4-BE49-F238E27FC236}">
                <a16:creationId xmlns:a16="http://schemas.microsoft.com/office/drawing/2014/main" id="{789E00C2-78E0-487E-B1D0-8CA2400F5D55}"/>
              </a:ext>
            </a:extLst>
          </p:cNvPr>
          <p:cNvPicPr>
            <a:picLocks noChangeAspect="1"/>
          </p:cNvPicPr>
          <p:nvPr/>
        </p:nvPicPr>
        <p:blipFill>
          <a:blip r:embed="rId2"/>
          <a:stretch>
            <a:fillRect/>
          </a:stretch>
        </p:blipFill>
        <p:spPr>
          <a:xfrm>
            <a:off x="840419" y="2036685"/>
            <a:ext cx="4026118" cy="628650"/>
          </a:xfrm>
          <a:prstGeom prst="rect">
            <a:avLst/>
          </a:prstGeom>
        </p:spPr>
      </p:pic>
      <p:pic>
        <p:nvPicPr>
          <p:cNvPr id="9" name="Picture 8">
            <a:extLst>
              <a:ext uri="{FF2B5EF4-FFF2-40B4-BE49-F238E27FC236}">
                <a16:creationId xmlns:a16="http://schemas.microsoft.com/office/drawing/2014/main" id="{4598665E-74CE-43EB-BB9E-68269253E0C3}"/>
              </a:ext>
            </a:extLst>
          </p:cNvPr>
          <p:cNvPicPr>
            <a:picLocks noChangeAspect="1"/>
          </p:cNvPicPr>
          <p:nvPr/>
        </p:nvPicPr>
        <p:blipFill>
          <a:blip r:embed="rId3"/>
          <a:stretch>
            <a:fillRect/>
          </a:stretch>
        </p:blipFill>
        <p:spPr>
          <a:xfrm>
            <a:off x="840419" y="3504434"/>
            <a:ext cx="4010025" cy="1666875"/>
          </a:xfrm>
          <a:prstGeom prst="rect">
            <a:avLst/>
          </a:prstGeom>
        </p:spPr>
      </p:pic>
    </p:spTree>
    <p:extLst>
      <p:ext uri="{BB962C8B-B14F-4D97-AF65-F5344CB8AC3E}">
        <p14:creationId xmlns:p14="http://schemas.microsoft.com/office/powerpoint/2010/main" val="18985601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Навигация по коммитам</a:t>
            </a:r>
            <a:r>
              <a:rPr lang="en-US" sz="4200" dirty="0"/>
              <a:t>: </a:t>
            </a:r>
            <a:r>
              <a:rPr lang="ru-RU" sz="4200" dirty="0"/>
              <a:t>отмена изменений</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u="sng" dirty="0"/>
              <a:t>Проверим сначала содержимое файла index.html</a:t>
            </a:r>
            <a:r>
              <a:rPr lang="en-US" sz="1200" u="sng" dirty="0"/>
              <a:t>:</a:t>
            </a:r>
            <a:endParaRPr lang="ru-RU" sz="1200" u="sng" dirty="0"/>
          </a:p>
          <a:p>
            <a:pPr marL="0" indent="0">
              <a:buNone/>
            </a:pPr>
            <a:r>
              <a:rPr lang="en-US" sz="1200" b="1" dirty="0"/>
              <a:t>cat index.html </a:t>
            </a:r>
            <a:r>
              <a:rPr lang="ru-RU" sz="1200" b="1" dirty="0"/>
              <a:t>	</a:t>
            </a:r>
            <a:r>
              <a:rPr lang="en-US" sz="1200" b="1" dirty="0">
                <a:solidFill>
                  <a:schemeClr val="bg1">
                    <a:lumMod val="50000"/>
                  </a:schemeClr>
                </a:solidFill>
              </a:rPr>
              <a:t># cat</a:t>
            </a:r>
            <a:r>
              <a:rPr lang="ru-RU" sz="1200" b="1" dirty="0">
                <a:solidFill>
                  <a:schemeClr val="bg1">
                    <a:lumMod val="50000"/>
                  </a:schemeClr>
                </a:solidFill>
              </a:rPr>
              <a:t> отображает содержимое файла</a:t>
            </a:r>
          </a:p>
          <a:p>
            <a:pPr marL="0" indent="0">
              <a:buNone/>
            </a:pPr>
            <a:r>
              <a:rPr lang="en-US" sz="1200" dirty="0"/>
              <a:t>&lt;h1&gt;Hello new Git!&lt;/h1&gt; </a:t>
            </a:r>
            <a:endParaRPr lang="ru-RU" sz="1200" dirty="0"/>
          </a:p>
          <a:p>
            <a:pPr marL="0" indent="0">
              <a:buNone/>
            </a:pPr>
            <a:r>
              <a:rPr lang="ru-RU" sz="1200" u="sng" dirty="0"/>
              <a:t>Внесем изменения в файл </a:t>
            </a:r>
            <a:r>
              <a:rPr lang="en-US" sz="1200" u="sng" dirty="0"/>
              <a:t>second_file</a:t>
            </a:r>
            <a:r>
              <a:rPr lang="ru-RU" sz="1200" u="sng" dirty="0"/>
              <a:t>.html </a:t>
            </a:r>
            <a:endParaRPr lang="en-US" sz="1200" u="sng" dirty="0"/>
          </a:p>
          <a:p>
            <a:pPr marL="0" indent="0">
              <a:buNone/>
            </a:pPr>
            <a:r>
              <a:rPr lang="en-US" sz="1200" dirty="0"/>
              <a:t>&lt;h2&gt;Changed for commit&lt;/h2&gt; </a:t>
            </a:r>
          </a:p>
          <a:p>
            <a:pPr marL="0" indent="0">
              <a:buNone/>
            </a:pPr>
            <a:r>
              <a:rPr lang="ru-RU" sz="1200" u="sng" dirty="0"/>
              <a:t> Выполним коммит с этим файлом: </a:t>
            </a:r>
            <a:endParaRPr lang="en-US" sz="1200" u="sng" dirty="0"/>
          </a:p>
          <a:p>
            <a:pPr marL="0" indent="0">
              <a:buNone/>
            </a:pPr>
            <a:r>
              <a:rPr lang="en-US" sz="1200" b="1" dirty="0"/>
              <a:t>git add . </a:t>
            </a:r>
          </a:p>
          <a:p>
            <a:pPr marL="0" indent="0">
              <a:buNone/>
            </a:pPr>
            <a:r>
              <a:rPr lang="en-US" sz="1200" b="1" dirty="0"/>
              <a:t>git commit -m 'second_file changed' </a:t>
            </a:r>
          </a:p>
          <a:p>
            <a:pPr marL="0" indent="0">
              <a:buNone/>
            </a:pPr>
            <a:r>
              <a:rPr lang="ru-RU" sz="1200" u="sng" dirty="0"/>
              <a:t>Убедимся, что последний коммит попал в историю и указатель HEAD переместился на него</a:t>
            </a:r>
            <a:r>
              <a:rPr lang="ru-RU" sz="1200" dirty="0"/>
              <a:t>:</a:t>
            </a:r>
            <a:r>
              <a:rPr lang="en-US" sz="1200" dirty="0"/>
              <a:t>  </a:t>
            </a:r>
            <a:r>
              <a:rPr lang="en-US" sz="1200" b="1" dirty="0"/>
              <a:t>git log</a:t>
            </a:r>
          </a:p>
          <a:p>
            <a:pPr marL="0" indent="0">
              <a:buNone/>
            </a:pPr>
            <a:endParaRPr lang="en-US" sz="1600" dirty="0"/>
          </a:p>
          <a:p>
            <a:pPr marL="0" indent="0">
              <a:buNone/>
            </a:pPr>
            <a:endParaRPr lang="en-US" sz="16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ru-RU" sz="1200" dirty="0"/>
              <a:t>Давайте откатим состояние проекта к третьему коммиту, где в файле index.html был записан заголовок "Hello new new </a:t>
            </a:r>
            <a:r>
              <a:rPr lang="en-US" sz="1200" dirty="0"/>
              <a:t>Git!</a:t>
            </a:r>
            <a:r>
              <a:rPr lang="ru-RU" sz="1200" dirty="0"/>
              <a:t>". Делается это с помощью команды </a:t>
            </a:r>
            <a:r>
              <a:rPr lang="ru-RU" sz="1200" b="1" dirty="0"/>
              <a:t>git reset</a:t>
            </a:r>
            <a:r>
              <a:rPr lang="ru-RU" sz="1200" dirty="0"/>
              <a:t>, которая поддерживает два возможных режима: мягкий (ключ </a:t>
            </a:r>
            <a:r>
              <a:rPr lang="ru-RU" sz="1200" b="1" dirty="0"/>
              <a:t>--soft</a:t>
            </a:r>
            <a:r>
              <a:rPr lang="ru-RU" sz="1200" dirty="0"/>
              <a:t>) и жесткий (ключ </a:t>
            </a:r>
            <a:r>
              <a:rPr lang="ru-RU" sz="1200" b="1" dirty="0"/>
              <a:t>--hard</a:t>
            </a:r>
            <a:r>
              <a:rPr lang="ru-RU" sz="1200" dirty="0"/>
              <a:t>). </a:t>
            </a:r>
            <a:endParaRPr lang="en-US" sz="1200" dirty="0"/>
          </a:p>
          <a:p>
            <a:pPr marL="0" indent="0">
              <a:buNone/>
            </a:pPr>
            <a:endParaRPr lang="ru-RU" sz="1600" dirty="0"/>
          </a:p>
          <a:p>
            <a:pPr marL="0" indent="0">
              <a:buNone/>
            </a:pPr>
            <a:endParaRPr lang="ru-RU" sz="1600" dirty="0"/>
          </a:p>
        </p:txBody>
      </p:sp>
      <p:pic>
        <p:nvPicPr>
          <p:cNvPr id="9" name="Picture 8">
            <a:extLst>
              <a:ext uri="{FF2B5EF4-FFF2-40B4-BE49-F238E27FC236}">
                <a16:creationId xmlns:a16="http://schemas.microsoft.com/office/drawing/2014/main" id="{B0FEC434-6971-4D9E-B01A-2BE8F02019A5}"/>
              </a:ext>
            </a:extLst>
          </p:cNvPr>
          <p:cNvPicPr>
            <a:picLocks noChangeAspect="1"/>
          </p:cNvPicPr>
          <p:nvPr/>
        </p:nvPicPr>
        <p:blipFill>
          <a:blip r:embed="rId2"/>
          <a:stretch>
            <a:fillRect/>
          </a:stretch>
        </p:blipFill>
        <p:spPr>
          <a:xfrm>
            <a:off x="840419" y="3956803"/>
            <a:ext cx="3438525" cy="1876425"/>
          </a:xfrm>
          <a:prstGeom prst="rect">
            <a:avLst/>
          </a:prstGeom>
        </p:spPr>
      </p:pic>
    </p:spTree>
    <p:extLst>
      <p:ext uri="{BB962C8B-B14F-4D97-AF65-F5344CB8AC3E}">
        <p14:creationId xmlns:p14="http://schemas.microsoft.com/office/powerpoint/2010/main" val="13839088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Мягкий reset, замена и объединение коммитов </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100" dirty="0"/>
              <a:t>Команда </a:t>
            </a:r>
            <a:r>
              <a:rPr lang="ru-RU" sz="1100" b="1" dirty="0"/>
              <a:t>git reset --soft коммит</a:t>
            </a:r>
            <a:r>
              <a:rPr lang="ru-RU" sz="1100" dirty="0"/>
              <a:t> переместит указатель HEAD на нужный коммит, при этом рабочий каталог и индекс остаются прежними (соответствующими коммиту, с которого мы ушли).</a:t>
            </a:r>
            <a:endParaRPr lang="en-US" sz="1100" dirty="0"/>
          </a:p>
          <a:p>
            <a:pPr marL="0" indent="0">
              <a:buNone/>
            </a:pPr>
            <a:r>
              <a:rPr lang="ru-RU" sz="1100" b="1" dirty="0"/>
              <a:t>Задание</a:t>
            </a:r>
            <a:r>
              <a:rPr lang="en-US" sz="1100" b="1" dirty="0"/>
              <a:t>:</a:t>
            </a:r>
            <a:endParaRPr lang="ru-RU" sz="1100" b="1" dirty="0"/>
          </a:p>
          <a:p>
            <a:pPr marL="228600" indent="-228600">
              <a:buFont typeface="+mj-lt"/>
              <a:buAutoNum type="arabicPeriod"/>
            </a:pPr>
            <a:r>
              <a:rPr lang="ru-RU" sz="1100" dirty="0"/>
              <a:t>Создайте в нашем проекте еще один файл </a:t>
            </a:r>
            <a:r>
              <a:rPr lang="en-US" sz="1100" dirty="0"/>
              <a:t>"</a:t>
            </a:r>
            <a:r>
              <a:rPr lang="ru-RU" sz="1100" dirty="0"/>
              <a:t>fifth.html</a:t>
            </a:r>
            <a:r>
              <a:rPr lang="en-US" sz="1100" dirty="0"/>
              <a:t>"</a:t>
            </a:r>
            <a:r>
              <a:rPr lang="ru-RU" sz="1100" dirty="0"/>
              <a:t>, в котором будет записана строка "this is text in fifth file". </a:t>
            </a:r>
            <a:endParaRPr lang="en-US" sz="1100" dirty="0"/>
          </a:p>
          <a:p>
            <a:pPr marL="228600" indent="-228600">
              <a:buFont typeface="+mj-lt"/>
              <a:buAutoNum type="arabicPeriod"/>
            </a:pPr>
            <a:r>
              <a:rPr lang="ru-RU" sz="1100" dirty="0"/>
              <a:t>Добавьте все файлы в индекс</a:t>
            </a:r>
            <a:endParaRPr lang="en-US" sz="1100" dirty="0"/>
          </a:p>
          <a:p>
            <a:pPr marL="228600" indent="-228600">
              <a:buFont typeface="+mj-lt"/>
              <a:buAutoNum type="arabicPeriod"/>
            </a:pPr>
            <a:r>
              <a:rPr lang="ru-RU" sz="1100" dirty="0"/>
              <a:t>Проверьте статус</a:t>
            </a:r>
          </a:p>
          <a:p>
            <a:pPr marL="228600" indent="-228600">
              <a:buFont typeface="+mj-lt"/>
              <a:buAutoNum type="arabicPeriod"/>
            </a:pPr>
            <a:r>
              <a:rPr lang="ru-RU" sz="1100" dirty="0"/>
              <a:t>Закоммитьте изменения в проекте с сообщением</a:t>
            </a:r>
            <a:r>
              <a:rPr lang="en-US" sz="1100" dirty="0"/>
              <a:t> 'added fifth file'</a:t>
            </a:r>
          </a:p>
          <a:p>
            <a:pPr marL="0" indent="0">
              <a:buNone/>
            </a:pPr>
            <a:r>
              <a:rPr lang="ru-RU" sz="1100" u="sng" dirty="0"/>
              <a:t>Посмотрим, как теперь выглядит история коммитов нашего проекта: </a:t>
            </a:r>
            <a:endParaRPr lang="en-US" sz="1100" u="sng" dirty="0"/>
          </a:p>
          <a:p>
            <a:pPr marL="0" indent="0">
              <a:buNone/>
            </a:pPr>
            <a:endParaRPr lang="en-US" sz="1100" dirty="0"/>
          </a:p>
          <a:p>
            <a:pPr marL="0" indent="0">
              <a:buNone/>
            </a:pPr>
            <a:endParaRPr lang="en-US" sz="1100" dirty="0"/>
          </a:p>
          <a:p>
            <a:pPr marL="0" indent="0">
              <a:buNone/>
            </a:pPr>
            <a:endParaRPr lang="ru-RU" sz="1100" dirty="0"/>
          </a:p>
          <a:p>
            <a:pPr marL="0" indent="0">
              <a:buNone/>
            </a:pPr>
            <a:endParaRPr lang="en-US" sz="1100" dirty="0"/>
          </a:p>
          <a:p>
            <a:pPr marL="0" indent="0">
              <a:buNone/>
            </a:pPr>
            <a:endParaRPr lang="en-US" sz="1100" dirty="0"/>
          </a:p>
          <a:p>
            <a:pPr marL="0" indent="0">
              <a:buNone/>
            </a:pPr>
            <a:endParaRPr lang="en-US" sz="1100" dirty="0"/>
          </a:p>
          <a:p>
            <a:pPr marL="0" indent="0">
              <a:buNone/>
            </a:pPr>
            <a:endParaRPr lang="en-US" sz="1100" dirty="0"/>
          </a:p>
          <a:p>
            <a:pPr marL="0" indent="0">
              <a:buNone/>
            </a:pPr>
            <a:endParaRPr lang="en-US" sz="1100" dirty="0"/>
          </a:p>
          <a:p>
            <a:pPr marL="0" indent="0">
              <a:buNone/>
            </a:pPr>
            <a:r>
              <a:rPr lang="ru-RU" sz="1100" u="sng" dirty="0"/>
              <a:t>Откатимся к третьему коммиту в мягком режиме. Для этого скопируем идентификатор этого коммита (достаточно первых четырёх или более символов) и выполним команду:</a:t>
            </a:r>
          </a:p>
          <a:p>
            <a:pPr marL="0" indent="0">
              <a:buNone/>
            </a:pPr>
            <a:r>
              <a:rPr lang="ru-RU" sz="1100" b="1" dirty="0"/>
              <a:t>git reset --soft </a:t>
            </a:r>
            <a:r>
              <a:rPr lang="en-US" sz="1100" b="1" dirty="0"/>
              <a:t>0</a:t>
            </a:r>
            <a:r>
              <a:rPr lang="ru-RU" sz="1100" b="1" dirty="0"/>
              <a:t>a</a:t>
            </a:r>
            <a:r>
              <a:rPr lang="en-US" sz="1100" b="1" dirty="0"/>
              <a:t>57   </a:t>
            </a:r>
            <a:r>
              <a:rPr lang="ru-RU" sz="1100" dirty="0"/>
              <a:t>	</a:t>
            </a:r>
            <a:r>
              <a:rPr lang="en-US" sz="1100" b="1" dirty="0">
                <a:solidFill>
                  <a:schemeClr val="bg1">
                    <a:lumMod val="50000"/>
                  </a:schemeClr>
                </a:solidFill>
              </a:rPr>
              <a:t>#</a:t>
            </a:r>
            <a:r>
              <a:rPr lang="ru-RU" sz="1100" b="1" dirty="0">
                <a:solidFill>
                  <a:schemeClr val="bg1">
                    <a:lumMod val="50000"/>
                  </a:schemeClr>
                </a:solidFill>
              </a:rPr>
              <a:t> у вас будет другой ключ для третьего коммита</a:t>
            </a:r>
          </a:p>
        </p:txBody>
      </p:sp>
      <p:pic>
        <p:nvPicPr>
          <p:cNvPr id="9" name="Picture 8">
            <a:extLst>
              <a:ext uri="{FF2B5EF4-FFF2-40B4-BE49-F238E27FC236}">
                <a16:creationId xmlns:a16="http://schemas.microsoft.com/office/drawing/2014/main" id="{DD301708-0AA4-41A5-B31E-B910103A1CE4}"/>
              </a:ext>
            </a:extLst>
          </p:cNvPr>
          <p:cNvPicPr>
            <a:picLocks noChangeAspect="1"/>
          </p:cNvPicPr>
          <p:nvPr/>
        </p:nvPicPr>
        <p:blipFill>
          <a:blip r:embed="rId2"/>
          <a:stretch>
            <a:fillRect/>
          </a:stretch>
        </p:blipFill>
        <p:spPr>
          <a:xfrm>
            <a:off x="840419" y="3336771"/>
            <a:ext cx="2908104" cy="2293794"/>
          </a:xfrm>
          <a:prstGeom prst="rect">
            <a:avLst/>
          </a:prstGeom>
        </p:spPr>
      </p:pic>
    </p:spTree>
    <p:extLst>
      <p:ext uri="{BB962C8B-B14F-4D97-AF65-F5344CB8AC3E}">
        <p14:creationId xmlns:p14="http://schemas.microsoft.com/office/powerpoint/2010/main" val="2470392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Мягкий reset, замена и объединение коммитов </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100" u="sng" dirty="0"/>
              <a:t>Указатель HEAD теперь переместился на третий коммит</a:t>
            </a:r>
            <a:r>
              <a:rPr lang="ru-RU" sz="1100" dirty="0"/>
              <a:t>:</a:t>
            </a:r>
            <a:r>
              <a:rPr lang="en-US" sz="1100" dirty="0"/>
              <a:t>  </a:t>
            </a:r>
            <a:r>
              <a:rPr lang="en-US" sz="1100" b="1" dirty="0"/>
              <a:t>git log</a:t>
            </a:r>
          </a:p>
          <a:p>
            <a:pPr marL="0" indent="0">
              <a:buNone/>
            </a:pPr>
            <a:endParaRPr lang="en-US" sz="11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u="sng" dirty="0"/>
          </a:p>
          <a:p>
            <a:pPr marL="0" indent="0">
              <a:buNone/>
            </a:pPr>
            <a:r>
              <a:rPr lang="ru-RU" sz="1200" u="sng" dirty="0"/>
              <a:t>Посмотрим статус проекта и содержимое рабочего каталога:</a:t>
            </a:r>
            <a:r>
              <a:rPr lang="ru-RU" sz="1200" dirty="0"/>
              <a:t> </a:t>
            </a:r>
            <a:r>
              <a:rPr lang="en-US" sz="1200" dirty="0"/>
              <a:t> </a:t>
            </a:r>
            <a:r>
              <a:rPr lang="en-US" sz="1200" b="1" dirty="0"/>
              <a:t>git status ;  ls -la </a:t>
            </a:r>
            <a:r>
              <a:rPr lang="en-US" sz="1200" dirty="0">
                <a:solidFill>
                  <a:schemeClr val="bg1">
                    <a:lumMod val="50000"/>
                  </a:schemeClr>
                </a:solidFill>
              </a:rPr>
              <a:t># </a:t>
            </a:r>
            <a:r>
              <a:rPr lang="ru-RU" sz="1200" dirty="0">
                <a:solidFill>
                  <a:schemeClr val="bg1">
                    <a:lumMod val="50000"/>
                  </a:schemeClr>
                </a:solidFill>
              </a:rPr>
              <a:t>отображет содержимое каталога</a:t>
            </a:r>
            <a:endParaRPr lang="en-US" sz="1200" dirty="0">
              <a:solidFill>
                <a:schemeClr val="bg1">
                  <a:lumMod val="50000"/>
                </a:schemeClr>
              </a:solidFill>
            </a:endParaRPr>
          </a:p>
          <a:p>
            <a:pPr marL="0" indent="0">
              <a:buNone/>
            </a:pPr>
            <a:r>
              <a:rPr lang="ru-RU" sz="1200" dirty="0"/>
              <a:t>Как видим, в рабочем каталоге и в индексе проекта остались все изменения, которые были сделаны после третьего коммита, в том числе и новый файл fifth.html. </a:t>
            </a: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u="sng" dirty="0"/>
          </a:p>
          <a:p>
            <a:pPr marL="0" indent="0">
              <a:buNone/>
            </a:pPr>
            <a:r>
              <a:rPr lang="ru-RU" sz="1200" u="sng" dirty="0"/>
              <a:t>Убедимся, что текущее содержимое файлов index.html и </a:t>
            </a:r>
            <a:r>
              <a:rPr lang="en-US" sz="1200" u="sng" dirty="0"/>
              <a:t>second_file</a:t>
            </a:r>
            <a:r>
              <a:rPr lang="ru-RU" sz="1200" u="sng" dirty="0"/>
              <a:t>.html не изменилось: </a:t>
            </a:r>
            <a:endParaRPr lang="en-US" sz="1200" u="sng" dirty="0"/>
          </a:p>
          <a:p>
            <a:pPr marL="0" indent="0">
              <a:buNone/>
            </a:pPr>
            <a:r>
              <a:rPr lang="en-US" sz="1200" b="1" dirty="0"/>
              <a:t>cat index.html 		</a:t>
            </a:r>
            <a:r>
              <a:rPr lang="en-US" sz="1200" dirty="0">
                <a:solidFill>
                  <a:schemeClr val="bg1">
                    <a:lumMod val="50000"/>
                  </a:schemeClr>
                </a:solidFill>
              </a:rPr>
              <a:t># </a:t>
            </a:r>
            <a:r>
              <a:rPr lang="pt-BR" sz="1200" dirty="0">
                <a:solidFill>
                  <a:schemeClr val="bg1">
                    <a:lumMod val="50000"/>
                  </a:schemeClr>
                </a:solidFill>
              </a:rPr>
              <a:t>&lt;h1&gt;Hello new Git!&lt;/h1&gt;</a:t>
            </a:r>
            <a:endParaRPr lang="en-US" sz="1200" dirty="0">
              <a:solidFill>
                <a:schemeClr val="bg1">
                  <a:lumMod val="50000"/>
                </a:schemeClr>
              </a:solidFill>
            </a:endParaRPr>
          </a:p>
          <a:p>
            <a:pPr marL="0" indent="0">
              <a:buNone/>
            </a:pPr>
            <a:r>
              <a:rPr lang="en-US" sz="1200" b="1" dirty="0"/>
              <a:t>cat second_file.html 		</a:t>
            </a:r>
            <a:r>
              <a:rPr lang="en-US" sz="1200" dirty="0">
                <a:solidFill>
                  <a:schemeClr val="bg1">
                    <a:lumMod val="50000"/>
                  </a:schemeClr>
                </a:solidFill>
              </a:rPr>
              <a:t># &lt;h2&gt;Changed for commit&lt;/h2&gt;</a:t>
            </a:r>
          </a:p>
          <a:p>
            <a:pPr marL="0" indent="0">
              <a:buNone/>
            </a:pPr>
            <a:endParaRPr lang="en-US" sz="1200" dirty="0"/>
          </a:p>
        </p:txBody>
      </p:sp>
      <p:pic>
        <p:nvPicPr>
          <p:cNvPr id="5" name="Picture 4">
            <a:extLst>
              <a:ext uri="{FF2B5EF4-FFF2-40B4-BE49-F238E27FC236}">
                <a16:creationId xmlns:a16="http://schemas.microsoft.com/office/drawing/2014/main" id="{18F0F1E4-4F66-4150-AEEC-78E3B92CFD34}"/>
              </a:ext>
            </a:extLst>
          </p:cNvPr>
          <p:cNvPicPr>
            <a:picLocks noChangeAspect="1"/>
          </p:cNvPicPr>
          <p:nvPr/>
        </p:nvPicPr>
        <p:blipFill>
          <a:blip r:embed="rId2"/>
          <a:stretch>
            <a:fillRect/>
          </a:stretch>
        </p:blipFill>
        <p:spPr>
          <a:xfrm>
            <a:off x="840418" y="1550832"/>
            <a:ext cx="3355762" cy="1390618"/>
          </a:xfrm>
          <a:prstGeom prst="rect">
            <a:avLst/>
          </a:prstGeom>
        </p:spPr>
      </p:pic>
      <p:pic>
        <p:nvPicPr>
          <p:cNvPr id="6" name="Picture 5">
            <a:extLst>
              <a:ext uri="{FF2B5EF4-FFF2-40B4-BE49-F238E27FC236}">
                <a16:creationId xmlns:a16="http://schemas.microsoft.com/office/drawing/2014/main" id="{6B92A006-1DF4-4859-827C-C49469A061E8}"/>
              </a:ext>
            </a:extLst>
          </p:cNvPr>
          <p:cNvPicPr>
            <a:picLocks noChangeAspect="1"/>
          </p:cNvPicPr>
          <p:nvPr/>
        </p:nvPicPr>
        <p:blipFill>
          <a:blip r:embed="rId3"/>
          <a:stretch>
            <a:fillRect/>
          </a:stretch>
        </p:blipFill>
        <p:spPr>
          <a:xfrm>
            <a:off x="840418" y="3916551"/>
            <a:ext cx="4100192" cy="1230058"/>
          </a:xfrm>
          <a:prstGeom prst="rect">
            <a:avLst/>
          </a:prstGeom>
        </p:spPr>
      </p:pic>
      <p:pic>
        <p:nvPicPr>
          <p:cNvPr id="7" name="Picture 6">
            <a:extLst>
              <a:ext uri="{FF2B5EF4-FFF2-40B4-BE49-F238E27FC236}">
                <a16:creationId xmlns:a16="http://schemas.microsoft.com/office/drawing/2014/main" id="{11D19DE2-7016-422E-848F-4880D60B0B89}"/>
              </a:ext>
            </a:extLst>
          </p:cNvPr>
          <p:cNvPicPr>
            <a:picLocks noChangeAspect="1"/>
          </p:cNvPicPr>
          <p:nvPr/>
        </p:nvPicPr>
        <p:blipFill>
          <a:blip r:embed="rId4"/>
          <a:stretch>
            <a:fillRect/>
          </a:stretch>
        </p:blipFill>
        <p:spPr>
          <a:xfrm>
            <a:off x="6095999" y="3916551"/>
            <a:ext cx="3752296" cy="1230058"/>
          </a:xfrm>
          <a:prstGeom prst="rect">
            <a:avLst/>
          </a:prstGeom>
        </p:spPr>
      </p:pic>
    </p:spTree>
    <p:extLst>
      <p:ext uri="{BB962C8B-B14F-4D97-AF65-F5344CB8AC3E}">
        <p14:creationId xmlns:p14="http://schemas.microsoft.com/office/powerpoint/2010/main" val="17975821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Мягкий reset, замена и объединение коммитов </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100" dirty="0"/>
              <a:t>При необходимости можно откатить состояние нужных нам файлов к тому, что было сохранено в третьем коммите. Для этого нужно сначала убрать эти файлы из индекса, а затем восстановить их содержимое в рабочем каталоге из репозитория.</a:t>
            </a:r>
          </a:p>
          <a:p>
            <a:pPr marL="0" indent="0">
              <a:buNone/>
            </a:pPr>
            <a:r>
              <a:rPr lang="ru-RU" sz="1200" u="sng" dirty="0"/>
              <a:t>Уберем index.html из индекса: </a:t>
            </a:r>
            <a:endParaRPr lang="en-US" sz="1200" u="sng" dirty="0"/>
          </a:p>
          <a:p>
            <a:pPr marL="0" indent="0">
              <a:buNone/>
            </a:pPr>
            <a:r>
              <a:rPr lang="en-US" sz="1200" b="1" dirty="0"/>
              <a:t>git reset HEAD index.html </a:t>
            </a:r>
            <a:endParaRPr lang="en-US" sz="1200" dirty="0"/>
          </a:p>
          <a:p>
            <a:pPr marL="0" indent="0">
              <a:buNone/>
            </a:pPr>
            <a:r>
              <a:rPr lang="ru-RU" sz="1200" u="sng" dirty="0"/>
              <a:t>При этом содержимое файла в рабочем каталоге пока не изменилось: </a:t>
            </a:r>
          </a:p>
          <a:p>
            <a:pPr marL="0" indent="0">
              <a:buNone/>
            </a:pPr>
            <a:r>
              <a:rPr lang="en-US" sz="1200" b="1" dirty="0"/>
              <a:t>cat index.html </a:t>
            </a:r>
          </a:p>
          <a:p>
            <a:pPr marL="0" indent="0">
              <a:buNone/>
            </a:pPr>
            <a:r>
              <a:rPr lang="en-US" sz="1200" dirty="0"/>
              <a:t>&lt;h1&gt;Hello new Git!&lt;/h1&gt; </a:t>
            </a:r>
          </a:p>
          <a:p>
            <a:pPr marL="0" indent="0">
              <a:buNone/>
            </a:pPr>
            <a:r>
              <a:rPr lang="ru-RU" sz="1200" u="sng" dirty="0"/>
              <a:t>Как теперь вернуть </a:t>
            </a:r>
            <a:r>
              <a:rPr lang="ru-RU" sz="1200" b="1" u="sng" dirty="0"/>
              <a:t>index.html </a:t>
            </a:r>
            <a:r>
              <a:rPr lang="ru-RU" sz="1200" u="sng" dirty="0"/>
              <a:t>к состоянию, в котором он был зафиксирован при выполнении третьего коммита, к которому мы откатились? С помощью</a:t>
            </a:r>
            <a:r>
              <a:rPr lang="en-US" sz="1200" u="sng" dirty="0"/>
              <a:t> </a:t>
            </a:r>
            <a:r>
              <a:rPr lang="en-US" sz="1200" b="1" u="sng" dirty="0"/>
              <a:t>checkout</a:t>
            </a:r>
            <a:endParaRPr lang="ru-RU" sz="1200" b="1" u="sng" dirty="0"/>
          </a:p>
          <a:p>
            <a:pPr marL="0" indent="0">
              <a:buNone/>
            </a:pPr>
            <a:r>
              <a:rPr lang="en-US" sz="1200" b="1" dirty="0"/>
              <a:t>git checkout -- index.html 	</a:t>
            </a:r>
            <a:r>
              <a:rPr lang="en-US" sz="1200" dirty="0">
                <a:solidFill>
                  <a:schemeClr val="bg1">
                    <a:lumMod val="50000"/>
                  </a:schemeClr>
                </a:solidFill>
              </a:rPr>
              <a:t>#</a:t>
            </a:r>
            <a:r>
              <a:rPr lang="ru-RU" sz="1200" dirty="0">
                <a:solidFill>
                  <a:schemeClr val="bg1">
                    <a:lumMod val="50000"/>
                  </a:schemeClr>
                </a:solidFill>
              </a:rPr>
              <a:t> обратите внимание пробел между </a:t>
            </a:r>
            <a:r>
              <a:rPr lang="en-US" sz="1200" dirty="0">
                <a:solidFill>
                  <a:schemeClr val="bg1">
                    <a:lumMod val="50000"/>
                  </a:schemeClr>
                </a:solidFill>
              </a:rPr>
              <a:t>'</a:t>
            </a:r>
            <a:r>
              <a:rPr lang="en-US" sz="1200" b="1" dirty="0">
                <a:solidFill>
                  <a:schemeClr val="bg1">
                    <a:lumMod val="50000"/>
                  </a:schemeClr>
                </a:solidFill>
              </a:rPr>
              <a:t> </a:t>
            </a:r>
            <a:r>
              <a:rPr lang="en-US" sz="1200" dirty="0">
                <a:solidFill>
                  <a:schemeClr val="bg1">
                    <a:lumMod val="50000"/>
                  </a:schemeClr>
                </a:solidFill>
              </a:rPr>
              <a:t>--</a:t>
            </a:r>
            <a:r>
              <a:rPr lang="en-US" sz="1200" b="1" dirty="0">
                <a:solidFill>
                  <a:schemeClr val="bg1">
                    <a:lumMod val="50000"/>
                  </a:schemeClr>
                </a:solidFill>
              </a:rPr>
              <a:t> </a:t>
            </a:r>
            <a:r>
              <a:rPr lang="en-US" sz="1200" dirty="0">
                <a:solidFill>
                  <a:schemeClr val="bg1">
                    <a:lumMod val="50000"/>
                  </a:schemeClr>
                </a:solidFill>
              </a:rPr>
              <a:t>'</a:t>
            </a:r>
            <a:r>
              <a:rPr lang="ru-RU" sz="1200" dirty="0">
                <a:solidFill>
                  <a:schemeClr val="bg1">
                    <a:lumMod val="50000"/>
                  </a:schemeClr>
                </a:solidFill>
              </a:rPr>
              <a:t> и </a:t>
            </a:r>
            <a:r>
              <a:rPr lang="en-US" sz="1200" dirty="0">
                <a:solidFill>
                  <a:schemeClr val="bg1">
                    <a:lumMod val="50000"/>
                  </a:schemeClr>
                </a:solidFill>
              </a:rPr>
              <a:t>'index.html'</a:t>
            </a:r>
            <a:endParaRPr lang="en-US" sz="1200" b="1" dirty="0">
              <a:solidFill>
                <a:schemeClr val="bg1">
                  <a:lumMod val="50000"/>
                </a:schemeClr>
              </a:solidFill>
            </a:endParaRPr>
          </a:p>
          <a:p>
            <a:pPr marL="0" indent="0">
              <a:buNone/>
            </a:pPr>
            <a:r>
              <a:rPr lang="en-US" sz="1200" b="1" dirty="0"/>
              <a:t>cat index.html </a:t>
            </a:r>
          </a:p>
          <a:p>
            <a:pPr marL="0" indent="0">
              <a:buNone/>
            </a:pPr>
            <a:r>
              <a:rPr lang="en-US" sz="1200" dirty="0"/>
              <a:t>&lt;h1&gt;Hello new new Git!&lt;/h1&gt; </a:t>
            </a:r>
          </a:p>
          <a:p>
            <a:pPr marL="0" indent="0">
              <a:buNone/>
            </a:pPr>
            <a:r>
              <a:rPr lang="ru-RU" sz="1200" dirty="0"/>
              <a:t>Задача выполнена – мы вернули файл index.html в то состояние, которое было зафиксировано в третьем коммите. Проверим статус проекта: </a:t>
            </a: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ru-RU" sz="1200" dirty="0"/>
              <a:t>Как видим, файл </a:t>
            </a:r>
            <a:r>
              <a:rPr lang="ru-RU" sz="1200" b="1" dirty="0"/>
              <a:t>index.html </a:t>
            </a:r>
            <a:r>
              <a:rPr lang="ru-RU" sz="1200" dirty="0"/>
              <a:t>не упоминается, так как его состояние в рабочем каталоге соответствует состоянию в репозитории. Файлы </a:t>
            </a:r>
            <a:r>
              <a:rPr lang="en-US" sz="1200" dirty="0"/>
              <a:t>second_file</a:t>
            </a:r>
            <a:r>
              <a:rPr lang="ru-RU" sz="1200" dirty="0"/>
              <a:t>.html и fifth.html при этом соответствуют всем изменениям, которые мы проводили над ними после третьего коммита. </a:t>
            </a:r>
            <a:endParaRPr lang="en-US" sz="1200" dirty="0"/>
          </a:p>
          <a:p>
            <a:pPr marL="0" indent="0">
              <a:buNone/>
            </a:pPr>
            <a:endParaRPr lang="en-US" sz="1200" dirty="0"/>
          </a:p>
        </p:txBody>
      </p:sp>
      <p:pic>
        <p:nvPicPr>
          <p:cNvPr id="7" name="Picture 6">
            <a:extLst>
              <a:ext uri="{FF2B5EF4-FFF2-40B4-BE49-F238E27FC236}">
                <a16:creationId xmlns:a16="http://schemas.microsoft.com/office/drawing/2014/main" id="{E62B1297-37BA-437B-9995-C0B6423EEE6A}"/>
              </a:ext>
            </a:extLst>
          </p:cNvPr>
          <p:cNvPicPr>
            <a:picLocks noChangeAspect="1"/>
          </p:cNvPicPr>
          <p:nvPr/>
        </p:nvPicPr>
        <p:blipFill>
          <a:blip r:embed="rId2"/>
          <a:stretch>
            <a:fillRect/>
          </a:stretch>
        </p:blipFill>
        <p:spPr>
          <a:xfrm>
            <a:off x="840419" y="4683518"/>
            <a:ext cx="4343400" cy="1057275"/>
          </a:xfrm>
          <a:prstGeom prst="rect">
            <a:avLst/>
          </a:prstGeom>
        </p:spPr>
      </p:pic>
    </p:spTree>
    <p:extLst>
      <p:ext uri="{BB962C8B-B14F-4D97-AF65-F5344CB8AC3E}">
        <p14:creationId xmlns:p14="http://schemas.microsoft.com/office/powerpoint/2010/main" val="8650410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Мягкий reset, замена и объединение коммитов </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u="sng" dirty="0"/>
              <a:t>Добавим все изменения в индекс и создадим новый коммит:</a:t>
            </a:r>
          </a:p>
          <a:p>
            <a:pPr marL="0" indent="0">
              <a:buNone/>
            </a:pPr>
            <a:r>
              <a:rPr lang="en-US" sz="1200" b="1" dirty="0"/>
              <a:t>git add . </a:t>
            </a:r>
          </a:p>
          <a:p>
            <a:pPr marL="0" indent="0">
              <a:buNone/>
            </a:pPr>
            <a:r>
              <a:rPr lang="en-US" sz="1200" b="1" dirty="0"/>
              <a:t>git commit -m 'rejected commit’</a:t>
            </a:r>
            <a:endParaRPr lang="ru-RU" sz="1200" b="1" dirty="0"/>
          </a:p>
          <a:p>
            <a:pPr marL="0" indent="0">
              <a:buNone/>
            </a:pPr>
            <a:endParaRPr lang="ru-RU" sz="1200" dirty="0"/>
          </a:p>
          <a:p>
            <a:pPr marL="0" indent="0">
              <a:buNone/>
            </a:pPr>
            <a:endParaRPr lang="en-US" sz="1200" dirty="0"/>
          </a:p>
          <a:p>
            <a:pPr marL="0" indent="0">
              <a:buNone/>
            </a:pPr>
            <a:endParaRPr lang="en-US" sz="1200" dirty="0"/>
          </a:p>
          <a:p>
            <a:pPr marL="0" indent="0">
              <a:buNone/>
            </a:pPr>
            <a:r>
              <a:rPr lang="ru-RU" sz="1200" dirty="0"/>
              <a:t>История проекта теперь изменилась: коммиты, сделанные после третьего, пропали, а сразу после третьего коммита находится только что выполненный коммит:</a:t>
            </a:r>
          </a:p>
          <a:p>
            <a:pPr marL="0" indent="0">
              <a:buNone/>
            </a:pPr>
            <a:endParaRPr lang="ru-RU"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ru-RU" sz="1200" dirty="0"/>
              <a:t>Для отката изменений в проекте рекомендуется использовать мягкий режим</a:t>
            </a:r>
            <a:r>
              <a:rPr lang="en-US" sz="1200" dirty="0"/>
              <a:t>(</a:t>
            </a:r>
            <a:r>
              <a:rPr lang="en-US" sz="1200" b="1" dirty="0"/>
              <a:t>--soft</a:t>
            </a:r>
            <a:r>
              <a:rPr lang="en-US" sz="1200" dirty="0"/>
              <a:t>)</a:t>
            </a:r>
            <a:r>
              <a:rPr lang="ru-RU" sz="1200" dirty="0"/>
              <a:t> команды </a:t>
            </a:r>
            <a:r>
              <a:rPr lang="ru-RU" sz="1200" b="1" dirty="0"/>
              <a:t>reset</a:t>
            </a:r>
            <a:r>
              <a:rPr lang="ru-RU" sz="1200" dirty="0"/>
              <a:t>, однако есть и другой, более радикальный, способ – жесткий режим команды </a:t>
            </a:r>
            <a:r>
              <a:rPr lang="ru-RU" sz="1200" b="1" dirty="0"/>
              <a:t>reset</a:t>
            </a:r>
            <a:r>
              <a:rPr lang="ru-RU" sz="1200" dirty="0"/>
              <a:t>.</a:t>
            </a:r>
            <a:endParaRPr lang="en-US" sz="1200" dirty="0"/>
          </a:p>
        </p:txBody>
      </p:sp>
      <p:pic>
        <p:nvPicPr>
          <p:cNvPr id="5" name="Picture 4">
            <a:extLst>
              <a:ext uri="{FF2B5EF4-FFF2-40B4-BE49-F238E27FC236}">
                <a16:creationId xmlns:a16="http://schemas.microsoft.com/office/drawing/2014/main" id="{7088C7B6-CC90-4A8A-A353-EF0071C30F97}"/>
              </a:ext>
            </a:extLst>
          </p:cNvPr>
          <p:cNvPicPr>
            <a:picLocks noChangeAspect="1"/>
          </p:cNvPicPr>
          <p:nvPr/>
        </p:nvPicPr>
        <p:blipFill>
          <a:blip r:embed="rId2"/>
          <a:stretch>
            <a:fillRect/>
          </a:stretch>
        </p:blipFill>
        <p:spPr>
          <a:xfrm>
            <a:off x="840419" y="2153347"/>
            <a:ext cx="4352925" cy="781050"/>
          </a:xfrm>
          <a:prstGeom prst="rect">
            <a:avLst/>
          </a:prstGeom>
        </p:spPr>
      </p:pic>
      <p:pic>
        <p:nvPicPr>
          <p:cNvPr id="8" name="Picture 7">
            <a:extLst>
              <a:ext uri="{FF2B5EF4-FFF2-40B4-BE49-F238E27FC236}">
                <a16:creationId xmlns:a16="http://schemas.microsoft.com/office/drawing/2014/main" id="{59C5C585-1D3B-4173-9167-99BE4A0485BB}"/>
              </a:ext>
            </a:extLst>
          </p:cNvPr>
          <p:cNvPicPr>
            <a:picLocks noChangeAspect="1"/>
          </p:cNvPicPr>
          <p:nvPr/>
        </p:nvPicPr>
        <p:blipFill>
          <a:blip r:embed="rId3"/>
          <a:stretch>
            <a:fillRect/>
          </a:stretch>
        </p:blipFill>
        <p:spPr>
          <a:xfrm>
            <a:off x="840419" y="3272260"/>
            <a:ext cx="3022864" cy="2402505"/>
          </a:xfrm>
          <a:prstGeom prst="rect">
            <a:avLst/>
          </a:prstGeom>
        </p:spPr>
      </p:pic>
    </p:spTree>
    <p:extLst>
      <p:ext uri="{BB962C8B-B14F-4D97-AF65-F5344CB8AC3E}">
        <p14:creationId xmlns:p14="http://schemas.microsoft.com/office/powerpoint/2010/main" val="12684489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Жёсткий </a:t>
            </a:r>
            <a:r>
              <a:rPr lang="en-US" sz="4200" dirty="0"/>
              <a:t>reset, </a:t>
            </a:r>
            <a:r>
              <a:rPr lang="ru-RU" sz="4200" dirty="0"/>
              <a:t>отмена коммитов</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dirty="0"/>
              <a:t>Команда </a:t>
            </a:r>
            <a:r>
              <a:rPr lang="ru-RU" sz="1200" b="1" dirty="0"/>
              <a:t>git reset --hard </a:t>
            </a:r>
            <a:r>
              <a:rPr lang="ru-RU" sz="1200" dirty="0"/>
              <a:t>позволяет полностью отменить все изменения, которые были сделаны после определённого коммита. </a:t>
            </a:r>
          </a:p>
          <a:p>
            <a:pPr marL="0" indent="0">
              <a:buNone/>
            </a:pPr>
            <a:r>
              <a:rPr lang="ru-RU" sz="1200" u="sng" dirty="0"/>
              <a:t>Посмотрим, какие файлы содержатся сейчас в рабочем каталоге нашего проекта:</a:t>
            </a:r>
            <a:r>
              <a:rPr lang="en-US" sz="1200" dirty="0"/>
              <a:t> </a:t>
            </a:r>
            <a:r>
              <a:rPr lang="en-US" sz="1200" b="1" dirty="0"/>
              <a:t>ls -la</a:t>
            </a:r>
            <a:endParaRPr lang="en-US" sz="1200" dirty="0"/>
          </a:p>
          <a:p>
            <a:pPr marL="0" indent="0">
              <a:buNone/>
            </a:pPr>
            <a:r>
              <a:rPr lang="ru-RU" sz="1200" dirty="0"/>
              <a:t>Как видим, у нас есть файл </a:t>
            </a:r>
            <a:r>
              <a:rPr lang="ru-RU" sz="1200" b="1" dirty="0"/>
              <a:t>fifth.html</a:t>
            </a:r>
            <a:r>
              <a:rPr lang="ru-RU" sz="1200" dirty="0"/>
              <a:t>, который мы создали и зафиксировали при выполнении пятого коммита. Этот файл остался после отката к третьему коммиту с помощью мягкого </a:t>
            </a:r>
            <a:r>
              <a:rPr lang="ru-RU" sz="1200" b="1" dirty="0"/>
              <a:t>reset</a:t>
            </a:r>
            <a:r>
              <a:rPr lang="ru-RU" sz="1200" dirty="0"/>
              <a:t>. </a:t>
            </a:r>
          </a:p>
          <a:p>
            <a:pPr marL="0" indent="0">
              <a:buNone/>
            </a:pPr>
            <a:r>
              <a:rPr lang="ru-RU" sz="1200" u="sng" dirty="0"/>
              <a:t>Содержимое файла </a:t>
            </a:r>
            <a:r>
              <a:rPr lang="en-US" sz="1200" b="1" u="sng" dirty="0"/>
              <a:t>second_file</a:t>
            </a:r>
            <a:r>
              <a:rPr lang="ru-RU" sz="1200" b="1" u="sng" dirty="0"/>
              <a:t>.html </a:t>
            </a:r>
            <a:r>
              <a:rPr lang="ru-RU" sz="1200" u="sng" dirty="0"/>
              <a:t>также соответствует состоянию, в котором он был при выполнении пятого коммита:</a:t>
            </a:r>
          </a:p>
          <a:p>
            <a:pPr marL="0" indent="0">
              <a:buNone/>
            </a:pPr>
            <a:r>
              <a:rPr lang="en-US" sz="1200" b="1" dirty="0"/>
              <a:t>cat second_file.html	</a:t>
            </a:r>
            <a:r>
              <a:rPr lang="en-US" sz="1200" dirty="0">
                <a:solidFill>
                  <a:schemeClr val="bg1">
                    <a:lumMod val="50000"/>
                  </a:schemeClr>
                </a:solidFill>
              </a:rPr>
              <a:t># &lt;h2&gt;Changed for commit&lt;/h2&gt; </a:t>
            </a:r>
            <a:endParaRPr lang="en-US" sz="1200" dirty="0"/>
          </a:p>
          <a:p>
            <a:pPr marL="0" indent="0">
              <a:buNone/>
            </a:pPr>
            <a:r>
              <a:rPr lang="ru-RU" sz="1200" u="sng" dirty="0"/>
              <a:t>Давайте вернёмся к состоянию проекта после выполнения второго коммита:</a:t>
            </a:r>
            <a:r>
              <a:rPr lang="en-US" sz="1200" dirty="0"/>
              <a:t> </a:t>
            </a:r>
            <a:r>
              <a:rPr lang="en-US" sz="1200" b="1" dirty="0"/>
              <a:t>git log</a:t>
            </a:r>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ru-RU" sz="1200" u="sng" dirty="0"/>
              <a:t>Для этого скопируем идентификатор второго коммита (напомним, что допускается копировать только первые четыре или больше цифр) и выполним команду:</a:t>
            </a:r>
            <a:endParaRPr lang="en-US" sz="1200" u="sng" dirty="0"/>
          </a:p>
          <a:p>
            <a:pPr marL="0" indent="0">
              <a:buNone/>
            </a:pPr>
            <a:r>
              <a:rPr lang="en-US" sz="1200" b="1" dirty="0"/>
              <a:t>git reset --hard f917c		</a:t>
            </a:r>
            <a:r>
              <a:rPr lang="en-US" sz="1200" b="1" dirty="0">
                <a:solidFill>
                  <a:schemeClr val="bg1">
                    <a:lumMod val="50000"/>
                  </a:schemeClr>
                </a:solidFill>
              </a:rPr>
              <a:t>#</a:t>
            </a:r>
            <a:r>
              <a:rPr lang="ru-RU" sz="1200" b="1" dirty="0">
                <a:solidFill>
                  <a:schemeClr val="bg1">
                    <a:lumMod val="50000"/>
                  </a:schemeClr>
                </a:solidFill>
              </a:rPr>
              <a:t> у вас будет другой ключ для третьего коммита</a:t>
            </a:r>
            <a:endParaRPr lang="en-US" sz="1200" b="1" dirty="0"/>
          </a:p>
        </p:txBody>
      </p:sp>
      <p:pic>
        <p:nvPicPr>
          <p:cNvPr id="7" name="Picture 6">
            <a:extLst>
              <a:ext uri="{FF2B5EF4-FFF2-40B4-BE49-F238E27FC236}">
                <a16:creationId xmlns:a16="http://schemas.microsoft.com/office/drawing/2014/main" id="{706C56AD-EC32-4024-BBB9-915F76B8D1F4}"/>
              </a:ext>
            </a:extLst>
          </p:cNvPr>
          <p:cNvPicPr>
            <a:picLocks noChangeAspect="1"/>
          </p:cNvPicPr>
          <p:nvPr/>
        </p:nvPicPr>
        <p:blipFill>
          <a:blip r:embed="rId2"/>
          <a:stretch>
            <a:fillRect/>
          </a:stretch>
        </p:blipFill>
        <p:spPr>
          <a:xfrm>
            <a:off x="840419" y="3163415"/>
            <a:ext cx="3058362" cy="2413240"/>
          </a:xfrm>
          <a:prstGeom prst="rect">
            <a:avLst/>
          </a:prstGeom>
        </p:spPr>
      </p:pic>
    </p:spTree>
    <p:extLst>
      <p:ext uri="{BB962C8B-B14F-4D97-AF65-F5344CB8AC3E}">
        <p14:creationId xmlns:p14="http://schemas.microsoft.com/office/powerpoint/2010/main" val="19024935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Жёсткий </a:t>
            </a:r>
            <a:r>
              <a:rPr lang="en-US" sz="4200" dirty="0"/>
              <a:t>reset, </a:t>
            </a:r>
            <a:r>
              <a:rPr lang="ru-RU" sz="4200" dirty="0"/>
              <a:t>отмена коммитов</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u="sng" dirty="0"/>
              <a:t>Посмотрим, какие файлы сейчас есть в проекте:</a:t>
            </a:r>
            <a:r>
              <a:rPr lang="en-US" sz="1200" dirty="0"/>
              <a:t> </a:t>
            </a:r>
            <a:r>
              <a:rPr lang="en-US" sz="1200" b="1" dirty="0"/>
              <a:t>ls -la</a:t>
            </a:r>
            <a:endParaRPr lang="en-US" sz="1200" u="sng" dirty="0"/>
          </a:p>
          <a:p>
            <a:pPr marL="0" indent="0">
              <a:buNone/>
            </a:pPr>
            <a:endParaRPr lang="en-US" sz="1200" dirty="0"/>
          </a:p>
          <a:p>
            <a:pPr marL="0" indent="0">
              <a:buNone/>
            </a:pPr>
            <a:endParaRPr lang="en-US" sz="1200" dirty="0"/>
          </a:p>
          <a:p>
            <a:pPr marL="0" indent="0">
              <a:buNone/>
            </a:pPr>
            <a:endParaRPr lang="en-US" sz="1200" dirty="0"/>
          </a:p>
          <a:p>
            <a:pPr marL="0" indent="0">
              <a:buNone/>
            </a:pPr>
            <a:r>
              <a:rPr lang="ru-RU" sz="1200" u="sng" dirty="0"/>
              <a:t>Как видим, файл </a:t>
            </a:r>
            <a:r>
              <a:rPr lang="ru-RU" sz="1200" b="1" u="sng" dirty="0"/>
              <a:t>fifth.html </a:t>
            </a:r>
            <a:r>
              <a:rPr lang="ru-RU" sz="1200" u="sng" dirty="0"/>
              <a:t>отсутствует, он был удален. Файл </a:t>
            </a:r>
            <a:r>
              <a:rPr lang="en-US" sz="1200" b="1" u="sng" dirty="0"/>
              <a:t>second_file</a:t>
            </a:r>
            <a:r>
              <a:rPr lang="ru-RU" sz="1200" b="1" u="sng" dirty="0"/>
              <a:t>.html </a:t>
            </a:r>
            <a:r>
              <a:rPr lang="ru-RU" sz="1200" u="sng" dirty="0"/>
              <a:t>вернулся к состоянию второго коммита</a:t>
            </a:r>
            <a:r>
              <a:rPr lang="ru-RU" sz="1200" dirty="0"/>
              <a:t>: </a:t>
            </a:r>
          </a:p>
          <a:p>
            <a:pPr marL="0" indent="0">
              <a:buNone/>
            </a:pPr>
            <a:r>
              <a:rPr lang="en-US" sz="1200" b="1" dirty="0"/>
              <a:t>cat second_file.html  </a:t>
            </a:r>
            <a:r>
              <a:rPr lang="en-US" sz="1200" b="1" dirty="0">
                <a:solidFill>
                  <a:schemeClr val="bg1">
                    <a:lumMod val="50000"/>
                  </a:schemeClr>
                </a:solidFill>
              </a:rPr>
              <a:t># </a:t>
            </a:r>
            <a:r>
              <a:rPr lang="en-US" sz="1200" dirty="0">
                <a:solidFill>
                  <a:schemeClr val="bg1">
                    <a:lumMod val="50000"/>
                  </a:schemeClr>
                </a:solidFill>
              </a:rPr>
              <a:t>&lt;h2&gt;Second file text&lt;/h2&gt; </a:t>
            </a:r>
          </a:p>
          <a:p>
            <a:pPr marL="0" indent="0">
              <a:buNone/>
            </a:pPr>
            <a:r>
              <a:rPr lang="ru-RU" sz="1200" u="sng" dirty="0"/>
              <a:t>Проверим статус файлов:</a:t>
            </a:r>
            <a:r>
              <a:rPr lang="ru-RU" sz="1200" dirty="0"/>
              <a:t> </a:t>
            </a:r>
            <a:r>
              <a:rPr lang="en-US" sz="1200" dirty="0"/>
              <a:t> </a:t>
            </a:r>
            <a:r>
              <a:rPr lang="en-US" sz="1200" b="1" dirty="0"/>
              <a:t>git status </a:t>
            </a:r>
          </a:p>
          <a:p>
            <a:pPr marL="0" indent="0">
              <a:buNone/>
            </a:pPr>
            <a:endParaRPr lang="en-US" sz="1200" dirty="0"/>
          </a:p>
          <a:p>
            <a:pPr marL="0" indent="0">
              <a:buNone/>
            </a:pPr>
            <a:endParaRPr lang="en-US" sz="1200" dirty="0"/>
          </a:p>
          <a:p>
            <a:pPr marL="0" indent="0">
              <a:buNone/>
            </a:pPr>
            <a:r>
              <a:rPr lang="ru-RU" sz="1100" dirty="0"/>
              <a:t>Таким образом, файлы проекта вернулись в то состояние, в котором они были после выполнения второго коммита. Все изменения, которые производились над файлами после второго коммита, оказались потеряны, восстановить их нельзя. История фиксации изменений теперь выглядит так, как будто мы выполнили только два коммита</a:t>
            </a:r>
            <a:r>
              <a:rPr lang="en-US" sz="1100" dirty="0"/>
              <a:t>.</a:t>
            </a:r>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ru-RU" sz="1200" dirty="0"/>
              <a:t>Итак, результат выполнения команды </a:t>
            </a:r>
            <a:r>
              <a:rPr lang="ru-RU" sz="1200" b="1" dirty="0"/>
              <a:t>git reset --hard </a:t>
            </a:r>
            <a:r>
              <a:rPr lang="ru-RU" sz="1200" dirty="0"/>
              <a:t>нельзя отменить, поэтому жёсткий режим команды reset нужно использовать с крайней осторожностью только в исключительных случаях (особенно если разработка ведется не индивидуально, а в команде).</a:t>
            </a: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p:txBody>
      </p:sp>
      <p:pic>
        <p:nvPicPr>
          <p:cNvPr id="8" name="Picture 7">
            <a:extLst>
              <a:ext uri="{FF2B5EF4-FFF2-40B4-BE49-F238E27FC236}">
                <a16:creationId xmlns:a16="http://schemas.microsoft.com/office/drawing/2014/main" id="{027A78AB-0BBA-4F3F-AFE7-11A0D2AEFC1D}"/>
              </a:ext>
            </a:extLst>
          </p:cNvPr>
          <p:cNvPicPr>
            <a:picLocks noChangeAspect="1"/>
          </p:cNvPicPr>
          <p:nvPr/>
        </p:nvPicPr>
        <p:blipFill>
          <a:blip r:embed="rId2"/>
          <a:stretch>
            <a:fillRect/>
          </a:stretch>
        </p:blipFill>
        <p:spPr>
          <a:xfrm>
            <a:off x="840419" y="3247606"/>
            <a:ext cx="4305300" cy="666750"/>
          </a:xfrm>
          <a:prstGeom prst="rect">
            <a:avLst/>
          </a:prstGeom>
        </p:spPr>
      </p:pic>
      <p:pic>
        <p:nvPicPr>
          <p:cNvPr id="11" name="Picture 10">
            <a:extLst>
              <a:ext uri="{FF2B5EF4-FFF2-40B4-BE49-F238E27FC236}">
                <a16:creationId xmlns:a16="http://schemas.microsoft.com/office/drawing/2014/main" id="{098A7F6F-70FF-4B06-8693-59209939C681}"/>
              </a:ext>
            </a:extLst>
          </p:cNvPr>
          <p:cNvPicPr>
            <a:picLocks noChangeAspect="1"/>
          </p:cNvPicPr>
          <p:nvPr/>
        </p:nvPicPr>
        <p:blipFill>
          <a:blip r:embed="rId3"/>
          <a:stretch>
            <a:fillRect/>
          </a:stretch>
        </p:blipFill>
        <p:spPr>
          <a:xfrm>
            <a:off x="840418" y="1533344"/>
            <a:ext cx="2835306" cy="904412"/>
          </a:xfrm>
          <a:prstGeom prst="rect">
            <a:avLst/>
          </a:prstGeom>
        </p:spPr>
      </p:pic>
      <p:pic>
        <p:nvPicPr>
          <p:cNvPr id="12" name="Picture 11">
            <a:extLst>
              <a:ext uri="{FF2B5EF4-FFF2-40B4-BE49-F238E27FC236}">
                <a16:creationId xmlns:a16="http://schemas.microsoft.com/office/drawing/2014/main" id="{521F8718-616C-4228-A389-D40A77BDD6E0}"/>
              </a:ext>
            </a:extLst>
          </p:cNvPr>
          <p:cNvPicPr>
            <a:picLocks noChangeAspect="1"/>
          </p:cNvPicPr>
          <p:nvPr/>
        </p:nvPicPr>
        <p:blipFill>
          <a:blip r:embed="rId4"/>
          <a:stretch>
            <a:fillRect/>
          </a:stretch>
        </p:blipFill>
        <p:spPr>
          <a:xfrm>
            <a:off x="840418" y="4331030"/>
            <a:ext cx="3738148" cy="1505294"/>
          </a:xfrm>
          <a:prstGeom prst="rect">
            <a:avLst/>
          </a:prstGeom>
        </p:spPr>
      </p:pic>
    </p:spTree>
    <p:extLst>
      <p:ext uri="{BB962C8B-B14F-4D97-AF65-F5344CB8AC3E}">
        <p14:creationId xmlns:p14="http://schemas.microsoft.com/office/powerpoint/2010/main" val="8442004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Когда нужно делать коммиты</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600" dirty="0"/>
              <a:t>Обсудим, как обычно выглядит рабочий цикл при работе с Git.</a:t>
            </a:r>
          </a:p>
          <a:p>
            <a:pPr marL="0" indent="0">
              <a:buNone/>
            </a:pPr>
            <a:endParaRPr lang="ru-RU" sz="1600" b="1" dirty="0"/>
          </a:p>
          <a:p>
            <a:pPr marL="0" indent="0">
              <a:buNone/>
            </a:pPr>
            <a:r>
              <a:rPr lang="ru-RU" sz="1600" b="1" dirty="0"/>
              <a:t>Коммит</a:t>
            </a:r>
            <a:r>
              <a:rPr lang="ru-RU" sz="1600" dirty="0"/>
              <a:t> – это целостное осмысленное изменение проекта. С одной стороны, коммиты должны быть небольшими, затрагивающими по возможности минимальное число файлов. С другой стороны, нет смысла создавать коммит после редактирования каждой строки – это приведёт к разрастанию истории изменений, в ней будет сложно разобраться и найти нужный коммит.</a:t>
            </a:r>
          </a:p>
          <a:p>
            <a:pPr marL="0" indent="0">
              <a:buNone/>
            </a:pPr>
            <a:r>
              <a:rPr lang="ru-RU" sz="1600" dirty="0"/>
              <a:t>Нужно стараться выполнять коммиты так, чтобы по их истории было понятно, какие новые возможности добавлялись или какие ошибки исправлялись.</a:t>
            </a:r>
          </a:p>
          <a:p>
            <a:pPr marL="0" indent="0">
              <a:buNone/>
            </a:pPr>
            <a:r>
              <a:rPr lang="ru-RU" sz="1600" dirty="0"/>
              <a:t>Продолжим работу над нашим проектом. Предположим, что нам нужно добавить функционал в файл </a:t>
            </a:r>
            <a:r>
              <a:rPr lang="ru-RU" sz="1600" b="1" dirty="0"/>
              <a:t>index.html</a:t>
            </a:r>
            <a:r>
              <a:rPr lang="ru-RU" sz="1600" dirty="0"/>
              <a:t>, например, сделать в этом файле разметку для бокового меню. </a:t>
            </a:r>
          </a:p>
          <a:p>
            <a:pPr marL="0" indent="0">
              <a:buNone/>
            </a:pPr>
            <a:endParaRPr lang="ru-RU" sz="1600" u="sng" dirty="0"/>
          </a:p>
          <a:p>
            <a:pPr marL="0" indent="0">
              <a:buNone/>
            </a:pPr>
            <a:r>
              <a:rPr lang="ru-RU" sz="1600" u="sng" dirty="0"/>
              <a:t>Откроем </a:t>
            </a:r>
            <a:r>
              <a:rPr lang="ru-RU" sz="1600" b="1" u="sng" dirty="0"/>
              <a:t>index.html </a:t>
            </a:r>
            <a:r>
              <a:rPr lang="ru-RU" sz="1600" u="sng" dirty="0"/>
              <a:t>в редакторе кода и внесем нужные изменения</a:t>
            </a:r>
            <a:r>
              <a:rPr lang="en-US" sz="1600" u="sng" dirty="0"/>
              <a:t>:</a:t>
            </a:r>
            <a:r>
              <a:rPr lang="ru-RU" sz="1600" u="sng" dirty="0"/>
              <a:t> </a:t>
            </a:r>
          </a:p>
          <a:p>
            <a:pPr marL="342900" indent="-342900">
              <a:buFont typeface="+mj-lt"/>
              <a:buAutoNum type="arabicPeriod"/>
            </a:pPr>
            <a:r>
              <a:rPr lang="ru-RU" sz="1600" dirty="0"/>
              <a:t>Выполним</a:t>
            </a:r>
            <a:r>
              <a:rPr lang="en-US" sz="1600" dirty="0"/>
              <a:t>: </a:t>
            </a:r>
            <a:r>
              <a:rPr lang="en-US" sz="1600" b="1" dirty="0"/>
              <a:t>notepad</a:t>
            </a:r>
            <a:r>
              <a:rPr lang="en-US" sz="1600" dirty="0"/>
              <a:t> </a:t>
            </a:r>
            <a:r>
              <a:rPr lang="en-US" sz="1600" b="1" dirty="0"/>
              <a:t>index.html</a:t>
            </a:r>
            <a:r>
              <a:rPr lang="ru-RU" sz="1600" b="1" dirty="0"/>
              <a:t>  	</a:t>
            </a:r>
            <a:r>
              <a:rPr lang="en-US" sz="1600" dirty="0">
                <a:solidFill>
                  <a:schemeClr val="bg1">
                    <a:lumMod val="50000"/>
                  </a:schemeClr>
                </a:solidFill>
              </a:rPr>
              <a:t>#</a:t>
            </a:r>
            <a:r>
              <a:rPr lang="ru-RU" sz="1600" b="1" dirty="0">
                <a:solidFill>
                  <a:schemeClr val="bg1">
                    <a:lumMod val="50000"/>
                  </a:schemeClr>
                </a:solidFill>
              </a:rPr>
              <a:t> </a:t>
            </a:r>
            <a:r>
              <a:rPr lang="ru-RU" sz="1600" dirty="0">
                <a:solidFill>
                  <a:schemeClr val="bg1">
                    <a:lumMod val="50000"/>
                  </a:schemeClr>
                </a:solidFill>
              </a:rPr>
              <a:t>или можно открыть в другом редакторе</a:t>
            </a:r>
            <a:endParaRPr lang="ru-RU" sz="1600" b="1" dirty="0">
              <a:solidFill>
                <a:schemeClr val="bg1">
                  <a:lumMod val="50000"/>
                </a:schemeClr>
              </a:solidFill>
            </a:endParaRPr>
          </a:p>
          <a:p>
            <a:pPr marL="342900" indent="-342900">
              <a:buFont typeface="+mj-lt"/>
              <a:buAutoNum type="arabicPeriod"/>
            </a:pPr>
            <a:r>
              <a:rPr lang="ru-RU" sz="1600" dirty="0"/>
              <a:t>Вставьте код в</a:t>
            </a:r>
            <a:r>
              <a:rPr lang="en-US" sz="1600" dirty="0"/>
              <a:t> </a:t>
            </a:r>
            <a:r>
              <a:rPr lang="en-US" sz="1600" b="1" dirty="0"/>
              <a:t>index.html </a:t>
            </a:r>
            <a:r>
              <a:rPr lang="ru-RU" sz="1600" b="1" dirty="0"/>
              <a:t> </a:t>
            </a:r>
            <a:r>
              <a:rPr lang="en-US" sz="1600" dirty="0"/>
              <a:t>(</a:t>
            </a:r>
            <a:r>
              <a:rPr lang="ru-RU" sz="1600" dirty="0"/>
              <a:t>код на следующем слайде) сохраните в редакторе и закройте его</a:t>
            </a:r>
          </a:p>
          <a:p>
            <a:pPr marL="0" indent="0">
              <a:buNone/>
            </a:pPr>
            <a:endParaRPr lang="en-US" sz="1600" dirty="0"/>
          </a:p>
          <a:p>
            <a:pPr marL="0" indent="0">
              <a:buNone/>
            </a:pPr>
            <a:endParaRPr lang="ru-RU" sz="1200" dirty="0"/>
          </a:p>
          <a:p>
            <a:pPr marL="0" indent="0">
              <a:buNone/>
            </a:pPr>
            <a:endParaRPr lang="ru-RU" sz="1200" dirty="0"/>
          </a:p>
          <a:p>
            <a:pPr marL="0" indent="0">
              <a:buNone/>
            </a:pPr>
            <a:endParaRPr lang="ru-RU" sz="1200" dirty="0"/>
          </a:p>
          <a:p>
            <a:pPr marL="0" indent="0">
              <a:buNone/>
            </a:pPr>
            <a:endParaRPr lang="ru-RU" sz="1200" dirty="0"/>
          </a:p>
          <a:p>
            <a:pPr marL="0" indent="0">
              <a:buNone/>
            </a:pPr>
            <a:endParaRPr lang="ru-RU" sz="1200" dirty="0"/>
          </a:p>
          <a:p>
            <a:pPr marL="0" indent="0">
              <a:buNone/>
            </a:pPr>
            <a:endParaRPr lang="ru-RU" sz="1200" dirty="0"/>
          </a:p>
          <a:p>
            <a:pPr marL="0" indent="0">
              <a:buNone/>
            </a:pPr>
            <a:endParaRPr lang="en-US" sz="1200" dirty="0"/>
          </a:p>
          <a:p>
            <a:pPr marL="0" indent="0">
              <a:buNone/>
            </a:pPr>
            <a:endParaRPr lang="en-US" sz="1200" dirty="0"/>
          </a:p>
        </p:txBody>
      </p:sp>
    </p:spTree>
    <p:extLst>
      <p:ext uri="{BB962C8B-B14F-4D97-AF65-F5344CB8AC3E}">
        <p14:creationId xmlns:p14="http://schemas.microsoft.com/office/powerpoint/2010/main" val="37013101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Когда нужно делать коммиты</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en-US" sz="900" dirty="0"/>
              <a:t>&lt;!DOCTYPE html&gt;</a:t>
            </a:r>
            <a:endParaRPr lang="ru-RU" sz="900" dirty="0"/>
          </a:p>
          <a:p>
            <a:pPr marL="0" indent="0">
              <a:buNone/>
            </a:pPr>
            <a:r>
              <a:rPr lang="en-US" sz="900" dirty="0"/>
              <a:t>&lt;html lang="en"&gt; </a:t>
            </a:r>
            <a:endParaRPr lang="ru-RU" sz="900" dirty="0"/>
          </a:p>
          <a:p>
            <a:pPr marL="0" indent="0">
              <a:buNone/>
            </a:pPr>
            <a:r>
              <a:rPr lang="en-US" sz="900" dirty="0"/>
              <a:t>  &lt;head&gt; </a:t>
            </a:r>
            <a:endParaRPr lang="ru-RU" sz="900" dirty="0"/>
          </a:p>
          <a:p>
            <a:pPr marL="0" indent="0">
              <a:buNone/>
            </a:pPr>
            <a:r>
              <a:rPr lang="en-US" sz="900" dirty="0"/>
              <a:t>   &lt;meta charset="UTF-8"&gt;</a:t>
            </a:r>
            <a:endParaRPr lang="ru-RU" sz="900" dirty="0"/>
          </a:p>
          <a:p>
            <a:pPr marL="0" indent="0">
              <a:buNone/>
            </a:pPr>
            <a:r>
              <a:rPr lang="en-US" sz="900" dirty="0"/>
              <a:t>   &lt;title&gt;Project&lt;/title&gt; </a:t>
            </a:r>
            <a:endParaRPr lang="ru-RU" sz="900" dirty="0"/>
          </a:p>
          <a:p>
            <a:pPr marL="0" indent="0">
              <a:buNone/>
            </a:pPr>
            <a:r>
              <a:rPr lang="en-US" sz="900" dirty="0"/>
              <a:t>  &lt;/head&gt; </a:t>
            </a:r>
            <a:endParaRPr lang="ru-RU" sz="900" dirty="0"/>
          </a:p>
          <a:p>
            <a:pPr marL="0" indent="0">
              <a:buNone/>
            </a:pPr>
            <a:r>
              <a:rPr lang="en-US" sz="900" dirty="0"/>
              <a:t>  &lt;body&gt;&lt;!-- code --&gt;</a:t>
            </a:r>
            <a:endParaRPr lang="ru-RU" sz="900" dirty="0"/>
          </a:p>
          <a:p>
            <a:pPr marL="0" indent="0">
              <a:buNone/>
            </a:pPr>
            <a:r>
              <a:rPr lang="en-US" sz="900" dirty="0"/>
              <a:t> </a:t>
            </a:r>
            <a:endParaRPr lang="ru-RU" sz="900" dirty="0"/>
          </a:p>
          <a:p>
            <a:pPr marL="0" indent="0">
              <a:buNone/>
            </a:pPr>
            <a:r>
              <a:rPr lang="en-US" sz="900" dirty="0"/>
              <a:t>  &lt;div class="sidebar"&gt;</a:t>
            </a:r>
            <a:endParaRPr lang="ru-RU" sz="900" dirty="0"/>
          </a:p>
          <a:p>
            <a:pPr marL="0" indent="0">
              <a:buNone/>
            </a:pPr>
            <a:r>
              <a:rPr lang="en-US" sz="900" dirty="0"/>
              <a:t>    &lt;div class="sidebar__title"&gt;</a:t>
            </a:r>
            <a:r>
              <a:rPr lang="ru-RU" sz="900" dirty="0"/>
              <a:t>Боковое меню</a:t>
            </a:r>
            <a:r>
              <a:rPr lang="en-US" sz="900" dirty="0"/>
              <a:t>&lt;/div&gt;</a:t>
            </a:r>
            <a:endParaRPr lang="ru-RU" sz="900" dirty="0"/>
          </a:p>
          <a:p>
            <a:pPr marL="0" indent="0">
              <a:buNone/>
            </a:pPr>
            <a:r>
              <a:rPr lang="en-US" sz="900" dirty="0"/>
              <a:t>    &lt;ul class="sidebar__list"&gt; </a:t>
            </a:r>
            <a:endParaRPr lang="ru-RU" sz="900" dirty="0"/>
          </a:p>
          <a:p>
            <a:pPr marL="0" indent="0">
              <a:buNone/>
            </a:pPr>
            <a:r>
              <a:rPr lang="en-US" sz="900" dirty="0"/>
              <a:t>       &lt;li class="sidebar__item"&gt; &lt;/li&gt;</a:t>
            </a:r>
            <a:endParaRPr lang="ru-RU" sz="900" dirty="0"/>
          </a:p>
          <a:p>
            <a:pPr marL="0" indent="0">
              <a:buNone/>
            </a:pPr>
            <a:r>
              <a:rPr lang="en-US" sz="900" dirty="0"/>
              <a:t>       &lt;li class="sidebar__item"&gt;&lt;/li&gt;</a:t>
            </a:r>
            <a:endParaRPr lang="ru-RU" sz="900" dirty="0"/>
          </a:p>
          <a:p>
            <a:pPr marL="0" indent="0">
              <a:buNone/>
            </a:pPr>
            <a:r>
              <a:rPr lang="en-US" sz="900" dirty="0"/>
              <a:t>       &lt;li class="sidebar__item"&gt;&lt;/li&gt;</a:t>
            </a:r>
            <a:endParaRPr lang="ru-RU" sz="900" dirty="0"/>
          </a:p>
          <a:p>
            <a:pPr marL="0" indent="0">
              <a:buNone/>
            </a:pPr>
            <a:r>
              <a:rPr lang="en-US" sz="900" dirty="0"/>
              <a:t>       &lt;li class="sidebar__item"&gt;&lt;/li&gt;</a:t>
            </a:r>
            <a:endParaRPr lang="ru-RU" sz="900" dirty="0"/>
          </a:p>
          <a:p>
            <a:pPr marL="0" indent="0">
              <a:buNone/>
            </a:pPr>
            <a:r>
              <a:rPr lang="en-US" sz="900" dirty="0"/>
              <a:t>       &lt;li class="sidebar__item"&gt;&lt;/li&gt;</a:t>
            </a:r>
            <a:endParaRPr lang="ru-RU" sz="900" dirty="0"/>
          </a:p>
          <a:p>
            <a:pPr marL="0" indent="0">
              <a:buNone/>
            </a:pPr>
            <a:r>
              <a:rPr lang="en-US" sz="900" dirty="0"/>
              <a:t>    </a:t>
            </a:r>
            <a:r>
              <a:rPr lang="ru-RU" sz="900" dirty="0"/>
              <a:t>&lt;/ul&gt;</a:t>
            </a:r>
          </a:p>
          <a:p>
            <a:pPr marL="0" indent="0">
              <a:buNone/>
            </a:pPr>
            <a:r>
              <a:rPr lang="ru-RU" sz="900" dirty="0"/>
              <a:t>  &lt;/div&gt;</a:t>
            </a:r>
          </a:p>
          <a:p>
            <a:pPr marL="0" indent="0">
              <a:buNone/>
            </a:pPr>
            <a:r>
              <a:rPr lang="ru-RU" sz="900" dirty="0"/>
              <a:t> </a:t>
            </a:r>
          </a:p>
          <a:p>
            <a:pPr marL="0" indent="0">
              <a:buNone/>
            </a:pPr>
            <a:r>
              <a:rPr lang="ru-RU" sz="900" dirty="0"/>
              <a:t> &lt;/body&gt;</a:t>
            </a:r>
          </a:p>
          <a:p>
            <a:pPr marL="0" indent="0">
              <a:buNone/>
            </a:pPr>
            <a:r>
              <a:rPr lang="ru-RU" sz="900" dirty="0"/>
              <a:t>&lt;/html&gt;</a:t>
            </a:r>
          </a:p>
          <a:p>
            <a:pPr marL="0" indent="0">
              <a:buNone/>
            </a:pPr>
            <a:endParaRPr lang="en-US" sz="1200" dirty="0"/>
          </a:p>
        </p:txBody>
      </p:sp>
    </p:spTree>
    <p:extLst>
      <p:ext uri="{BB962C8B-B14F-4D97-AF65-F5344CB8AC3E}">
        <p14:creationId xmlns:p14="http://schemas.microsoft.com/office/powerpoint/2010/main" val="5955710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Когда нужно делать коммиты</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400" dirty="0"/>
              <a:t>Коммит будем делать тогда, когда нужный функционал будет полностью реализован, т.е. весь код для формирования бокового меню в файл внесен. </a:t>
            </a:r>
          </a:p>
          <a:p>
            <a:pPr marL="0" indent="0">
              <a:buNone/>
            </a:pPr>
            <a:r>
              <a:rPr lang="ru-RU" sz="1400" u="sng" dirty="0"/>
              <a:t>Проверим статус проекта, чтобы убедиться, что в коммит не попадет ничего лишнего:</a:t>
            </a:r>
            <a:r>
              <a:rPr lang="en-US" sz="1400" dirty="0"/>
              <a:t> </a:t>
            </a:r>
            <a:r>
              <a:rPr lang="ru-RU" sz="1400" b="1" dirty="0"/>
              <a:t>git status </a:t>
            </a:r>
          </a:p>
          <a:p>
            <a:pPr marL="0" indent="0">
              <a:buNone/>
            </a:pPr>
            <a:endParaRPr lang="en-US" sz="1400" dirty="0"/>
          </a:p>
          <a:p>
            <a:pPr marL="0" indent="0">
              <a:buNone/>
            </a:pPr>
            <a:endParaRPr lang="en-US" sz="1400" dirty="0"/>
          </a:p>
          <a:p>
            <a:pPr marL="0" indent="0">
              <a:buNone/>
            </a:pPr>
            <a:endParaRPr lang="en-US" sz="1400" dirty="0"/>
          </a:p>
          <a:p>
            <a:pPr marL="0" indent="0">
              <a:buNone/>
            </a:pPr>
            <a:r>
              <a:rPr lang="ru-RU" sz="1400" u="sng" dirty="0"/>
              <a:t>Добавляем файлы в индекс и выполним коммит:</a:t>
            </a:r>
          </a:p>
          <a:p>
            <a:pPr marL="0" indent="0">
              <a:buNone/>
            </a:pPr>
            <a:r>
              <a:rPr lang="en-US" sz="1400" b="1" dirty="0"/>
              <a:t>git add .</a:t>
            </a:r>
          </a:p>
          <a:p>
            <a:pPr marL="0" indent="0">
              <a:buNone/>
            </a:pPr>
            <a:r>
              <a:rPr lang="en-US" sz="1400" b="1" dirty="0"/>
              <a:t>git commit</a:t>
            </a:r>
            <a:endParaRPr lang="ru-RU" sz="1400" b="1" dirty="0"/>
          </a:p>
          <a:p>
            <a:pPr marL="0" indent="0">
              <a:buNone/>
            </a:pPr>
            <a:r>
              <a:rPr lang="ru-RU" sz="1400" dirty="0"/>
              <a:t>В результате откроется текстовый редактор, в котором нужно написать комментарий для коммита.</a:t>
            </a:r>
            <a:r>
              <a:rPr lang="en-US" sz="1400" dirty="0"/>
              <a:t> </a:t>
            </a:r>
          </a:p>
          <a:p>
            <a:pPr marL="0" indent="0">
              <a:buNone/>
            </a:pPr>
            <a:endParaRPr lang="en-US" sz="1400" dirty="0"/>
          </a:p>
        </p:txBody>
      </p:sp>
      <p:pic>
        <p:nvPicPr>
          <p:cNvPr id="5" name="Picture 4">
            <a:extLst>
              <a:ext uri="{FF2B5EF4-FFF2-40B4-BE49-F238E27FC236}">
                <a16:creationId xmlns:a16="http://schemas.microsoft.com/office/drawing/2014/main" id="{105E8E30-EA72-496E-A071-A375AD3E8F8B}"/>
              </a:ext>
            </a:extLst>
          </p:cNvPr>
          <p:cNvPicPr>
            <a:picLocks noChangeAspect="1"/>
          </p:cNvPicPr>
          <p:nvPr/>
        </p:nvPicPr>
        <p:blipFill>
          <a:blip r:embed="rId2"/>
          <a:stretch>
            <a:fillRect/>
          </a:stretch>
        </p:blipFill>
        <p:spPr>
          <a:xfrm>
            <a:off x="840419" y="2082768"/>
            <a:ext cx="3906174" cy="1019298"/>
          </a:xfrm>
          <a:prstGeom prst="rect">
            <a:avLst/>
          </a:prstGeom>
        </p:spPr>
      </p:pic>
      <p:pic>
        <p:nvPicPr>
          <p:cNvPr id="6" name="Picture 5">
            <a:extLst>
              <a:ext uri="{FF2B5EF4-FFF2-40B4-BE49-F238E27FC236}">
                <a16:creationId xmlns:a16="http://schemas.microsoft.com/office/drawing/2014/main" id="{3C9C7C34-2CF0-42AC-A6F7-F3578FF7920B}"/>
              </a:ext>
            </a:extLst>
          </p:cNvPr>
          <p:cNvPicPr>
            <a:picLocks noChangeAspect="1"/>
          </p:cNvPicPr>
          <p:nvPr/>
        </p:nvPicPr>
        <p:blipFill>
          <a:blip r:embed="rId3"/>
          <a:stretch>
            <a:fillRect/>
          </a:stretch>
        </p:blipFill>
        <p:spPr>
          <a:xfrm>
            <a:off x="840419" y="4391855"/>
            <a:ext cx="6164682" cy="1825404"/>
          </a:xfrm>
          <a:prstGeom prst="rect">
            <a:avLst/>
          </a:prstGeom>
        </p:spPr>
      </p:pic>
    </p:spTree>
    <p:extLst>
      <p:ext uri="{BB962C8B-B14F-4D97-AF65-F5344CB8AC3E}">
        <p14:creationId xmlns:p14="http://schemas.microsoft.com/office/powerpoint/2010/main" val="26489205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Комментарии к коммитам</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400" dirty="0"/>
              <a:t>Комментарий к коммиту может быть как лаконичным, состоящим из одной строки, так и развернутым. Если в комментарии необходимо написать несколько строк, то принято на первой строке помещать короткий заголовок из одной фразы, а остальной комментарий записывать после одной пустой строки. </a:t>
            </a:r>
          </a:p>
          <a:p>
            <a:pPr marL="0" indent="0">
              <a:buNone/>
            </a:pPr>
            <a:r>
              <a:rPr lang="ru-RU" sz="1400" u="sng" dirty="0"/>
              <a:t>Введем в качестве комментария к нашему коммиту следующий текст: </a:t>
            </a:r>
          </a:p>
          <a:p>
            <a:pPr marL="0" indent="0">
              <a:spcBef>
                <a:spcPts val="0"/>
              </a:spcBef>
              <a:spcAft>
                <a:spcPts val="200"/>
              </a:spcAft>
              <a:buNone/>
            </a:pPr>
            <a:r>
              <a:rPr lang="en-US" sz="1400" dirty="0"/>
              <a:t>"</a:t>
            </a:r>
            <a:r>
              <a:rPr lang="ru-RU" sz="1400" dirty="0"/>
              <a:t>Добавил боковое меню </a:t>
            </a:r>
          </a:p>
          <a:p>
            <a:pPr marL="0" indent="0">
              <a:spcBef>
                <a:spcPts val="0"/>
              </a:spcBef>
              <a:spcAft>
                <a:spcPts val="200"/>
              </a:spcAft>
              <a:buNone/>
            </a:pPr>
            <a:endParaRPr lang="ru-RU" sz="1400" dirty="0"/>
          </a:p>
          <a:p>
            <a:pPr marL="0" indent="0">
              <a:spcBef>
                <a:spcPts val="0"/>
              </a:spcBef>
              <a:spcAft>
                <a:spcPts val="200"/>
              </a:spcAft>
              <a:buNone/>
            </a:pPr>
            <a:r>
              <a:rPr lang="ru-RU" sz="1400" dirty="0"/>
              <a:t>Lorem Ipsum – это текст-"рыба", часто используемый в печати и вэб-дизайне. </a:t>
            </a:r>
          </a:p>
          <a:p>
            <a:pPr marL="0" indent="0">
              <a:spcBef>
                <a:spcPts val="0"/>
              </a:spcBef>
              <a:spcAft>
                <a:spcPts val="200"/>
              </a:spcAft>
              <a:buNone/>
            </a:pPr>
            <a:r>
              <a:rPr lang="ru-RU" sz="1400" dirty="0"/>
              <a:t>Lorem Ipsum является стандартной "рыбой" для текстов на латинице с XVI века. </a:t>
            </a:r>
          </a:p>
          <a:p>
            <a:pPr marL="0" indent="0">
              <a:spcBef>
                <a:spcPts val="0"/>
              </a:spcBef>
              <a:spcAft>
                <a:spcPts val="200"/>
              </a:spcAft>
              <a:buNone/>
            </a:pPr>
            <a:r>
              <a:rPr lang="ru-RU" sz="1400" dirty="0"/>
              <a:t>В то время некий безымянный печатник создал большую коллекцию размеров и форм шрифтов, используя Lorem Ipsum для распечатки образцов. </a:t>
            </a:r>
          </a:p>
          <a:p>
            <a:pPr marL="0" indent="0">
              <a:spcBef>
                <a:spcPts val="0"/>
              </a:spcBef>
              <a:spcAft>
                <a:spcPts val="200"/>
              </a:spcAft>
              <a:buNone/>
            </a:pPr>
            <a:r>
              <a:rPr lang="ru-RU" sz="1400" dirty="0"/>
              <a:t>Lorem Ipsum не только успешно пережил без заметных изменений пять веков, но и перешагнул в электронный дизайн.</a:t>
            </a:r>
            <a:r>
              <a:rPr lang="en-US" sz="1400" dirty="0"/>
              <a:t>"</a:t>
            </a:r>
            <a:r>
              <a:rPr lang="ru-RU" sz="1400" dirty="0"/>
              <a:t> </a:t>
            </a:r>
            <a:endParaRPr lang="en-US" sz="1400" dirty="0"/>
          </a:p>
          <a:p>
            <a:pPr marL="0" indent="0">
              <a:spcBef>
                <a:spcPts val="0"/>
              </a:spcBef>
              <a:spcAft>
                <a:spcPts val="200"/>
              </a:spcAft>
              <a:buNone/>
            </a:pPr>
            <a:endParaRPr lang="en-US" sz="1400" u="sng" dirty="0"/>
          </a:p>
          <a:p>
            <a:pPr marL="0" indent="0">
              <a:spcBef>
                <a:spcPts val="0"/>
              </a:spcBef>
              <a:spcAft>
                <a:spcPts val="200"/>
              </a:spcAft>
              <a:buNone/>
            </a:pPr>
            <a:r>
              <a:rPr lang="ru-RU" sz="1400" u="sng" dirty="0"/>
              <a:t>Сохраним изменения в редакторе и закроем его – выполнение коммита завершено. Посмотрим историю коммитов: </a:t>
            </a:r>
          </a:p>
          <a:p>
            <a:pPr marL="0" indent="0">
              <a:buNone/>
            </a:pPr>
            <a:endParaRPr lang="ru-RU" sz="1400" dirty="0"/>
          </a:p>
          <a:p>
            <a:pPr marL="0" indent="0">
              <a:buNone/>
            </a:pPr>
            <a:endParaRPr lang="en-US" sz="1400" dirty="0"/>
          </a:p>
        </p:txBody>
      </p:sp>
      <p:pic>
        <p:nvPicPr>
          <p:cNvPr id="8" name="Picture 7">
            <a:extLst>
              <a:ext uri="{FF2B5EF4-FFF2-40B4-BE49-F238E27FC236}">
                <a16:creationId xmlns:a16="http://schemas.microsoft.com/office/drawing/2014/main" id="{76385B4D-C2DB-42F0-946C-0E7F29DC5D25}"/>
              </a:ext>
            </a:extLst>
          </p:cNvPr>
          <p:cNvPicPr>
            <a:picLocks noChangeAspect="1"/>
          </p:cNvPicPr>
          <p:nvPr/>
        </p:nvPicPr>
        <p:blipFill>
          <a:blip r:embed="rId2"/>
          <a:stretch>
            <a:fillRect/>
          </a:stretch>
        </p:blipFill>
        <p:spPr>
          <a:xfrm>
            <a:off x="840419" y="4485711"/>
            <a:ext cx="6686550" cy="1771752"/>
          </a:xfrm>
          <a:prstGeom prst="rect">
            <a:avLst/>
          </a:prstGeom>
        </p:spPr>
      </p:pic>
    </p:spTree>
    <p:extLst>
      <p:ext uri="{BB962C8B-B14F-4D97-AF65-F5344CB8AC3E}">
        <p14:creationId xmlns:p14="http://schemas.microsoft.com/office/powerpoint/2010/main" val="38316937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Для чего нужны ветки в проекте</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dirty="0"/>
              <a:t>Рассмотрим, как в проекты добавляется новый функционал и как это связано с ветвлениями в проектах. </a:t>
            </a:r>
          </a:p>
          <a:p>
            <a:pPr marL="0" indent="0">
              <a:buNone/>
            </a:pPr>
            <a:r>
              <a:rPr lang="ru-RU" sz="1200" u="sng" dirty="0"/>
              <a:t>Проверим с помощью команды </a:t>
            </a:r>
            <a:r>
              <a:rPr lang="ru-RU" sz="1200" b="1" u="sng" dirty="0"/>
              <a:t>git branch</a:t>
            </a:r>
            <a:r>
              <a:rPr lang="ru-RU" sz="1200" u="sng" dirty="0"/>
              <a:t>, какие ветки уже есть в нашем проекте:</a:t>
            </a:r>
            <a:endParaRPr lang="en-US" sz="1200" u="sng" dirty="0"/>
          </a:p>
          <a:p>
            <a:pPr marL="0" indent="0">
              <a:buNone/>
            </a:pPr>
            <a:endParaRPr lang="en-US" sz="1200" dirty="0"/>
          </a:p>
          <a:p>
            <a:pPr marL="0" indent="0">
              <a:buNone/>
            </a:pPr>
            <a:endParaRPr lang="en-US" sz="1200" dirty="0"/>
          </a:p>
          <a:p>
            <a:pPr marL="0" indent="0">
              <a:buNone/>
            </a:pPr>
            <a:r>
              <a:rPr lang="ru-RU" sz="1200" dirty="0"/>
              <a:t>Как видим, у нас есть одна основная ветка с именем </a:t>
            </a:r>
            <a:r>
              <a:rPr lang="ru-RU" sz="1200" b="1" dirty="0"/>
              <a:t>master</a:t>
            </a:r>
            <a:r>
              <a:rPr lang="ru-RU" sz="1200" dirty="0"/>
              <a:t>. В принципе</a:t>
            </a:r>
            <a:r>
              <a:rPr lang="en-US" sz="1200" dirty="0"/>
              <a:t>,</a:t>
            </a:r>
            <a:r>
              <a:rPr lang="ru-RU" sz="1200" dirty="0"/>
              <a:t> ветки при разработке можно называть как угодно, но </a:t>
            </a:r>
            <a:r>
              <a:rPr lang="ru-RU" sz="1200" b="1" dirty="0"/>
              <a:t>master</a:t>
            </a:r>
            <a:r>
              <a:rPr lang="ru-RU" sz="1200" dirty="0"/>
              <a:t> – это общепринятое имя для основной ветки проекта, в которую добавляется функционал, разработанный в других ветках.</a:t>
            </a:r>
            <a:endParaRPr lang="en-US" sz="1200" dirty="0"/>
          </a:p>
          <a:p>
            <a:pPr marL="0" indent="0">
              <a:buNone/>
            </a:pPr>
            <a:r>
              <a:rPr lang="ru-RU" sz="1200" u="sng" dirty="0"/>
              <a:t>В самом проекте у нас сейчас четыре файла:</a:t>
            </a:r>
            <a:endParaRPr lang="en-US" sz="1200" u="sng" dirty="0"/>
          </a:p>
          <a:p>
            <a:pPr marL="0" indent="0">
              <a:buNone/>
            </a:pPr>
            <a:endParaRPr lang="en-US" sz="1200" u="sng" dirty="0"/>
          </a:p>
          <a:p>
            <a:pPr marL="0" indent="0">
              <a:buNone/>
            </a:pPr>
            <a:endParaRPr lang="en-US" sz="1200" u="sng" dirty="0"/>
          </a:p>
          <a:p>
            <a:pPr marL="0" indent="0">
              <a:buNone/>
            </a:pPr>
            <a:endParaRPr lang="en-US" sz="1200" u="sng" dirty="0"/>
          </a:p>
          <a:p>
            <a:pPr marL="0" indent="0">
              <a:buNone/>
            </a:pPr>
            <a:endParaRPr lang="en-US" sz="1200" u="sng" dirty="0"/>
          </a:p>
          <a:p>
            <a:pPr marL="0" indent="0">
              <a:buNone/>
            </a:pPr>
            <a:endParaRPr lang="en-US" sz="1200" u="sng" dirty="0"/>
          </a:p>
          <a:p>
            <a:pPr marL="0" indent="0">
              <a:buNone/>
            </a:pPr>
            <a:r>
              <a:rPr lang="ru-RU" sz="1200" dirty="0"/>
              <a:t>Представим, что наш проект уже работает в промышленном режиме на удалённом сервере, обеспечивая, например, продажу товаров через Интернет. Теперь возникла задача добавить к сервису новый функционал (например, реализовать корзину для покупаемых товаров). Это нужно делать независимо, не затрагивая основной проект, чтобы пользователи сервиса не видели незаконченных изменений, происходящих с проектом во время разработки.</a:t>
            </a:r>
            <a:endParaRPr lang="en-US" sz="1200" dirty="0"/>
          </a:p>
          <a:p>
            <a:pPr marL="0" indent="0">
              <a:buNone/>
            </a:pPr>
            <a:r>
              <a:rPr lang="ru-RU" sz="1200" dirty="0"/>
              <a:t>Поэтому новый функционал разрабатывают в новых ветках (они называются тематическими), изолированно от основной ветки проекта. Когда все нужные изменения сделаны, функционал полностью готов и протестирован, тематическая ветка объединяется (сливается) с основной и новая версия (релиз) проекта выкладывается на удалённый сервер.</a:t>
            </a:r>
            <a:endParaRPr lang="en-US" sz="1200" dirty="0"/>
          </a:p>
        </p:txBody>
      </p:sp>
      <p:pic>
        <p:nvPicPr>
          <p:cNvPr id="5" name="Picture 4">
            <a:extLst>
              <a:ext uri="{FF2B5EF4-FFF2-40B4-BE49-F238E27FC236}">
                <a16:creationId xmlns:a16="http://schemas.microsoft.com/office/drawing/2014/main" id="{084B74E0-20CA-490C-B61B-EEAE5A9C0DD1}"/>
              </a:ext>
            </a:extLst>
          </p:cNvPr>
          <p:cNvPicPr>
            <a:picLocks noChangeAspect="1"/>
          </p:cNvPicPr>
          <p:nvPr/>
        </p:nvPicPr>
        <p:blipFill>
          <a:blip r:embed="rId2"/>
          <a:stretch>
            <a:fillRect/>
          </a:stretch>
        </p:blipFill>
        <p:spPr>
          <a:xfrm>
            <a:off x="840419" y="1849504"/>
            <a:ext cx="4286250" cy="466726"/>
          </a:xfrm>
          <a:prstGeom prst="rect">
            <a:avLst/>
          </a:prstGeom>
        </p:spPr>
      </p:pic>
      <p:pic>
        <p:nvPicPr>
          <p:cNvPr id="6" name="Picture 5">
            <a:extLst>
              <a:ext uri="{FF2B5EF4-FFF2-40B4-BE49-F238E27FC236}">
                <a16:creationId xmlns:a16="http://schemas.microsoft.com/office/drawing/2014/main" id="{F3C5E2EF-A267-4A3B-B7F1-CCBFF1975FDB}"/>
              </a:ext>
            </a:extLst>
          </p:cNvPr>
          <p:cNvPicPr>
            <a:picLocks noChangeAspect="1"/>
          </p:cNvPicPr>
          <p:nvPr/>
        </p:nvPicPr>
        <p:blipFill>
          <a:blip r:embed="rId3"/>
          <a:stretch>
            <a:fillRect/>
          </a:stretch>
        </p:blipFill>
        <p:spPr>
          <a:xfrm>
            <a:off x="840419" y="3251037"/>
            <a:ext cx="4011320" cy="1290734"/>
          </a:xfrm>
          <a:prstGeom prst="rect">
            <a:avLst/>
          </a:prstGeom>
        </p:spPr>
      </p:pic>
    </p:spTree>
    <p:extLst>
      <p:ext uri="{BB962C8B-B14F-4D97-AF65-F5344CB8AC3E}">
        <p14:creationId xmlns:p14="http://schemas.microsoft.com/office/powerpoint/2010/main" val="5515456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Создание и переключение веток</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spcBef>
                <a:spcPts val="0"/>
              </a:spcBef>
              <a:spcAft>
                <a:spcPts val="0"/>
              </a:spcAft>
              <a:buNone/>
            </a:pPr>
            <a:r>
              <a:rPr lang="ru-RU" sz="1200" dirty="0"/>
              <a:t>Для создания новой ветки и перехода в нее используется команда </a:t>
            </a:r>
            <a:r>
              <a:rPr lang="ru-RU" sz="1200" b="1" dirty="0"/>
              <a:t>git checkout -b</a:t>
            </a:r>
            <a:r>
              <a:rPr lang="ru-RU" sz="1200" dirty="0"/>
              <a:t> </a:t>
            </a:r>
            <a:r>
              <a:rPr lang="ru-RU" sz="1200" b="1" dirty="0"/>
              <a:t>имя_ветки</a:t>
            </a:r>
            <a:r>
              <a:rPr lang="ru-RU" sz="1200" dirty="0"/>
              <a:t>. </a:t>
            </a:r>
          </a:p>
          <a:p>
            <a:pPr marL="0" indent="0">
              <a:spcBef>
                <a:spcPts val="0"/>
              </a:spcBef>
              <a:spcAft>
                <a:spcPts val="0"/>
              </a:spcAft>
              <a:buNone/>
            </a:pPr>
            <a:r>
              <a:rPr lang="ru-RU" sz="1200" dirty="0"/>
              <a:t>Имя для ветки нужно выбирать осмысленно, чтобы было понятно ее назначение (реализация нового функционала или исправление выявленных ошибок). </a:t>
            </a:r>
          </a:p>
          <a:p>
            <a:pPr marL="0" indent="0">
              <a:spcBef>
                <a:spcPts val="0"/>
              </a:spcBef>
              <a:spcAft>
                <a:spcPts val="0"/>
              </a:spcAft>
              <a:buNone/>
            </a:pPr>
            <a:endParaRPr lang="en-US" sz="1200" dirty="0"/>
          </a:p>
          <a:p>
            <a:pPr marL="0" indent="0">
              <a:spcBef>
                <a:spcPts val="0"/>
              </a:spcBef>
              <a:spcAft>
                <a:spcPts val="0"/>
              </a:spcAft>
              <a:buNone/>
            </a:pPr>
            <a:r>
              <a:rPr lang="ru-RU" sz="1200" u="sng" dirty="0"/>
              <a:t>Нам нужно сделать корзину для покупок, поэтому новую ветку мы назовём </a:t>
            </a:r>
            <a:r>
              <a:rPr lang="en-US" sz="1200" u="sng" dirty="0"/>
              <a:t>"</a:t>
            </a:r>
            <a:r>
              <a:rPr lang="ru-RU" sz="1200" u="sng" dirty="0"/>
              <a:t>feature-cart</a:t>
            </a:r>
            <a:r>
              <a:rPr lang="en-US" sz="1200" u="sng" dirty="0"/>
              <a:t>"</a:t>
            </a:r>
            <a:r>
              <a:rPr lang="ru-RU" sz="1200" u="sng" dirty="0"/>
              <a:t>:</a:t>
            </a:r>
            <a:endParaRPr lang="en-US" sz="1200" u="sng" dirty="0"/>
          </a:p>
          <a:p>
            <a:pPr marL="0" indent="0">
              <a:buNone/>
            </a:pPr>
            <a:r>
              <a:rPr lang="en-US" sz="1200" b="1" dirty="0"/>
              <a:t>git checkout -b feature-cart</a:t>
            </a:r>
          </a:p>
          <a:p>
            <a:pPr marL="0" indent="0">
              <a:buNone/>
            </a:pPr>
            <a:endParaRPr lang="en-US" sz="1200" dirty="0"/>
          </a:p>
          <a:p>
            <a:pPr marL="0" indent="0">
              <a:buNone/>
            </a:pPr>
            <a:endParaRPr lang="en-US" sz="1200" dirty="0"/>
          </a:p>
          <a:p>
            <a:pPr marL="0" indent="0">
              <a:buNone/>
            </a:pPr>
            <a:r>
              <a:rPr lang="ru-RU" sz="1200" u="sng" dirty="0"/>
              <a:t>Команда </a:t>
            </a:r>
            <a:r>
              <a:rPr lang="en-US" sz="1200" b="1" u="sng" dirty="0"/>
              <a:t>git branch </a:t>
            </a:r>
            <a:r>
              <a:rPr lang="ru-RU" sz="1200" u="sng" dirty="0"/>
              <a:t>теперь говорит, что в проекте есть две ветки и мы находимся в ветке </a:t>
            </a:r>
            <a:r>
              <a:rPr lang="en-US" sz="1200" u="sng" dirty="0"/>
              <a:t>feature-cart:</a:t>
            </a:r>
          </a:p>
          <a:p>
            <a:pPr marL="0" indent="0">
              <a:buNone/>
            </a:pPr>
            <a:endParaRPr lang="en-US" sz="1200" u="sng" dirty="0"/>
          </a:p>
          <a:p>
            <a:pPr marL="0" indent="0">
              <a:buNone/>
            </a:pPr>
            <a:endParaRPr lang="en-US" sz="1200" dirty="0"/>
          </a:p>
          <a:p>
            <a:pPr marL="0" indent="0">
              <a:buNone/>
            </a:pPr>
            <a:r>
              <a:rPr lang="ru-RU" sz="1200" u="sng" dirty="0"/>
              <a:t>Создадим в новой ветке файл </a:t>
            </a:r>
            <a:r>
              <a:rPr lang="ru-RU" sz="1200" b="1" u="sng" dirty="0"/>
              <a:t>cart.html</a:t>
            </a:r>
            <a:r>
              <a:rPr lang="ru-RU" sz="1200" u="sng" dirty="0"/>
              <a:t>, содержащий строку "Markup for cart", и файл </a:t>
            </a:r>
            <a:r>
              <a:rPr lang="ru-RU" sz="1200" b="1" u="sng" dirty="0"/>
              <a:t>main.css </a:t>
            </a:r>
            <a:r>
              <a:rPr lang="ru-RU" sz="1200" u="sng" dirty="0"/>
              <a:t>со стилями:</a:t>
            </a:r>
            <a:endParaRPr lang="ru-RU" sz="1200" dirty="0"/>
          </a:p>
          <a:p>
            <a:pPr marL="0" indent="0">
              <a:buNone/>
            </a:pPr>
            <a:r>
              <a:rPr lang="ru-RU" sz="1200" dirty="0"/>
              <a:t>.class {</a:t>
            </a:r>
          </a:p>
          <a:p>
            <a:pPr marL="0" indent="0">
              <a:buNone/>
            </a:pPr>
            <a:r>
              <a:rPr lang="ru-RU" sz="1200" dirty="0"/>
              <a:t>    color: red;</a:t>
            </a:r>
          </a:p>
          <a:p>
            <a:pPr marL="0" indent="0">
              <a:buNone/>
            </a:pPr>
            <a:r>
              <a:rPr lang="ru-RU" sz="1200" dirty="0"/>
              <a:t>}</a:t>
            </a:r>
          </a:p>
        </p:txBody>
      </p:sp>
      <p:pic>
        <p:nvPicPr>
          <p:cNvPr id="7" name="Picture 6">
            <a:extLst>
              <a:ext uri="{FF2B5EF4-FFF2-40B4-BE49-F238E27FC236}">
                <a16:creationId xmlns:a16="http://schemas.microsoft.com/office/drawing/2014/main" id="{8E422077-FF77-46A3-9F9A-DF1E6EC08144}"/>
              </a:ext>
            </a:extLst>
          </p:cNvPr>
          <p:cNvPicPr>
            <a:picLocks noChangeAspect="1"/>
          </p:cNvPicPr>
          <p:nvPr/>
        </p:nvPicPr>
        <p:blipFill>
          <a:blip r:embed="rId2"/>
          <a:stretch>
            <a:fillRect/>
          </a:stretch>
        </p:blipFill>
        <p:spPr>
          <a:xfrm>
            <a:off x="840419" y="2278359"/>
            <a:ext cx="4371975" cy="504825"/>
          </a:xfrm>
          <a:prstGeom prst="rect">
            <a:avLst/>
          </a:prstGeom>
        </p:spPr>
      </p:pic>
      <p:sp>
        <p:nvSpPr>
          <p:cNvPr id="8" name="TextBox 7">
            <a:extLst>
              <a:ext uri="{FF2B5EF4-FFF2-40B4-BE49-F238E27FC236}">
                <a16:creationId xmlns:a16="http://schemas.microsoft.com/office/drawing/2014/main" id="{3546CEC4-9519-416E-A5BC-57210432DF7C}"/>
              </a:ext>
            </a:extLst>
          </p:cNvPr>
          <p:cNvSpPr txBox="1"/>
          <p:nvPr/>
        </p:nvSpPr>
        <p:spPr>
          <a:xfrm>
            <a:off x="5212394" y="2530771"/>
            <a:ext cx="3462291" cy="523220"/>
          </a:xfrm>
          <a:prstGeom prst="rect">
            <a:avLst/>
          </a:prstGeom>
          <a:noFill/>
        </p:spPr>
        <p:txBody>
          <a:bodyPr wrap="square" rtlCol="0">
            <a:spAutoFit/>
          </a:bodyPr>
          <a:lstStyle/>
          <a:p>
            <a:r>
              <a:rPr lang="ru-RU" sz="1000" dirty="0">
                <a:solidFill>
                  <a:schemeClr val="bg1">
                    <a:lumMod val="50000"/>
                  </a:schemeClr>
                </a:solidFill>
              </a:rPr>
              <a:t>Переключено на новую ветку </a:t>
            </a:r>
            <a:r>
              <a:rPr lang="en-US" sz="1000" dirty="0">
                <a:solidFill>
                  <a:schemeClr val="bg1">
                    <a:lumMod val="50000"/>
                  </a:schemeClr>
                </a:solidFill>
              </a:rPr>
              <a:t>'feature-cart'</a:t>
            </a:r>
          </a:p>
          <a:p>
            <a:endParaRPr lang="ru-RU" dirty="0"/>
          </a:p>
        </p:txBody>
      </p:sp>
      <p:pic>
        <p:nvPicPr>
          <p:cNvPr id="9" name="Picture 8">
            <a:extLst>
              <a:ext uri="{FF2B5EF4-FFF2-40B4-BE49-F238E27FC236}">
                <a16:creationId xmlns:a16="http://schemas.microsoft.com/office/drawing/2014/main" id="{A4301C96-423B-4700-AA18-72E1F83E0DF3}"/>
              </a:ext>
            </a:extLst>
          </p:cNvPr>
          <p:cNvPicPr>
            <a:picLocks noChangeAspect="1"/>
          </p:cNvPicPr>
          <p:nvPr/>
        </p:nvPicPr>
        <p:blipFill>
          <a:blip r:embed="rId3"/>
          <a:stretch>
            <a:fillRect/>
          </a:stretch>
        </p:blipFill>
        <p:spPr>
          <a:xfrm>
            <a:off x="840419" y="3178402"/>
            <a:ext cx="4249444" cy="541762"/>
          </a:xfrm>
          <a:prstGeom prst="rect">
            <a:avLst/>
          </a:prstGeom>
        </p:spPr>
      </p:pic>
      <p:pic>
        <p:nvPicPr>
          <p:cNvPr id="5" name="Picture 4">
            <a:extLst>
              <a:ext uri="{FF2B5EF4-FFF2-40B4-BE49-F238E27FC236}">
                <a16:creationId xmlns:a16="http://schemas.microsoft.com/office/drawing/2014/main" id="{8EEBA7FB-DB7C-40D9-9BAB-76E22BE6F933}"/>
              </a:ext>
            </a:extLst>
          </p:cNvPr>
          <p:cNvPicPr>
            <a:picLocks noChangeAspect="1"/>
          </p:cNvPicPr>
          <p:nvPr/>
        </p:nvPicPr>
        <p:blipFill>
          <a:blip r:embed="rId4"/>
          <a:stretch>
            <a:fillRect/>
          </a:stretch>
        </p:blipFill>
        <p:spPr>
          <a:xfrm>
            <a:off x="725009" y="4912760"/>
            <a:ext cx="4848936" cy="1374105"/>
          </a:xfrm>
          <a:prstGeom prst="rect">
            <a:avLst/>
          </a:prstGeom>
        </p:spPr>
      </p:pic>
    </p:spTree>
    <p:extLst>
      <p:ext uri="{BB962C8B-B14F-4D97-AF65-F5344CB8AC3E}">
        <p14:creationId xmlns:p14="http://schemas.microsoft.com/office/powerpoint/2010/main" val="31812579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Создание и переключение веток</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739809" y="1227435"/>
            <a:ext cx="10765652" cy="511269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spcBef>
                <a:spcPts val="0"/>
              </a:spcBef>
              <a:spcAft>
                <a:spcPts val="0"/>
              </a:spcAft>
              <a:buNone/>
            </a:pPr>
            <a:r>
              <a:rPr lang="ru-RU" sz="1200" dirty="0"/>
              <a:t>При создании новой ветки в неё копируются все файлы, зафиксированные в последнем коммите. Поэтому</a:t>
            </a:r>
            <a:r>
              <a:rPr lang="en-US" sz="1200" dirty="0"/>
              <a:t> </a:t>
            </a:r>
            <a:r>
              <a:rPr lang="ru-RU" sz="1200" dirty="0"/>
              <a:t>теперь в нашем проекте есть все файлы, которые были в ветке master, и два только что созданных файла:</a:t>
            </a:r>
            <a:r>
              <a:rPr lang="en-US" sz="1200" dirty="0"/>
              <a:t> </a:t>
            </a:r>
            <a:r>
              <a:rPr lang="en-US" sz="1200" b="1" dirty="0"/>
              <a:t>ls -la</a:t>
            </a:r>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r>
              <a:rPr lang="ru-RU" sz="1200" u="sng" dirty="0"/>
              <a:t>Проверим статус файлов:</a:t>
            </a:r>
            <a:r>
              <a:rPr lang="en-US" sz="1200" dirty="0"/>
              <a:t> </a:t>
            </a:r>
            <a:r>
              <a:rPr lang="en-US" sz="1200" b="1" dirty="0"/>
              <a:t>git status</a:t>
            </a:r>
            <a:endParaRPr lang="ru-RU" sz="1200" b="1" u="sng"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r>
              <a:rPr lang="ru-RU" sz="1200" u="sng" dirty="0"/>
              <a:t>Добавим новые файлы в индекс и создадим коммит (считаем, что работа над корзиной завершена):</a:t>
            </a:r>
            <a:endParaRPr lang="en-US" sz="1200" u="sng" dirty="0"/>
          </a:p>
          <a:p>
            <a:pPr marL="0" indent="0">
              <a:spcBef>
                <a:spcPts val="0"/>
              </a:spcBef>
              <a:spcAft>
                <a:spcPts val="0"/>
              </a:spcAft>
              <a:buNone/>
            </a:pPr>
            <a:r>
              <a:rPr lang="en-US" sz="1200" b="1" dirty="0"/>
              <a:t>git add .</a:t>
            </a:r>
          </a:p>
          <a:p>
            <a:pPr marL="0" indent="0">
              <a:spcBef>
                <a:spcPts val="0"/>
              </a:spcBef>
              <a:spcAft>
                <a:spcPts val="0"/>
              </a:spcAft>
              <a:buNone/>
            </a:pPr>
            <a:r>
              <a:rPr lang="en-US" sz="1200" b="1" dirty="0"/>
              <a:t>git commit -m 'cart completed' </a:t>
            </a:r>
            <a:endParaRPr lang="ru-RU" sz="1200" b="1" dirty="0"/>
          </a:p>
        </p:txBody>
      </p:sp>
      <p:pic>
        <p:nvPicPr>
          <p:cNvPr id="10" name="Picture 9">
            <a:extLst>
              <a:ext uri="{FF2B5EF4-FFF2-40B4-BE49-F238E27FC236}">
                <a16:creationId xmlns:a16="http://schemas.microsoft.com/office/drawing/2014/main" id="{ACF72353-5A77-472F-9830-4C2719580218}"/>
              </a:ext>
            </a:extLst>
          </p:cNvPr>
          <p:cNvPicPr>
            <a:picLocks noChangeAspect="1"/>
          </p:cNvPicPr>
          <p:nvPr/>
        </p:nvPicPr>
        <p:blipFill>
          <a:blip r:embed="rId2"/>
          <a:stretch>
            <a:fillRect/>
          </a:stretch>
        </p:blipFill>
        <p:spPr>
          <a:xfrm>
            <a:off x="840418" y="1732275"/>
            <a:ext cx="3089430" cy="1156278"/>
          </a:xfrm>
          <a:prstGeom prst="rect">
            <a:avLst/>
          </a:prstGeom>
        </p:spPr>
      </p:pic>
      <p:pic>
        <p:nvPicPr>
          <p:cNvPr id="11" name="Picture 10">
            <a:extLst>
              <a:ext uri="{FF2B5EF4-FFF2-40B4-BE49-F238E27FC236}">
                <a16:creationId xmlns:a16="http://schemas.microsoft.com/office/drawing/2014/main" id="{9F940CFB-8E53-41C0-9D4F-3D025E7467CA}"/>
              </a:ext>
            </a:extLst>
          </p:cNvPr>
          <p:cNvPicPr>
            <a:picLocks noChangeAspect="1"/>
          </p:cNvPicPr>
          <p:nvPr/>
        </p:nvPicPr>
        <p:blipFill>
          <a:blip r:embed="rId3"/>
          <a:stretch>
            <a:fillRect/>
          </a:stretch>
        </p:blipFill>
        <p:spPr>
          <a:xfrm>
            <a:off x="840418" y="3371916"/>
            <a:ext cx="3982196" cy="946906"/>
          </a:xfrm>
          <a:prstGeom prst="rect">
            <a:avLst/>
          </a:prstGeom>
        </p:spPr>
      </p:pic>
      <p:pic>
        <p:nvPicPr>
          <p:cNvPr id="12" name="Picture 11">
            <a:extLst>
              <a:ext uri="{FF2B5EF4-FFF2-40B4-BE49-F238E27FC236}">
                <a16:creationId xmlns:a16="http://schemas.microsoft.com/office/drawing/2014/main" id="{5B352AB0-E741-4146-88A3-2CDE292814D1}"/>
              </a:ext>
            </a:extLst>
          </p:cNvPr>
          <p:cNvPicPr>
            <a:picLocks noChangeAspect="1"/>
          </p:cNvPicPr>
          <p:nvPr/>
        </p:nvPicPr>
        <p:blipFill>
          <a:blip r:embed="rId4"/>
          <a:stretch>
            <a:fillRect/>
          </a:stretch>
        </p:blipFill>
        <p:spPr>
          <a:xfrm>
            <a:off x="840418" y="5007477"/>
            <a:ext cx="3982196" cy="1174144"/>
          </a:xfrm>
          <a:prstGeom prst="rect">
            <a:avLst/>
          </a:prstGeom>
        </p:spPr>
      </p:pic>
    </p:spTree>
    <p:extLst>
      <p:ext uri="{BB962C8B-B14F-4D97-AF65-F5344CB8AC3E}">
        <p14:creationId xmlns:p14="http://schemas.microsoft.com/office/powerpoint/2010/main" val="6017286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Создание и переключение веток</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227435"/>
            <a:ext cx="10910656" cy="511269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spcBef>
                <a:spcPts val="0"/>
              </a:spcBef>
              <a:spcAft>
                <a:spcPts val="0"/>
              </a:spcAft>
              <a:buNone/>
            </a:pPr>
            <a:r>
              <a:rPr lang="ru-RU" sz="1200" u="sng" dirty="0"/>
              <a:t>Посмотрим историю коммитов:</a:t>
            </a:r>
            <a:r>
              <a:rPr lang="ru-RU" sz="1200" dirty="0"/>
              <a:t> </a:t>
            </a:r>
            <a:r>
              <a:rPr lang="en-US" sz="1200" b="1" dirty="0"/>
              <a:t>git</a:t>
            </a:r>
            <a:r>
              <a:rPr lang="en-US" sz="1200" dirty="0"/>
              <a:t> </a:t>
            </a:r>
            <a:r>
              <a:rPr lang="en-US" sz="1200" b="1" dirty="0"/>
              <a:t>log</a:t>
            </a:r>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r>
              <a:rPr lang="ru-RU" sz="1200" dirty="0"/>
              <a:t>Как видим в истории есть все коммиты, которые были в проекте в ветке master до момента ветвления. Также Git показывает, какой коммит был последним в ветке master.</a:t>
            </a:r>
            <a:endParaRPr lang="en-US" sz="1200" dirty="0"/>
          </a:p>
          <a:p>
            <a:pPr marL="0" indent="0">
              <a:spcBef>
                <a:spcPts val="0"/>
              </a:spcBef>
              <a:spcAft>
                <a:spcPts val="0"/>
              </a:spcAft>
              <a:buNone/>
            </a:pPr>
            <a:endParaRPr lang="en-US" sz="1200" dirty="0"/>
          </a:p>
          <a:p>
            <a:pPr marL="0" indent="0">
              <a:spcBef>
                <a:spcPts val="0"/>
              </a:spcBef>
              <a:spcAft>
                <a:spcPts val="0"/>
              </a:spcAft>
              <a:buNone/>
            </a:pPr>
            <a:r>
              <a:rPr lang="ru-RU" sz="1200" u="sng" dirty="0"/>
              <a:t>Вернемся теперь в ветку master. Переключаться между ветками можно с помощью команды </a:t>
            </a:r>
            <a:r>
              <a:rPr lang="ru-RU" sz="1200" b="1" u="sng" dirty="0"/>
              <a:t>git checkout</a:t>
            </a:r>
            <a:r>
              <a:rPr lang="ru-RU" sz="1200" u="sng" dirty="0"/>
              <a:t>:</a:t>
            </a:r>
            <a:endParaRPr lang="en-US" sz="1200" u="sng" dirty="0"/>
          </a:p>
          <a:p>
            <a:pPr marL="0" indent="0">
              <a:spcBef>
                <a:spcPts val="0"/>
              </a:spcBef>
              <a:spcAft>
                <a:spcPts val="0"/>
              </a:spcAft>
              <a:buNone/>
            </a:pPr>
            <a:endParaRPr lang="en-US" sz="1200" u="sng" dirty="0"/>
          </a:p>
          <a:p>
            <a:pPr marL="0" indent="0">
              <a:spcBef>
                <a:spcPts val="0"/>
              </a:spcBef>
              <a:spcAft>
                <a:spcPts val="0"/>
              </a:spcAft>
              <a:buNone/>
            </a:pPr>
            <a:endParaRPr lang="en-US" sz="1200" u="sng" dirty="0"/>
          </a:p>
          <a:p>
            <a:pPr marL="0" indent="0">
              <a:spcBef>
                <a:spcPts val="0"/>
              </a:spcBef>
              <a:spcAft>
                <a:spcPts val="0"/>
              </a:spcAft>
              <a:buNone/>
            </a:pPr>
            <a:endParaRPr lang="en-US" sz="1200" u="sng" dirty="0"/>
          </a:p>
          <a:p>
            <a:pPr marL="0" indent="0">
              <a:spcBef>
                <a:spcPts val="0"/>
              </a:spcBef>
              <a:spcAft>
                <a:spcPts val="0"/>
              </a:spcAft>
              <a:buNone/>
            </a:pPr>
            <a:r>
              <a:rPr lang="ru-RU" sz="1200" u="sng" dirty="0"/>
              <a:t>Проверим что переход произошёл</a:t>
            </a:r>
            <a:r>
              <a:rPr lang="ru-RU" sz="1200" dirty="0"/>
              <a:t> </a:t>
            </a:r>
            <a:r>
              <a:rPr lang="en-US" sz="1200" b="1" dirty="0"/>
              <a:t>git branch</a:t>
            </a:r>
            <a:endParaRPr lang="en-US" sz="1200" b="1" u="sng" dirty="0"/>
          </a:p>
          <a:p>
            <a:pPr marL="0" indent="0">
              <a:spcBef>
                <a:spcPts val="0"/>
              </a:spcBef>
              <a:spcAft>
                <a:spcPts val="0"/>
              </a:spcAft>
              <a:buNone/>
            </a:pPr>
            <a:endParaRPr lang="en-US" sz="1200" u="sng"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p:txBody>
      </p:sp>
      <p:pic>
        <p:nvPicPr>
          <p:cNvPr id="6" name="Picture 5">
            <a:extLst>
              <a:ext uri="{FF2B5EF4-FFF2-40B4-BE49-F238E27FC236}">
                <a16:creationId xmlns:a16="http://schemas.microsoft.com/office/drawing/2014/main" id="{A3D9B0ED-8659-4993-BCFF-395AF667485B}"/>
              </a:ext>
            </a:extLst>
          </p:cNvPr>
          <p:cNvPicPr>
            <a:picLocks noChangeAspect="1"/>
          </p:cNvPicPr>
          <p:nvPr/>
        </p:nvPicPr>
        <p:blipFill>
          <a:blip r:embed="rId2"/>
          <a:stretch>
            <a:fillRect/>
          </a:stretch>
        </p:blipFill>
        <p:spPr>
          <a:xfrm>
            <a:off x="763248" y="1513736"/>
            <a:ext cx="5825018" cy="2564072"/>
          </a:xfrm>
          <a:prstGeom prst="rect">
            <a:avLst/>
          </a:prstGeom>
        </p:spPr>
      </p:pic>
      <p:pic>
        <p:nvPicPr>
          <p:cNvPr id="7" name="Picture 6">
            <a:extLst>
              <a:ext uri="{FF2B5EF4-FFF2-40B4-BE49-F238E27FC236}">
                <a16:creationId xmlns:a16="http://schemas.microsoft.com/office/drawing/2014/main" id="{5BC8EFEB-1FED-46AC-8A21-9C0BF280E6DA}"/>
              </a:ext>
            </a:extLst>
          </p:cNvPr>
          <p:cNvPicPr>
            <a:picLocks noChangeAspect="1"/>
          </p:cNvPicPr>
          <p:nvPr/>
        </p:nvPicPr>
        <p:blipFill>
          <a:blip r:embed="rId3"/>
          <a:stretch>
            <a:fillRect/>
          </a:stretch>
        </p:blipFill>
        <p:spPr>
          <a:xfrm>
            <a:off x="763248" y="4793096"/>
            <a:ext cx="4752975" cy="457200"/>
          </a:xfrm>
          <a:prstGeom prst="rect">
            <a:avLst/>
          </a:prstGeom>
        </p:spPr>
      </p:pic>
      <p:pic>
        <p:nvPicPr>
          <p:cNvPr id="8" name="Picture 7">
            <a:extLst>
              <a:ext uri="{FF2B5EF4-FFF2-40B4-BE49-F238E27FC236}">
                <a16:creationId xmlns:a16="http://schemas.microsoft.com/office/drawing/2014/main" id="{159821DB-4EF6-4220-8C3F-7E75221AC9AA}"/>
              </a:ext>
            </a:extLst>
          </p:cNvPr>
          <p:cNvPicPr>
            <a:picLocks noChangeAspect="1"/>
          </p:cNvPicPr>
          <p:nvPr/>
        </p:nvPicPr>
        <p:blipFill>
          <a:blip r:embed="rId4"/>
          <a:stretch>
            <a:fillRect/>
          </a:stretch>
        </p:blipFill>
        <p:spPr>
          <a:xfrm>
            <a:off x="763248" y="5604641"/>
            <a:ext cx="4036380" cy="594646"/>
          </a:xfrm>
          <a:prstGeom prst="rect">
            <a:avLst/>
          </a:prstGeom>
        </p:spPr>
      </p:pic>
    </p:spTree>
    <p:extLst>
      <p:ext uri="{BB962C8B-B14F-4D97-AF65-F5344CB8AC3E}">
        <p14:creationId xmlns:p14="http://schemas.microsoft.com/office/powerpoint/2010/main" val="17842511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Создание и переключение веток</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227435"/>
            <a:ext cx="10910656" cy="511269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spcBef>
                <a:spcPts val="0"/>
              </a:spcBef>
              <a:spcAft>
                <a:spcPts val="0"/>
              </a:spcAft>
              <a:buNone/>
            </a:pPr>
            <a:r>
              <a:rPr lang="ru-RU" sz="1200" u="sng" dirty="0"/>
              <a:t>Посмотрим историю коммитов и убедимся, что внутри ветки master ничего не известно о том коммите, который мы сделали на ветке feature-cart:</a:t>
            </a:r>
            <a:r>
              <a:rPr lang="en-US" sz="1200" dirty="0"/>
              <a:t> </a:t>
            </a:r>
            <a:r>
              <a:rPr lang="en-US" sz="1200" b="1" dirty="0"/>
              <a:t>git log</a:t>
            </a:r>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r>
              <a:rPr lang="ru-RU" sz="1200" dirty="0"/>
              <a:t>Ветвлений в проекте можно быть сколько угодно, причем "отпочковываться" новая ветка может от любой произвольной ветки, а не только от </a:t>
            </a:r>
            <a:r>
              <a:rPr lang="ru-RU" sz="1200" b="1" dirty="0"/>
              <a:t>master</a:t>
            </a:r>
            <a:r>
              <a:rPr lang="ru-RU" sz="1200" dirty="0"/>
              <a:t>, как это было в нашем примере.</a:t>
            </a:r>
          </a:p>
          <a:p>
            <a:pPr marL="0" indent="0">
              <a:spcBef>
                <a:spcPts val="0"/>
              </a:spcBef>
              <a:spcAft>
                <a:spcPts val="0"/>
              </a:spcAft>
              <a:buNone/>
            </a:pPr>
            <a:r>
              <a:rPr lang="ru-RU" sz="1200" dirty="0"/>
              <a:t>Все ветки существуют параллельно друг другу, разработка в них ведётся независимо. Например, создадим новый коммит в ветке </a:t>
            </a:r>
            <a:r>
              <a:rPr lang="ru-RU" sz="1200" b="1" dirty="0"/>
              <a:t>master</a:t>
            </a:r>
            <a:r>
              <a:rPr lang="ru-RU" sz="1200" dirty="0"/>
              <a:t> и убедимся, что он не повлияет на состояние ветки </a:t>
            </a:r>
            <a:r>
              <a:rPr lang="ru-RU" sz="1200" b="1" dirty="0"/>
              <a:t>feature-cart</a:t>
            </a:r>
            <a:r>
              <a:rPr lang="ru-RU" sz="1200" dirty="0"/>
              <a:t>. </a:t>
            </a:r>
            <a:endParaRPr lang="en-US" sz="1200" dirty="0"/>
          </a:p>
          <a:p>
            <a:pPr marL="0" indent="0">
              <a:spcBef>
                <a:spcPts val="0"/>
              </a:spcBef>
              <a:spcAft>
                <a:spcPts val="0"/>
              </a:spcAft>
              <a:buNone/>
            </a:pPr>
            <a:r>
              <a:rPr lang="ru-RU" sz="1200" u="sng" dirty="0"/>
              <a:t>Для этого, находясь сейчас в master, создайте новый файл </a:t>
            </a:r>
            <a:r>
              <a:rPr lang="ru-RU" sz="1200" b="1" u="sng" dirty="0"/>
              <a:t>master.html</a:t>
            </a:r>
            <a:r>
              <a:rPr lang="ru-RU" sz="1200" u="sng" dirty="0"/>
              <a:t>, содержащий строку "test file for master commit". </a:t>
            </a:r>
            <a:endParaRPr lang="en-US" sz="1200" u="sng" dirty="0"/>
          </a:p>
          <a:p>
            <a:pPr marL="228600" indent="-228600">
              <a:spcBef>
                <a:spcPts val="0"/>
              </a:spcBef>
              <a:spcAft>
                <a:spcPts val="0"/>
              </a:spcAft>
              <a:buFont typeface="+mj-lt"/>
              <a:buAutoNum type="arabicPeriod"/>
            </a:pPr>
            <a:r>
              <a:rPr lang="en-US" sz="1200" b="1" dirty="0"/>
              <a:t>touch master.html</a:t>
            </a:r>
          </a:p>
          <a:p>
            <a:pPr marL="228600" indent="-228600">
              <a:spcBef>
                <a:spcPts val="0"/>
              </a:spcBef>
              <a:spcAft>
                <a:spcPts val="0"/>
              </a:spcAft>
              <a:buFont typeface="+mj-lt"/>
              <a:buAutoNum type="arabicPeriod"/>
            </a:pPr>
            <a:r>
              <a:rPr lang="en-US" sz="1200" b="1" dirty="0"/>
              <a:t>notepad master.html</a:t>
            </a:r>
          </a:p>
          <a:p>
            <a:pPr marL="228600" indent="-228600">
              <a:spcBef>
                <a:spcPts val="0"/>
              </a:spcBef>
              <a:spcAft>
                <a:spcPts val="0"/>
              </a:spcAft>
              <a:buFont typeface="+mj-lt"/>
              <a:buAutoNum type="arabicPeriod"/>
            </a:pPr>
            <a:endParaRPr lang="en-US" sz="1200" dirty="0"/>
          </a:p>
          <a:p>
            <a:pPr marL="0" indent="0">
              <a:spcBef>
                <a:spcPts val="0"/>
              </a:spcBef>
              <a:spcAft>
                <a:spcPts val="0"/>
              </a:spcAft>
              <a:buNone/>
            </a:pPr>
            <a:r>
              <a:rPr lang="ru-RU" sz="1200" u="sng" dirty="0"/>
              <a:t>Проверим статус созданного файла, добавим его в индекс и выполним коммит:</a:t>
            </a:r>
            <a:endParaRPr lang="en-US" sz="1200" dirty="0"/>
          </a:p>
          <a:p>
            <a:pPr marL="228600" indent="-228600">
              <a:spcBef>
                <a:spcPts val="0"/>
              </a:spcBef>
              <a:spcAft>
                <a:spcPts val="0"/>
              </a:spcAft>
              <a:buFont typeface="+mj-lt"/>
              <a:buAutoNum type="arabicPeriod" startAt="3"/>
            </a:pPr>
            <a:r>
              <a:rPr lang="en-US" sz="1200" b="1" dirty="0"/>
              <a:t>git status</a:t>
            </a:r>
          </a:p>
          <a:p>
            <a:pPr marL="228600" indent="-228600">
              <a:spcBef>
                <a:spcPts val="0"/>
              </a:spcBef>
              <a:spcAft>
                <a:spcPts val="0"/>
              </a:spcAft>
              <a:buFont typeface="+mj-lt"/>
              <a:buAutoNum type="arabicPeriod" startAt="3"/>
            </a:pPr>
            <a:r>
              <a:rPr lang="en-US" sz="1200" b="1" dirty="0"/>
              <a:t>git add .</a:t>
            </a:r>
          </a:p>
          <a:p>
            <a:pPr marL="228600" indent="-228600">
              <a:spcBef>
                <a:spcPts val="0"/>
              </a:spcBef>
              <a:spcAft>
                <a:spcPts val="0"/>
              </a:spcAft>
              <a:buFont typeface="+mj-lt"/>
              <a:buAutoNum type="arabicPeriod" startAt="3"/>
            </a:pPr>
            <a:r>
              <a:rPr lang="ru-RU" sz="1200" b="1" dirty="0"/>
              <a:t>git commit -m 'крайний коммит в мастер'</a:t>
            </a:r>
            <a:endParaRPr lang="en-US" sz="1200" b="1"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p:txBody>
      </p:sp>
      <p:pic>
        <p:nvPicPr>
          <p:cNvPr id="9" name="Picture 8">
            <a:extLst>
              <a:ext uri="{FF2B5EF4-FFF2-40B4-BE49-F238E27FC236}">
                <a16:creationId xmlns:a16="http://schemas.microsoft.com/office/drawing/2014/main" id="{4662E614-9F3C-4756-B822-2D0F0C482380}"/>
              </a:ext>
            </a:extLst>
          </p:cNvPr>
          <p:cNvPicPr>
            <a:picLocks noChangeAspect="1"/>
          </p:cNvPicPr>
          <p:nvPr/>
        </p:nvPicPr>
        <p:blipFill>
          <a:blip r:embed="rId2"/>
          <a:stretch>
            <a:fillRect/>
          </a:stretch>
        </p:blipFill>
        <p:spPr>
          <a:xfrm>
            <a:off x="840419" y="1541486"/>
            <a:ext cx="6262272" cy="2178678"/>
          </a:xfrm>
          <a:prstGeom prst="rect">
            <a:avLst/>
          </a:prstGeom>
        </p:spPr>
      </p:pic>
    </p:spTree>
    <p:extLst>
      <p:ext uri="{BB962C8B-B14F-4D97-AF65-F5344CB8AC3E}">
        <p14:creationId xmlns:p14="http://schemas.microsoft.com/office/powerpoint/2010/main" val="41476581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42336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000" dirty="0"/>
              <a:t>Создание и переключение веток</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006878"/>
            <a:ext cx="10910656" cy="533325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spcBef>
                <a:spcPts val="0"/>
              </a:spcBef>
              <a:spcAft>
                <a:spcPts val="0"/>
              </a:spcAft>
              <a:buNone/>
            </a:pPr>
            <a:r>
              <a:rPr lang="ru-RU" sz="1200" u="sng" dirty="0"/>
              <a:t>Убедимся, что последний коммит попал в истории коммитов на ветке master: </a:t>
            </a:r>
            <a:r>
              <a:rPr lang="en-US" sz="1200" b="1" dirty="0"/>
              <a:t>git log</a:t>
            </a:r>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u="sng" dirty="0"/>
          </a:p>
          <a:p>
            <a:pPr marL="0" indent="0">
              <a:spcBef>
                <a:spcPts val="0"/>
              </a:spcBef>
              <a:spcAft>
                <a:spcPts val="0"/>
              </a:spcAft>
              <a:buNone/>
            </a:pPr>
            <a:r>
              <a:rPr lang="ru-RU" sz="1200" u="sng" dirty="0"/>
              <a:t>Переключимся теперь на ветку feature-cart и посмотрим историю коммитов там:</a:t>
            </a:r>
            <a:r>
              <a:rPr lang="en-US" sz="1200" u="sng" dirty="0"/>
              <a:t> </a:t>
            </a:r>
            <a:r>
              <a:rPr lang="en-US" sz="1200" b="1" u="sng" dirty="0"/>
              <a:t>git checkout feature-cart</a:t>
            </a:r>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u="sng" dirty="0"/>
          </a:p>
          <a:p>
            <a:pPr marL="0" indent="0">
              <a:spcBef>
                <a:spcPts val="0"/>
              </a:spcBef>
              <a:spcAft>
                <a:spcPts val="0"/>
              </a:spcAft>
              <a:buNone/>
            </a:pPr>
            <a:r>
              <a:rPr lang="ru-RU" sz="1200" u="sng" dirty="0"/>
              <a:t>Как видим, последнего коммита, выполненного на ветке master, здесь нет. Естественно, нет и файла master.html, созданного в master</a:t>
            </a:r>
            <a:r>
              <a:rPr lang="ru-RU" sz="1200" dirty="0"/>
              <a:t>:</a:t>
            </a:r>
            <a:r>
              <a:rPr lang="en-US" sz="1200" dirty="0"/>
              <a:t> </a:t>
            </a:r>
            <a:r>
              <a:rPr lang="en-US" sz="1200" b="1" dirty="0"/>
              <a:t>ls –la</a:t>
            </a:r>
          </a:p>
          <a:p>
            <a:pPr marL="0" indent="0">
              <a:spcBef>
                <a:spcPts val="0"/>
              </a:spcBef>
              <a:spcAft>
                <a:spcPts val="0"/>
              </a:spcAft>
              <a:buNone/>
            </a:pPr>
            <a:endParaRPr lang="en-US" sz="1200" dirty="0"/>
          </a:p>
          <a:p>
            <a:pPr marL="0" indent="0">
              <a:spcBef>
                <a:spcPts val="0"/>
              </a:spcBef>
              <a:spcAft>
                <a:spcPts val="0"/>
              </a:spcAft>
              <a:buNone/>
            </a:pPr>
            <a:endParaRPr lang="en-US" sz="1200" u="sng" dirty="0"/>
          </a:p>
          <a:p>
            <a:pPr marL="0" indent="0">
              <a:spcBef>
                <a:spcPts val="0"/>
              </a:spcBef>
              <a:spcAft>
                <a:spcPts val="0"/>
              </a:spcAft>
              <a:buNone/>
            </a:pPr>
            <a:endParaRPr lang="en-US" sz="1200" u="sng" dirty="0"/>
          </a:p>
          <a:p>
            <a:pPr marL="0" indent="0">
              <a:spcBef>
                <a:spcPts val="0"/>
              </a:spcBef>
              <a:spcAft>
                <a:spcPts val="0"/>
              </a:spcAft>
              <a:buNone/>
            </a:pPr>
            <a:endParaRPr lang="en-US" sz="1200" u="sng" dirty="0"/>
          </a:p>
          <a:p>
            <a:pPr marL="0" indent="0">
              <a:spcBef>
                <a:spcPts val="0"/>
              </a:spcBef>
              <a:spcAft>
                <a:spcPts val="0"/>
              </a:spcAft>
              <a:buNone/>
            </a:pPr>
            <a:endParaRPr lang="en-US" sz="1200" u="sng" dirty="0"/>
          </a:p>
          <a:p>
            <a:pPr marL="0" indent="0">
              <a:spcBef>
                <a:spcPts val="0"/>
              </a:spcBef>
              <a:spcAft>
                <a:spcPts val="0"/>
              </a:spcAft>
              <a:buNone/>
            </a:pPr>
            <a:endParaRPr lang="en-US" sz="1200" u="sng" dirty="0"/>
          </a:p>
          <a:p>
            <a:pPr marL="0" indent="0">
              <a:spcBef>
                <a:spcPts val="0"/>
              </a:spcBef>
              <a:spcAft>
                <a:spcPts val="0"/>
              </a:spcAft>
              <a:buNone/>
            </a:pPr>
            <a:endParaRPr lang="en-US" sz="1200" u="sng" dirty="0"/>
          </a:p>
          <a:p>
            <a:pPr marL="0" indent="0">
              <a:spcBef>
                <a:spcPts val="0"/>
              </a:spcBef>
              <a:spcAft>
                <a:spcPts val="0"/>
              </a:spcAft>
              <a:buNone/>
            </a:pPr>
            <a:r>
              <a:rPr lang="ru-RU" sz="1200" u="sng" dirty="0"/>
              <a:t>Вернёмся на ветку master и убедимся, что файл master.html в проекте есть, а файлов, относящихся к разработке корзины – нет:</a:t>
            </a:r>
            <a:r>
              <a:rPr lang="ru-RU" sz="1200" dirty="0"/>
              <a:t> </a:t>
            </a:r>
            <a:r>
              <a:rPr lang="en-US" sz="1200" b="1" dirty="0"/>
              <a:t>git checkout master</a:t>
            </a:r>
          </a:p>
          <a:p>
            <a:pPr marL="0" indent="0">
              <a:spcBef>
                <a:spcPts val="0"/>
              </a:spcBef>
              <a:spcAft>
                <a:spcPts val="0"/>
              </a:spcAft>
              <a:buNone/>
            </a:pPr>
            <a:endParaRPr lang="en-US" sz="1200" dirty="0"/>
          </a:p>
          <a:p>
            <a:pPr marL="0" indent="0">
              <a:spcBef>
                <a:spcPts val="0"/>
              </a:spcBef>
              <a:spcAft>
                <a:spcPts val="0"/>
              </a:spcAft>
              <a:buNone/>
            </a:pPr>
            <a:endParaRPr lang="ru-RU" sz="1200" dirty="0"/>
          </a:p>
          <a:p>
            <a:pPr marL="0" indent="0">
              <a:spcBef>
                <a:spcPts val="0"/>
              </a:spcBef>
              <a:spcAft>
                <a:spcPts val="0"/>
              </a:spcAft>
              <a:buNone/>
            </a:pPr>
            <a:endParaRPr lang="en-US" sz="1200" u="sng" dirty="0"/>
          </a:p>
          <a:p>
            <a:pPr marL="0" indent="0">
              <a:spcBef>
                <a:spcPts val="0"/>
              </a:spcBef>
              <a:spcAft>
                <a:spcPts val="0"/>
              </a:spcAft>
              <a:buNone/>
            </a:pPr>
            <a:r>
              <a:rPr lang="ru-RU" sz="1200" u="sng" dirty="0"/>
              <a:t>Посмотрим ещё раз на историю коммитов, но на этот раз в компактном варианте (для этого служит ключ </a:t>
            </a:r>
            <a:r>
              <a:rPr lang="ru-RU" sz="1200" b="1" u="sng" dirty="0"/>
              <a:t>--oneline</a:t>
            </a:r>
            <a:r>
              <a:rPr lang="ru-RU" sz="1200" u="sng" dirty="0"/>
              <a:t>):</a:t>
            </a:r>
            <a:r>
              <a:rPr lang="ru-RU" sz="1200" dirty="0"/>
              <a:t> </a:t>
            </a:r>
            <a:r>
              <a:rPr lang="en-US" sz="1200" b="1" dirty="0"/>
              <a:t>git log --oneline</a:t>
            </a:r>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en-US" sz="1200" dirty="0"/>
          </a:p>
          <a:p>
            <a:pPr marL="0" indent="0">
              <a:spcBef>
                <a:spcPts val="0"/>
              </a:spcBef>
              <a:spcAft>
                <a:spcPts val="0"/>
              </a:spcAft>
              <a:buNone/>
            </a:pPr>
            <a:endParaRPr lang="ru-RU" sz="1200" dirty="0"/>
          </a:p>
          <a:p>
            <a:pPr marL="0" indent="0">
              <a:spcBef>
                <a:spcPts val="0"/>
              </a:spcBef>
              <a:spcAft>
                <a:spcPts val="0"/>
              </a:spcAft>
              <a:buNone/>
            </a:pPr>
            <a:endParaRPr lang="en-US" sz="1200" dirty="0"/>
          </a:p>
          <a:p>
            <a:pPr>
              <a:spcBef>
                <a:spcPts val="0"/>
              </a:spcBef>
              <a:spcAft>
                <a:spcPts val="0"/>
              </a:spcAft>
            </a:pPr>
            <a:r>
              <a:rPr lang="ru-RU" sz="1200" dirty="0"/>
              <a:t>На практике командой </a:t>
            </a:r>
            <a:r>
              <a:rPr lang="ru-RU" sz="1200" b="1" dirty="0"/>
              <a:t>git log</a:t>
            </a:r>
            <a:r>
              <a:rPr lang="en-US" sz="1200" b="1" dirty="0"/>
              <a:t> --oneline</a:t>
            </a:r>
            <a:r>
              <a:rPr lang="ru-RU" sz="1200" b="1" dirty="0"/>
              <a:t> </a:t>
            </a:r>
            <a:r>
              <a:rPr lang="ru-RU" sz="1200" dirty="0"/>
              <a:t>пользуются как раз в таком кратком виде – так удобнее просматривать историю при большом количестве коммитов.</a:t>
            </a:r>
            <a:endParaRPr lang="en-US" sz="1200" dirty="0"/>
          </a:p>
          <a:p>
            <a:pPr marL="0" indent="0">
              <a:spcBef>
                <a:spcPts val="0"/>
              </a:spcBef>
              <a:spcAft>
                <a:spcPts val="0"/>
              </a:spcAft>
              <a:buNone/>
            </a:pPr>
            <a:endParaRPr lang="en-US" sz="1200" dirty="0"/>
          </a:p>
        </p:txBody>
      </p:sp>
      <p:pic>
        <p:nvPicPr>
          <p:cNvPr id="6" name="Picture 5">
            <a:extLst>
              <a:ext uri="{FF2B5EF4-FFF2-40B4-BE49-F238E27FC236}">
                <a16:creationId xmlns:a16="http://schemas.microsoft.com/office/drawing/2014/main" id="{982E24F9-7D79-4E5E-A39A-26977321BA7F}"/>
              </a:ext>
            </a:extLst>
          </p:cNvPr>
          <p:cNvPicPr>
            <a:picLocks noChangeAspect="1"/>
          </p:cNvPicPr>
          <p:nvPr/>
        </p:nvPicPr>
        <p:blipFill>
          <a:blip r:embed="rId2"/>
          <a:stretch>
            <a:fillRect/>
          </a:stretch>
        </p:blipFill>
        <p:spPr>
          <a:xfrm>
            <a:off x="777720" y="1261813"/>
            <a:ext cx="3272901" cy="702692"/>
          </a:xfrm>
          <a:prstGeom prst="rect">
            <a:avLst/>
          </a:prstGeom>
        </p:spPr>
      </p:pic>
      <p:pic>
        <p:nvPicPr>
          <p:cNvPr id="7" name="Picture 6">
            <a:extLst>
              <a:ext uri="{FF2B5EF4-FFF2-40B4-BE49-F238E27FC236}">
                <a16:creationId xmlns:a16="http://schemas.microsoft.com/office/drawing/2014/main" id="{946261BB-9CBC-4F47-870E-6A34B3653AF5}"/>
              </a:ext>
            </a:extLst>
          </p:cNvPr>
          <p:cNvPicPr>
            <a:picLocks noChangeAspect="1"/>
          </p:cNvPicPr>
          <p:nvPr/>
        </p:nvPicPr>
        <p:blipFill>
          <a:blip r:embed="rId3"/>
          <a:stretch>
            <a:fillRect/>
          </a:stretch>
        </p:blipFill>
        <p:spPr>
          <a:xfrm>
            <a:off x="777720" y="2164771"/>
            <a:ext cx="3807394" cy="424896"/>
          </a:xfrm>
          <a:prstGeom prst="rect">
            <a:avLst/>
          </a:prstGeom>
        </p:spPr>
      </p:pic>
      <p:pic>
        <p:nvPicPr>
          <p:cNvPr id="8" name="Picture 7">
            <a:extLst>
              <a:ext uri="{FF2B5EF4-FFF2-40B4-BE49-F238E27FC236}">
                <a16:creationId xmlns:a16="http://schemas.microsoft.com/office/drawing/2014/main" id="{8B46FFF6-DFF5-4CD2-97C4-23B6BC767764}"/>
              </a:ext>
            </a:extLst>
          </p:cNvPr>
          <p:cNvPicPr>
            <a:picLocks noChangeAspect="1"/>
          </p:cNvPicPr>
          <p:nvPr/>
        </p:nvPicPr>
        <p:blipFill>
          <a:blip r:embed="rId4"/>
          <a:stretch>
            <a:fillRect/>
          </a:stretch>
        </p:blipFill>
        <p:spPr>
          <a:xfrm>
            <a:off x="777719" y="2945752"/>
            <a:ext cx="3092062" cy="1174504"/>
          </a:xfrm>
          <a:prstGeom prst="rect">
            <a:avLst/>
          </a:prstGeom>
        </p:spPr>
      </p:pic>
      <p:pic>
        <p:nvPicPr>
          <p:cNvPr id="10" name="Picture 9">
            <a:extLst>
              <a:ext uri="{FF2B5EF4-FFF2-40B4-BE49-F238E27FC236}">
                <a16:creationId xmlns:a16="http://schemas.microsoft.com/office/drawing/2014/main" id="{847AC9F2-795A-4E09-8332-5FD752BEB86B}"/>
              </a:ext>
            </a:extLst>
          </p:cNvPr>
          <p:cNvPicPr>
            <a:picLocks noChangeAspect="1"/>
          </p:cNvPicPr>
          <p:nvPr/>
        </p:nvPicPr>
        <p:blipFill>
          <a:blip r:embed="rId5"/>
          <a:stretch>
            <a:fillRect/>
          </a:stretch>
        </p:blipFill>
        <p:spPr>
          <a:xfrm>
            <a:off x="777719" y="4395967"/>
            <a:ext cx="4781550" cy="476250"/>
          </a:xfrm>
          <a:prstGeom prst="rect">
            <a:avLst/>
          </a:prstGeom>
        </p:spPr>
      </p:pic>
      <p:pic>
        <p:nvPicPr>
          <p:cNvPr id="11" name="Picture 10">
            <a:extLst>
              <a:ext uri="{FF2B5EF4-FFF2-40B4-BE49-F238E27FC236}">
                <a16:creationId xmlns:a16="http://schemas.microsoft.com/office/drawing/2014/main" id="{AEE1BB01-2240-46BA-BFD3-4A8F8BF2A3EA}"/>
              </a:ext>
            </a:extLst>
          </p:cNvPr>
          <p:cNvPicPr>
            <a:picLocks noChangeAspect="1"/>
          </p:cNvPicPr>
          <p:nvPr/>
        </p:nvPicPr>
        <p:blipFill>
          <a:blip r:embed="rId6"/>
          <a:stretch>
            <a:fillRect/>
          </a:stretch>
        </p:blipFill>
        <p:spPr>
          <a:xfrm>
            <a:off x="777719" y="5154671"/>
            <a:ext cx="3541360" cy="753814"/>
          </a:xfrm>
          <a:prstGeom prst="rect">
            <a:avLst/>
          </a:prstGeom>
        </p:spPr>
      </p:pic>
    </p:spTree>
    <p:extLst>
      <p:ext uri="{BB962C8B-B14F-4D97-AF65-F5344CB8AC3E}">
        <p14:creationId xmlns:p14="http://schemas.microsoft.com/office/powerpoint/2010/main" val="33949390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Слияние веток</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96474"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spcBef>
                <a:spcPts val="0"/>
              </a:spcBef>
              <a:buNone/>
            </a:pPr>
            <a:r>
              <a:rPr lang="ru-RU" sz="1200" dirty="0"/>
              <a:t>Выполним теперь слияние двух наших веток и посмотрим, как после этого будет выглядеть история коммитов.</a:t>
            </a:r>
            <a:endParaRPr lang="en-US" sz="1200" b="1" dirty="0"/>
          </a:p>
          <a:p>
            <a:pPr marL="0" indent="0">
              <a:spcBef>
                <a:spcPts val="0"/>
              </a:spcBef>
              <a:buNone/>
            </a:pPr>
            <a:r>
              <a:rPr lang="ru-RU" sz="1200" dirty="0"/>
              <a:t>Предположим, что вся работа в ветке </a:t>
            </a:r>
            <a:r>
              <a:rPr lang="ru-RU" sz="1200" b="1" dirty="0"/>
              <a:t>feature-cart</a:t>
            </a:r>
            <a:r>
              <a:rPr lang="ru-RU" sz="1200" dirty="0"/>
              <a:t> выполнена, нужный функционал разработан.</a:t>
            </a:r>
            <a:r>
              <a:rPr lang="en-US" sz="1200" dirty="0"/>
              <a:t> </a:t>
            </a:r>
            <a:r>
              <a:rPr lang="ru-RU" sz="1200" dirty="0"/>
              <a:t>Теперь нам нужно слить ветку </a:t>
            </a:r>
            <a:r>
              <a:rPr lang="ru-RU" sz="1200" b="1" dirty="0"/>
              <a:t>feature-cart</a:t>
            </a:r>
            <a:r>
              <a:rPr lang="ru-RU" sz="1200" dirty="0"/>
              <a:t> с основной веткой </a:t>
            </a:r>
            <a:r>
              <a:rPr lang="ru-RU" sz="1200" b="1" dirty="0"/>
              <a:t>master</a:t>
            </a:r>
            <a:r>
              <a:rPr lang="ru-RU" sz="1200" dirty="0"/>
              <a:t>. </a:t>
            </a:r>
            <a:endParaRPr lang="en-US" sz="1200" dirty="0"/>
          </a:p>
          <a:p>
            <a:pPr marL="0" indent="0">
              <a:spcBef>
                <a:spcPts val="0"/>
              </a:spcBef>
              <a:buNone/>
            </a:pPr>
            <a:r>
              <a:rPr lang="ru-RU" sz="1200" u="sng" dirty="0"/>
              <a:t>Для этого переключимся в ветку, в которую будем добавлять изменения (то есть в ветку master)</a:t>
            </a:r>
            <a:r>
              <a:rPr lang="en-US" sz="1200" u="sng" dirty="0"/>
              <a:t> </a:t>
            </a:r>
            <a:r>
              <a:rPr lang="ru-RU" sz="1200" u="sng" dirty="0"/>
              <a:t>и выполним команду слияния</a:t>
            </a:r>
            <a:r>
              <a:rPr lang="en-US" sz="1200" dirty="0"/>
              <a:t>:</a:t>
            </a:r>
          </a:p>
          <a:p>
            <a:pPr marL="0" indent="0">
              <a:spcBef>
                <a:spcPts val="0"/>
              </a:spcBef>
              <a:buNone/>
            </a:pPr>
            <a:r>
              <a:rPr lang="en-US" sz="1200" b="1" dirty="0"/>
              <a:t>git checkout master</a:t>
            </a:r>
          </a:p>
          <a:p>
            <a:pPr marL="0" indent="0">
              <a:spcBef>
                <a:spcPts val="0"/>
              </a:spcBef>
              <a:buNone/>
            </a:pPr>
            <a:r>
              <a:rPr lang="en-US" sz="1200" b="1" dirty="0"/>
              <a:t>git merge feature-cart </a:t>
            </a:r>
            <a:r>
              <a:rPr lang="ru-RU" sz="1200" b="1" dirty="0"/>
              <a:t> </a:t>
            </a:r>
            <a:r>
              <a:rPr lang="en-US" sz="1200" b="1" dirty="0">
                <a:solidFill>
                  <a:schemeClr val="bg1">
                    <a:lumMod val="50000"/>
                  </a:schemeClr>
                </a:solidFill>
              </a:rPr>
              <a:t># </a:t>
            </a:r>
            <a:r>
              <a:rPr lang="ru-RU" sz="1200" dirty="0">
                <a:solidFill>
                  <a:schemeClr val="bg1">
                    <a:lumMod val="50000"/>
                  </a:schemeClr>
                </a:solidFill>
              </a:rPr>
              <a:t>если откроется текстовый редактор, то просто введите описание этого комимта</a:t>
            </a:r>
            <a:r>
              <a:rPr lang="en-US" sz="1200" dirty="0">
                <a:solidFill>
                  <a:schemeClr val="bg1">
                    <a:lumMod val="50000"/>
                  </a:schemeClr>
                </a:solidFill>
              </a:rPr>
              <a:t>: "</a:t>
            </a:r>
            <a:r>
              <a:rPr lang="en-US" sz="1200" b="1" dirty="0">
                <a:solidFill>
                  <a:schemeClr val="bg1">
                    <a:lumMod val="50000"/>
                  </a:schemeClr>
                </a:solidFill>
              </a:rPr>
              <a:t>Merge branch 'feature-cart' "</a:t>
            </a:r>
            <a:r>
              <a:rPr lang="ru-RU" sz="1200" b="1" dirty="0">
                <a:solidFill>
                  <a:schemeClr val="bg1">
                    <a:lumMod val="50000"/>
                  </a:schemeClr>
                </a:solidFill>
              </a:rPr>
              <a:t> </a:t>
            </a:r>
            <a:r>
              <a:rPr lang="ru-RU" sz="1200" dirty="0">
                <a:solidFill>
                  <a:schemeClr val="bg1">
                    <a:lumMod val="50000"/>
                  </a:schemeClr>
                </a:solidFill>
              </a:rPr>
              <a:t>сохраните и закройте редактор</a:t>
            </a:r>
            <a:endParaRPr lang="ru-RU" sz="1200" b="1" dirty="0">
              <a:solidFill>
                <a:schemeClr val="bg1">
                  <a:lumMod val="50000"/>
                </a:schemeClr>
              </a:solidFill>
            </a:endParaRPr>
          </a:p>
          <a:p>
            <a:pPr marL="0" indent="0">
              <a:spcBef>
                <a:spcPts val="0"/>
              </a:spcBef>
              <a:buNone/>
            </a:pPr>
            <a:endParaRPr lang="en-US" sz="1200" dirty="0"/>
          </a:p>
          <a:p>
            <a:pPr marL="0" indent="0">
              <a:spcBef>
                <a:spcPts val="0"/>
              </a:spcBef>
              <a:buNone/>
            </a:pPr>
            <a:endParaRPr lang="en-US" sz="1200" dirty="0"/>
          </a:p>
          <a:p>
            <a:pPr marL="0" indent="0">
              <a:spcBef>
                <a:spcPts val="0"/>
              </a:spcBef>
              <a:buNone/>
            </a:pPr>
            <a:endParaRPr lang="ru-RU" sz="1200" dirty="0"/>
          </a:p>
          <a:p>
            <a:pPr marL="0" indent="0">
              <a:spcBef>
                <a:spcPts val="0"/>
              </a:spcBef>
              <a:buNone/>
            </a:pPr>
            <a:endParaRPr lang="en-US" sz="1200" dirty="0"/>
          </a:p>
          <a:p>
            <a:pPr marL="0" indent="0">
              <a:spcBef>
                <a:spcPts val="0"/>
              </a:spcBef>
              <a:buNone/>
            </a:pPr>
            <a:endParaRPr lang="en-US" sz="1200" dirty="0"/>
          </a:p>
          <a:p>
            <a:pPr marL="0" indent="0">
              <a:spcBef>
                <a:spcPts val="0"/>
              </a:spcBef>
              <a:buNone/>
            </a:pPr>
            <a:r>
              <a:rPr lang="ru-RU" sz="1200" u="sng" dirty="0"/>
              <a:t>Посмотрим на структуру проекта</a:t>
            </a:r>
            <a:r>
              <a:rPr lang="ru-RU" sz="1200" dirty="0"/>
              <a:t>: </a:t>
            </a:r>
            <a:r>
              <a:rPr lang="en-US" sz="1200" b="1" dirty="0"/>
              <a:t>ls -la</a:t>
            </a:r>
            <a:endParaRPr lang="ru-RU" sz="1200" b="1" dirty="0"/>
          </a:p>
          <a:p>
            <a:pPr marL="0" indent="0">
              <a:spcBef>
                <a:spcPts val="0"/>
              </a:spcBef>
              <a:buNone/>
            </a:pPr>
            <a:endParaRPr lang="en-US" sz="1200" dirty="0"/>
          </a:p>
          <a:p>
            <a:pPr marL="0" indent="0">
              <a:spcBef>
                <a:spcPts val="0"/>
              </a:spcBef>
              <a:buNone/>
            </a:pPr>
            <a:endParaRPr lang="en-US" sz="1200" dirty="0"/>
          </a:p>
          <a:p>
            <a:pPr marL="0" indent="0">
              <a:spcBef>
                <a:spcPts val="0"/>
              </a:spcBef>
              <a:buNone/>
            </a:pPr>
            <a:endParaRPr lang="en-US" sz="1200" dirty="0"/>
          </a:p>
          <a:p>
            <a:pPr marL="0" indent="0">
              <a:spcBef>
                <a:spcPts val="0"/>
              </a:spcBef>
              <a:buNone/>
            </a:pPr>
            <a:endParaRPr lang="en-US" sz="1200" dirty="0"/>
          </a:p>
          <a:p>
            <a:pPr marL="0" indent="0">
              <a:spcBef>
                <a:spcPts val="0"/>
              </a:spcBef>
              <a:buNone/>
            </a:pPr>
            <a:endParaRPr lang="en-US" sz="1200" dirty="0"/>
          </a:p>
          <a:p>
            <a:pPr marL="0" indent="0">
              <a:spcBef>
                <a:spcPts val="0"/>
              </a:spcBef>
              <a:buNone/>
            </a:pPr>
            <a:endParaRPr lang="en-US" sz="1200" dirty="0"/>
          </a:p>
          <a:p>
            <a:pPr marL="0" indent="0">
              <a:spcBef>
                <a:spcPts val="0"/>
              </a:spcBef>
              <a:buNone/>
            </a:pPr>
            <a:r>
              <a:rPr lang="ru-RU" sz="1200" dirty="0"/>
              <a:t>Итак, теперь в проекте есть и файлы </a:t>
            </a:r>
            <a:r>
              <a:rPr lang="ru-RU" sz="1200" b="1" dirty="0"/>
              <a:t>cart.html </a:t>
            </a:r>
            <a:r>
              <a:rPr lang="ru-RU" sz="1200" dirty="0"/>
              <a:t>и </a:t>
            </a:r>
            <a:r>
              <a:rPr lang="ru-RU" sz="1200" b="1" dirty="0"/>
              <a:t>main.css</a:t>
            </a:r>
            <a:r>
              <a:rPr lang="ru-RU" sz="1200" dirty="0"/>
              <a:t>, относящиеся к ветке </a:t>
            </a:r>
            <a:r>
              <a:rPr lang="ru-RU" sz="1200" b="1" dirty="0"/>
              <a:t>feature-cart</a:t>
            </a:r>
            <a:r>
              <a:rPr lang="ru-RU" sz="1200" dirty="0"/>
              <a:t>, и файл </a:t>
            </a:r>
            <a:r>
              <a:rPr lang="ru-RU" sz="1200" b="1" dirty="0"/>
              <a:t>master.html </a:t>
            </a:r>
            <a:r>
              <a:rPr lang="ru-RU" sz="1200" dirty="0"/>
              <a:t>из ветки </a:t>
            </a:r>
            <a:r>
              <a:rPr lang="ru-RU" sz="1200" b="1" dirty="0"/>
              <a:t>master</a:t>
            </a:r>
            <a:r>
              <a:rPr lang="ru-RU" sz="1200" dirty="0"/>
              <a:t>. Таким образом, функционал корзины добавлен в основную ветку проекта. </a:t>
            </a:r>
            <a:endParaRPr lang="en-US" sz="1200" dirty="0"/>
          </a:p>
        </p:txBody>
      </p:sp>
      <p:pic>
        <p:nvPicPr>
          <p:cNvPr id="5" name="Picture 4">
            <a:extLst>
              <a:ext uri="{FF2B5EF4-FFF2-40B4-BE49-F238E27FC236}">
                <a16:creationId xmlns:a16="http://schemas.microsoft.com/office/drawing/2014/main" id="{0C7C7D8D-A722-481A-967A-047CEE57DAE0}"/>
              </a:ext>
            </a:extLst>
          </p:cNvPr>
          <p:cNvPicPr>
            <a:picLocks noChangeAspect="1"/>
          </p:cNvPicPr>
          <p:nvPr/>
        </p:nvPicPr>
        <p:blipFill>
          <a:blip r:embed="rId2"/>
          <a:stretch>
            <a:fillRect/>
          </a:stretch>
        </p:blipFill>
        <p:spPr>
          <a:xfrm>
            <a:off x="750069" y="2475600"/>
            <a:ext cx="4333875" cy="1247775"/>
          </a:xfrm>
          <a:prstGeom prst="rect">
            <a:avLst/>
          </a:prstGeom>
        </p:spPr>
      </p:pic>
      <p:pic>
        <p:nvPicPr>
          <p:cNvPr id="6" name="Picture 5">
            <a:extLst>
              <a:ext uri="{FF2B5EF4-FFF2-40B4-BE49-F238E27FC236}">
                <a16:creationId xmlns:a16="http://schemas.microsoft.com/office/drawing/2014/main" id="{48725B11-DB5B-4369-9D5B-13D5FF513247}"/>
              </a:ext>
            </a:extLst>
          </p:cNvPr>
          <p:cNvPicPr>
            <a:picLocks noChangeAspect="1"/>
          </p:cNvPicPr>
          <p:nvPr/>
        </p:nvPicPr>
        <p:blipFill>
          <a:blip r:embed="rId3"/>
          <a:stretch>
            <a:fillRect/>
          </a:stretch>
        </p:blipFill>
        <p:spPr>
          <a:xfrm>
            <a:off x="750069" y="4049209"/>
            <a:ext cx="3385356" cy="1390884"/>
          </a:xfrm>
          <a:prstGeom prst="rect">
            <a:avLst/>
          </a:prstGeom>
        </p:spPr>
      </p:pic>
    </p:spTree>
    <p:extLst>
      <p:ext uri="{BB962C8B-B14F-4D97-AF65-F5344CB8AC3E}">
        <p14:creationId xmlns:p14="http://schemas.microsoft.com/office/powerpoint/2010/main" val="35422389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Слияние веток</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96474"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spcBef>
                <a:spcPts val="0"/>
              </a:spcBef>
              <a:buNone/>
            </a:pPr>
            <a:r>
              <a:rPr lang="ru-RU" sz="1200" u="sng" dirty="0"/>
              <a:t>Проверим статус файлов</a:t>
            </a:r>
            <a:r>
              <a:rPr lang="ru-RU" sz="1200" dirty="0"/>
              <a:t>: </a:t>
            </a:r>
            <a:r>
              <a:rPr lang="en-US" sz="1200" b="1" dirty="0"/>
              <a:t>git status</a:t>
            </a:r>
          </a:p>
          <a:p>
            <a:pPr marL="0" indent="0">
              <a:spcBef>
                <a:spcPts val="0"/>
              </a:spcBef>
              <a:buNone/>
            </a:pPr>
            <a:endParaRPr lang="en-US" sz="1200" b="1" dirty="0"/>
          </a:p>
          <a:p>
            <a:pPr marL="0" indent="0">
              <a:spcBef>
                <a:spcPts val="0"/>
              </a:spcBef>
              <a:buNone/>
            </a:pPr>
            <a:endParaRPr lang="en-US" sz="1200" b="1" dirty="0"/>
          </a:p>
          <a:p>
            <a:pPr marL="0" indent="0">
              <a:spcBef>
                <a:spcPts val="0"/>
              </a:spcBef>
              <a:buNone/>
            </a:pPr>
            <a:r>
              <a:rPr lang="ru-RU" sz="1200" dirty="0"/>
              <a:t>Файлы находятся в согласованном состоянии, то есть при слиянии веток автоматически создался новый коммит.</a:t>
            </a:r>
            <a:endParaRPr lang="en-US" sz="1200" u="sng" dirty="0"/>
          </a:p>
          <a:p>
            <a:pPr marL="0" indent="0">
              <a:spcBef>
                <a:spcPts val="0"/>
              </a:spcBef>
              <a:buNone/>
            </a:pPr>
            <a:r>
              <a:rPr lang="ru-RU" sz="1200" u="sng" dirty="0"/>
              <a:t>Выполним команду, которая показывает историю коммитов в наглядном виде:   </a:t>
            </a:r>
            <a:endParaRPr lang="en-US" sz="1200" u="sng" dirty="0"/>
          </a:p>
          <a:p>
            <a:pPr marL="0" indent="0">
              <a:spcBef>
                <a:spcPts val="0"/>
              </a:spcBef>
              <a:buNone/>
            </a:pPr>
            <a:r>
              <a:rPr lang="en-US" sz="1200" b="1" dirty="0"/>
              <a:t>git log --oneline --graph</a:t>
            </a:r>
          </a:p>
          <a:p>
            <a:pPr marL="0" indent="0">
              <a:spcBef>
                <a:spcPts val="0"/>
              </a:spcBef>
              <a:buNone/>
            </a:pPr>
            <a:endParaRPr lang="en-US" sz="1200" dirty="0"/>
          </a:p>
          <a:p>
            <a:pPr marL="0" indent="0">
              <a:spcBef>
                <a:spcPts val="0"/>
              </a:spcBef>
              <a:buNone/>
            </a:pPr>
            <a:endParaRPr lang="ru-RU" sz="1200" dirty="0"/>
          </a:p>
          <a:p>
            <a:pPr marL="0" indent="0">
              <a:spcBef>
                <a:spcPts val="0"/>
              </a:spcBef>
              <a:buNone/>
            </a:pPr>
            <a:endParaRPr lang="ru-RU" sz="1200" dirty="0"/>
          </a:p>
          <a:p>
            <a:pPr marL="0" indent="0">
              <a:spcBef>
                <a:spcPts val="0"/>
              </a:spcBef>
              <a:buNone/>
            </a:pPr>
            <a:endParaRPr lang="ru-RU" sz="1200" dirty="0"/>
          </a:p>
          <a:p>
            <a:pPr marL="0" indent="0">
              <a:spcBef>
                <a:spcPts val="0"/>
              </a:spcBef>
              <a:buNone/>
            </a:pPr>
            <a:endParaRPr lang="ru-RU" sz="1200" dirty="0"/>
          </a:p>
          <a:p>
            <a:pPr marL="0" indent="0">
              <a:spcBef>
                <a:spcPts val="0"/>
              </a:spcBef>
              <a:buNone/>
            </a:pPr>
            <a:endParaRPr lang="ru-RU" sz="1200" dirty="0"/>
          </a:p>
          <a:p>
            <a:pPr marL="0" indent="0">
              <a:spcBef>
                <a:spcPts val="0"/>
              </a:spcBef>
              <a:buNone/>
            </a:pPr>
            <a:r>
              <a:rPr lang="ru-RU" sz="1200" b="1" dirty="0"/>
              <a:t>Эта диаграмма показывает, что:</a:t>
            </a:r>
          </a:p>
          <a:p>
            <a:pPr>
              <a:spcBef>
                <a:spcPts val="0"/>
              </a:spcBef>
            </a:pPr>
            <a:r>
              <a:rPr lang="ru-RU" sz="1200" dirty="0"/>
              <a:t>сначала разработка шла в ветке master (первые три коммита)</a:t>
            </a:r>
            <a:r>
              <a:rPr lang="en-US" sz="1200" dirty="0"/>
              <a:t> #</a:t>
            </a:r>
            <a:r>
              <a:rPr lang="ru-RU" sz="1200" dirty="0"/>
              <a:t> </a:t>
            </a:r>
            <a:r>
              <a:rPr lang="ru-RU" sz="1200" dirty="0">
                <a:solidFill>
                  <a:schemeClr val="bg1">
                    <a:lumMod val="50000"/>
                  </a:schemeClr>
                </a:solidFill>
              </a:rPr>
              <a:t>видим 3 </a:t>
            </a:r>
            <a:r>
              <a:rPr lang="en-US" sz="1200" dirty="0">
                <a:solidFill>
                  <a:schemeClr val="bg1">
                    <a:lumMod val="50000"/>
                  </a:schemeClr>
                </a:solidFill>
              </a:rPr>
              <a:t>*</a:t>
            </a:r>
            <a:r>
              <a:rPr lang="ru-RU" sz="1200" dirty="0">
                <a:solidFill>
                  <a:schemeClr val="bg1">
                    <a:lumMod val="50000"/>
                  </a:schemeClr>
                </a:solidFill>
              </a:rPr>
              <a:t> с коммитами </a:t>
            </a:r>
          </a:p>
          <a:p>
            <a:pPr>
              <a:spcBef>
                <a:spcPts val="0"/>
              </a:spcBef>
            </a:pPr>
            <a:r>
              <a:rPr lang="ru-RU" sz="1200" dirty="0"/>
              <a:t>затем была создана ветка feature-cart, </a:t>
            </a:r>
            <a:r>
              <a:rPr lang="en-US" sz="1200" dirty="0">
                <a:solidFill>
                  <a:schemeClr val="bg1">
                    <a:lumMod val="50000"/>
                  </a:schemeClr>
                </a:solidFill>
              </a:rPr>
              <a:t>#</a:t>
            </a:r>
            <a:r>
              <a:rPr lang="ru-RU" sz="1200" dirty="0">
                <a:solidFill>
                  <a:schemeClr val="bg1">
                    <a:lumMod val="50000"/>
                  </a:schemeClr>
                </a:solidFill>
              </a:rPr>
              <a:t> зелёные/красны палки обозначают движение</a:t>
            </a:r>
          </a:p>
          <a:p>
            <a:pPr>
              <a:spcBef>
                <a:spcPts val="0"/>
              </a:spcBef>
            </a:pPr>
            <a:r>
              <a:rPr lang="ru-RU" sz="1200" dirty="0"/>
              <a:t>в ветке master был создан коммит с описанием 'крайний коммит в мастер</a:t>
            </a:r>
            <a:r>
              <a:rPr lang="en-US" sz="1200" dirty="0"/>
              <a:t>' </a:t>
            </a:r>
            <a:r>
              <a:rPr lang="en-US" sz="1200" dirty="0">
                <a:solidFill>
                  <a:schemeClr val="bg1">
                    <a:lumMod val="50000"/>
                  </a:schemeClr>
                </a:solidFill>
              </a:rPr>
              <a:t># </a:t>
            </a:r>
            <a:r>
              <a:rPr lang="ru-RU" sz="1200" dirty="0">
                <a:solidFill>
                  <a:schemeClr val="bg1">
                    <a:lumMod val="50000"/>
                  </a:schemeClr>
                </a:solidFill>
              </a:rPr>
              <a:t>ещё одна * слева</a:t>
            </a:r>
          </a:p>
          <a:p>
            <a:pPr>
              <a:spcBef>
                <a:spcPts val="0"/>
              </a:spcBef>
            </a:pPr>
            <a:r>
              <a:rPr lang="ru-RU" sz="1200" dirty="0"/>
              <a:t>в ветке feature-cart был создан коммит с описанием 'cart completed</a:t>
            </a:r>
            <a:r>
              <a:rPr lang="en-US" sz="1200" dirty="0"/>
              <a:t>' </a:t>
            </a:r>
            <a:r>
              <a:rPr lang="en-US" sz="1200" dirty="0">
                <a:solidFill>
                  <a:schemeClr val="bg1">
                    <a:lumMod val="50000"/>
                  </a:schemeClr>
                </a:solidFill>
              </a:rPr>
              <a:t># </a:t>
            </a:r>
            <a:r>
              <a:rPr lang="ru-RU" sz="1200" dirty="0">
                <a:solidFill>
                  <a:schemeClr val="bg1">
                    <a:lumMod val="50000"/>
                  </a:schemeClr>
                </a:solidFill>
              </a:rPr>
              <a:t>об этом говорит предпоследняя</a:t>
            </a:r>
            <a:r>
              <a:rPr lang="en-US" sz="1200" dirty="0">
                <a:solidFill>
                  <a:schemeClr val="bg1">
                    <a:lumMod val="50000"/>
                  </a:schemeClr>
                </a:solidFill>
              </a:rPr>
              <a:t> *</a:t>
            </a:r>
            <a:r>
              <a:rPr lang="ru-RU" sz="1200" dirty="0">
                <a:solidFill>
                  <a:schemeClr val="bg1">
                    <a:lumMod val="50000"/>
                  </a:schemeClr>
                </a:solidFill>
              </a:rPr>
              <a:t> </a:t>
            </a:r>
            <a:endParaRPr lang="ru-RU" sz="1200" dirty="0"/>
          </a:p>
          <a:p>
            <a:pPr>
              <a:spcBef>
                <a:spcPts val="0"/>
              </a:spcBef>
            </a:pPr>
            <a:r>
              <a:rPr lang="ru-RU" sz="1200" dirty="0"/>
              <a:t>ветка feature-cart была слита с веткой master. </a:t>
            </a:r>
            <a:r>
              <a:rPr lang="en-US" sz="1200" dirty="0">
                <a:solidFill>
                  <a:schemeClr val="bg1">
                    <a:lumMod val="50000"/>
                  </a:schemeClr>
                </a:solidFill>
              </a:rPr>
              <a:t># </a:t>
            </a:r>
            <a:r>
              <a:rPr lang="ru-RU" sz="1200" dirty="0">
                <a:solidFill>
                  <a:schemeClr val="bg1">
                    <a:lumMod val="50000"/>
                  </a:schemeClr>
                </a:solidFill>
              </a:rPr>
              <a:t>пересечение двух палок в самом вверху</a:t>
            </a:r>
            <a:endParaRPr lang="ru-RU" sz="1200" dirty="0"/>
          </a:p>
          <a:p>
            <a:pPr marL="0" indent="0">
              <a:spcBef>
                <a:spcPts val="0"/>
              </a:spcBef>
              <a:buNone/>
            </a:pPr>
            <a:r>
              <a:rPr lang="ru-RU" sz="1200" dirty="0"/>
              <a:t>Данная команда позволяет наглядно отобразить ход проекта: мы видим, какие возможности были добавлены или какие ошибки исправлены.</a:t>
            </a:r>
            <a:endParaRPr lang="en-US" sz="1200" dirty="0"/>
          </a:p>
        </p:txBody>
      </p:sp>
      <p:pic>
        <p:nvPicPr>
          <p:cNvPr id="7" name="Picture 6">
            <a:extLst>
              <a:ext uri="{FF2B5EF4-FFF2-40B4-BE49-F238E27FC236}">
                <a16:creationId xmlns:a16="http://schemas.microsoft.com/office/drawing/2014/main" id="{E512129C-34A5-4804-AC23-812A5466D80D}"/>
              </a:ext>
            </a:extLst>
          </p:cNvPr>
          <p:cNvPicPr>
            <a:picLocks noChangeAspect="1"/>
          </p:cNvPicPr>
          <p:nvPr/>
        </p:nvPicPr>
        <p:blipFill>
          <a:blip r:embed="rId2"/>
          <a:stretch>
            <a:fillRect/>
          </a:stretch>
        </p:blipFill>
        <p:spPr>
          <a:xfrm>
            <a:off x="778273" y="1438324"/>
            <a:ext cx="3272900" cy="505746"/>
          </a:xfrm>
          <a:prstGeom prst="rect">
            <a:avLst/>
          </a:prstGeom>
        </p:spPr>
      </p:pic>
      <p:pic>
        <p:nvPicPr>
          <p:cNvPr id="8" name="Picture 7">
            <a:extLst>
              <a:ext uri="{FF2B5EF4-FFF2-40B4-BE49-F238E27FC236}">
                <a16:creationId xmlns:a16="http://schemas.microsoft.com/office/drawing/2014/main" id="{2724CECF-5BEF-4A55-BCDB-D71FE8E58224}"/>
              </a:ext>
            </a:extLst>
          </p:cNvPr>
          <p:cNvPicPr>
            <a:picLocks noChangeAspect="1"/>
          </p:cNvPicPr>
          <p:nvPr/>
        </p:nvPicPr>
        <p:blipFill>
          <a:blip r:embed="rId3"/>
          <a:stretch>
            <a:fillRect/>
          </a:stretch>
        </p:blipFill>
        <p:spPr>
          <a:xfrm>
            <a:off x="778273" y="2760178"/>
            <a:ext cx="5055010" cy="1497442"/>
          </a:xfrm>
          <a:prstGeom prst="rect">
            <a:avLst/>
          </a:prstGeom>
        </p:spPr>
      </p:pic>
    </p:spTree>
    <p:extLst>
      <p:ext uri="{BB962C8B-B14F-4D97-AF65-F5344CB8AC3E}">
        <p14:creationId xmlns:p14="http://schemas.microsoft.com/office/powerpoint/2010/main" val="26628110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Удаление веток</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96474"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spcBef>
                <a:spcPts val="0"/>
              </a:spcBef>
              <a:buNone/>
            </a:pPr>
            <a:r>
              <a:rPr lang="ru-RU" sz="1200" u="sng" dirty="0"/>
              <a:t>У нас произошло слияние двух веток и ветка feature-cart больше не нужна: </a:t>
            </a:r>
            <a:endParaRPr lang="ru-RU" sz="1200" dirty="0"/>
          </a:p>
          <a:p>
            <a:pPr marL="0" indent="0">
              <a:buNone/>
            </a:pPr>
            <a:r>
              <a:rPr lang="en-US" sz="1200" b="1" dirty="0"/>
              <a:t>git branch </a:t>
            </a:r>
          </a:p>
          <a:p>
            <a:pPr marL="0" indent="0">
              <a:buNone/>
            </a:pPr>
            <a:endParaRPr lang="en-US" sz="1200" dirty="0"/>
          </a:p>
          <a:p>
            <a:pPr marL="0" indent="0">
              <a:buNone/>
            </a:pPr>
            <a:endParaRPr lang="en-US" sz="1200" dirty="0"/>
          </a:p>
          <a:p>
            <a:pPr marL="0" indent="0">
              <a:buNone/>
            </a:pPr>
            <a:endParaRPr lang="en-US" sz="1200" dirty="0"/>
          </a:p>
          <a:p>
            <a:pPr marL="0" indent="0">
              <a:buNone/>
            </a:pPr>
            <a:r>
              <a:rPr lang="ru-RU" sz="1200" u="sng" dirty="0"/>
              <a:t>Удалить эту ветку можно с помощью ключа </a:t>
            </a:r>
            <a:r>
              <a:rPr lang="ru-RU" sz="1200" b="1" u="sng" dirty="0"/>
              <a:t>-d </a:t>
            </a:r>
            <a:r>
              <a:rPr lang="ru-RU" sz="1200" u="sng" dirty="0"/>
              <a:t>(delete) команды </a:t>
            </a:r>
            <a:r>
              <a:rPr lang="ru-RU" sz="1200" b="1" u="sng" dirty="0"/>
              <a:t>git branch</a:t>
            </a:r>
            <a:r>
              <a:rPr lang="ru-RU" sz="1200" u="sng" dirty="0"/>
              <a:t>: </a:t>
            </a:r>
          </a:p>
          <a:p>
            <a:pPr marL="0" indent="0">
              <a:buNone/>
            </a:pPr>
            <a:r>
              <a:rPr lang="en-US" sz="1200" b="1" dirty="0"/>
              <a:t>git branch -d feature-cart </a:t>
            </a:r>
          </a:p>
          <a:p>
            <a:pPr marL="0" indent="0">
              <a:buNone/>
            </a:pPr>
            <a:endParaRPr lang="en-US" sz="1200" b="1" dirty="0"/>
          </a:p>
          <a:p>
            <a:pPr marL="0" indent="0">
              <a:buNone/>
            </a:pPr>
            <a:endParaRPr lang="en-US" sz="1200" b="1" dirty="0"/>
          </a:p>
          <a:p>
            <a:pPr marL="0" indent="0">
              <a:buNone/>
            </a:pPr>
            <a:endParaRPr lang="en-US" sz="1200" dirty="0"/>
          </a:p>
          <a:p>
            <a:pPr marL="0" indent="0">
              <a:buNone/>
            </a:pPr>
            <a:r>
              <a:rPr lang="ru-RU" sz="1200" u="sng" dirty="0"/>
              <a:t>Убедимся, что в проекте осталась только одна ветка: </a:t>
            </a:r>
          </a:p>
          <a:p>
            <a:pPr marL="0" indent="0">
              <a:buNone/>
            </a:pPr>
            <a:r>
              <a:rPr lang="en-US" sz="1200" b="1" dirty="0"/>
              <a:t>git branch </a:t>
            </a:r>
          </a:p>
          <a:p>
            <a:pPr marL="0" indent="0">
              <a:spcBef>
                <a:spcPts val="0"/>
              </a:spcBef>
              <a:buNone/>
            </a:pPr>
            <a:endParaRPr lang="ru-RU" sz="1200" dirty="0"/>
          </a:p>
          <a:p>
            <a:pPr marL="0" indent="0">
              <a:spcBef>
                <a:spcPts val="0"/>
              </a:spcBef>
              <a:buNone/>
            </a:pPr>
            <a:endParaRPr lang="ru-RU" sz="1200" dirty="0"/>
          </a:p>
          <a:p>
            <a:pPr marL="0" indent="0">
              <a:spcBef>
                <a:spcPts val="0"/>
              </a:spcBef>
              <a:buNone/>
            </a:pPr>
            <a:endParaRPr lang="ru-RU" sz="1200" dirty="0"/>
          </a:p>
          <a:p>
            <a:pPr marL="0" indent="0">
              <a:spcBef>
                <a:spcPts val="0"/>
              </a:spcBef>
              <a:buNone/>
            </a:pPr>
            <a:r>
              <a:rPr lang="ru-RU" sz="1200" dirty="0"/>
              <a:t>.</a:t>
            </a:r>
            <a:endParaRPr lang="en-US" sz="1200" dirty="0"/>
          </a:p>
        </p:txBody>
      </p:sp>
      <p:pic>
        <p:nvPicPr>
          <p:cNvPr id="5" name="Picture 4">
            <a:extLst>
              <a:ext uri="{FF2B5EF4-FFF2-40B4-BE49-F238E27FC236}">
                <a16:creationId xmlns:a16="http://schemas.microsoft.com/office/drawing/2014/main" id="{B1DA7E65-260F-4C12-8481-874D5E0B10FA}"/>
              </a:ext>
            </a:extLst>
          </p:cNvPr>
          <p:cNvPicPr>
            <a:picLocks noChangeAspect="1"/>
          </p:cNvPicPr>
          <p:nvPr/>
        </p:nvPicPr>
        <p:blipFill>
          <a:blip r:embed="rId2"/>
          <a:stretch>
            <a:fillRect/>
          </a:stretch>
        </p:blipFill>
        <p:spPr>
          <a:xfrm>
            <a:off x="764080" y="1743398"/>
            <a:ext cx="4467225" cy="619125"/>
          </a:xfrm>
          <a:prstGeom prst="rect">
            <a:avLst/>
          </a:prstGeom>
        </p:spPr>
      </p:pic>
      <p:pic>
        <p:nvPicPr>
          <p:cNvPr id="6" name="Picture 5">
            <a:extLst>
              <a:ext uri="{FF2B5EF4-FFF2-40B4-BE49-F238E27FC236}">
                <a16:creationId xmlns:a16="http://schemas.microsoft.com/office/drawing/2014/main" id="{0BB08190-B40D-455D-9324-02D1DE9DE098}"/>
              </a:ext>
            </a:extLst>
          </p:cNvPr>
          <p:cNvPicPr>
            <a:picLocks noChangeAspect="1"/>
          </p:cNvPicPr>
          <p:nvPr/>
        </p:nvPicPr>
        <p:blipFill>
          <a:blip r:embed="rId3"/>
          <a:stretch>
            <a:fillRect/>
          </a:stretch>
        </p:blipFill>
        <p:spPr>
          <a:xfrm>
            <a:off x="764080" y="3291996"/>
            <a:ext cx="4371975" cy="523875"/>
          </a:xfrm>
          <a:prstGeom prst="rect">
            <a:avLst/>
          </a:prstGeom>
        </p:spPr>
      </p:pic>
      <p:pic>
        <p:nvPicPr>
          <p:cNvPr id="9" name="Picture 8">
            <a:extLst>
              <a:ext uri="{FF2B5EF4-FFF2-40B4-BE49-F238E27FC236}">
                <a16:creationId xmlns:a16="http://schemas.microsoft.com/office/drawing/2014/main" id="{3205586A-3C86-4665-9EDB-D65174D0DD7F}"/>
              </a:ext>
            </a:extLst>
          </p:cNvPr>
          <p:cNvPicPr>
            <a:picLocks noChangeAspect="1"/>
          </p:cNvPicPr>
          <p:nvPr/>
        </p:nvPicPr>
        <p:blipFill>
          <a:blip r:embed="rId4"/>
          <a:stretch>
            <a:fillRect/>
          </a:stretch>
        </p:blipFill>
        <p:spPr>
          <a:xfrm>
            <a:off x="764080" y="4720930"/>
            <a:ext cx="4400550" cy="514350"/>
          </a:xfrm>
          <a:prstGeom prst="rect">
            <a:avLst/>
          </a:prstGeom>
        </p:spPr>
      </p:pic>
    </p:spTree>
    <p:extLst>
      <p:ext uri="{BB962C8B-B14F-4D97-AF65-F5344CB8AC3E}">
        <p14:creationId xmlns:p14="http://schemas.microsoft.com/office/powerpoint/2010/main" val="18594183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Конфликты при слиянии веток</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96474"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spcBef>
                <a:spcPts val="0"/>
              </a:spcBef>
              <a:buNone/>
            </a:pPr>
            <a:r>
              <a:rPr lang="ru-RU" sz="1200" dirty="0"/>
              <a:t>В предыдущем примере слияние веток у нас прошло безо всяких проблем, потому что мы работали в разных ветках и изменяли разные файлы.</a:t>
            </a:r>
          </a:p>
          <a:p>
            <a:pPr marL="0" indent="0">
              <a:spcBef>
                <a:spcPts val="0"/>
              </a:spcBef>
              <a:buNone/>
            </a:pPr>
            <a:r>
              <a:rPr lang="ru-RU" sz="1200" dirty="0"/>
              <a:t>Но что будет, если мы в разных ветках изменим один и тот же файл? Как при этом пройдёт слияние веток? Если изменения в ветках затрагивали разные строки этого файла, то скорее всего Git сможет слить эти файлы вместе без ошибок. Но часто возникают ситуации, когда изменения в разных ветках затрагивают одни и те же строки в файле – в этом случае возникнет конфликт слияния.</a:t>
            </a:r>
          </a:p>
          <a:p>
            <a:pPr marL="0" indent="0">
              <a:spcBef>
                <a:spcPts val="0"/>
              </a:spcBef>
              <a:buNone/>
            </a:pPr>
            <a:r>
              <a:rPr lang="ru-RU" sz="1200" dirty="0"/>
              <a:t>Рассмотрим пример подобного конфликта в нашем проекте. Для этого создадим в проекте новую ветку bug-cart для исправления ошибки, связанной с работой корзины, и перейдём в нее: </a:t>
            </a:r>
            <a:r>
              <a:rPr lang="en-US" sz="1200" b="1" dirty="0"/>
              <a:t>git checkout -b bug-cart</a:t>
            </a:r>
          </a:p>
          <a:p>
            <a:pPr marL="0" indent="0">
              <a:buNone/>
            </a:pPr>
            <a:endParaRPr lang="en-US" sz="1200" dirty="0"/>
          </a:p>
          <a:p>
            <a:pPr marL="0" indent="0">
              <a:buNone/>
            </a:pPr>
            <a:r>
              <a:rPr lang="ru-RU" sz="1200" u="sng" dirty="0"/>
              <a:t>Изменим файл index.html – поменяем заголовок боковой панели</a:t>
            </a:r>
            <a:r>
              <a:rPr lang="ru-RU" sz="1200" dirty="0"/>
              <a:t>:</a:t>
            </a:r>
            <a:r>
              <a:rPr lang="en-US" sz="1200" dirty="0"/>
              <a:t> </a:t>
            </a:r>
            <a:r>
              <a:rPr lang="en-US" sz="1200" b="1" dirty="0"/>
              <a:t>notepad index.html</a:t>
            </a:r>
          </a:p>
          <a:p>
            <a:pPr marL="228600" indent="-228600">
              <a:buFont typeface="+mj-lt"/>
              <a:buAutoNum type="arabicPeriod"/>
            </a:pPr>
            <a:r>
              <a:rPr lang="ru-RU" sz="1200" dirty="0"/>
              <a:t>В строке</a:t>
            </a:r>
            <a:r>
              <a:rPr lang="en-US" sz="1200" dirty="0"/>
              <a:t> &lt;div class="sidebar__title"&gt;Боковое меню&lt;/div&gt; </a:t>
            </a:r>
            <a:r>
              <a:rPr lang="en-US" sz="1200" dirty="0">
                <a:solidFill>
                  <a:schemeClr val="bg1">
                    <a:lumMod val="50000"/>
                  </a:schemeClr>
                </a:solidFill>
              </a:rPr>
              <a:t># </a:t>
            </a:r>
            <a:r>
              <a:rPr lang="ru-RU" sz="1200" dirty="0">
                <a:solidFill>
                  <a:schemeClr val="bg1">
                    <a:lumMod val="50000"/>
                  </a:schemeClr>
                </a:solidFill>
              </a:rPr>
              <a:t>заменим заголовок </a:t>
            </a:r>
            <a:r>
              <a:rPr lang="en-US" sz="1200" dirty="0">
                <a:solidFill>
                  <a:schemeClr val="bg1">
                    <a:lumMod val="50000"/>
                  </a:schemeClr>
                </a:solidFill>
              </a:rPr>
              <a:t>"</a:t>
            </a:r>
            <a:r>
              <a:rPr lang="ru-RU" sz="1200" dirty="0">
                <a:solidFill>
                  <a:schemeClr val="bg1">
                    <a:lumMod val="50000"/>
                  </a:schemeClr>
                </a:solidFill>
              </a:rPr>
              <a:t>Боковое мен</a:t>
            </a:r>
            <a:r>
              <a:rPr lang="ru-RU" sz="1200" b="1" dirty="0">
                <a:solidFill>
                  <a:schemeClr val="bg1">
                    <a:lumMod val="50000"/>
                  </a:schemeClr>
                </a:solidFill>
              </a:rPr>
              <a:t>ю</a:t>
            </a:r>
            <a:r>
              <a:rPr lang="en-US" sz="1200" dirty="0">
                <a:solidFill>
                  <a:schemeClr val="bg1">
                    <a:lumMod val="50000"/>
                  </a:schemeClr>
                </a:solidFill>
              </a:rPr>
              <a:t>"</a:t>
            </a:r>
            <a:r>
              <a:rPr lang="ru-RU" sz="1200" dirty="0">
                <a:solidFill>
                  <a:schemeClr val="bg1">
                    <a:lumMod val="50000"/>
                  </a:schemeClr>
                </a:solidFill>
              </a:rPr>
              <a:t> на </a:t>
            </a:r>
            <a:r>
              <a:rPr lang="en-US" sz="1200" dirty="0">
                <a:solidFill>
                  <a:schemeClr val="bg1">
                    <a:lumMod val="50000"/>
                  </a:schemeClr>
                </a:solidFill>
              </a:rPr>
              <a:t> "</a:t>
            </a:r>
            <a:r>
              <a:rPr lang="ru-RU" sz="1200" b="1" dirty="0">
                <a:solidFill>
                  <a:schemeClr val="bg1">
                    <a:lumMod val="50000"/>
                  </a:schemeClr>
                </a:solidFill>
              </a:rPr>
              <a:t>Изменения в новой ветке</a:t>
            </a:r>
            <a:r>
              <a:rPr lang="en-US" sz="1200" dirty="0">
                <a:solidFill>
                  <a:schemeClr val="bg1">
                    <a:lumMod val="50000"/>
                  </a:schemeClr>
                </a:solidFill>
              </a:rPr>
              <a:t>"</a:t>
            </a:r>
            <a:endParaRPr lang="ru-RU" sz="1200" dirty="0">
              <a:solidFill>
                <a:schemeClr val="bg1">
                  <a:lumMod val="50000"/>
                </a:schemeClr>
              </a:solidFill>
            </a:endParaRPr>
          </a:p>
          <a:p>
            <a:pPr marL="0" indent="0">
              <a:buNone/>
            </a:pPr>
            <a:endParaRPr lang="en-US" sz="1200" b="1" dirty="0"/>
          </a:p>
          <a:p>
            <a:pPr marL="0" indent="0">
              <a:buNone/>
            </a:pPr>
            <a:r>
              <a:rPr lang="ru-RU" sz="1200" u="sng" dirty="0"/>
              <a:t>Проверим статус файлов, добавим все изменённые файлы в индекс и выполним коммит:</a:t>
            </a:r>
          </a:p>
          <a:p>
            <a:pPr marL="228600" indent="-228600">
              <a:spcBef>
                <a:spcPts val="0"/>
              </a:spcBef>
              <a:buFont typeface="+mj-lt"/>
              <a:buAutoNum type="arabicPeriod" startAt="2"/>
            </a:pPr>
            <a:r>
              <a:rPr lang="en-US" sz="1200" b="1" dirty="0"/>
              <a:t>git status</a:t>
            </a:r>
          </a:p>
          <a:p>
            <a:pPr marL="228600" indent="-228600">
              <a:spcBef>
                <a:spcPts val="0"/>
              </a:spcBef>
              <a:buFont typeface="+mj-lt"/>
              <a:buAutoNum type="arabicPeriod" startAt="2"/>
            </a:pPr>
            <a:endParaRPr lang="en-US" sz="1200" b="1" dirty="0"/>
          </a:p>
          <a:p>
            <a:pPr marL="228600" indent="-228600">
              <a:spcBef>
                <a:spcPts val="0"/>
              </a:spcBef>
              <a:buFont typeface="+mj-lt"/>
              <a:buAutoNum type="arabicPeriod" startAt="2"/>
            </a:pPr>
            <a:endParaRPr lang="en-US" sz="1200" b="1" dirty="0"/>
          </a:p>
          <a:p>
            <a:pPr marL="228600" indent="-228600">
              <a:spcBef>
                <a:spcPts val="0"/>
              </a:spcBef>
              <a:buFont typeface="+mj-lt"/>
              <a:buAutoNum type="arabicPeriod" startAt="2"/>
            </a:pPr>
            <a:endParaRPr lang="en-US" sz="1200" b="1" dirty="0"/>
          </a:p>
          <a:p>
            <a:pPr marL="228600" indent="-228600">
              <a:spcBef>
                <a:spcPts val="0"/>
              </a:spcBef>
              <a:buFont typeface="+mj-lt"/>
              <a:buAutoNum type="arabicPeriod" startAt="2"/>
            </a:pPr>
            <a:endParaRPr lang="en-US" sz="1200" b="1" dirty="0"/>
          </a:p>
          <a:p>
            <a:pPr marL="228600" indent="-228600">
              <a:spcBef>
                <a:spcPts val="0"/>
              </a:spcBef>
              <a:buFont typeface="+mj-lt"/>
              <a:buAutoNum type="arabicPeriod" startAt="2"/>
            </a:pPr>
            <a:r>
              <a:rPr lang="en-US" sz="1200" b="1" dirty="0"/>
              <a:t>git add .</a:t>
            </a:r>
            <a:endParaRPr lang="ru-RU" sz="1200" b="1" dirty="0"/>
          </a:p>
          <a:p>
            <a:pPr marL="228600" indent="-228600">
              <a:spcBef>
                <a:spcPts val="0"/>
              </a:spcBef>
              <a:buFont typeface="+mj-lt"/>
              <a:buAutoNum type="arabicPeriod" startAt="2"/>
            </a:pPr>
            <a:r>
              <a:rPr lang="ru-RU" sz="1200" b="1" dirty="0"/>
              <a:t>git commit -m 'изменения в index'</a:t>
            </a:r>
            <a:endParaRPr lang="en-US" sz="1200" b="1" dirty="0"/>
          </a:p>
        </p:txBody>
      </p:sp>
      <p:pic>
        <p:nvPicPr>
          <p:cNvPr id="6" name="Picture 5">
            <a:extLst>
              <a:ext uri="{FF2B5EF4-FFF2-40B4-BE49-F238E27FC236}">
                <a16:creationId xmlns:a16="http://schemas.microsoft.com/office/drawing/2014/main" id="{A2EE65FA-5F82-44FB-B7FC-D73746E921B6}"/>
              </a:ext>
            </a:extLst>
          </p:cNvPr>
          <p:cNvPicPr>
            <a:picLocks noChangeAspect="1"/>
          </p:cNvPicPr>
          <p:nvPr/>
        </p:nvPicPr>
        <p:blipFill>
          <a:blip r:embed="rId2"/>
          <a:stretch>
            <a:fillRect/>
          </a:stretch>
        </p:blipFill>
        <p:spPr>
          <a:xfrm>
            <a:off x="769396" y="4228192"/>
            <a:ext cx="3622092" cy="945732"/>
          </a:xfrm>
          <a:prstGeom prst="rect">
            <a:avLst/>
          </a:prstGeom>
        </p:spPr>
      </p:pic>
      <p:pic>
        <p:nvPicPr>
          <p:cNvPr id="7" name="Picture 6">
            <a:extLst>
              <a:ext uri="{FF2B5EF4-FFF2-40B4-BE49-F238E27FC236}">
                <a16:creationId xmlns:a16="http://schemas.microsoft.com/office/drawing/2014/main" id="{FFFDFA96-9E0F-418F-A28D-9EB16EA9D8B1}"/>
              </a:ext>
            </a:extLst>
          </p:cNvPr>
          <p:cNvPicPr>
            <a:picLocks noChangeAspect="1"/>
          </p:cNvPicPr>
          <p:nvPr/>
        </p:nvPicPr>
        <p:blipFill>
          <a:blip r:embed="rId3"/>
          <a:stretch>
            <a:fillRect/>
          </a:stretch>
        </p:blipFill>
        <p:spPr>
          <a:xfrm>
            <a:off x="727968" y="5842803"/>
            <a:ext cx="3663520" cy="509910"/>
          </a:xfrm>
          <a:prstGeom prst="rect">
            <a:avLst/>
          </a:prstGeom>
        </p:spPr>
      </p:pic>
    </p:spTree>
    <p:extLst>
      <p:ext uri="{BB962C8B-B14F-4D97-AF65-F5344CB8AC3E}">
        <p14:creationId xmlns:p14="http://schemas.microsoft.com/office/powerpoint/2010/main" val="5535123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Конфликты при слиянии веток</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96474"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spcBef>
                <a:spcPts val="0"/>
              </a:spcBef>
              <a:buNone/>
            </a:pPr>
            <a:r>
              <a:rPr lang="ru-RU" sz="1200" u="sng" dirty="0"/>
              <a:t>Вернёмся теперь в ветку master:</a:t>
            </a:r>
            <a:r>
              <a:rPr lang="en-US" sz="1200" dirty="0"/>
              <a:t> </a:t>
            </a:r>
            <a:endParaRPr lang="ru-RU" sz="1200" dirty="0"/>
          </a:p>
          <a:p>
            <a:pPr marL="0" indent="0">
              <a:spcBef>
                <a:spcPts val="0"/>
              </a:spcBef>
              <a:buNone/>
            </a:pPr>
            <a:r>
              <a:rPr lang="ru-RU" sz="1200" b="1" dirty="0"/>
              <a:t>git checkout master</a:t>
            </a:r>
            <a:endParaRPr lang="ru-RU" sz="1200" u="sng" dirty="0"/>
          </a:p>
          <a:p>
            <a:pPr marL="0" indent="0">
              <a:spcBef>
                <a:spcPts val="0"/>
              </a:spcBef>
              <a:buNone/>
            </a:pPr>
            <a:r>
              <a:rPr lang="ru-RU" sz="1200" u="sng" dirty="0"/>
              <a:t>И изменим тот же самый файл index.html:</a:t>
            </a:r>
            <a:r>
              <a:rPr lang="ru-RU" sz="1200" dirty="0"/>
              <a:t> </a:t>
            </a:r>
            <a:r>
              <a:rPr lang="en-US" sz="1200" b="1" dirty="0"/>
              <a:t>notepad index.html</a:t>
            </a:r>
            <a:endParaRPr lang="ru-RU" sz="1200" b="1" dirty="0"/>
          </a:p>
          <a:p>
            <a:pPr marL="0" indent="0">
              <a:spcBef>
                <a:spcPts val="0"/>
              </a:spcBef>
              <a:buNone/>
            </a:pPr>
            <a:r>
              <a:rPr lang="ru-RU" sz="1200" dirty="0"/>
              <a:t>В строке</a:t>
            </a:r>
            <a:r>
              <a:rPr lang="en-US" sz="1200" dirty="0"/>
              <a:t> &lt;div class="sidebar__title"&gt;Боковое меню&lt;/div&gt; </a:t>
            </a:r>
            <a:r>
              <a:rPr lang="en-US" sz="1200" dirty="0">
                <a:solidFill>
                  <a:schemeClr val="bg1">
                    <a:lumMod val="50000"/>
                  </a:schemeClr>
                </a:solidFill>
              </a:rPr>
              <a:t># </a:t>
            </a:r>
            <a:r>
              <a:rPr lang="ru-RU" sz="1200" dirty="0">
                <a:solidFill>
                  <a:schemeClr val="bg1">
                    <a:lumMod val="50000"/>
                  </a:schemeClr>
                </a:solidFill>
              </a:rPr>
              <a:t>заменим заголовок </a:t>
            </a:r>
            <a:r>
              <a:rPr lang="en-US" sz="1200" dirty="0">
                <a:solidFill>
                  <a:schemeClr val="bg1">
                    <a:lumMod val="50000"/>
                  </a:schemeClr>
                </a:solidFill>
              </a:rPr>
              <a:t>"</a:t>
            </a:r>
            <a:r>
              <a:rPr lang="ru-RU" sz="1200" dirty="0">
                <a:solidFill>
                  <a:schemeClr val="bg1">
                    <a:lumMod val="50000"/>
                  </a:schemeClr>
                </a:solidFill>
              </a:rPr>
              <a:t>Боковое мен</a:t>
            </a:r>
            <a:r>
              <a:rPr lang="ru-RU" sz="1200" b="1" dirty="0">
                <a:solidFill>
                  <a:schemeClr val="bg1">
                    <a:lumMod val="50000"/>
                  </a:schemeClr>
                </a:solidFill>
              </a:rPr>
              <a:t>ю</a:t>
            </a:r>
            <a:r>
              <a:rPr lang="en-US" sz="1200" dirty="0">
                <a:solidFill>
                  <a:schemeClr val="bg1">
                    <a:lumMod val="50000"/>
                  </a:schemeClr>
                </a:solidFill>
              </a:rPr>
              <a:t>"</a:t>
            </a:r>
            <a:r>
              <a:rPr lang="ru-RU" sz="1200" dirty="0">
                <a:solidFill>
                  <a:schemeClr val="bg1">
                    <a:lumMod val="50000"/>
                  </a:schemeClr>
                </a:solidFill>
              </a:rPr>
              <a:t> на </a:t>
            </a:r>
            <a:r>
              <a:rPr lang="en-US" sz="1200" dirty="0">
                <a:solidFill>
                  <a:schemeClr val="bg1">
                    <a:lumMod val="50000"/>
                  </a:schemeClr>
                </a:solidFill>
              </a:rPr>
              <a:t> "</a:t>
            </a:r>
            <a:r>
              <a:rPr lang="ru-RU" sz="1200" b="1" dirty="0">
                <a:solidFill>
                  <a:schemeClr val="bg1">
                    <a:lumMod val="50000"/>
                  </a:schemeClr>
                </a:solidFill>
              </a:rPr>
              <a:t>Текст который был добавлен в мастере</a:t>
            </a:r>
            <a:r>
              <a:rPr lang="en-US" sz="1200" dirty="0">
                <a:solidFill>
                  <a:schemeClr val="bg1">
                    <a:lumMod val="50000"/>
                  </a:schemeClr>
                </a:solidFill>
              </a:rPr>
              <a:t>"</a:t>
            </a:r>
            <a:endParaRPr lang="ru-RU" sz="1200" dirty="0">
              <a:solidFill>
                <a:schemeClr val="bg1">
                  <a:lumMod val="50000"/>
                </a:schemeClr>
              </a:solidFill>
            </a:endParaRPr>
          </a:p>
          <a:p>
            <a:pPr marL="0" indent="0">
              <a:spcBef>
                <a:spcPts val="0"/>
              </a:spcBef>
              <a:buNone/>
            </a:pPr>
            <a:r>
              <a:rPr lang="ru-RU" sz="1200" u="sng" dirty="0"/>
              <a:t>Зафиксируем это изменение</a:t>
            </a:r>
            <a:r>
              <a:rPr lang="en-US" sz="1200" dirty="0"/>
              <a:t>:</a:t>
            </a:r>
            <a:r>
              <a:rPr lang="ru-RU" sz="1200" dirty="0"/>
              <a:t> </a:t>
            </a:r>
            <a:endParaRPr lang="en-US" sz="1200" dirty="0"/>
          </a:p>
          <a:p>
            <a:pPr marL="0" indent="0">
              <a:buNone/>
            </a:pPr>
            <a:r>
              <a:rPr lang="en-US" sz="1200" b="1" dirty="0"/>
              <a:t>git add .</a:t>
            </a:r>
          </a:p>
          <a:p>
            <a:pPr marL="0" indent="0">
              <a:buNone/>
            </a:pPr>
            <a:r>
              <a:rPr lang="en-US" sz="1200" b="1" dirty="0"/>
              <a:t>git commit -m '</a:t>
            </a:r>
            <a:r>
              <a:rPr lang="ru-RU" sz="1200" b="1" dirty="0"/>
              <a:t>изменения в файле </a:t>
            </a:r>
            <a:r>
              <a:rPr lang="en-US" sz="1200" b="1" dirty="0"/>
              <a:t>index’</a:t>
            </a:r>
            <a:endParaRPr lang="ru-RU" sz="1200" b="1" dirty="0"/>
          </a:p>
          <a:p>
            <a:pPr marL="0" indent="0">
              <a:buNone/>
            </a:pPr>
            <a:r>
              <a:rPr lang="ru-RU" sz="1200" u="sng" dirty="0"/>
              <a:t>Последние выполненные коммиты для разных веток можно посмотреть с помощью команды:</a:t>
            </a:r>
            <a:r>
              <a:rPr lang="ru-RU" sz="1200" dirty="0"/>
              <a:t>  </a:t>
            </a:r>
            <a:r>
              <a:rPr lang="en-US" sz="1200" b="1" dirty="0"/>
              <a:t>git branch -v </a:t>
            </a:r>
            <a:endParaRPr lang="ru-RU" sz="1200" b="1" u="sng" dirty="0"/>
          </a:p>
          <a:p>
            <a:pPr marL="0" indent="0">
              <a:buNone/>
            </a:pPr>
            <a:endParaRPr lang="en-US" sz="1200" b="1" u="sng" dirty="0"/>
          </a:p>
          <a:p>
            <a:pPr marL="0" indent="0">
              <a:buNone/>
            </a:pPr>
            <a:endParaRPr lang="en-US" sz="1200" b="1" u="sng" dirty="0"/>
          </a:p>
          <a:p>
            <a:pPr marL="0" indent="0">
              <a:buNone/>
            </a:pPr>
            <a:endParaRPr lang="ru-RU" sz="1200" u="sng" dirty="0"/>
          </a:p>
          <a:p>
            <a:pPr marL="0" indent="0">
              <a:buNone/>
            </a:pPr>
            <a:r>
              <a:rPr lang="ru-RU" sz="1200" u="sng" dirty="0"/>
              <a:t>Попробуем слить две наши ветки:</a:t>
            </a:r>
            <a:r>
              <a:rPr lang="ru-RU" sz="1200" dirty="0"/>
              <a:t> </a:t>
            </a:r>
            <a:r>
              <a:rPr lang="en-US" sz="1200" dirty="0"/>
              <a:t> </a:t>
            </a:r>
            <a:r>
              <a:rPr lang="en-US" sz="1200" b="1" dirty="0"/>
              <a:t>git merge bug-cart</a:t>
            </a:r>
          </a:p>
          <a:p>
            <a:pPr marL="0" indent="0">
              <a:buNone/>
            </a:pPr>
            <a:endParaRPr lang="en-US" sz="1200" dirty="0"/>
          </a:p>
          <a:p>
            <a:pPr marL="0" indent="0">
              <a:buNone/>
            </a:pPr>
            <a:endParaRPr lang="en-US" sz="1200" dirty="0"/>
          </a:p>
          <a:p>
            <a:pPr marL="0" indent="0">
              <a:buNone/>
            </a:pPr>
            <a:endParaRPr lang="ru-RU" sz="1200" dirty="0"/>
          </a:p>
          <a:p>
            <a:pPr marL="0" indent="0">
              <a:buNone/>
            </a:pPr>
            <a:endParaRPr lang="ru-RU" sz="1200" dirty="0"/>
          </a:p>
          <a:p>
            <a:pPr marL="0" indent="0">
              <a:buNone/>
            </a:pPr>
            <a:r>
              <a:rPr lang="ru-RU" sz="1200" b="1" dirty="0"/>
              <a:t>Слияние веток не прошло из-за конфликта в файле index.html. Если конфликт произошёл в нескольких файлах, то увидеть их можно с помощью git status</a:t>
            </a:r>
            <a:endParaRPr lang="en-US" sz="1200" b="1" dirty="0"/>
          </a:p>
        </p:txBody>
      </p:sp>
      <p:pic>
        <p:nvPicPr>
          <p:cNvPr id="9" name="Picture 8">
            <a:extLst>
              <a:ext uri="{FF2B5EF4-FFF2-40B4-BE49-F238E27FC236}">
                <a16:creationId xmlns:a16="http://schemas.microsoft.com/office/drawing/2014/main" id="{DA3A6C1C-8D88-4CCF-9DF2-287E163DF854}"/>
              </a:ext>
            </a:extLst>
          </p:cNvPr>
          <p:cNvPicPr>
            <a:picLocks noChangeAspect="1"/>
          </p:cNvPicPr>
          <p:nvPr/>
        </p:nvPicPr>
        <p:blipFill>
          <a:blip r:embed="rId2"/>
          <a:stretch>
            <a:fillRect/>
          </a:stretch>
        </p:blipFill>
        <p:spPr>
          <a:xfrm>
            <a:off x="759042" y="3326909"/>
            <a:ext cx="4769682" cy="676920"/>
          </a:xfrm>
          <a:prstGeom prst="rect">
            <a:avLst/>
          </a:prstGeom>
        </p:spPr>
      </p:pic>
      <p:pic>
        <p:nvPicPr>
          <p:cNvPr id="10" name="Picture 9">
            <a:extLst>
              <a:ext uri="{FF2B5EF4-FFF2-40B4-BE49-F238E27FC236}">
                <a16:creationId xmlns:a16="http://schemas.microsoft.com/office/drawing/2014/main" id="{A75D9A24-7129-4549-AB82-F13FDED5B4D5}"/>
              </a:ext>
            </a:extLst>
          </p:cNvPr>
          <p:cNvPicPr>
            <a:picLocks noChangeAspect="1"/>
          </p:cNvPicPr>
          <p:nvPr/>
        </p:nvPicPr>
        <p:blipFill>
          <a:blip r:embed="rId3"/>
          <a:stretch>
            <a:fillRect/>
          </a:stretch>
        </p:blipFill>
        <p:spPr>
          <a:xfrm>
            <a:off x="759042" y="4628733"/>
            <a:ext cx="5029200" cy="797082"/>
          </a:xfrm>
          <a:prstGeom prst="rect">
            <a:avLst/>
          </a:prstGeom>
        </p:spPr>
      </p:pic>
      <p:sp>
        <p:nvSpPr>
          <p:cNvPr id="12" name="TextBox 11">
            <a:extLst>
              <a:ext uri="{FF2B5EF4-FFF2-40B4-BE49-F238E27FC236}">
                <a16:creationId xmlns:a16="http://schemas.microsoft.com/office/drawing/2014/main" id="{E70EC7AF-D48C-4DD0-879A-DD3106A4454B}"/>
              </a:ext>
            </a:extLst>
          </p:cNvPr>
          <p:cNvSpPr txBox="1"/>
          <p:nvPr/>
        </p:nvSpPr>
        <p:spPr>
          <a:xfrm>
            <a:off x="6050132" y="4628733"/>
            <a:ext cx="4838330" cy="707886"/>
          </a:xfrm>
          <a:prstGeom prst="rect">
            <a:avLst/>
          </a:prstGeom>
          <a:noFill/>
        </p:spPr>
        <p:txBody>
          <a:bodyPr wrap="square" rtlCol="0">
            <a:spAutoFit/>
          </a:bodyPr>
          <a:lstStyle/>
          <a:p>
            <a:r>
              <a:rPr lang="ru-RU" sz="1000" dirty="0">
                <a:solidFill>
                  <a:schemeClr val="bg1">
                    <a:lumMod val="50000"/>
                  </a:schemeClr>
                </a:solidFill>
              </a:rPr>
              <a:t>Автослияние </a:t>
            </a:r>
            <a:r>
              <a:rPr lang="en-US" sz="1000" dirty="0">
                <a:solidFill>
                  <a:schemeClr val="bg1">
                    <a:lumMod val="50000"/>
                  </a:schemeClr>
                </a:solidFill>
              </a:rPr>
              <a:t>index.html </a:t>
            </a:r>
          </a:p>
          <a:p>
            <a:r>
              <a:rPr lang="ru-RU" sz="1000" dirty="0">
                <a:solidFill>
                  <a:schemeClr val="bg1">
                    <a:lumMod val="50000"/>
                  </a:schemeClr>
                </a:solidFill>
              </a:rPr>
              <a:t>КОНФЛИКТ (содержимое): Конфликт слияния в index.html </a:t>
            </a:r>
          </a:p>
          <a:p>
            <a:r>
              <a:rPr lang="ru-RU" sz="1000" dirty="0">
                <a:solidFill>
                  <a:schemeClr val="bg1">
                    <a:lumMod val="50000"/>
                  </a:schemeClr>
                </a:solidFill>
              </a:rPr>
              <a:t>Не удалось провести автоматическое слияние; исправьте конфликты и сделайте коммит результата. </a:t>
            </a:r>
          </a:p>
        </p:txBody>
      </p:sp>
    </p:spTree>
    <p:extLst>
      <p:ext uri="{BB962C8B-B14F-4D97-AF65-F5344CB8AC3E}">
        <p14:creationId xmlns:p14="http://schemas.microsoft.com/office/powerpoint/2010/main" val="25836889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Конфликты при слиянии веток</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96474"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spcBef>
                <a:spcPts val="0"/>
              </a:spcBef>
              <a:buNone/>
            </a:pPr>
            <a:r>
              <a:rPr lang="ru-RU" sz="1200" dirty="0"/>
              <a:t>Команда </a:t>
            </a:r>
            <a:r>
              <a:rPr lang="ru-RU" sz="1200" b="1" dirty="0"/>
              <a:t>git diff </a:t>
            </a:r>
            <a:r>
              <a:rPr lang="ru-RU" sz="1200" dirty="0"/>
              <a:t>позволяет более подробно увидеть, какая именно часть файла вызывает конфликт</a:t>
            </a:r>
          </a:p>
          <a:p>
            <a:pPr marL="0" indent="0">
              <a:buNone/>
            </a:pPr>
            <a:r>
              <a:rPr lang="ru-RU" sz="1200" u="sng" dirty="0"/>
              <a:t>Открыв файл index.html в текстовом редакторе, мы увидим, что Git внес в него информацию о конфликте (HEAD ссылается на последний коммит в текущей ветке):</a:t>
            </a:r>
            <a:endParaRPr lang="en-US" sz="1200" u="sng" dirty="0"/>
          </a:p>
          <a:p>
            <a:pPr marL="0" indent="0">
              <a:buNone/>
            </a:pPr>
            <a:endParaRPr lang="en-US" sz="1200" u="sng" dirty="0"/>
          </a:p>
          <a:p>
            <a:pPr marL="0" indent="0">
              <a:buNone/>
            </a:pPr>
            <a:endParaRPr lang="en-US" sz="1200" u="sng" dirty="0"/>
          </a:p>
          <a:p>
            <a:pPr marL="0" indent="0">
              <a:buNone/>
            </a:pPr>
            <a:endParaRPr lang="en-US" sz="1200" u="sng" dirty="0"/>
          </a:p>
          <a:p>
            <a:pPr marL="0" indent="0">
              <a:buNone/>
            </a:pPr>
            <a:endParaRPr lang="en-US" sz="1200" u="sng" dirty="0"/>
          </a:p>
          <a:p>
            <a:pPr marL="0" indent="0">
              <a:buNone/>
            </a:pPr>
            <a:endParaRPr lang="en-US" sz="1200" u="sng" dirty="0"/>
          </a:p>
          <a:p>
            <a:pPr marL="0" indent="0">
              <a:buNone/>
            </a:pPr>
            <a:endParaRPr lang="en-US" sz="1200" u="sng" dirty="0"/>
          </a:p>
          <a:p>
            <a:pPr marL="0" indent="0">
              <a:buNone/>
            </a:pPr>
            <a:endParaRPr lang="en-US" sz="1200" u="sng" dirty="0"/>
          </a:p>
          <a:p>
            <a:pPr marL="0" indent="0">
              <a:buNone/>
            </a:pPr>
            <a:endParaRPr lang="en-US" sz="1200" u="sng" dirty="0"/>
          </a:p>
          <a:p>
            <a:pPr marL="0" indent="0">
              <a:buNone/>
            </a:pPr>
            <a:endParaRPr lang="en-US" sz="1200" u="sng" dirty="0"/>
          </a:p>
          <a:p>
            <a:pPr marL="0" indent="0">
              <a:buNone/>
            </a:pPr>
            <a:r>
              <a:rPr lang="ru-RU" sz="1200" dirty="0"/>
              <a:t>Мы должны самостоятельно разрешить конфликт слияния, то есть определить, какие изменения должны остаться в итоговой версии файла index.html. </a:t>
            </a:r>
          </a:p>
          <a:p>
            <a:pPr marL="0" indent="0">
              <a:buNone/>
            </a:pPr>
            <a:r>
              <a:rPr lang="ru-RU" sz="1200" u="sng" dirty="0"/>
              <a:t>Оставим в этом файле код из новой ветки (</a:t>
            </a:r>
            <a:r>
              <a:rPr lang="en-US" sz="1200" u="sng" dirty="0"/>
              <a:t>bug-cart</a:t>
            </a:r>
            <a:r>
              <a:rPr lang="ru-RU" sz="1200" u="sng" dirty="0"/>
              <a:t>) и сохраним файл. Для этого, удалим изменения (</a:t>
            </a:r>
            <a:r>
              <a:rPr lang="ru-RU" sz="1200" i="1" u="sng" dirty="0"/>
              <a:t>включая пустые строчки после удаления</a:t>
            </a:r>
            <a:r>
              <a:rPr lang="ru-RU" sz="1200" u="sng" dirty="0"/>
              <a:t>)</a:t>
            </a:r>
            <a:r>
              <a:rPr lang="en-US" sz="1200" u="sng" dirty="0"/>
              <a:t>:</a:t>
            </a:r>
            <a:endParaRPr lang="ru-RU" sz="1200" u="sng" dirty="0"/>
          </a:p>
          <a:p>
            <a:pPr marL="0" indent="0">
              <a:buNone/>
            </a:pPr>
            <a:r>
              <a:rPr lang="ru-RU" sz="1200" dirty="0"/>
              <a:t>&lt;&lt;&lt;&lt;&lt;&lt;&lt; HEAD  </a:t>
            </a:r>
            <a:r>
              <a:rPr lang="en-US" sz="1200" dirty="0">
                <a:solidFill>
                  <a:schemeClr val="bg1">
                    <a:lumMod val="50000"/>
                  </a:schemeClr>
                </a:solidFill>
              </a:rPr>
              <a:t>#</a:t>
            </a:r>
            <a:r>
              <a:rPr lang="ru-RU" sz="1200" dirty="0">
                <a:solidFill>
                  <a:schemeClr val="bg1">
                    <a:lumMod val="50000"/>
                  </a:schemeClr>
                </a:solidFill>
              </a:rPr>
              <a:t> до знаков равно </a:t>
            </a:r>
            <a:r>
              <a:rPr lang="en-US" sz="1200" dirty="0">
                <a:solidFill>
                  <a:schemeClr val="bg1">
                    <a:lumMod val="50000"/>
                  </a:schemeClr>
                </a:solidFill>
              </a:rPr>
              <a:t>Git</a:t>
            </a:r>
            <a:r>
              <a:rPr lang="ru-RU" sz="1200" dirty="0">
                <a:solidFill>
                  <a:schemeClr val="bg1">
                    <a:lumMod val="50000"/>
                  </a:schemeClr>
                </a:solidFill>
              </a:rPr>
              <a:t> отобразил нам как эта строчка выглядит в </a:t>
            </a:r>
            <a:r>
              <a:rPr lang="en-US" sz="1200" dirty="0">
                <a:solidFill>
                  <a:schemeClr val="bg1">
                    <a:lumMod val="50000"/>
                  </a:schemeClr>
                </a:solidFill>
              </a:rPr>
              <a:t>master</a:t>
            </a:r>
            <a:endParaRPr lang="ru-RU" sz="1200" dirty="0">
              <a:solidFill>
                <a:schemeClr val="bg1">
                  <a:lumMod val="50000"/>
                </a:schemeClr>
              </a:solidFill>
            </a:endParaRPr>
          </a:p>
          <a:p>
            <a:pPr marL="0" indent="0">
              <a:buNone/>
            </a:pPr>
            <a:r>
              <a:rPr lang="ru-RU" sz="1200" dirty="0"/>
              <a:t>    &lt;div class="sidebar__title"&gt;Текст который был добавлен в мастере&lt;/div&gt;</a:t>
            </a:r>
          </a:p>
          <a:p>
            <a:pPr marL="0" indent="0">
              <a:buNone/>
            </a:pPr>
            <a:r>
              <a:rPr lang="ru-RU" sz="1200" dirty="0"/>
              <a:t>=======</a:t>
            </a:r>
            <a:endParaRPr lang="en-US" sz="1200" dirty="0"/>
          </a:p>
          <a:p>
            <a:pPr marL="0" indent="0">
              <a:buNone/>
            </a:pPr>
            <a:r>
              <a:rPr lang="en-US" sz="1200" dirty="0"/>
              <a:t>&gt;&gt;&gt;&gt;&gt;&gt;&gt; bug-cart</a:t>
            </a:r>
          </a:p>
          <a:p>
            <a:pPr marL="0" indent="0">
              <a:buNone/>
            </a:pPr>
            <a:endParaRPr lang="ru-RU" sz="1200" dirty="0"/>
          </a:p>
          <a:p>
            <a:pPr marL="0" indent="0">
              <a:buNone/>
            </a:pPr>
            <a:endParaRPr lang="ru-RU" sz="1200" dirty="0"/>
          </a:p>
        </p:txBody>
      </p:sp>
      <p:pic>
        <p:nvPicPr>
          <p:cNvPr id="5" name="Picture 4">
            <a:extLst>
              <a:ext uri="{FF2B5EF4-FFF2-40B4-BE49-F238E27FC236}">
                <a16:creationId xmlns:a16="http://schemas.microsoft.com/office/drawing/2014/main" id="{803DBD93-6E56-498D-81D4-B082C119542E}"/>
              </a:ext>
            </a:extLst>
          </p:cNvPr>
          <p:cNvPicPr>
            <a:picLocks noChangeAspect="1"/>
          </p:cNvPicPr>
          <p:nvPr/>
        </p:nvPicPr>
        <p:blipFill>
          <a:blip r:embed="rId2"/>
          <a:stretch>
            <a:fillRect/>
          </a:stretch>
        </p:blipFill>
        <p:spPr>
          <a:xfrm>
            <a:off x="772826" y="1728265"/>
            <a:ext cx="3473792" cy="2595160"/>
          </a:xfrm>
          <a:prstGeom prst="rect">
            <a:avLst/>
          </a:prstGeom>
        </p:spPr>
      </p:pic>
    </p:spTree>
    <p:extLst>
      <p:ext uri="{BB962C8B-B14F-4D97-AF65-F5344CB8AC3E}">
        <p14:creationId xmlns:p14="http://schemas.microsoft.com/office/powerpoint/2010/main" val="10269546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Конфликты при слиянии веток</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96474"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spcBef>
                <a:spcPts val="0"/>
              </a:spcBef>
              <a:buNone/>
            </a:pPr>
            <a:r>
              <a:rPr lang="ru-RU" sz="1200" u="sng" dirty="0"/>
              <a:t>Добавим измененные файлы в индекс и выполним коммит:</a:t>
            </a:r>
            <a:endParaRPr lang="en-US" sz="1200" u="sng" dirty="0"/>
          </a:p>
          <a:p>
            <a:pPr marL="0" indent="0">
              <a:buNone/>
            </a:pPr>
            <a:r>
              <a:rPr lang="en-US" sz="1200" b="1" dirty="0"/>
              <a:t>git add . </a:t>
            </a:r>
          </a:p>
          <a:p>
            <a:pPr marL="0" indent="0">
              <a:buNone/>
            </a:pPr>
            <a:r>
              <a:rPr lang="ru-RU" sz="1200" b="1" dirty="0"/>
              <a:t>git commit -m 'устранили конфликт и поправили баги' </a:t>
            </a:r>
            <a:endParaRPr lang="en-US" sz="1200" b="1" dirty="0"/>
          </a:p>
          <a:p>
            <a:pPr marL="0" indent="0">
              <a:buNone/>
            </a:pPr>
            <a:endParaRPr lang="en-US" sz="1200" u="sng" dirty="0"/>
          </a:p>
          <a:p>
            <a:pPr marL="0" indent="0">
              <a:buNone/>
            </a:pPr>
            <a:r>
              <a:rPr lang="ru-RU" sz="1200" dirty="0"/>
              <a:t>Если бы в коммитах из разных веток кроме файлов, вызывающих конфликт, были и другие файлы, то они сразу бы слились с веткой master. Проблемные же файлы с конфликтами пришлось бы изменять вручную, а потом отдельно добавлять их в индекс и коммитить.</a:t>
            </a:r>
          </a:p>
          <a:p>
            <a:pPr marL="0" indent="0">
              <a:buNone/>
            </a:pPr>
            <a:r>
              <a:rPr lang="ru-RU" sz="1200" u="sng" dirty="0"/>
              <a:t>Убедимся, что слияние веток попало в историю коммитов:</a:t>
            </a:r>
            <a:r>
              <a:rPr lang="en-US" sz="1200" dirty="0"/>
              <a:t> </a:t>
            </a:r>
            <a:r>
              <a:rPr lang="en-US" sz="1200" b="1" dirty="0"/>
              <a:t>git log --oneline</a:t>
            </a:r>
          </a:p>
          <a:p>
            <a:pPr marL="0" indent="0">
              <a:buNone/>
            </a:pPr>
            <a:endParaRPr lang="en-US" sz="1200" u="sng" dirty="0"/>
          </a:p>
          <a:p>
            <a:pPr marL="0" indent="0">
              <a:buNone/>
            </a:pPr>
            <a:endParaRPr lang="en-US" sz="1200" u="sng" dirty="0"/>
          </a:p>
          <a:p>
            <a:pPr marL="0" indent="0">
              <a:buNone/>
            </a:pPr>
            <a:endParaRPr lang="en-US" sz="1200" u="sng" dirty="0"/>
          </a:p>
          <a:p>
            <a:pPr marL="0" indent="0">
              <a:buNone/>
            </a:pPr>
            <a:endParaRPr lang="en-US" sz="1200" dirty="0"/>
          </a:p>
          <a:p>
            <a:pPr marL="0" indent="0">
              <a:buNone/>
            </a:pPr>
            <a:r>
              <a:rPr lang="ru-RU" sz="1200" u="sng" dirty="0"/>
              <a:t>Файл index.html находится в том же состоянии, в котором мы сохранили его при разрешении конфликта слияния.</a:t>
            </a:r>
            <a:endParaRPr lang="en-US" sz="1200" u="sng" dirty="0"/>
          </a:p>
          <a:p>
            <a:pPr marL="0" indent="0">
              <a:buNone/>
            </a:pPr>
            <a:endParaRPr lang="en-US" sz="1200" u="sng" dirty="0"/>
          </a:p>
          <a:p>
            <a:pPr marL="0" indent="0">
              <a:buNone/>
            </a:pPr>
            <a:endParaRPr lang="en-US" sz="1200" u="sng" dirty="0"/>
          </a:p>
          <a:p>
            <a:pPr marL="0" indent="0">
              <a:buNone/>
            </a:pPr>
            <a:endParaRPr lang="en-US" sz="1200" u="sng" dirty="0"/>
          </a:p>
          <a:p>
            <a:pPr marL="0" indent="0">
              <a:buNone/>
            </a:pPr>
            <a:endParaRPr lang="ru-RU" sz="1200" u="sng" dirty="0"/>
          </a:p>
          <a:p>
            <a:pPr marL="0" indent="0">
              <a:buNone/>
            </a:pPr>
            <a:endParaRPr lang="en-US" sz="1200" dirty="0"/>
          </a:p>
          <a:p>
            <a:pPr marL="0" indent="0">
              <a:buNone/>
            </a:pPr>
            <a:endParaRPr lang="en-US" sz="1200" dirty="0"/>
          </a:p>
          <a:p>
            <a:pPr marL="0" indent="0">
              <a:buNone/>
            </a:pPr>
            <a:endParaRPr lang="ru-RU" sz="1200" dirty="0"/>
          </a:p>
          <a:p>
            <a:pPr marL="0" indent="0">
              <a:buNone/>
            </a:pPr>
            <a:endParaRPr lang="ru-RU" sz="1200" dirty="0"/>
          </a:p>
        </p:txBody>
      </p:sp>
      <p:pic>
        <p:nvPicPr>
          <p:cNvPr id="6" name="Picture 5">
            <a:extLst>
              <a:ext uri="{FF2B5EF4-FFF2-40B4-BE49-F238E27FC236}">
                <a16:creationId xmlns:a16="http://schemas.microsoft.com/office/drawing/2014/main" id="{1D11E46F-5DF0-45A9-8C54-664163F41E68}"/>
              </a:ext>
            </a:extLst>
          </p:cNvPr>
          <p:cNvPicPr>
            <a:picLocks noChangeAspect="1"/>
          </p:cNvPicPr>
          <p:nvPr/>
        </p:nvPicPr>
        <p:blipFill>
          <a:blip r:embed="rId2"/>
          <a:stretch>
            <a:fillRect/>
          </a:stretch>
        </p:blipFill>
        <p:spPr>
          <a:xfrm>
            <a:off x="771339" y="2001521"/>
            <a:ext cx="3871680" cy="368374"/>
          </a:xfrm>
          <a:prstGeom prst="rect">
            <a:avLst/>
          </a:prstGeom>
        </p:spPr>
      </p:pic>
      <p:pic>
        <p:nvPicPr>
          <p:cNvPr id="7" name="Picture 6">
            <a:extLst>
              <a:ext uri="{FF2B5EF4-FFF2-40B4-BE49-F238E27FC236}">
                <a16:creationId xmlns:a16="http://schemas.microsoft.com/office/drawing/2014/main" id="{E2418A92-D7F2-42A2-ACD9-92D54F19328E}"/>
              </a:ext>
            </a:extLst>
          </p:cNvPr>
          <p:cNvPicPr>
            <a:picLocks noChangeAspect="1"/>
          </p:cNvPicPr>
          <p:nvPr/>
        </p:nvPicPr>
        <p:blipFill>
          <a:blip r:embed="rId3"/>
          <a:stretch>
            <a:fillRect/>
          </a:stretch>
        </p:blipFill>
        <p:spPr>
          <a:xfrm>
            <a:off x="771339" y="3070722"/>
            <a:ext cx="3138812" cy="1146626"/>
          </a:xfrm>
          <a:prstGeom prst="rect">
            <a:avLst/>
          </a:prstGeom>
        </p:spPr>
      </p:pic>
      <p:pic>
        <p:nvPicPr>
          <p:cNvPr id="8" name="Picture 7">
            <a:extLst>
              <a:ext uri="{FF2B5EF4-FFF2-40B4-BE49-F238E27FC236}">
                <a16:creationId xmlns:a16="http://schemas.microsoft.com/office/drawing/2014/main" id="{40A7B085-AE7F-4432-853F-32B274BB0D73}"/>
              </a:ext>
            </a:extLst>
          </p:cNvPr>
          <p:cNvPicPr>
            <a:picLocks noChangeAspect="1"/>
          </p:cNvPicPr>
          <p:nvPr/>
        </p:nvPicPr>
        <p:blipFill>
          <a:blip r:embed="rId4"/>
          <a:stretch>
            <a:fillRect/>
          </a:stretch>
        </p:blipFill>
        <p:spPr>
          <a:xfrm>
            <a:off x="771339" y="4543182"/>
            <a:ext cx="3538660" cy="1819702"/>
          </a:xfrm>
          <a:prstGeom prst="rect">
            <a:avLst/>
          </a:prstGeom>
        </p:spPr>
      </p:pic>
    </p:spTree>
    <p:extLst>
      <p:ext uri="{BB962C8B-B14F-4D97-AF65-F5344CB8AC3E}">
        <p14:creationId xmlns:p14="http://schemas.microsoft.com/office/powerpoint/2010/main" val="16274671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Временное (без коммита) сохранение данных</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96474"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spcBef>
                <a:spcPts val="0"/>
              </a:spcBef>
              <a:buNone/>
            </a:pPr>
            <a:r>
              <a:rPr lang="ru-RU" sz="1200" dirty="0"/>
              <a:t>Иногда возникает необходимость оперативно переключиться в другую ветку и что-то там сделать (например, исправить выявленную критическую ошибку), но в текущей рабочей ветке файлы еще не готовы для коммита. В этом случае Git позволяет сохранить сделанные изменения, не создавая при этом коммит. Смоделируем такую ситуацию в нашем проекте. </a:t>
            </a:r>
          </a:p>
          <a:p>
            <a:pPr marL="0" indent="0">
              <a:spcBef>
                <a:spcPts val="0"/>
              </a:spcBef>
              <a:buNone/>
            </a:pPr>
            <a:r>
              <a:rPr lang="ru-RU" sz="1200" u="sng" dirty="0"/>
              <a:t>Сейчас у нас есть две ветки и мы находимся в ветке master: </a:t>
            </a:r>
            <a:r>
              <a:rPr lang="en-US" sz="1200" b="1" dirty="0"/>
              <a:t>git branch </a:t>
            </a:r>
            <a:endParaRPr lang="ru-RU" sz="1200" b="1" u="sng" dirty="0"/>
          </a:p>
          <a:p>
            <a:pPr marL="0" indent="0">
              <a:buNone/>
            </a:pPr>
            <a:endParaRPr lang="en-US" sz="1200" dirty="0"/>
          </a:p>
          <a:p>
            <a:pPr marL="0" indent="0">
              <a:buNone/>
            </a:pPr>
            <a:endParaRPr lang="ru-RU" sz="1200" dirty="0"/>
          </a:p>
          <a:p>
            <a:pPr marL="0" indent="0">
              <a:buNone/>
            </a:pPr>
            <a:r>
              <a:rPr lang="ru-RU" sz="1200" u="sng" dirty="0"/>
              <a:t>Переключимся на ветку </a:t>
            </a:r>
            <a:r>
              <a:rPr lang="en-US" sz="1200" u="sng" dirty="0"/>
              <a:t>bug-cart</a:t>
            </a:r>
            <a:r>
              <a:rPr lang="en-US" sz="1200" dirty="0"/>
              <a:t>: </a:t>
            </a:r>
            <a:r>
              <a:rPr lang="en-US" sz="1200" b="1" dirty="0"/>
              <a:t>git checkout bug-cart </a:t>
            </a:r>
            <a:endParaRPr lang="en-US" sz="1200" b="1" u="sng" dirty="0"/>
          </a:p>
          <a:p>
            <a:pPr marL="0" indent="0">
              <a:buNone/>
            </a:pPr>
            <a:r>
              <a:rPr lang="ru-RU" sz="1200" u="sng" dirty="0"/>
              <a:t>Добавим что-нибудь в файл </a:t>
            </a:r>
            <a:r>
              <a:rPr lang="en-US" sz="1200" u="sng" dirty="0"/>
              <a:t>index.html</a:t>
            </a:r>
            <a:r>
              <a:rPr lang="ru-RU" sz="1200" u="sng" dirty="0"/>
              <a:t>, например новый заголовок перед</a:t>
            </a:r>
            <a:r>
              <a:rPr lang="en-US" sz="1200" u="sng" dirty="0"/>
              <a:t> &lt;/body&gt;</a:t>
            </a:r>
            <a:r>
              <a:rPr lang="en-US" sz="1200" dirty="0"/>
              <a:t>:  </a:t>
            </a:r>
            <a:r>
              <a:rPr lang="en-US" sz="1200" b="1" dirty="0"/>
              <a:t>notepad index.html</a:t>
            </a:r>
            <a:endParaRPr lang="ru-RU" sz="1200" b="1" dirty="0"/>
          </a:p>
          <a:p>
            <a:pPr marL="0" indent="0">
              <a:buNone/>
            </a:pPr>
            <a:r>
              <a:rPr lang="ru-RU" sz="1200" dirty="0"/>
              <a:t>&lt;main class="maincontent"&gt; </a:t>
            </a:r>
          </a:p>
          <a:p>
            <a:pPr marL="0" indent="0">
              <a:buNone/>
            </a:pPr>
            <a:r>
              <a:rPr lang="ru-RU" sz="1200" dirty="0"/>
              <a:t>         &lt;h1&gt;Заголовок в контентной области&lt;/h1&gt; </a:t>
            </a:r>
          </a:p>
          <a:p>
            <a:pPr marL="0" indent="0">
              <a:buNone/>
            </a:pPr>
            <a:r>
              <a:rPr lang="ru-RU" sz="1200" dirty="0"/>
              <a:t>&lt;/main&gt;</a:t>
            </a:r>
            <a:endParaRPr lang="en-US" sz="1200" dirty="0"/>
          </a:p>
          <a:p>
            <a:pPr marL="0" indent="0">
              <a:buNone/>
            </a:pPr>
            <a:endParaRPr lang="ru-RU" sz="1200" dirty="0"/>
          </a:p>
          <a:p>
            <a:pPr marL="0" indent="0">
              <a:buNone/>
            </a:pPr>
            <a:endParaRPr lang="en-US" sz="1200" dirty="0"/>
          </a:p>
          <a:p>
            <a:pPr marL="0" indent="0">
              <a:buNone/>
            </a:pPr>
            <a:endParaRPr lang="en-US" sz="1200" dirty="0"/>
          </a:p>
          <a:p>
            <a:pPr marL="0" indent="0">
              <a:buNone/>
            </a:pPr>
            <a:r>
              <a:rPr lang="ru-RU" sz="1200" u="sng" dirty="0"/>
              <a:t>Проверим, что файл index.html находится в изменённом состоянии, в индекс мы его не добавляли:</a:t>
            </a:r>
            <a:r>
              <a:rPr lang="en-US" sz="1200" dirty="0"/>
              <a:t> </a:t>
            </a:r>
            <a:r>
              <a:rPr lang="en-US" sz="1200" b="1" dirty="0"/>
              <a:t>git status</a:t>
            </a:r>
            <a:endParaRPr lang="ru-RU" sz="1200" b="1" u="sng" dirty="0"/>
          </a:p>
        </p:txBody>
      </p:sp>
      <p:pic>
        <p:nvPicPr>
          <p:cNvPr id="6" name="Picture 5">
            <a:extLst>
              <a:ext uri="{FF2B5EF4-FFF2-40B4-BE49-F238E27FC236}">
                <a16:creationId xmlns:a16="http://schemas.microsoft.com/office/drawing/2014/main" id="{C6357031-D047-4E81-8048-7B82E9958CA0}"/>
              </a:ext>
            </a:extLst>
          </p:cNvPr>
          <p:cNvPicPr>
            <a:picLocks noChangeAspect="1"/>
          </p:cNvPicPr>
          <p:nvPr/>
        </p:nvPicPr>
        <p:blipFill>
          <a:blip r:embed="rId2"/>
          <a:stretch>
            <a:fillRect/>
          </a:stretch>
        </p:blipFill>
        <p:spPr>
          <a:xfrm>
            <a:off x="775315" y="2021844"/>
            <a:ext cx="3130860" cy="445308"/>
          </a:xfrm>
          <a:prstGeom prst="rect">
            <a:avLst/>
          </a:prstGeom>
        </p:spPr>
      </p:pic>
      <p:pic>
        <p:nvPicPr>
          <p:cNvPr id="7" name="Picture 6">
            <a:extLst>
              <a:ext uri="{FF2B5EF4-FFF2-40B4-BE49-F238E27FC236}">
                <a16:creationId xmlns:a16="http://schemas.microsoft.com/office/drawing/2014/main" id="{DCCECE4C-26AB-40FA-BB64-21AC660C6E49}"/>
              </a:ext>
            </a:extLst>
          </p:cNvPr>
          <p:cNvPicPr>
            <a:picLocks noChangeAspect="1"/>
          </p:cNvPicPr>
          <p:nvPr/>
        </p:nvPicPr>
        <p:blipFill>
          <a:blip r:embed="rId3"/>
          <a:stretch>
            <a:fillRect/>
          </a:stretch>
        </p:blipFill>
        <p:spPr>
          <a:xfrm>
            <a:off x="4090498" y="3258104"/>
            <a:ext cx="2967250" cy="1707511"/>
          </a:xfrm>
          <a:prstGeom prst="rect">
            <a:avLst/>
          </a:prstGeom>
        </p:spPr>
      </p:pic>
      <p:pic>
        <p:nvPicPr>
          <p:cNvPr id="9" name="Picture 8">
            <a:extLst>
              <a:ext uri="{FF2B5EF4-FFF2-40B4-BE49-F238E27FC236}">
                <a16:creationId xmlns:a16="http://schemas.microsoft.com/office/drawing/2014/main" id="{4F2BFA86-8D8A-43EF-9B0A-EAD20AC02706}"/>
              </a:ext>
            </a:extLst>
          </p:cNvPr>
          <p:cNvPicPr>
            <a:picLocks noChangeAspect="1"/>
          </p:cNvPicPr>
          <p:nvPr/>
        </p:nvPicPr>
        <p:blipFill>
          <a:blip r:embed="rId4"/>
          <a:stretch>
            <a:fillRect/>
          </a:stretch>
        </p:blipFill>
        <p:spPr>
          <a:xfrm>
            <a:off x="775315" y="5335977"/>
            <a:ext cx="4483594" cy="913902"/>
          </a:xfrm>
          <a:prstGeom prst="rect">
            <a:avLst/>
          </a:prstGeom>
        </p:spPr>
      </p:pic>
    </p:spTree>
    <p:extLst>
      <p:ext uri="{BB962C8B-B14F-4D97-AF65-F5344CB8AC3E}">
        <p14:creationId xmlns:p14="http://schemas.microsoft.com/office/powerpoint/2010/main" val="218280516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Временное (без коммита) сохранение данных</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96474"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dirty="0"/>
              <a:t>Теперь поступает задание - прервать работу в ветке bug-cart и вернуться на ветку master. Но сейчас мы ещё не готовы выполнить коммит, так как работа над задачей в bug-cart ещё не завершена. Конечно, технически коммит создать можно, но логически, он будет неполноценным</a:t>
            </a:r>
            <a:r>
              <a:rPr lang="en-US" sz="1200" dirty="0"/>
              <a:t>,</a:t>
            </a:r>
            <a:r>
              <a:rPr lang="ru-RU" sz="1200" dirty="0"/>
              <a:t> лишним в истории проекта (ведь коммит - это целостное осмысленное изменение проекта, он должен соответствовать какой-то полностью законченной задаче). Более того, если текущая ветка и ветка, в которую нам нужно перейти, не являются прямыми потомками друг друга,то при наличии незафиксированных изменений Git не позволит переключиться между ними, так как в этом случае незакоммиченные изменения в ветке пропадут.</a:t>
            </a:r>
          </a:p>
          <a:p>
            <a:pPr marL="0" indent="0">
              <a:buNone/>
            </a:pPr>
            <a:r>
              <a:rPr lang="ru-RU" sz="1200" dirty="0"/>
              <a:t>Если сделанные в текущей ветке изменения не нужны, то можно заставить Git переключиться на другую ветку с помощью ключа </a:t>
            </a:r>
            <a:r>
              <a:rPr lang="ru-RU" sz="1200" b="1" dirty="0"/>
              <a:t>--force </a:t>
            </a:r>
            <a:r>
              <a:rPr lang="ru-RU" sz="1200" dirty="0"/>
              <a:t>(или кратко </a:t>
            </a:r>
            <a:r>
              <a:rPr lang="ru-RU" sz="1200" b="1" dirty="0"/>
              <a:t>-f</a:t>
            </a:r>
            <a:r>
              <a:rPr lang="ru-RU" sz="1200" dirty="0"/>
              <a:t>) команды </a:t>
            </a:r>
            <a:r>
              <a:rPr lang="ru-RU" sz="1200" b="1" dirty="0"/>
              <a:t>git checkout</a:t>
            </a:r>
            <a:r>
              <a:rPr lang="ru-RU" sz="1200" dirty="0"/>
              <a:t>. Но чаще бывает нужно сохранить уже сделанные изменения, не выполняя коммита, и потом вернуться к ним. В этом нам поможет команда </a:t>
            </a:r>
            <a:r>
              <a:rPr lang="ru-RU" sz="1200" b="1" dirty="0"/>
              <a:t>git stash</a:t>
            </a:r>
            <a:r>
              <a:rPr lang="ru-RU" sz="1200" dirty="0"/>
              <a:t>, которая собирает незакоммиченные изменения, удаляет их из файлов и в специальном виде архивирует их в Git (помещает в стек незавершенных изменений). </a:t>
            </a:r>
            <a:endParaRPr lang="en-US" sz="1200" dirty="0"/>
          </a:p>
          <a:p>
            <a:pPr marL="0" indent="0">
              <a:buNone/>
            </a:pPr>
            <a:r>
              <a:rPr lang="ru-RU" sz="1200" u="sng" dirty="0"/>
              <a:t>Выполним эту команду в нашем проекте (на ветке bug-cart)</a:t>
            </a:r>
            <a:r>
              <a:rPr lang="ru-RU" sz="1200" dirty="0"/>
              <a:t>:</a:t>
            </a:r>
            <a:r>
              <a:rPr lang="en-US" sz="1200" dirty="0"/>
              <a:t> </a:t>
            </a:r>
            <a:r>
              <a:rPr lang="ru-RU" sz="1200" b="1" dirty="0"/>
              <a:t>git stash</a:t>
            </a:r>
            <a:endParaRPr lang="en-US" sz="1200" b="1" dirty="0"/>
          </a:p>
          <a:p>
            <a:pPr marL="0" indent="0">
              <a:buNone/>
            </a:pPr>
            <a:endParaRPr lang="ru-RU" sz="1200" b="1" dirty="0"/>
          </a:p>
          <a:p>
            <a:pPr marL="0" indent="0">
              <a:buNone/>
            </a:pPr>
            <a:endParaRPr lang="en-US" sz="1200" u="sng" dirty="0"/>
          </a:p>
          <a:p>
            <a:pPr marL="0" indent="0">
              <a:buNone/>
            </a:pPr>
            <a:r>
              <a:rPr lang="ru-RU" sz="1200" u="sng" dirty="0"/>
              <a:t>Теперь мы можем спокойно переключиться на ветку master</a:t>
            </a:r>
            <a:r>
              <a:rPr lang="ru-RU" sz="1200" dirty="0"/>
              <a:t>:</a:t>
            </a:r>
            <a:r>
              <a:rPr lang="en-US" sz="1200" dirty="0"/>
              <a:t> </a:t>
            </a:r>
            <a:r>
              <a:rPr lang="en-US" sz="1200" b="1" dirty="0"/>
              <a:t>git checkout master</a:t>
            </a:r>
          </a:p>
          <a:p>
            <a:pPr marL="0" indent="0">
              <a:buNone/>
            </a:pPr>
            <a:r>
              <a:rPr lang="ru-RU" sz="1200" b="1" dirty="0"/>
              <a:t>Предположим, мы внесли какие-нибудь изменения в </a:t>
            </a:r>
            <a:r>
              <a:rPr lang="en-US" sz="1200" b="1" dirty="0"/>
              <a:t>master</a:t>
            </a:r>
          </a:p>
          <a:p>
            <a:pPr marL="0" indent="0">
              <a:buNone/>
            </a:pPr>
            <a:r>
              <a:rPr lang="ru-RU" sz="1200" u="sng" dirty="0"/>
              <a:t>После выполнения работы в master мы снова переключаемся на bug-cart:</a:t>
            </a:r>
            <a:r>
              <a:rPr lang="en-US" sz="1200" dirty="0"/>
              <a:t> </a:t>
            </a:r>
            <a:r>
              <a:rPr lang="en-US" sz="1200" b="1" dirty="0"/>
              <a:t>git checkout bug-cart</a:t>
            </a:r>
          </a:p>
          <a:p>
            <a:pPr marL="0" indent="0">
              <a:buNone/>
            </a:pPr>
            <a:r>
              <a:rPr lang="ru-RU" sz="1200" u="sng" dirty="0"/>
              <a:t>Посмотрим, что у нас сохранено в стеке незавершенных изменений (в стеше)</a:t>
            </a:r>
            <a:r>
              <a:rPr lang="ru-RU" sz="1200" dirty="0"/>
              <a:t>:</a:t>
            </a:r>
            <a:r>
              <a:rPr lang="en-US" sz="1200" dirty="0"/>
              <a:t> </a:t>
            </a:r>
            <a:r>
              <a:rPr lang="en-US" sz="1200" b="1" dirty="0"/>
              <a:t>git stash list</a:t>
            </a:r>
            <a:r>
              <a:rPr lang="ru-RU" sz="1200" b="1" dirty="0"/>
              <a:t> </a:t>
            </a:r>
            <a:r>
              <a:rPr lang="en-US" sz="1200" dirty="0">
                <a:solidFill>
                  <a:schemeClr val="bg1">
                    <a:lumMod val="50000"/>
                  </a:schemeClr>
                </a:solidFill>
              </a:rPr>
              <a:t># </a:t>
            </a:r>
            <a:r>
              <a:rPr lang="ru-RU" sz="1200" dirty="0">
                <a:solidFill>
                  <a:schemeClr val="bg1">
                    <a:lumMod val="50000"/>
                  </a:schemeClr>
                </a:solidFill>
              </a:rPr>
              <a:t>если вдруг потребуется очистить </a:t>
            </a:r>
            <a:r>
              <a:rPr lang="en-US" sz="1200" dirty="0">
                <a:solidFill>
                  <a:schemeClr val="bg1">
                    <a:lumMod val="50000"/>
                  </a:schemeClr>
                </a:solidFill>
              </a:rPr>
              <a:t>list, </a:t>
            </a:r>
            <a:r>
              <a:rPr lang="ru-RU" sz="1200" dirty="0">
                <a:solidFill>
                  <a:schemeClr val="bg1">
                    <a:lumMod val="50000"/>
                  </a:schemeClr>
                </a:solidFill>
              </a:rPr>
              <a:t>используйте</a:t>
            </a:r>
            <a:r>
              <a:rPr lang="en-US" sz="1200" dirty="0">
                <a:solidFill>
                  <a:schemeClr val="bg1">
                    <a:lumMod val="50000"/>
                  </a:schemeClr>
                </a:solidFill>
              </a:rPr>
              <a:t> </a:t>
            </a:r>
            <a:r>
              <a:rPr lang="ru-RU" sz="1200" dirty="0">
                <a:solidFill>
                  <a:schemeClr val="bg1">
                    <a:lumMod val="50000"/>
                  </a:schemeClr>
                </a:solidFill>
              </a:rPr>
              <a:t>команду </a:t>
            </a:r>
            <a:r>
              <a:rPr lang="en-US" sz="1200" b="1" dirty="0">
                <a:solidFill>
                  <a:schemeClr val="bg1">
                    <a:lumMod val="50000"/>
                  </a:schemeClr>
                </a:solidFill>
              </a:rPr>
              <a:t>stash list clear</a:t>
            </a:r>
          </a:p>
          <a:p>
            <a:pPr marL="0" indent="0">
              <a:buNone/>
            </a:pPr>
            <a:endParaRPr lang="en-US" sz="1200" b="1" dirty="0"/>
          </a:p>
          <a:p>
            <a:pPr marL="0" indent="0">
              <a:buNone/>
            </a:pPr>
            <a:endParaRPr lang="ru-RU" sz="1200" dirty="0"/>
          </a:p>
          <a:p>
            <a:pPr marL="0" indent="0">
              <a:buNone/>
            </a:pPr>
            <a:endParaRPr lang="ru-RU" sz="1200" dirty="0"/>
          </a:p>
          <a:p>
            <a:pPr marL="0" indent="0">
              <a:buNone/>
            </a:pPr>
            <a:r>
              <a:rPr lang="ru-RU" sz="1200" dirty="0"/>
              <a:t>Здесь мы видим, из какой ветки и из какого коммита мы сохранили изменения, а также порядковый номер, под которым эти изменения записаны в стеш. При необходимости мы можем добавлять в стеш незаконченные изменения из разных веток, они будут сохраняться под разными номерами.</a:t>
            </a:r>
          </a:p>
        </p:txBody>
      </p:sp>
      <p:pic>
        <p:nvPicPr>
          <p:cNvPr id="9" name="Picture 8">
            <a:extLst>
              <a:ext uri="{FF2B5EF4-FFF2-40B4-BE49-F238E27FC236}">
                <a16:creationId xmlns:a16="http://schemas.microsoft.com/office/drawing/2014/main" id="{208540F3-1FD7-4965-A6BC-B32D2842757E}"/>
              </a:ext>
            </a:extLst>
          </p:cNvPr>
          <p:cNvPicPr>
            <a:picLocks noChangeAspect="1"/>
          </p:cNvPicPr>
          <p:nvPr/>
        </p:nvPicPr>
        <p:blipFill>
          <a:blip r:embed="rId2"/>
          <a:stretch>
            <a:fillRect/>
          </a:stretch>
        </p:blipFill>
        <p:spPr>
          <a:xfrm>
            <a:off x="765886" y="3176587"/>
            <a:ext cx="6016654" cy="504825"/>
          </a:xfrm>
          <a:prstGeom prst="rect">
            <a:avLst/>
          </a:prstGeom>
        </p:spPr>
      </p:pic>
      <p:sp>
        <p:nvSpPr>
          <p:cNvPr id="12" name="TextBox 11">
            <a:extLst>
              <a:ext uri="{FF2B5EF4-FFF2-40B4-BE49-F238E27FC236}">
                <a16:creationId xmlns:a16="http://schemas.microsoft.com/office/drawing/2014/main" id="{6AAD710C-FE56-4ED8-8B82-4B4607EC3B14}"/>
              </a:ext>
            </a:extLst>
          </p:cNvPr>
          <p:cNvSpPr txBox="1"/>
          <p:nvPr/>
        </p:nvSpPr>
        <p:spPr>
          <a:xfrm>
            <a:off x="6852634" y="3174968"/>
            <a:ext cx="4573479" cy="400110"/>
          </a:xfrm>
          <a:prstGeom prst="rect">
            <a:avLst/>
          </a:prstGeom>
          <a:noFill/>
        </p:spPr>
        <p:txBody>
          <a:bodyPr wrap="square" rtlCol="0">
            <a:spAutoFit/>
          </a:bodyPr>
          <a:lstStyle/>
          <a:p>
            <a:r>
              <a:rPr lang="ru-RU" sz="1000" dirty="0">
                <a:solidFill>
                  <a:schemeClr val="bg1">
                    <a:lumMod val="50000"/>
                  </a:schemeClr>
                </a:solidFill>
              </a:rPr>
              <a:t>Рабочий каталог и состояние индекса сохранены WIP on bug-cart: 0163eaa изменения в index </a:t>
            </a:r>
          </a:p>
        </p:txBody>
      </p:sp>
      <p:pic>
        <p:nvPicPr>
          <p:cNvPr id="13" name="Picture 12">
            <a:extLst>
              <a:ext uri="{FF2B5EF4-FFF2-40B4-BE49-F238E27FC236}">
                <a16:creationId xmlns:a16="http://schemas.microsoft.com/office/drawing/2014/main" id="{76ACBC7F-91DE-4FBF-B08D-F8D4F339FD09}"/>
              </a:ext>
            </a:extLst>
          </p:cNvPr>
          <p:cNvPicPr>
            <a:picLocks noChangeAspect="1"/>
          </p:cNvPicPr>
          <p:nvPr/>
        </p:nvPicPr>
        <p:blipFill>
          <a:blip r:embed="rId3"/>
          <a:stretch>
            <a:fillRect/>
          </a:stretch>
        </p:blipFill>
        <p:spPr>
          <a:xfrm>
            <a:off x="765886" y="4890624"/>
            <a:ext cx="4495800" cy="485775"/>
          </a:xfrm>
          <a:prstGeom prst="rect">
            <a:avLst/>
          </a:prstGeom>
        </p:spPr>
      </p:pic>
    </p:spTree>
    <p:extLst>
      <p:ext uri="{BB962C8B-B14F-4D97-AF65-F5344CB8AC3E}">
        <p14:creationId xmlns:p14="http://schemas.microsoft.com/office/powerpoint/2010/main" val="297119618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Временное (без коммита) сохранение данных</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96474"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u="sng" dirty="0"/>
              <a:t>Посмотрим, какое содержимое сейчас имеет файл index.html: </a:t>
            </a:r>
            <a:r>
              <a:rPr lang="en-US" sz="1200" b="1" dirty="0"/>
              <a:t>cat index.html</a:t>
            </a:r>
            <a:endParaRPr lang="ru-RU" sz="1200" b="1" dirty="0"/>
          </a:p>
          <a:p>
            <a:pPr marL="0" indent="0">
              <a:buNone/>
            </a:pPr>
            <a:endParaRPr lang="ru-RU" sz="1200" b="1" u="sng" dirty="0"/>
          </a:p>
          <a:p>
            <a:pPr marL="0" indent="0">
              <a:buNone/>
            </a:pPr>
            <a:endParaRPr lang="ru-RU" sz="1200" b="1" u="sng" dirty="0"/>
          </a:p>
          <a:p>
            <a:pPr marL="0" indent="0">
              <a:buNone/>
            </a:pPr>
            <a:endParaRPr lang="ru-RU" sz="1200" b="1" u="sng" dirty="0"/>
          </a:p>
          <a:p>
            <a:pPr marL="0" indent="0">
              <a:buNone/>
            </a:pPr>
            <a:endParaRPr lang="ru-RU" sz="1200" b="1" u="sng" dirty="0"/>
          </a:p>
          <a:p>
            <a:pPr marL="0" indent="0">
              <a:buNone/>
            </a:pPr>
            <a:r>
              <a:rPr lang="ru-RU" sz="1200" dirty="0"/>
              <a:t>Как видим, в файле нет разметки для блока main, которую мы делали ранее. Вернуть изменения из стеша позволяет команда </a:t>
            </a:r>
            <a:r>
              <a:rPr lang="ru-RU" sz="1200" b="1" dirty="0"/>
              <a:t>git stash apply</a:t>
            </a:r>
            <a:r>
              <a:rPr lang="ru-RU" sz="1200" dirty="0"/>
              <a:t>. Если вызвать эту команду без дополнительных параметров, то она скопирует из стеша файлы, находящиеся в последнем сохранённом элементе. </a:t>
            </a:r>
          </a:p>
          <a:p>
            <a:pPr marL="0" indent="0">
              <a:buNone/>
            </a:pPr>
            <a:r>
              <a:rPr lang="ru-RU" sz="1200" u="sng" dirty="0"/>
              <a:t>Также можно указать конкретный элемент стеша, откуда нужно извлечь файлы в текущую ветку</a:t>
            </a:r>
            <a:r>
              <a:rPr lang="en-US" sz="1200" dirty="0"/>
              <a:t>:</a:t>
            </a:r>
          </a:p>
          <a:p>
            <a:pPr marL="0" indent="0">
              <a:buNone/>
            </a:pPr>
            <a:r>
              <a:rPr lang="en-US" sz="1200" b="1" dirty="0"/>
              <a:t>git stash apply stash@{0}</a:t>
            </a:r>
          </a:p>
          <a:p>
            <a:pPr marL="0" indent="0">
              <a:buNone/>
            </a:pPr>
            <a:r>
              <a:rPr lang="ru-RU" sz="1200" dirty="0"/>
              <a:t>Теперь в index.html есть разметка для блока main</a:t>
            </a:r>
            <a:endParaRPr lang="en-US" sz="1200" dirty="0"/>
          </a:p>
          <a:p>
            <a:pPr marL="0" indent="0">
              <a:buNone/>
            </a:pPr>
            <a:r>
              <a:rPr lang="ru-RU" sz="1200" u="sng" dirty="0"/>
              <a:t>Давайте снова добавим изменённый файл index.html в стеш: </a:t>
            </a:r>
            <a:r>
              <a:rPr lang="en-US" sz="1200" u="sng" dirty="0"/>
              <a:t> </a:t>
            </a:r>
          </a:p>
          <a:p>
            <a:pPr marL="0" indent="0">
              <a:buNone/>
            </a:pPr>
            <a:r>
              <a:rPr lang="en-US" sz="1200" b="1" dirty="0"/>
              <a:t>git stash</a:t>
            </a:r>
          </a:p>
          <a:p>
            <a:pPr marL="0" indent="0">
              <a:buNone/>
            </a:pPr>
            <a:r>
              <a:rPr lang="en-US" sz="1200" b="1" dirty="0"/>
              <a:t>git stash list</a:t>
            </a:r>
          </a:p>
          <a:p>
            <a:pPr marL="0" indent="0">
              <a:buNone/>
            </a:pPr>
            <a:endParaRPr lang="en-US" sz="1200" b="1" dirty="0"/>
          </a:p>
          <a:p>
            <a:pPr marL="0" indent="0">
              <a:buNone/>
            </a:pPr>
            <a:endParaRPr lang="ru-RU" sz="1200" b="1" dirty="0"/>
          </a:p>
          <a:p>
            <a:pPr marL="0" indent="0">
              <a:buNone/>
            </a:pPr>
            <a:endParaRPr lang="en-US" sz="1200" dirty="0"/>
          </a:p>
          <a:p>
            <a:pPr marL="0" indent="0">
              <a:buNone/>
            </a:pPr>
            <a:r>
              <a:rPr lang="ru-RU" sz="1200" dirty="0"/>
              <a:t>Теперь в стеше у нас две записи (более поздняя запись имеет больший индекс).</a:t>
            </a:r>
          </a:p>
        </p:txBody>
      </p:sp>
      <p:pic>
        <p:nvPicPr>
          <p:cNvPr id="5" name="Picture 4">
            <a:extLst>
              <a:ext uri="{FF2B5EF4-FFF2-40B4-BE49-F238E27FC236}">
                <a16:creationId xmlns:a16="http://schemas.microsoft.com/office/drawing/2014/main" id="{0861185D-4501-4692-B1C2-91F185F59B78}"/>
              </a:ext>
            </a:extLst>
          </p:cNvPr>
          <p:cNvPicPr>
            <a:picLocks noChangeAspect="1"/>
          </p:cNvPicPr>
          <p:nvPr/>
        </p:nvPicPr>
        <p:blipFill>
          <a:blip r:embed="rId2"/>
          <a:stretch>
            <a:fillRect/>
          </a:stretch>
        </p:blipFill>
        <p:spPr>
          <a:xfrm>
            <a:off x="769397" y="1416541"/>
            <a:ext cx="2319140" cy="1273394"/>
          </a:xfrm>
          <a:prstGeom prst="rect">
            <a:avLst/>
          </a:prstGeom>
        </p:spPr>
      </p:pic>
      <p:pic>
        <p:nvPicPr>
          <p:cNvPr id="6" name="Picture 5">
            <a:extLst>
              <a:ext uri="{FF2B5EF4-FFF2-40B4-BE49-F238E27FC236}">
                <a16:creationId xmlns:a16="http://schemas.microsoft.com/office/drawing/2014/main" id="{2D95152C-1E95-46E6-9DA8-CD2B40A04BD0}"/>
              </a:ext>
            </a:extLst>
          </p:cNvPr>
          <p:cNvPicPr>
            <a:picLocks noChangeAspect="1"/>
          </p:cNvPicPr>
          <p:nvPr/>
        </p:nvPicPr>
        <p:blipFill>
          <a:blip r:embed="rId3"/>
          <a:stretch>
            <a:fillRect/>
          </a:stretch>
        </p:blipFill>
        <p:spPr>
          <a:xfrm>
            <a:off x="769397" y="4975474"/>
            <a:ext cx="4572000" cy="619125"/>
          </a:xfrm>
          <a:prstGeom prst="rect">
            <a:avLst/>
          </a:prstGeom>
        </p:spPr>
      </p:pic>
    </p:spTree>
    <p:extLst>
      <p:ext uri="{BB962C8B-B14F-4D97-AF65-F5344CB8AC3E}">
        <p14:creationId xmlns:p14="http://schemas.microsoft.com/office/powerpoint/2010/main" val="22617504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Временное (без коммита) сохранение данных</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96474"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u="sng" dirty="0"/>
              <a:t>Можно просто удалить элемент из стеша (без извлечения сохраненных в нем файлов):</a:t>
            </a:r>
            <a:r>
              <a:rPr lang="en-US" sz="1200" dirty="0"/>
              <a:t> </a:t>
            </a:r>
            <a:r>
              <a:rPr lang="en-US" sz="1200" b="1" dirty="0"/>
              <a:t>git stash pop</a:t>
            </a:r>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u="sng" dirty="0"/>
          </a:p>
          <a:p>
            <a:pPr marL="0" indent="0">
              <a:buNone/>
            </a:pPr>
            <a:r>
              <a:rPr lang="ru-RU" sz="1200" u="sng" dirty="0"/>
              <a:t>Теперь в стеше остался только один элемент</a:t>
            </a:r>
            <a:r>
              <a:rPr lang="en-US" sz="1200" u="sng" dirty="0"/>
              <a:t>:</a:t>
            </a:r>
            <a:r>
              <a:rPr lang="en-US" sz="1200" dirty="0"/>
              <a:t> </a:t>
            </a:r>
            <a:r>
              <a:rPr lang="en-US" sz="1200" b="1" dirty="0"/>
              <a:t>git stash list</a:t>
            </a:r>
            <a:endParaRPr lang="en-US" sz="1200" b="1" u="sng" dirty="0"/>
          </a:p>
          <a:p>
            <a:pPr marL="0" indent="0">
              <a:buNone/>
            </a:pPr>
            <a:endParaRPr lang="en-US" sz="1200" dirty="0"/>
          </a:p>
          <a:p>
            <a:pPr marL="0" indent="0">
              <a:buNone/>
            </a:pPr>
            <a:endParaRPr lang="en-US" sz="1200" dirty="0"/>
          </a:p>
          <a:p>
            <a:pPr marL="0" indent="0">
              <a:buNone/>
            </a:pPr>
            <a:endParaRPr lang="en-US" sz="1200" u="sng" dirty="0"/>
          </a:p>
          <a:p>
            <a:pPr marL="0" indent="0">
              <a:buNone/>
            </a:pPr>
            <a:r>
              <a:rPr lang="ru-RU" sz="1200" u="sng" dirty="0"/>
              <a:t>Можно просто удалить элемент из стеша (без извлечения сохраненных в нем файлов):</a:t>
            </a:r>
            <a:r>
              <a:rPr lang="ru-RU" sz="1200" dirty="0"/>
              <a:t> </a:t>
            </a:r>
            <a:r>
              <a:rPr lang="sv-SE" sz="1200" b="1" dirty="0"/>
              <a:t>git stash drop stash@{0}</a:t>
            </a:r>
            <a:endParaRPr lang="en-US" sz="1200" b="1" dirty="0"/>
          </a:p>
          <a:p>
            <a:pPr marL="0" indent="0">
              <a:buNone/>
            </a:pPr>
            <a:endParaRPr lang="en-US" sz="1200" dirty="0"/>
          </a:p>
          <a:p>
            <a:pPr marL="0" indent="0">
              <a:buNone/>
            </a:pPr>
            <a:endParaRPr lang="en-US" sz="1200" dirty="0"/>
          </a:p>
          <a:p>
            <a:pPr marL="0" indent="0">
              <a:buNone/>
            </a:pPr>
            <a:endParaRPr lang="en-US" sz="1200" dirty="0"/>
          </a:p>
          <a:p>
            <a:pPr marL="0" indent="0">
              <a:buNone/>
            </a:pPr>
            <a:r>
              <a:rPr lang="ru-RU" sz="1200" dirty="0"/>
              <a:t>Таким образом, команда </a:t>
            </a:r>
            <a:r>
              <a:rPr lang="ru-RU" sz="1200" b="1" dirty="0"/>
              <a:t>git stash </a:t>
            </a:r>
            <a:r>
              <a:rPr lang="ru-RU" sz="1200" dirty="0"/>
              <a:t>позволяет сохранить изменённые файлы, после чего можно переключаться на другие ветки, работать там, и вернуть файлы из стеша после возвращения на нужную ветку. После этого можно завершить задачу, над который шла работа, и создать коммит.</a:t>
            </a:r>
          </a:p>
          <a:p>
            <a:pPr marL="0" indent="0">
              <a:buNone/>
            </a:pPr>
            <a:r>
              <a:rPr lang="ru-RU" sz="1200" dirty="0"/>
              <a:t>Заметим, что измененные файлы из стеша можно извлечь на любой ветке, а не только на той, откуда они были сохранены, поэтому нужно быть внимательным, чтобы не перепутать файлы!</a:t>
            </a:r>
          </a:p>
        </p:txBody>
      </p:sp>
      <p:pic>
        <p:nvPicPr>
          <p:cNvPr id="6" name="Picture 5">
            <a:extLst>
              <a:ext uri="{FF2B5EF4-FFF2-40B4-BE49-F238E27FC236}">
                <a16:creationId xmlns:a16="http://schemas.microsoft.com/office/drawing/2014/main" id="{43A684FE-57B9-4282-BDFA-2B359D034650}"/>
              </a:ext>
            </a:extLst>
          </p:cNvPr>
          <p:cNvPicPr>
            <a:picLocks noChangeAspect="1"/>
          </p:cNvPicPr>
          <p:nvPr/>
        </p:nvPicPr>
        <p:blipFill>
          <a:blip r:embed="rId2"/>
          <a:stretch>
            <a:fillRect/>
          </a:stretch>
        </p:blipFill>
        <p:spPr>
          <a:xfrm>
            <a:off x="757560" y="1421412"/>
            <a:ext cx="4355978" cy="1252154"/>
          </a:xfrm>
          <a:prstGeom prst="rect">
            <a:avLst/>
          </a:prstGeom>
        </p:spPr>
      </p:pic>
      <p:pic>
        <p:nvPicPr>
          <p:cNvPr id="7" name="Picture 6">
            <a:extLst>
              <a:ext uri="{FF2B5EF4-FFF2-40B4-BE49-F238E27FC236}">
                <a16:creationId xmlns:a16="http://schemas.microsoft.com/office/drawing/2014/main" id="{DC5AC83E-9DB3-43B9-B4E8-AF5EFA553B40}"/>
              </a:ext>
            </a:extLst>
          </p:cNvPr>
          <p:cNvPicPr>
            <a:picLocks noChangeAspect="1"/>
          </p:cNvPicPr>
          <p:nvPr/>
        </p:nvPicPr>
        <p:blipFill>
          <a:blip r:embed="rId3"/>
          <a:stretch>
            <a:fillRect/>
          </a:stretch>
        </p:blipFill>
        <p:spPr>
          <a:xfrm>
            <a:off x="757560" y="3205814"/>
            <a:ext cx="4505325" cy="514350"/>
          </a:xfrm>
          <a:prstGeom prst="rect">
            <a:avLst/>
          </a:prstGeom>
        </p:spPr>
      </p:pic>
      <p:pic>
        <p:nvPicPr>
          <p:cNvPr id="8" name="Picture 7">
            <a:extLst>
              <a:ext uri="{FF2B5EF4-FFF2-40B4-BE49-F238E27FC236}">
                <a16:creationId xmlns:a16="http://schemas.microsoft.com/office/drawing/2014/main" id="{18182733-3535-476D-901E-213A45A37A05}"/>
              </a:ext>
            </a:extLst>
          </p:cNvPr>
          <p:cNvPicPr>
            <a:picLocks noChangeAspect="1"/>
          </p:cNvPicPr>
          <p:nvPr/>
        </p:nvPicPr>
        <p:blipFill>
          <a:blip r:embed="rId4"/>
          <a:stretch>
            <a:fillRect/>
          </a:stretch>
        </p:blipFill>
        <p:spPr>
          <a:xfrm>
            <a:off x="757560" y="4407896"/>
            <a:ext cx="4619625" cy="523875"/>
          </a:xfrm>
          <a:prstGeom prst="rect">
            <a:avLst/>
          </a:prstGeom>
        </p:spPr>
      </p:pic>
    </p:spTree>
    <p:extLst>
      <p:ext uri="{BB962C8B-B14F-4D97-AF65-F5344CB8AC3E}">
        <p14:creationId xmlns:p14="http://schemas.microsoft.com/office/powerpoint/2010/main" val="38489341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DAB4E-8D87-4696-96EC-630ACDA1A3F7}"/>
              </a:ext>
            </a:extLst>
          </p:cNvPr>
          <p:cNvSpPr>
            <a:spLocks noGrp="1"/>
          </p:cNvSpPr>
          <p:nvPr>
            <p:ph type="ctrTitle"/>
          </p:nvPr>
        </p:nvSpPr>
        <p:spPr/>
        <p:txBody>
          <a:bodyPr/>
          <a:lstStyle/>
          <a:p>
            <a:r>
              <a:rPr lang="ru-RU" dirty="0"/>
              <a:t>Удалённые репозитории</a:t>
            </a:r>
          </a:p>
        </p:txBody>
      </p:sp>
      <p:sp>
        <p:nvSpPr>
          <p:cNvPr id="3" name="Subtitle 2">
            <a:extLst>
              <a:ext uri="{FF2B5EF4-FFF2-40B4-BE49-F238E27FC236}">
                <a16:creationId xmlns:a16="http://schemas.microsoft.com/office/drawing/2014/main" id="{B9EAFA44-2814-4902-A870-ED1A306E0A4D}"/>
              </a:ext>
            </a:extLst>
          </p:cNvPr>
          <p:cNvSpPr>
            <a:spLocks noGrp="1"/>
          </p:cNvSpPr>
          <p:nvPr>
            <p:ph type="subTitle" idx="1"/>
          </p:nvPr>
        </p:nvSpPr>
        <p:spPr/>
        <p:txBody>
          <a:bodyPr/>
          <a:lstStyle/>
          <a:p>
            <a:r>
              <a:rPr lang="ru-RU" dirty="0"/>
              <a:t>Регистрация, настройка, работа</a:t>
            </a:r>
          </a:p>
        </p:txBody>
      </p:sp>
    </p:spTree>
    <p:extLst>
      <p:ext uri="{BB962C8B-B14F-4D97-AF65-F5344CB8AC3E}">
        <p14:creationId xmlns:p14="http://schemas.microsoft.com/office/powerpoint/2010/main" val="17057559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Работа с удалёнными репозиториями</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96474"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spcAft>
                <a:spcPts val="0"/>
              </a:spcAft>
              <a:buNone/>
            </a:pPr>
            <a:r>
              <a:rPr lang="ru-RU" sz="1600" dirty="0"/>
              <a:t>До настоящего момента мы работали с Git только на локальной машине, без удалённого репозитория.</a:t>
            </a:r>
          </a:p>
          <a:p>
            <a:pPr marL="0" indent="0">
              <a:spcAft>
                <a:spcPts val="0"/>
              </a:spcAft>
              <a:buNone/>
            </a:pPr>
            <a:r>
              <a:rPr lang="ru-RU" sz="1600" dirty="0"/>
              <a:t>Рассмотрим, на каких интернет-сервисах можно размещать Git-проекты для удобной работы над проектами. </a:t>
            </a:r>
          </a:p>
          <a:p>
            <a:pPr marL="0" indent="0">
              <a:buNone/>
            </a:pPr>
            <a:endParaRPr lang="ru-RU" sz="1600" dirty="0"/>
          </a:p>
          <a:p>
            <a:pPr marL="0" indent="0">
              <a:buNone/>
            </a:pPr>
            <a:r>
              <a:rPr lang="ru-RU" sz="1600" dirty="0"/>
              <a:t>Самый популярный сервис подобного рода - </a:t>
            </a:r>
            <a:r>
              <a:rPr lang="ru-RU" sz="1600" b="1" dirty="0"/>
              <a:t>GitHub</a:t>
            </a:r>
            <a:r>
              <a:rPr lang="ru-RU" sz="1600" dirty="0"/>
              <a:t> (работу с этим сервисом рассмотрим далее).</a:t>
            </a:r>
          </a:p>
          <a:p>
            <a:pPr marL="0" indent="0">
              <a:buNone/>
            </a:pPr>
            <a:br>
              <a:rPr lang="ru-RU" sz="1600" dirty="0"/>
            </a:br>
            <a:r>
              <a:rPr lang="ru-RU" sz="1600" dirty="0"/>
              <a:t>Альтернативный сервис - </a:t>
            </a:r>
            <a:r>
              <a:rPr lang="ru-RU" sz="1600" b="1" dirty="0"/>
              <a:t>Bitbucket</a:t>
            </a:r>
            <a:r>
              <a:rPr lang="ru-RU" sz="1600" dirty="0"/>
              <a:t>. До недавнего времени особенностью Bitbucket была бесплатная поддержка приватных репозиториев. На Github все бесплатные репозитории были публичными, то есть доступными на чтение всем, а за подключение приватного репозитория нужно было платить. Однако начиная с января 2019 года бесплатный приватный репозиторий можно подключить и на GitHub. </a:t>
            </a:r>
          </a:p>
          <a:p>
            <a:pPr marL="0" indent="0">
              <a:buNone/>
            </a:pPr>
            <a:r>
              <a:rPr lang="ru-RU" sz="1600" dirty="0"/>
              <a:t>Ещё один интересный сервис - </a:t>
            </a:r>
            <a:r>
              <a:rPr lang="ru-RU" sz="1600" b="1" dirty="0"/>
              <a:t>GitLab</a:t>
            </a:r>
            <a:r>
              <a:rPr lang="ru-RU" sz="1600" dirty="0"/>
              <a:t>. Это решение можно развернуть на собственном сервере.</a:t>
            </a:r>
          </a:p>
          <a:p>
            <a:pPr marL="0" indent="0">
              <a:buNone/>
            </a:pPr>
            <a:endParaRPr lang="en-US" sz="1200" dirty="0"/>
          </a:p>
        </p:txBody>
      </p:sp>
    </p:spTree>
    <p:extLst>
      <p:ext uri="{BB962C8B-B14F-4D97-AF65-F5344CB8AC3E}">
        <p14:creationId xmlns:p14="http://schemas.microsoft.com/office/powerpoint/2010/main" val="1607460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Регистрация и работа с </a:t>
            </a:r>
            <a:r>
              <a:rPr lang="en-US" sz="4200" dirty="0"/>
              <a:t>GitHub</a:t>
            </a:r>
            <a:endParaRPr lang="ru-RU" sz="4200" dirty="0"/>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96474"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b="1" dirty="0"/>
              <a:t>GitHub</a:t>
            </a:r>
            <a:r>
              <a:rPr lang="ru-RU" sz="1200" dirty="0"/>
              <a:t> - крупнейший в мире веб-сервис для хостинга ИТ-проектов и их совместной разработки. </a:t>
            </a:r>
          </a:p>
          <a:p>
            <a:pPr marL="0" indent="0">
              <a:buNone/>
            </a:pPr>
            <a:r>
              <a:rPr lang="ru-RU" sz="1200" u="sng" dirty="0"/>
              <a:t>Создание аккаунта</a:t>
            </a:r>
            <a:r>
              <a:rPr lang="en-US" sz="1200" u="sng" dirty="0"/>
              <a:t>:</a:t>
            </a:r>
            <a:endParaRPr lang="ru-RU" sz="1200" u="sng" dirty="0"/>
          </a:p>
          <a:p>
            <a:pPr marL="228600" indent="-228600">
              <a:buFont typeface="+mj-lt"/>
              <a:buAutoNum type="arabicPeriod"/>
            </a:pPr>
            <a:r>
              <a:rPr lang="ru-RU" sz="1200" dirty="0"/>
              <a:t>Откройте страницу </a:t>
            </a:r>
            <a:r>
              <a:rPr lang="en-US" sz="1200" dirty="0">
                <a:hlinkClick r:id="rId2"/>
              </a:rPr>
              <a:t>https://github.com/</a:t>
            </a:r>
            <a:endParaRPr lang="en-US" sz="1200" dirty="0"/>
          </a:p>
          <a:p>
            <a:pPr marL="228600" indent="-228600">
              <a:buFont typeface="+mj-lt"/>
              <a:buAutoNum type="arabicPeriod"/>
            </a:pPr>
            <a:r>
              <a:rPr lang="ru-RU" sz="1200" dirty="0"/>
              <a:t>Введём данные для регистрации</a:t>
            </a:r>
            <a:endParaRPr lang="en-US" sz="1200" dirty="0"/>
          </a:p>
          <a:p>
            <a:pPr marL="228600" indent="-228600">
              <a:buFont typeface="+mj-lt"/>
              <a:buAutoNum type="arabicPeriod"/>
            </a:pPr>
            <a:endParaRPr lang="en-US" sz="1200" dirty="0"/>
          </a:p>
          <a:p>
            <a:pPr marL="228600" indent="-228600">
              <a:buFont typeface="+mj-lt"/>
              <a:buAutoNum type="arabicPeriod"/>
            </a:pPr>
            <a:endParaRPr lang="en-US" sz="1200" dirty="0"/>
          </a:p>
          <a:p>
            <a:pPr marL="228600" indent="-228600">
              <a:buFont typeface="+mj-lt"/>
              <a:buAutoNum type="arabicPeriod"/>
            </a:pPr>
            <a:endParaRPr lang="en-US" sz="1200" dirty="0"/>
          </a:p>
          <a:p>
            <a:pPr marL="228600" indent="-228600">
              <a:buFont typeface="+mj-lt"/>
              <a:buAutoNum type="arabicPeriod"/>
            </a:pPr>
            <a:endParaRPr lang="en-US" sz="1200" dirty="0"/>
          </a:p>
          <a:p>
            <a:pPr marL="228600" indent="-228600">
              <a:buFont typeface="+mj-lt"/>
              <a:buAutoNum type="arabicPeriod"/>
            </a:pPr>
            <a:endParaRPr lang="en-US" sz="1200" dirty="0"/>
          </a:p>
          <a:p>
            <a:pPr marL="228600" indent="-228600">
              <a:buFont typeface="+mj-lt"/>
              <a:buAutoNum type="arabicPeriod"/>
            </a:pPr>
            <a:endParaRPr lang="en-US" sz="1200" dirty="0"/>
          </a:p>
          <a:p>
            <a:pPr marL="228600" indent="-228600">
              <a:buFont typeface="+mj-lt"/>
              <a:buAutoNum type="arabicPeriod"/>
            </a:pPr>
            <a:r>
              <a:rPr lang="ru-RU" sz="1200" dirty="0"/>
              <a:t>Дальше может быть предложено пройти капчку на проверку что Вы не робот</a:t>
            </a:r>
          </a:p>
          <a:p>
            <a:pPr marL="228600" indent="-228600">
              <a:buFont typeface="+mj-lt"/>
              <a:buAutoNum type="arabicPeriod"/>
            </a:pPr>
            <a:r>
              <a:rPr lang="ru-RU" sz="1200" dirty="0"/>
              <a:t>Нажмём на </a:t>
            </a:r>
            <a:r>
              <a:rPr lang="en-US" sz="1200" dirty="0"/>
              <a:t>"Join a free plan"</a:t>
            </a:r>
            <a:endParaRPr lang="ru-RU" sz="1200" dirty="0"/>
          </a:p>
          <a:p>
            <a:pPr marL="228600" indent="-228600">
              <a:buFont typeface="+mj-lt"/>
              <a:buAutoNum type="arabicPeriod"/>
            </a:pPr>
            <a:endParaRPr lang="en-US" sz="1200" dirty="0"/>
          </a:p>
        </p:txBody>
      </p:sp>
      <p:pic>
        <p:nvPicPr>
          <p:cNvPr id="5" name="Picture 4">
            <a:extLst>
              <a:ext uri="{FF2B5EF4-FFF2-40B4-BE49-F238E27FC236}">
                <a16:creationId xmlns:a16="http://schemas.microsoft.com/office/drawing/2014/main" id="{EF4F2482-4150-4B1B-9218-388EF6888CA6}"/>
              </a:ext>
            </a:extLst>
          </p:cNvPr>
          <p:cNvPicPr>
            <a:picLocks noChangeAspect="1"/>
          </p:cNvPicPr>
          <p:nvPr/>
        </p:nvPicPr>
        <p:blipFill>
          <a:blip r:embed="rId3"/>
          <a:stretch>
            <a:fillRect/>
          </a:stretch>
        </p:blipFill>
        <p:spPr>
          <a:xfrm>
            <a:off x="840419" y="2365067"/>
            <a:ext cx="1664690" cy="1680931"/>
          </a:xfrm>
          <a:prstGeom prst="rect">
            <a:avLst/>
          </a:prstGeom>
        </p:spPr>
      </p:pic>
      <p:pic>
        <p:nvPicPr>
          <p:cNvPr id="6" name="Picture 5">
            <a:extLst>
              <a:ext uri="{FF2B5EF4-FFF2-40B4-BE49-F238E27FC236}">
                <a16:creationId xmlns:a16="http://schemas.microsoft.com/office/drawing/2014/main" id="{BA5A3619-E9BB-4B08-B134-9EE0B6E6393F}"/>
              </a:ext>
            </a:extLst>
          </p:cNvPr>
          <p:cNvPicPr>
            <a:picLocks noChangeAspect="1"/>
          </p:cNvPicPr>
          <p:nvPr/>
        </p:nvPicPr>
        <p:blipFill>
          <a:blip r:embed="rId4"/>
          <a:stretch>
            <a:fillRect/>
          </a:stretch>
        </p:blipFill>
        <p:spPr>
          <a:xfrm>
            <a:off x="776427" y="4717467"/>
            <a:ext cx="4266090" cy="887576"/>
          </a:xfrm>
          <a:prstGeom prst="rect">
            <a:avLst/>
          </a:prstGeom>
        </p:spPr>
      </p:pic>
    </p:spTree>
    <p:extLst>
      <p:ext uri="{BB962C8B-B14F-4D97-AF65-F5344CB8AC3E}">
        <p14:creationId xmlns:p14="http://schemas.microsoft.com/office/powerpoint/2010/main" val="50210753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Регистрация и работа с </a:t>
            </a:r>
            <a:r>
              <a:rPr lang="en-US" sz="4200" dirty="0"/>
              <a:t>GitHub</a:t>
            </a:r>
            <a:endParaRPr lang="ru-RU" sz="4200" dirty="0"/>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96474"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228600" indent="-228600">
              <a:buFont typeface="+mj-lt"/>
              <a:buAutoNum type="arabicPeriod" startAt="5"/>
            </a:pPr>
            <a:r>
              <a:rPr lang="ru-RU" sz="1200" dirty="0"/>
              <a:t>Возникнет окно, где</a:t>
            </a:r>
            <a:r>
              <a:rPr lang="en-US" sz="1200" dirty="0"/>
              <a:t> GitHub</a:t>
            </a:r>
            <a:r>
              <a:rPr lang="ru-RU" sz="1200" dirty="0"/>
              <a:t> собирает статистику о пользователях, здесь можно ничего не отвечать. Далее в самом низу нужно нажать на кнопку</a:t>
            </a:r>
            <a:r>
              <a:rPr lang="en-US" sz="1200" dirty="0"/>
              <a:t> "</a:t>
            </a:r>
            <a:r>
              <a:rPr lang="en-US" sz="1200" b="1" dirty="0"/>
              <a:t>Complete</a:t>
            </a:r>
            <a:r>
              <a:rPr lang="en-US" sz="1200" dirty="0"/>
              <a:t> </a:t>
            </a:r>
            <a:r>
              <a:rPr lang="en-US" sz="1200" b="1" dirty="0"/>
              <a:t>Setup</a:t>
            </a:r>
            <a:r>
              <a:rPr lang="en-US" sz="1200" dirty="0"/>
              <a:t>"</a:t>
            </a:r>
          </a:p>
          <a:p>
            <a:pPr marL="228600" indent="-228600">
              <a:buFont typeface="+mj-lt"/>
              <a:buAutoNum type="arabicPeriod" startAt="5"/>
            </a:pPr>
            <a:endParaRPr lang="en-US" sz="1200" dirty="0"/>
          </a:p>
          <a:p>
            <a:pPr marL="228600" indent="-228600">
              <a:buFont typeface="+mj-lt"/>
              <a:buAutoNum type="arabicPeriod" startAt="5"/>
            </a:pPr>
            <a:endParaRPr lang="en-US" sz="1200" dirty="0"/>
          </a:p>
          <a:p>
            <a:pPr marL="228600" indent="-228600">
              <a:buFont typeface="+mj-lt"/>
              <a:buAutoNum type="arabicPeriod" startAt="5"/>
            </a:pPr>
            <a:endParaRPr lang="en-US" sz="1200" dirty="0"/>
          </a:p>
          <a:p>
            <a:pPr marL="228600" indent="-228600">
              <a:buFont typeface="+mj-lt"/>
              <a:buAutoNum type="arabicPeriod" startAt="5"/>
            </a:pPr>
            <a:endParaRPr lang="en-US" sz="1200" dirty="0"/>
          </a:p>
          <a:p>
            <a:pPr marL="228600" indent="-228600">
              <a:buFont typeface="+mj-lt"/>
              <a:buAutoNum type="arabicPeriod" startAt="5"/>
            </a:pPr>
            <a:endParaRPr lang="en-US" sz="1200" dirty="0"/>
          </a:p>
          <a:p>
            <a:pPr marL="228600" indent="-228600">
              <a:buFont typeface="+mj-lt"/>
              <a:buAutoNum type="arabicPeriod" startAt="5"/>
            </a:pPr>
            <a:endParaRPr lang="en-US" sz="1200" dirty="0"/>
          </a:p>
          <a:p>
            <a:pPr marL="228600" indent="-228600">
              <a:buFont typeface="+mj-lt"/>
              <a:buAutoNum type="arabicPeriod" startAt="5"/>
            </a:pPr>
            <a:r>
              <a:rPr lang="ru-RU" sz="1200" dirty="0"/>
              <a:t>Теперь зайдите на Вашу почту, указанную при регистрации, откройте письмо от </a:t>
            </a:r>
            <a:r>
              <a:rPr lang="en-US" sz="1200" dirty="0"/>
              <a:t>GitHub</a:t>
            </a:r>
            <a:r>
              <a:rPr lang="ru-RU" sz="1200" dirty="0"/>
              <a:t> и нажмите </a:t>
            </a:r>
            <a:r>
              <a:rPr lang="en-US" sz="1200" dirty="0"/>
              <a:t>"</a:t>
            </a:r>
            <a:r>
              <a:rPr lang="en-US" sz="1200" b="1" dirty="0"/>
              <a:t>Verify email address</a:t>
            </a:r>
            <a:r>
              <a:rPr lang="en-US" sz="1200" dirty="0"/>
              <a:t>"</a:t>
            </a:r>
            <a:endParaRPr lang="ru-RU" sz="1200" dirty="0"/>
          </a:p>
          <a:p>
            <a:pPr marL="228600" indent="-228600">
              <a:buFont typeface="+mj-lt"/>
              <a:buAutoNum type="arabicPeriod" startAt="5"/>
            </a:pPr>
            <a:endParaRPr lang="en-US" sz="1200" dirty="0"/>
          </a:p>
          <a:p>
            <a:pPr marL="228600" indent="-228600">
              <a:buFont typeface="+mj-lt"/>
              <a:buAutoNum type="arabicPeriod" startAt="5"/>
            </a:pPr>
            <a:endParaRPr lang="en-US" sz="1200" dirty="0"/>
          </a:p>
          <a:p>
            <a:pPr marL="228600" indent="-228600">
              <a:buFont typeface="+mj-lt"/>
              <a:buAutoNum type="arabicPeriod" startAt="5"/>
            </a:pPr>
            <a:endParaRPr lang="en-US" sz="1200" dirty="0"/>
          </a:p>
          <a:p>
            <a:pPr marL="228600" indent="-228600">
              <a:buFont typeface="+mj-lt"/>
              <a:buAutoNum type="arabicPeriod" startAt="5"/>
            </a:pPr>
            <a:r>
              <a:rPr lang="ru-RU" sz="1200" dirty="0"/>
              <a:t>Произойдёт переход в аккаунт </a:t>
            </a:r>
            <a:r>
              <a:rPr lang="en-US" sz="1200" dirty="0"/>
              <a:t>GitHub</a:t>
            </a:r>
            <a:r>
              <a:rPr lang="ru-RU" sz="1200" dirty="0"/>
              <a:t> </a:t>
            </a:r>
            <a:r>
              <a:rPr lang="en-US" sz="1200" dirty="0">
                <a:solidFill>
                  <a:schemeClr val="bg1">
                    <a:lumMod val="50000"/>
                  </a:schemeClr>
                </a:solidFill>
              </a:rPr>
              <a:t>#</a:t>
            </a:r>
            <a:r>
              <a:rPr lang="ru-RU" sz="1200" dirty="0">
                <a:solidFill>
                  <a:schemeClr val="bg1">
                    <a:lumMod val="50000"/>
                  </a:schemeClr>
                </a:solidFill>
              </a:rPr>
              <a:t> возможно будет страница с выбором с чего начать, здесь можно тогда внизу нажать на </a:t>
            </a:r>
            <a:r>
              <a:rPr lang="en-US" sz="1200" dirty="0">
                <a:solidFill>
                  <a:schemeClr val="bg1">
                    <a:lumMod val="50000"/>
                  </a:schemeClr>
                </a:solidFill>
              </a:rPr>
              <a:t>"skip this for now"</a:t>
            </a:r>
          </a:p>
          <a:p>
            <a:pPr marL="228600" indent="-228600">
              <a:buFont typeface="+mj-lt"/>
              <a:buAutoNum type="arabicPeriod" startAt="5"/>
            </a:pPr>
            <a:r>
              <a:rPr lang="ru-RU" sz="1200" dirty="0"/>
              <a:t>Нажмите на </a:t>
            </a:r>
            <a:r>
              <a:rPr lang="en-US" sz="1200" dirty="0"/>
              <a:t>"+" - &gt; "New repository"</a:t>
            </a:r>
          </a:p>
          <a:p>
            <a:pPr marL="228600" indent="-228600">
              <a:buFont typeface="+mj-lt"/>
              <a:buAutoNum type="arabicPeriod" startAt="5"/>
            </a:pPr>
            <a:endParaRPr lang="en-US" sz="1200" dirty="0"/>
          </a:p>
          <a:p>
            <a:pPr marL="228600" indent="-228600">
              <a:buFont typeface="+mj-lt"/>
              <a:buAutoNum type="arabicPeriod" startAt="5"/>
            </a:pPr>
            <a:endParaRPr lang="en-US" sz="1200" dirty="0"/>
          </a:p>
          <a:p>
            <a:pPr marL="228600" indent="-228600">
              <a:buFont typeface="+mj-lt"/>
              <a:buAutoNum type="arabicPeriod" startAt="5"/>
            </a:pPr>
            <a:endParaRPr lang="en-US" sz="1200" dirty="0"/>
          </a:p>
          <a:p>
            <a:pPr marL="228600" indent="-228600">
              <a:buFont typeface="+mj-lt"/>
              <a:buAutoNum type="arabicPeriod" startAt="5"/>
            </a:pPr>
            <a:endParaRPr lang="en-US" sz="1200" dirty="0"/>
          </a:p>
        </p:txBody>
      </p:sp>
      <p:pic>
        <p:nvPicPr>
          <p:cNvPr id="9" name="Picture 8">
            <a:extLst>
              <a:ext uri="{FF2B5EF4-FFF2-40B4-BE49-F238E27FC236}">
                <a16:creationId xmlns:a16="http://schemas.microsoft.com/office/drawing/2014/main" id="{94086106-0772-45B5-B3B1-0549BC27A20A}"/>
              </a:ext>
            </a:extLst>
          </p:cNvPr>
          <p:cNvPicPr>
            <a:picLocks noChangeAspect="1"/>
          </p:cNvPicPr>
          <p:nvPr/>
        </p:nvPicPr>
        <p:blipFill>
          <a:blip r:embed="rId2"/>
          <a:stretch>
            <a:fillRect/>
          </a:stretch>
        </p:blipFill>
        <p:spPr>
          <a:xfrm>
            <a:off x="908481" y="1426081"/>
            <a:ext cx="3290656" cy="1736254"/>
          </a:xfrm>
          <a:prstGeom prst="rect">
            <a:avLst/>
          </a:prstGeom>
        </p:spPr>
      </p:pic>
      <p:pic>
        <p:nvPicPr>
          <p:cNvPr id="10" name="Picture 9">
            <a:extLst>
              <a:ext uri="{FF2B5EF4-FFF2-40B4-BE49-F238E27FC236}">
                <a16:creationId xmlns:a16="http://schemas.microsoft.com/office/drawing/2014/main" id="{77C8E101-A29E-4283-A6A7-FFE7D8031766}"/>
              </a:ext>
            </a:extLst>
          </p:cNvPr>
          <p:cNvPicPr>
            <a:picLocks noChangeAspect="1"/>
          </p:cNvPicPr>
          <p:nvPr/>
        </p:nvPicPr>
        <p:blipFill>
          <a:blip r:embed="rId3"/>
          <a:stretch>
            <a:fillRect/>
          </a:stretch>
        </p:blipFill>
        <p:spPr>
          <a:xfrm>
            <a:off x="765379" y="3506680"/>
            <a:ext cx="3433758" cy="755730"/>
          </a:xfrm>
          <a:prstGeom prst="rect">
            <a:avLst/>
          </a:prstGeom>
        </p:spPr>
      </p:pic>
      <p:pic>
        <p:nvPicPr>
          <p:cNvPr id="13" name="Picture 12">
            <a:extLst>
              <a:ext uri="{FF2B5EF4-FFF2-40B4-BE49-F238E27FC236}">
                <a16:creationId xmlns:a16="http://schemas.microsoft.com/office/drawing/2014/main" id="{6B049847-E7E6-417B-9FA3-47D036613445}"/>
              </a:ext>
            </a:extLst>
          </p:cNvPr>
          <p:cNvPicPr>
            <a:picLocks noChangeAspect="1"/>
          </p:cNvPicPr>
          <p:nvPr/>
        </p:nvPicPr>
        <p:blipFill>
          <a:blip r:embed="rId4"/>
          <a:stretch>
            <a:fillRect/>
          </a:stretch>
        </p:blipFill>
        <p:spPr>
          <a:xfrm>
            <a:off x="765379" y="5042517"/>
            <a:ext cx="5451950" cy="1161548"/>
          </a:xfrm>
          <a:prstGeom prst="rect">
            <a:avLst/>
          </a:prstGeom>
        </p:spPr>
      </p:pic>
    </p:spTree>
    <p:extLst>
      <p:ext uri="{BB962C8B-B14F-4D97-AF65-F5344CB8AC3E}">
        <p14:creationId xmlns:p14="http://schemas.microsoft.com/office/powerpoint/2010/main" val="262927055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Регистрация и работа с </a:t>
            </a:r>
            <a:r>
              <a:rPr lang="en-US" sz="4200" dirty="0"/>
              <a:t>GitHub</a:t>
            </a:r>
            <a:endParaRPr lang="ru-RU" sz="4200" dirty="0"/>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defTabSz="914400" eaLnBrk="0" fontAlgn="base" hangingPunct="0">
              <a:spcBef>
                <a:spcPct val="0"/>
              </a:spcBef>
              <a:spcAft>
                <a:spcPct val="0"/>
              </a:spcAft>
              <a:buSzTx/>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96474"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228600" indent="-228600">
              <a:buFont typeface="+mj-lt"/>
              <a:buAutoNum type="arabicPeriod" startAt="9"/>
            </a:pPr>
            <a:r>
              <a:rPr lang="ru-RU" sz="1200" dirty="0"/>
              <a:t>В </a:t>
            </a:r>
            <a:r>
              <a:rPr lang="en-US" sz="1200" b="1" dirty="0"/>
              <a:t>Repository name</a:t>
            </a:r>
            <a:r>
              <a:rPr lang="ru-RU" sz="1200" b="1" dirty="0"/>
              <a:t> </a:t>
            </a:r>
            <a:r>
              <a:rPr lang="ru-RU" sz="1200" dirty="0"/>
              <a:t>введите имя проекта, например</a:t>
            </a:r>
            <a:r>
              <a:rPr lang="en-US" sz="1200" dirty="0"/>
              <a:t> "my-shop"</a:t>
            </a:r>
          </a:p>
          <a:p>
            <a:pPr marL="228600" indent="-228600">
              <a:buFont typeface="+mj-lt"/>
              <a:buAutoNum type="arabicPeriod" startAt="9"/>
            </a:pPr>
            <a:r>
              <a:rPr lang="ru-RU" sz="1200" dirty="0"/>
              <a:t>Остальное можно оставить по умолчанию. Нажмите на кнопку</a:t>
            </a:r>
            <a:r>
              <a:rPr lang="en-US" sz="1200" dirty="0"/>
              <a:t> "Create repository"</a:t>
            </a:r>
          </a:p>
          <a:p>
            <a:pPr marL="0" indent="0">
              <a:buNone/>
            </a:pPr>
            <a:r>
              <a:rPr lang="ru-RU" sz="1200" dirty="0"/>
              <a:t>Сразу после создания репозитория GitHub предлагает инструкции по привязке репозитория на сервере к локальному репозиторию на вашем компьютере.</a:t>
            </a:r>
            <a:r>
              <a:rPr lang="en-US" sz="1200" dirty="0"/>
              <a:t> </a:t>
            </a:r>
            <a:r>
              <a:rPr lang="ru-RU" sz="1200" dirty="0"/>
              <a:t>Мы будем использовать вариант с командой </a:t>
            </a:r>
            <a:r>
              <a:rPr lang="ru-RU" sz="1200" b="1" dirty="0"/>
              <a:t>git push</a:t>
            </a:r>
            <a:r>
              <a:rPr lang="ru-RU" sz="1200" dirty="0"/>
              <a:t>. </a:t>
            </a:r>
            <a:endParaRPr lang="en-US" sz="1200" dirty="0"/>
          </a:p>
          <a:p>
            <a:pPr marL="0" indent="0">
              <a:buNone/>
            </a:pPr>
            <a:r>
              <a:rPr lang="ru-RU" sz="1200" u="sng" dirty="0"/>
              <a:t>Запустим терминал, создадим каталог </a:t>
            </a:r>
            <a:r>
              <a:rPr lang="en-US" sz="1200" u="sng" dirty="0"/>
              <a:t>my</a:t>
            </a:r>
            <a:r>
              <a:rPr lang="ru-RU" sz="1200" u="sng" dirty="0"/>
              <a:t>-project и перейдём в него:</a:t>
            </a:r>
            <a:endParaRPr lang="en-US" sz="1200" u="sng" dirty="0"/>
          </a:p>
          <a:p>
            <a:pPr marL="0" indent="0">
              <a:buNone/>
            </a:pPr>
            <a:r>
              <a:rPr lang="en-US" sz="1200" b="1" dirty="0"/>
              <a:t>mkdir my-project</a:t>
            </a:r>
          </a:p>
          <a:p>
            <a:pPr marL="0" indent="0">
              <a:buNone/>
            </a:pPr>
            <a:r>
              <a:rPr lang="en-US" sz="1200" b="1" dirty="0"/>
              <a:t>cd my-project</a:t>
            </a:r>
          </a:p>
          <a:p>
            <a:pPr marL="0" indent="0">
              <a:buNone/>
            </a:pPr>
            <a:r>
              <a:rPr lang="ru-RU" sz="1200" u="sng" dirty="0"/>
              <a:t>Cоздадим файл index.html со следующим содержимым: &lt;h1&gt;Hello World&lt;/h1&gt;</a:t>
            </a:r>
            <a:r>
              <a:rPr lang="ru-RU" sz="1200" dirty="0"/>
              <a:t>  </a:t>
            </a:r>
            <a:endParaRPr lang="en-US" sz="1200" dirty="0"/>
          </a:p>
          <a:p>
            <a:pPr marL="0" indent="0">
              <a:buNone/>
            </a:pPr>
            <a:r>
              <a:rPr lang="en-US" sz="1200" b="1" dirty="0"/>
              <a:t>touch index.html    </a:t>
            </a:r>
          </a:p>
          <a:p>
            <a:pPr marL="0" indent="0">
              <a:buNone/>
            </a:pPr>
            <a:r>
              <a:rPr lang="en-US" sz="1200" b="1" dirty="0"/>
              <a:t>notepad index.html</a:t>
            </a:r>
            <a:endParaRPr lang="en-US" sz="1200" b="1" u="sng" dirty="0"/>
          </a:p>
          <a:p>
            <a:pPr marL="0" indent="0">
              <a:buNone/>
            </a:pPr>
            <a:r>
              <a:rPr lang="ru-RU" sz="1200" u="sng" dirty="0"/>
              <a:t>Развернем в нашем каталоге локальный репозиторий:</a:t>
            </a:r>
            <a:r>
              <a:rPr lang="ru-RU" sz="1200" dirty="0"/>
              <a:t> </a:t>
            </a:r>
            <a:endParaRPr lang="en-US" sz="1200" dirty="0"/>
          </a:p>
          <a:p>
            <a:pPr marL="0" indent="0">
              <a:buNone/>
            </a:pPr>
            <a:r>
              <a:rPr lang="en-US" sz="1200" b="1" dirty="0"/>
              <a:t>git init </a:t>
            </a:r>
            <a:endParaRPr lang="en-US" sz="1200" b="1" u="sng" dirty="0"/>
          </a:p>
          <a:p>
            <a:pPr marL="0" indent="0" algn="just">
              <a:buNone/>
            </a:pPr>
            <a:r>
              <a:rPr lang="ru-RU" sz="1200" u="sng" dirty="0"/>
              <a:t>Проверим статус файлов:</a:t>
            </a:r>
            <a:r>
              <a:rPr lang="ru-RU" sz="1200" dirty="0"/>
              <a:t> </a:t>
            </a:r>
            <a:endParaRPr lang="en-US" sz="1200" dirty="0"/>
          </a:p>
          <a:p>
            <a:pPr marL="0" indent="0" algn="just">
              <a:buNone/>
            </a:pPr>
            <a:r>
              <a:rPr lang="en-US" sz="1200" b="1" dirty="0"/>
              <a:t>git status</a:t>
            </a:r>
          </a:p>
          <a:p>
            <a:pPr marL="0" indent="0">
              <a:buNone/>
            </a:pPr>
            <a:r>
              <a:rPr lang="ru-RU" sz="1200" u="sng" dirty="0"/>
              <a:t>Добавим файлы в индекс Git и создадим первый коммит: </a:t>
            </a:r>
            <a:endParaRPr lang="en-US" sz="1200" u="sng" dirty="0"/>
          </a:p>
          <a:p>
            <a:pPr marL="0" indent="0">
              <a:buNone/>
            </a:pPr>
            <a:r>
              <a:rPr lang="en-US" sz="1200" b="1" dirty="0"/>
              <a:t>git add .</a:t>
            </a:r>
          </a:p>
          <a:p>
            <a:pPr marL="0" indent="0">
              <a:buNone/>
            </a:pPr>
            <a:r>
              <a:rPr lang="en-US" sz="1200" b="1" dirty="0"/>
              <a:t>git commit -m 'our first commit'</a:t>
            </a:r>
          </a:p>
          <a:p>
            <a:pPr marL="228600" indent="-228600">
              <a:buFont typeface="+mj-lt"/>
              <a:buAutoNum type="arabicPeriod" startAt="9"/>
            </a:pPr>
            <a:endParaRPr lang="en-US" sz="1200" dirty="0"/>
          </a:p>
          <a:p>
            <a:pPr marL="228600" indent="-228600">
              <a:buFont typeface="+mj-lt"/>
              <a:buAutoNum type="arabicPeriod" startAt="9"/>
            </a:pPr>
            <a:endParaRPr lang="en-US" sz="1200" dirty="0"/>
          </a:p>
        </p:txBody>
      </p:sp>
      <p:pic>
        <p:nvPicPr>
          <p:cNvPr id="5" name="Picture 4">
            <a:extLst>
              <a:ext uri="{FF2B5EF4-FFF2-40B4-BE49-F238E27FC236}">
                <a16:creationId xmlns:a16="http://schemas.microsoft.com/office/drawing/2014/main" id="{7DF2089B-90F9-4DEC-A5A2-EC3A3C4964A8}"/>
              </a:ext>
            </a:extLst>
          </p:cNvPr>
          <p:cNvPicPr>
            <a:picLocks noChangeAspect="1"/>
          </p:cNvPicPr>
          <p:nvPr/>
        </p:nvPicPr>
        <p:blipFill>
          <a:blip r:embed="rId2"/>
          <a:stretch>
            <a:fillRect/>
          </a:stretch>
        </p:blipFill>
        <p:spPr>
          <a:xfrm>
            <a:off x="6015694" y="2046303"/>
            <a:ext cx="5335886" cy="2996214"/>
          </a:xfrm>
          <a:prstGeom prst="rect">
            <a:avLst/>
          </a:prstGeom>
        </p:spPr>
      </p:pic>
    </p:spTree>
    <p:extLst>
      <p:ext uri="{BB962C8B-B14F-4D97-AF65-F5344CB8AC3E}">
        <p14:creationId xmlns:p14="http://schemas.microsoft.com/office/powerpoint/2010/main" val="335630120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Привязка локального репозитория к</a:t>
            </a:r>
            <a:r>
              <a:rPr lang="en-US" sz="4200" dirty="0"/>
              <a:t> </a:t>
            </a:r>
            <a:r>
              <a:rPr lang="ru-RU" sz="4200" dirty="0"/>
              <a:t>GitHub</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96474"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dirty="0"/>
              <a:t>Чтобы загрузить теперь наш локальный репозиторий на GitHub, мы должны сообщить Git'у адрес нужного нам удалённого репозитория. </a:t>
            </a:r>
          </a:p>
          <a:p>
            <a:pPr marL="0" indent="0">
              <a:buNone/>
            </a:pPr>
            <a:r>
              <a:rPr lang="ru-RU" sz="1200" u="sng" dirty="0"/>
              <a:t>Выполним команду, которая добавит в систему наш удалённый репозиторий, обращаться к которому можно будет по ссылке (псевдониму) origin</a:t>
            </a:r>
            <a:r>
              <a:rPr lang="ru-RU" sz="1200" dirty="0"/>
              <a:t>:</a:t>
            </a:r>
          </a:p>
          <a:p>
            <a:pPr marL="0" indent="0">
              <a:buNone/>
            </a:pPr>
            <a:r>
              <a:rPr lang="en-US" sz="1200" b="1" dirty="0"/>
              <a:t>git remote add origin </a:t>
            </a:r>
            <a:r>
              <a:rPr lang="en-US" sz="1200" dirty="0"/>
              <a:t>https://github.com/</a:t>
            </a:r>
            <a:r>
              <a:rPr lang="ru-RU" sz="1200" b="1" dirty="0"/>
              <a:t>ваш</a:t>
            </a:r>
            <a:r>
              <a:rPr lang="en-US" sz="1200" b="1" dirty="0"/>
              <a:t> username</a:t>
            </a:r>
            <a:r>
              <a:rPr lang="en-US" sz="1200" dirty="0"/>
              <a:t>/</a:t>
            </a:r>
            <a:r>
              <a:rPr lang="ru-RU" sz="1200" b="1" dirty="0"/>
              <a:t>ваше название проекта</a:t>
            </a:r>
            <a:r>
              <a:rPr lang="en-US" sz="1200" dirty="0"/>
              <a:t>.git 	</a:t>
            </a:r>
            <a:r>
              <a:rPr lang="en-US" sz="1200" dirty="0">
                <a:solidFill>
                  <a:schemeClr val="bg1">
                    <a:lumMod val="50000"/>
                  </a:schemeClr>
                </a:solidFill>
              </a:rPr>
              <a:t>#</a:t>
            </a:r>
            <a:r>
              <a:rPr lang="ru-RU" sz="1200" dirty="0">
                <a:solidFill>
                  <a:schemeClr val="bg1">
                    <a:lumMod val="50000"/>
                  </a:schemeClr>
                </a:solidFill>
              </a:rPr>
              <a:t> например</a:t>
            </a:r>
            <a:r>
              <a:rPr lang="en-US" sz="1200" dirty="0">
                <a:solidFill>
                  <a:schemeClr val="bg1">
                    <a:lumMod val="50000"/>
                  </a:schemeClr>
                </a:solidFill>
              </a:rPr>
              <a:t>: https://github.com/be-tester1/my-shop.git  </a:t>
            </a:r>
            <a:endParaRPr lang="ru-RU" sz="1200" dirty="0">
              <a:solidFill>
                <a:schemeClr val="bg1">
                  <a:lumMod val="50000"/>
                </a:schemeClr>
              </a:solidFill>
            </a:endParaRPr>
          </a:p>
          <a:p>
            <a:pPr marL="0" indent="0">
              <a:buNone/>
            </a:pPr>
            <a:endParaRPr lang="ru-RU" sz="1200" dirty="0">
              <a:solidFill>
                <a:schemeClr val="tx1"/>
              </a:solidFill>
            </a:endParaRPr>
          </a:p>
          <a:p>
            <a:pPr marL="0" indent="0">
              <a:buNone/>
            </a:pPr>
            <a:r>
              <a:rPr lang="ru-RU" sz="1200" dirty="0">
                <a:solidFill>
                  <a:schemeClr val="tx1"/>
                </a:solidFill>
              </a:rPr>
              <a:t>Отметим, что удалённый репозиторий не обязательно называть origin, имя этой ссылки может быть любым. Более того, у одного проекта может быть несколько удалённых репозиториев под разными именами (разные стадии проекта могут заливаться на разные ресурсы).</a:t>
            </a:r>
          </a:p>
          <a:p>
            <a:pPr marL="0" indent="0">
              <a:buNone/>
            </a:pPr>
            <a:endParaRPr lang="ru-RU" sz="1200" dirty="0">
              <a:solidFill>
                <a:schemeClr val="tx1"/>
              </a:solidFill>
            </a:endParaRPr>
          </a:p>
          <a:p>
            <a:pPr marL="0" indent="0">
              <a:buNone/>
            </a:pPr>
            <a:r>
              <a:rPr lang="ru-RU" sz="1200" u="sng" dirty="0">
                <a:solidFill>
                  <a:schemeClr val="tx1"/>
                </a:solidFill>
              </a:rPr>
              <a:t>Теперь мы должны с помощью команды </a:t>
            </a:r>
            <a:r>
              <a:rPr lang="ru-RU" sz="1200" b="1" u="sng" dirty="0">
                <a:solidFill>
                  <a:schemeClr val="tx1"/>
                </a:solidFill>
              </a:rPr>
              <a:t>git push </a:t>
            </a:r>
            <a:r>
              <a:rPr lang="ru-RU" sz="1200" i="1" u="sng" dirty="0">
                <a:solidFill>
                  <a:schemeClr val="tx1"/>
                </a:solidFill>
              </a:rPr>
              <a:t>удалённый_репозиторий ветка</a:t>
            </a:r>
            <a:r>
              <a:rPr lang="en-US" sz="1200" i="1" u="sng" dirty="0">
                <a:solidFill>
                  <a:schemeClr val="tx1"/>
                </a:solidFill>
              </a:rPr>
              <a:t> </a:t>
            </a:r>
            <a:r>
              <a:rPr lang="ru-RU" sz="1200" u="sng" dirty="0">
                <a:solidFill>
                  <a:schemeClr val="tx1"/>
                </a:solidFill>
              </a:rPr>
              <a:t>отправить локальный репозиторий на удалённый сервер ("запушить репозиторий").</a:t>
            </a:r>
            <a:endParaRPr lang="ru-RU" sz="1200" dirty="0">
              <a:solidFill>
                <a:schemeClr val="tx1"/>
              </a:solidFill>
            </a:endParaRPr>
          </a:p>
          <a:p>
            <a:pPr marL="0" indent="0">
              <a:buNone/>
            </a:pPr>
            <a:r>
              <a:rPr lang="en-US" sz="1200" b="1" dirty="0">
                <a:solidFill>
                  <a:schemeClr val="tx1"/>
                </a:solidFill>
              </a:rPr>
              <a:t>git push -u origin master 	</a:t>
            </a:r>
            <a:r>
              <a:rPr lang="en-US" sz="1200" dirty="0">
                <a:solidFill>
                  <a:schemeClr val="bg1">
                    <a:lumMod val="50000"/>
                  </a:schemeClr>
                </a:solidFill>
              </a:rPr>
              <a:t># </a:t>
            </a:r>
            <a:r>
              <a:rPr lang="ru-RU" sz="1200" dirty="0">
                <a:solidFill>
                  <a:schemeClr val="bg1">
                    <a:lumMod val="50000"/>
                  </a:schemeClr>
                </a:solidFill>
              </a:rPr>
              <a:t>появится окно, где нужно ввести </a:t>
            </a:r>
            <a:r>
              <a:rPr lang="en-US" sz="1200" dirty="0">
                <a:solidFill>
                  <a:schemeClr val="bg1">
                    <a:lumMod val="50000"/>
                  </a:schemeClr>
                </a:solidFill>
              </a:rPr>
              <a:t>email</a:t>
            </a:r>
            <a:r>
              <a:rPr lang="ru-RU" sz="1200" dirty="0">
                <a:solidFill>
                  <a:schemeClr val="bg1">
                    <a:lumMod val="50000"/>
                  </a:schemeClr>
                </a:solidFill>
              </a:rPr>
              <a:t> и пароль</a:t>
            </a:r>
            <a:r>
              <a:rPr lang="en-US" sz="1200" dirty="0">
                <a:solidFill>
                  <a:schemeClr val="bg1">
                    <a:lumMod val="50000"/>
                  </a:schemeClr>
                </a:solidFill>
              </a:rPr>
              <a:t> </a:t>
            </a:r>
            <a:r>
              <a:rPr lang="ru-RU" sz="1200" dirty="0">
                <a:solidFill>
                  <a:schemeClr val="bg1">
                    <a:lumMod val="50000"/>
                  </a:schemeClr>
                </a:solidFill>
              </a:rPr>
              <a:t>от</a:t>
            </a:r>
            <a:r>
              <a:rPr lang="en-US" sz="1200" dirty="0">
                <a:solidFill>
                  <a:schemeClr val="bg1">
                    <a:lumMod val="50000"/>
                  </a:schemeClr>
                </a:solidFill>
              </a:rPr>
              <a:t> GitHub</a:t>
            </a:r>
            <a:endParaRPr lang="ru-RU" sz="1200" dirty="0">
              <a:solidFill>
                <a:schemeClr val="bg1">
                  <a:lumMod val="50000"/>
                </a:schemeClr>
              </a:solidFill>
            </a:endParaRPr>
          </a:p>
          <a:p>
            <a:pPr marL="0" indent="0">
              <a:buNone/>
            </a:pPr>
            <a:r>
              <a:rPr lang="ru-RU" sz="1200" dirty="0"/>
              <a:t>Ключ </a:t>
            </a:r>
            <a:r>
              <a:rPr lang="ru-RU" sz="1200" b="1" dirty="0"/>
              <a:t>-u </a:t>
            </a:r>
            <a:r>
              <a:rPr lang="ru-RU" sz="1200" dirty="0"/>
              <a:t>(upstream) здесь указывает на то, что мы заливаем на сервер ту ветку (master), которой там ещё нет. Во время выполнения команды GitHub запрашивал учетные данные (имя и пароль) для доступа к репозиторию. </a:t>
            </a:r>
            <a:endParaRPr lang="ru-RU" sz="1200" b="1" dirty="0">
              <a:solidFill>
                <a:schemeClr val="tx1"/>
              </a:solidFill>
            </a:endParaRPr>
          </a:p>
          <a:p>
            <a:pPr marL="0" indent="0">
              <a:buNone/>
            </a:pPr>
            <a:endParaRPr lang="ru-RU"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ru-RU" sz="1200" b="1" dirty="0">
                <a:solidFill>
                  <a:srgbClr val="FF0000"/>
                </a:solidFill>
              </a:rPr>
              <a:t>Если показывает ошибку 403</a:t>
            </a:r>
            <a:r>
              <a:rPr lang="en-US" sz="1200" b="1" dirty="0">
                <a:solidFill>
                  <a:srgbClr val="FF0000"/>
                </a:solidFill>
              </a:rPr>
              <a:t>/ you don't have permission to access: </a:t>
            </a:r>
            <a:r>
              <a:rPr lang="ru-RU" sz="1200" dirty="0">
                <a:solidFill>
                  <a:schemeClr val="tx1"/>
                </a:solidFill>
              </a:rPr>
              <a:t>Панель управления</a:t>
            </a:r>
            <a:r>
              <a:rPr lang="en-US" sz="1200" dirty="0">
                <a:solidFill>
                  <a:schemeClr val="tx1"/>
                </a:solidFill>
              </a:rPr>
              <a:t> -&gt;</a:t>
            </a:r>
            <a:r>
              <a:rPr lang="ru-RU" sz="1200" dirty="0">
                <a:solidFill>
                  <a:schemeClr val="tx1"/>
                </a:solidFill>
              </a:rPr>
              <a:t> Учётные записи пользователей </a:t>
            </a:r>
            <a:r>
              <a:rPr lang="en-US" sz="1200" dirty="0">
                <a:solidFill>
                  <a:schemeClr val="tx1"/>
                </a:solidFill>
              </a:rPr>
              <a:t>-&gt;</a:t>
            </a:r>
            <a:r>
              <a:rPr lang="ru-RU" sz="1200" dirty="0">
                <a:solidFill>
                  <a:schemeClr val="tx1"/>
                </a:solidFill>
              </a:rPr>
              <a:t> Администрирование учетных записей</a:t>
            </a:r>
            <a:r>
              <a:rPr lang="en-US" sz="1200" dirty="0">
                <a:solidFill>
                  <a:schemeClr val="tx1"/>
                </a:solidFill>
              </a:rPr>
              <a:t> - &gt;</a:t>
            </a:r>
            <a:r>
              <a:rPr lang="ru-RU" sz="1200" dirty="0">
                <a:solidFill>
                  <a:schemeClr val="tx1"/>
                </a:solidFill>
              </a:rPr>
              <a:t> Учетные данные</a:t>
            </a:r>
            <a:r>
              <a:rPr lang="en-US" sz="1200" dirty="0">
                <a:solidFill>
                  <a:schemeClr val="tx1"/>
                </a:solidFill>
              </a:rPr>
              <a:t> Windows</a:t>
            </a:r>
            <a:r>
              <a:rPr lang="ru-RU" sz="1200" dirty="0">
                <a:solidFill>
                  <a:schemeClr val="tx1"/>
                </a:solidFill>
              </a:rPr>
              <a:t> </a:t>
            </a:r>
            <a:r>
              <a:rPr lang="en-US" sz="1200" dirty="0">
                <a:solidFill>
                  <a:schemeClr val="tx1"/>
                </a:solidFill>
              </a:rPr>
              <a:t>- &gt;</a:t>
            </a:r>
            <a:r>
              <a:rPr lang="ru-RU" sz="1200" dirty="0">
                <a:solidFill>
                  <a:schemeClr val="tx1"/>
                </a:solidFill>
              </a:rPr>
              <a:t> удалите строку с </a:t>
            </a:r>
            <a:r>
              <a:rPr lang="en-US" sz="1200" dirty="0">
                <a:solidFill>
                  <a:schemeClr val="tx1"/>
                </a:solidFill>
              </a:rPr>
              <a:t>git,</a:t>
            </a:r>
            <a:r>
              <a:rPr lang="ru-RU" sz="1200" dirty="0">
                <a:solidFill>
                  <a:schemeClr val="tx1"/>
                </a:solidFill>
              </a:rPr>
              <a:t> перезапустите консоль, снова зайдите в нужную директорию(через</a:t>
            </a:r>
            <a:r>
              <a:rPr lang="en-US" sz="1200" dirty="0">
                <a:solidFill>
                  <a:schemeClr val="tx1"/>
                </a:solidFill>
              </a:rPr>
              <a:t> </a:t>
            </a:r>
            <a:r>
              <a:rPr lang="en-US" sz="1200" b="1" dirty="0">
                <a:solidFill>
                  <a:schemeClr val="tx1"/>
                </a:solidFill>
              </a:rPr>
              <a:t>cd</a:t>
            </a:r>
            <a:r>
              <a:rPr lang="en-US" sz="1200" dirty="0">
                <a:solidFill>
                  <a:schemeClr val="tx1"/>
                </a:solidFill>
              </a:rPr>
              <a:t>)</a:t>
            </a:r>
            <a:r>
              <a:rPr lang="ru-RU" sz="1200" dirty="0">
                <a:solidFill>
                  <a:schemeClr val="tx1"/>
                </a:solidFill>
              </a:rPr>
              <a:t> и повторите заново </a:t>
            </a:r>
            <a:r>
              <a:rPr lang="en-US" sz="1200" b="1" dirty="0">
                <a:solidFill>
                  <a:schemeClr val="tx1"/>
                </a:solidFill>
              </a:rPr>
              <a:t>git push</a:t>
            </a:r>
            <a:r>
              <a:rPr lang="ru-RU" sz="1200" b="1" dirty="0">
                <a:solidFill>
                  <a:schemeClr val="tx1"/>
                </a:solidFill>
              </a:rPr>
              <a:t> </a:t>
            </a:r>
            <a:r>
              <a:rPr lang="en-US" sz="1200" b="1" dirty="0">
                <a:solidFill>
                  <a:schemeClr val="tx1"/>
                </a:solidFill>
              </a:rPr>
              <a:t>-u origin master </a:t>
            </a:r>
          </a:p>
        </p:txBody>
      </p:sp>
      <p:pic>
        <p:nvPicPr>
          <p:cNvPr id="7" name="Picture 6">
            <a:extLst>
              <a:ext uri="{FF2B5EF4-FFF2-40B4-BE49-F238E27FC236}">
                <a16:creationId xmlns:a16="http://schemas.microsoft.com/office/drawing/2014/main" id="{B9ECA888-4E1C-4026-84C7-81B873F6C014}"/>
              </a:ext>
            </a:extLst>
          </p:cNvPr>
          <p:cNvPicPr>
            <a:picLocks noChangeAspect="1"/>
          </p:cNvPicPr>
          <p:nvPr/>
        </p:nvPicPr>
        <p:blipFill>
          <a:blip r:embed="rId2"/>
          <a:stretch>
            <a:fillRect/>
          </a:stretch>
        </p:blipFill>
        <p:spPr>
          <a:xfrm>
            <a:off x="751226" y="4165198"/>
            <a:ext cx="5629275" cy="1428750"/>
          </a:xfrm>
          <a:prstGeom prst="rect">
            <a:avLst/>
          </a:prstGeom>
        </p:spPr>
      </p:pic>
    </p:spTree>
    <p:extLst>
      <p:ext uri="{BB962C8B-B14F-4D97-AF65-F5344CB8AC3E}">
        <p14:creationId xmlns:p14="http://schemas.microsoft.com/office/powerpoint/2010/main" val="21039900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Привязка локального репозитория к</a:t>
            </a:r>
            <a:r>
              <a:rPr lang="en-US" sz="4200" dirty="0"/>
              <a:t> </a:t>
            </a:r>
            <a:r>
              <a:rPr lang="ru-RU" sz="4200" dirty="0"/>
              <a:t>GitHub</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96474"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400" dirty="0"/>
              <a:t>Обновите страницу</a:t>
            </a:r>
            <a:r>
              <a:rPr lang="en-US" sz="1400" dirty="0"/>
              <a:t> GitHub. </a:t>
            </a:r>
            <a:r>
              <a:rPr lang="ru-RU" sz="1400" dirty="0"/>
              <a:t>Теперь мы можем увидеть свой репозиторий на сервере GitHub. На вкладке "&lt;&gt; Code" выводится информация о текущей ветке репозитория и о том, какие коммиты и когда выполнялись в проекте. С помощью раскрывающегося списка "Branch</a:t>
            </a:r>
            <a:r>
              <a:rPr lang="en-US" sz="1400" dirty="0"/>
              <a:t>"(</a:t>
            </a:r>
            <a:r>
              <a:rPr lang="ru-RU" sz="1400" dirty="0"/>
              <a:t>сейчас выбран</a:t>
            </a:r>
            <a:r>
              <a:rPr lang="en-US" sz="1400" dirty="0"/>
              <a:t> master)</a:t>
            </a:r>
            <a:r>
              <a:rPr lang="ru-RU" sz="1400" dirty="0"/>
              <a:t> можно переключиться на другую ветку проекта.</a:t>
            </a:r>
            <a:endParaRPr lang="en-US" sz="1400" b="1" dirty="0">
              <a:solidFill>
                <a:schemeClr val="tx1"/>
              </a:solidFill>
            </a:endParaRPr>
          </a:p>
        </p:txBody>
      </p:sp>
      <p:pic>
        <p:nvPicPr>
          <p:cNvPr id="5" name="Picture 4">
            <a:extLst>
              <a:ext uri="{FF2B5EF4-FFF2-40B4-BE49-F238E27FC236}">
                <a16:creationId xmlns:a16="http://schemas.microsoft.com/office/drawing/2014/main" id="{EE102840-8346-4F81-9C1E-CA0BEF352631}"/>
              </a:ext>
            </a:extLst>
          </p:cNvPr>
          <p:cNvPicPr>
            <a:picLocks noChangeAspect="1"/>
          </p:cNvPicPr>
          <p:nvPr/>
        </p:nvPicPr>
        <p:blipFill>
          <a:blip r:embed="rId2"/>
          <a:stretch>
            <a:fillRect/>
          </a:stretch>
        </p:blipFill>
        <p:spPr>
          <a:xfrm>
            <a:off x="840419" y="2052644"/>
            <a:ext cx="9860130" cy="3778922"/>
          </a:xfrm>
          <a:prstGeom prst="rect">
            <a:avLst/>
          </a:prstGeom>
        </p:spPr>
      </p:pic>
    </p:spTree>
    <p:extLst>
      <p:ext uri="{BB962C8B-B14F-4D97-AF65-F5344CB8AC3E}">
        <p14:creationId xmlns:p14="http://schemas.microsoft.com/office/powerpoint/2010/main" val="26077020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Привязка локального репозитория к</a:t>
            </a:r>
            <a:r>
              <a:rPr lang="en-US" sz="4200" dirty="0"/>
              <a:t> </a:t>
            </a:r>
            <a:r>
              <a:rPr lang="ru-RU" sz="4200" dirty="0"/>
              <a:t>GitHub</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96474"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dirty="0"/>
              <a:t>Кроме непосредственной поддержки Git-репозитория с историей коммитов GitHub предлагает дополнительные инструменты и возможности для совместной работы над проектом: </a:t>
            </a:r>
          </a:p>
          <a:p>
            <a:r>
              <a:rPr lang="ru-RU" sz="1200" b="1" dirty="0"/>
              <a:t>Система учёта ошибок </a:t>
            </a:r>
            <a:r>
              <a:rPr lang="ru-RU" sz="1200" dirty="0"/>
              <a:t>(bugtracker) </a:t>
            </a:r>
            <a:r>
              <a:rPr lang="ru-RU" sz="1200" b="1" dirty="0"/>
              <a:t>Issues</a:t>
            </a:r>
            <a:r>
              <a:rPr lang="ru-RU" sz="1200" dirty="0"/>
              <a:t>, позволяющая создавать хорошо документированные, интерактивные обсуждений багов и функций любого проекта. Любой человек может открыть issue (вопрос по проблеме) в чьем-то проекте, и он останется открытым и доступным всем для просмотра, пока его не закроет инициатор (например, если ему удалось разобраться с проблемой) или владелец репозитория. </a:t>
            </a:r>
          </a:p>
          <a:p>
            <a:r>
              <a:rPr lang="ru-RU" sz="1200" b="1" dirty="0"/>
              <a:t>Форки (forks) </a:t>
            </a:r>
            <a:r>
              <a:rPr lang="ru-RU" sz="1200" dirty="0"/>
              <a:t>и </a:t>
            </a:r>
            <a:r>
              <a:rPr lang="ru-RU" sz="1200" b="1" dirty="0"/>
              <a:t>пул-реквесты (Pull Requests)</a:t>
            </a:r>
            <a:r>
              <a:rPr lang="ru-RU" sz="1200" dirty="0"/>
              <a:t>. Любой пользователь может сделать форк (создать копию) вашего репозитория, внести какие-то изменения, а затем создать пул-реквест, чтобы попросить вас слить предложенные им изменения с вашим проектом. В больших проектах типа React или Vue.js могут быть открыты сотни пул-реквестов. </a:t>
            </a:r>
          </a:p>
          <a:p>
            <a:r>
              <a:rPr lang="ru-RU" sz="1200" dirty="0"/>
              <a:t>Подписка на определённого разработчика или репозиторий, позволяющая видеть связанные с ними активности на своей панели инструментов. </a:t>
            </a:r>
            <a:endParaRPr lang="en-US" sz="1200" dirty="0"/>
          </a:p>
          <a:p>
            <a:pPr marL="0" indent="0" algn="ctr">
              <a:buNone/>
            </a:pPr>
            <a:r>
              <a:rPr lang="ru-RU" sz="1600" b="1" dirty="0"/>
              <a:t>Файлы .</a:t>
            </a:r>
            <a:r>
              <a:rPr lang="en-US" sz="1600" b="1" dirty="0"/>
              <a:t>gitignore</a:t>
            </a:r>
            <a:r>
              <a:rPr lang="ru-RU" sz="1600" b="1" dirty="0"/>
              <a:t>, </a:t>
            </a:r>
            <a:r>
              <a:rPr lang="en-US" sz="1600" b="1" dirty="0"/>
              <a:t>readme.md</a:t>
            </a:r>
            <a:endParaRPr lang="en-US" sz="1600" dirty="0"/>
          </a:p>
          <a:p>
            <a:pPr marL="0" indent="0">
              <a:buNone/>
            </a:pPr>
            <a:r>
              <a:rPr lang="ru-RU" sz="1200" dirty="0"/>
              <a:t>В нашем репозитории не хватает двух файлов, которые должны быть в любом проекте, выставляемом на GitHub:</a:t>
            </a:r>
          </a:p>
          <a:p>
            <a:r>
              <a:rPr lang="ru-RU" sz="1200" dirty="0"/>
              <a:t>Файл </a:t>
            </a:r>
            <a:r>
              <a:rPr lang="ru-RU" sz="1200" b="1" dirty="0"/>
              <a:t>.gitign</a:t>
            </a:r>
            <a:r>
              <a:rPr lang="ru-RU" sz="1200" dirty="0"/>
              <a:t>ore, располагающийся в корне проекта и содержащий список файлов и каталогов, за которыми Git не должен следить и которые не будут сохраняться в репозитории.</a:t>
            </a:r>
          </a:p>
          <a:p>
            <a:r>
              <a:rPr lang="ru-RU" sz="1200" dirty="0"/>
              <a:t>Файл </a:t>
            </a:r>
            <a:r>
              <a:rPr lang="ru-RU" sz="1200" b="1" dirty="0"/>
              <a:t>readme.md </a:t>
            </a:r>
            <a:r>
              <a:rPr lang="ru-RU" sz="1200" dirty="0"/>
              <a:t>в формате Markdown с описанием проекта.</a:t>
            </a:r>
            <a:endParaRPr lang="en-US" sz="1200" dirty="0"/>
          </a:p>
          <a:p>
            <a:endParaRPr lang="en-US" sz="1200" dirty="0"/>
          </a:p>
          <a:p>
            <a:pPr marL="0" indent="0">
              <a:buNone/>
            </a:pPr>
            <a:r>
              <a:rPr lang="ru-RU" sz="1200" u="sng" dirty="0"/>
              <a:t>Создадим эти файлы:</a:t>
            </a:r>
          </a:p>
          <a:p>
            <a:pPr marL="0" indent="0">
              <a:buNone/>
            </a:pPr>
            <a:r>
              <a:rPr lang="en-US" sz="1200" b="1" dirty="0"/>
              <a:t>touch </a:t>
            </a:r>
            <a:r>
              <a:rPr lang="en-US" sz="1400" b="1" dirty="0"/>
              <a:t>.</a:t>
            </a:r>
            <a:r>
              <a:rPr lang="en-US" sz="1200" b="1" dirty="0"/>
              <a:t>gitignore</a:t>
            </a:r>
          </a:p>
          <a:p>
            <a:pPr marL="0" indent="0">
              <a:buNone/>
            </a:pPr>
            <a:r>
              <a:rPr lang="en-US" sz="1200" b="1" dirty="0"/>
              <a:t>touch readme.md</a:t>
            </a:r>
            <a:endParaRPr lang="ru-RU" sz="1200" b="1" dirty="0"/>
          </a:p>
        </p:txBody>
      </p:sp>
    </p:spTree>
    <p:extLst>
      <p:ext uri="{BB962C8B-B14F-4D97-AF65-F5344CB8AC3E}">
        <p14:creationId xmlns:p14="http://schemas.microsoft.com/office/powerpoint/2010/main" val="42086691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Привязка локального репозитория к</a:t>
            </a:r>
            <a:r>
              <a:rPr lang="en-US" sz="4200" dirty="0"/>
              <a:t> </a:t>
            </a:r>
            <a:r>
              <a:rPr lang="ru-RU" sz="4200" dirty="0"/>
              <a:t>GitHub</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818920"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dirty="0"/>
              <a:t>Создадим каталог, который мы добавим в .</a:t>
            </a:r>
            <a:r>
              <a:rPr lang="en-US" sz="1200" dirty="0"/>
              <a:t>gitignore. </a:t>
            </a:r>
            <a:r>
              <a:rPr lang="ru-RU" sz="1200" dirty="0"/>
              <a:t>Пусть это будет каталог .</a:t>
            </a:r>
            <a:r>
              <a:rPr lang="en-US" sz="1200" dirty="0"/>
              <a:t>idea, </a:t>
            </a:r>
            <a:r>
              <a:rPr lang="ru-RU" sz="1200" dirty="0"/>
              <a:t>в котором хранятся параметры среды разработки при работе с </a:t>
            </a:r>
            <a:r>
              <a:rPr lang="en-US" sz="1200" dirty="0"/>
              <a:t>IDE </a:t>
            </a:r>
            <a:r>
              <a:rPr lang="ru-RU" sz="1200" dirty="0"/>
              <a:t>фирмы </a:t>
            </a:r>
            <a:r>
              <a:rPr lang="en-US" sz="1200" dirty="0"/>
              <a:t>JetBrains (WebStorm, PHPStorm, PyCharm, Intellij</a:t>
            </a:r>
            <a:r>
              <a:rPr lang="ru-RU" sz="1200" dirty="0"/>
              <a:t> </a:t>
            </a:r>
            <a:r>
              <a:rPr lang="en-US" sz="1200" dirty="0"/>
              <a:t>IDEA):</a:t>
            </a:r>
            <a:endParaRPr lang="ru-RU" sz="1200" dirty="0"/>
          </a:p>
          <a:p>
            <a:pPr marL="0" indent="0">
              <a:buNone/>
            </a:pPr>
            <a:r>
              <a:rPr lang="en-US" sz="1200" b="1" dirty="0"/>
              <a:t>mkdir .idea</a:t>
            </a:r>
          </a:p>
          <a:p>
            <a:pPr marL="0" indent="0">
              <a:buNone/>
            </a:pPr>
            <a:r>
              <a:rPr lang="en-US" sz="1200" b="1" dirty="0"/>
              <a:t>ls –la</a:t>
            </a:r>
            <a:endParaRPr lang="ru-RU" sz="1200" b="1" dirty="0"/>
          </a:p>
          <a:p>
            <a:pPr marL="0" indent="0">
              <a:buNone/>
            </a:pPr>
            <a:r>
              <a:rPr lang="ru-RU" sz="1200" u="sng" dirty="0"/>
              <a:t>Добавим в каталог .idea файл (так как пустые папки без файлов Git игнорирует):</a:t>
            </a:r>
            <a:r>
              <a:rPr lang="en-US" sz="1200" dirty="0"/>
              <a:t> </a:t>
            </a:r>
            <a:r>
              <a:rPr lang="en-US" sz="1200" b="1" dirty="0"/>
              <a:t>touch .idea/test.xml </a:t>
            </a:r>
            <a:r>
              <a:rPr lang="ru-RU" sz="1200" b="1" u="sng" dirty="0"/>
              <a:t> </a:t>
            </a:r>
          </a:p>
          <a:p>
            <a:pPr marL="0" indent="0">
              <a:buNone/>
            </a:pPr>
            <a:r>
              <a:rPr lang="ru-RU" sz="1200" u="sng" dirty="0"/>
              <a:t>Теперь папка .idea будет показана в git status как неотслеживаемая:</a:t>
            </a:r>
            <a:r>
              <a:rPr lang="ru-RU" sz="1200" dirty="0"/>
              <a:t> </a:t>
            </a:r>
            <a:r>
              <a:rPr lang="en-US" sz="1200" b="1" dirty="0"/>
              <a:t>git status</a:t>
            </a:r>
          </a:p>
          <a:p>
            <a:pPr marL="0" indent="0">
              <a:buNone/>
            </a:pPr>
            <a:r>
              <a:rPr lang="ru-RU" sz="1200" dirty="0"/>
              <a:t>Папка .idea не имеет отношения к самому проекту, сохранять в репозитории ее не нужно. В принципе можно</a:t>
            </a:r>
            <a:r>
              <a:rPr lang="en-US" sz="1200" dirty="0"/>
              <a:t> </a:t>
            </a:r>
            <a:r>
              <a:rPr lang="ru-RU" sz="1200" dirty="0"/>
              <a:t>каждый раз исключать ее из команды git add, чтобы она не попадала в индекс, но это очень неудобно.</a:t>
            </a:r>
            <a:r>
              <a:rPr lang="en-US" sz="1200" dirty="0"/>
              <a:t> </a:t>
            </a:r>
            <a:endParaRPr lang="ru-RU" sz="1200" dirty="0"/>
          </a:p>
          <a:p>
            <a:pPr marL="0" indent="0">
              <a:buNone/>
            </a:pPr>
            <a:r>
              <a:rPr lang="ru-RU" sz="1200" u="sng" dirty="0"/>
              <a:t>Поэтому добавим имя каталога .idea в файл .gitignore, тогда Git просто забудет о существование этой папки</a:t>
            </a:r>
            <a:r>
              <a:rPr lang="en-US" sz="1200" u="sng" dirty="0"/>
              <a:t>:</a:t>
            </a:r>
            <a:endParaRPr lang="ru-RU" sz="1200" u="sng" dirty="0"/>
          </a:p>
          <a:p>
            <a:pPr marL="0" indent="0">
              <a:buNone/>
            </a:pPr>
            <a:r>
              <a:rPr lang="en-US" sz="1200" b="1" dirty="0"/>
              <a:t>notepad .gitignore</a:t>
            </a:r>
            <a:endParaRPr lang="ru-RU" sz="1200" b="1" dirty="0"/>
          </a:p>
          <a:p>
            <a:pPr marL="0" indent="0">
              <a:buNone/>
            </a:pPr>
            <a:r>
              <a:rPr lang="ru-RU" sz="1200" dirty="0"/>
              <a:t>Введем</a:t>
            </a:r>
            <a:r>
              <a:rPr lang="en-US" sz="1200" dirty="0"/>
              <a:t>: </a:t>
            </a:r>
            <a:r>
              <a:rPr lang="en-US" sz="1400" b="1" dirty="0"/>
              <a:t>.</a:t>
            </a:r>
            <a:r>
              <a:rPr lang="en-US" sz="1200" b="1" dirty="0"/>
              <a:t>idea/ </a:t>
            </a:r>
            <a:r>
              <a:rPr lang="ru-RU" sz="1200" b="1" dirty="0"/>
              <a:t>	</a:t>
            </a:r>
            <a:r>
              <a:rPr lang="en-US" sz="1200" dirty="0">
                <a:solidFill>
                  <a:schemeClr val="bg1">
                    <a:lumMod val="50000"/>
                  </a:schemeClr>
                </a:solidFill>
              </a:rPr>
              <a:t>#</a:t>
            </a:r>
            <a:r>
              <a:rPr lang="ru-RU" sz="1200" dirty="0">
                <a:solidFill>
                  <a:schemeClr val="bg1">
                    <a:lumMod val="50000"/>
                  </a:schemeClr>
                </a:solidFill>
              </a:rPr>
              <a:t> слеш в конце указывает, что .idea является папкой – в этом случае Git будет</a:t>
            </a:r>
            <a:r>
              <a:rPr lang="en-US" sz="1200" dirty="0">
                <a:solidFill>
                  <a:schemeClr val="bg1">
                    <a:lumMod val="50000"/>
                  </a:schemeClr>
                </a:solidFill>
              </a:rPr>
              <a:t> </a:t>
            </a:r>
            <a:r>
              <a:rPr lang="ru-RU" sz="1200" dirty="0">
                <a:solidFill>
                  <a:schemeClr val="bg1">
                    <a:lumMod val="50000"/>
                  </a:schemeClr>
                </a:solidFill>
              </a:rPr>
              <a:t>игнорировать все ее содержимое)</a:t>
            </a:r>
            <a:endParaRPr lang="en-US" sz="1200" b="1" dirty="0">
              <a:solidFill>
                <a:schemeClr val="bg1">
                  <a:lumMod val="50000"/>
                </a:schemeClr>
              </a:solidFill>
            </a:endParaRPr>
          </a:p>
          <a:p>
            <a:pPr marL="0" indent="0">
              <a:buNone/>
            </a:pPr>
            <a:r>
              <a:rPr lang="ru-RU" sz="1200" u="sng" dirty="0"/>
              <a:t>Убедимся, что папка .idea пропала из списка интересующих Git файлов:</a:t>
            </a:r>
            <a:r>
              <a:rPr lang="ru-RU" sz="1200" dirty="0"/>
              <a:t> </a:t>
            </a:r>
            <a:r>
              <a:rPr lang="en-US" sz="1200" b="1" dirty="0"/>
              <a:t>git status</a:t>
            </a:r>
            <a:endParaRPr lang="en-US" sz="1200" dirty="0"/>
          </a:p>
          <a:p>
            <a:pPr marL="0" indent="0">
              <a:buNone/>
            </a:pPr>
            <a:r>
              <a:rPr lang="ru-RU" sz="1200" u="sng" dirty="0"/>
              <a:t>Закоммитим наши изменения и пошлём их на удалённый сервер:</a:t>
            </a:r>
            <a:endParaRPr lang="en-US" sz="1200" u="sng" dirty="0"/>
          </a:p>
          <a:p>
            <a:pPr marL="0" indent="0">
              <a:buNone/>
            </a:pPr>
            <a:r>
              <a:rPr lang="en-US" sz="1200" b="1" dirty="0"/>
              <a:t>git add .</a:t>
            </a:r>
          </a:p>
          <a:p>
            <a:pPr marL="0" indent="0">
              <a:buNone/>
            </a:pPr>
            <a:r>
              <a:rPr lang="en-US" sz="1200" b="1" dirty="0"/>
              <a:t>git commit -m 'added gitignore and readme'</a:t>
            </a:r>
          </a:p>
          <a:p>
            <a:pPr marL="0" indent="0">
              <a:buNone/>
            </a:pPr>
            <a:r>
              <a:rPr lang="en-US" sz="1200" b="1" dirty="0"/>
              <a:t>git push </a:t>
            </a:r>
          </a:p>
          <a:p>
            <a:pPr marL="0" indent="0">
              <a:buNone/>
            </a:pPr>
            <a:endParaRPr lang="en-US" sz="1200" dirty="0"/>
          </a:p>
          <a:p>
            <a:pPr marL="0" indent="0">
              <a:buNone/>
            </a:pPr>
            <a:r>
              <a:rPr lang="ru-RU" sz="1200" dirty="0"/>
              <a:t>По умолчанию Git "пушит" файлы в ту ветку, в которой мы работали локально (в нашем случае это ветка master). </a:t>
            </a:r>
          </a:p>
        </p:txBody>
      </p:sp>
    </p:spTree>
    <p:extLst>
      <p:ext uri="{BB962C8B-B14F-4D97-AF65-F5344CB8AC3E}">
        <p14:creationId xmlns:p14="http://schemas.microsoft.com/office/powerpoint/2010/main" val="12300899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000" dirty="0"/>
              <a:t>Клонирование репозитория с </a:t>
            </a:r>
            <a:r>
              <a:rPr lang="en-US" sz="4000" dirty="0"/>
              <a:t>GH</a:t>
            </a:r>
            <a:r>
              <a:rPr lang="ru-RU" sz="4000" dirty="0"/>
              <a:t> на компьютер</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818920"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dirty="0"/>
              <a:t>Часто возникает необходимость работать с одним и тем же репозиторием на GitHub с разных машин</a:t>
            </a:r>
            <a:r>
              <a:rPr lang="en-US" sz="1200" dirty="0"/>
              <a:t> </a:t>
            </a:r>
            <a:r>
              <a:rPr lang="ru-RU" sz="1200" dirty="0"/>
              <a:t>(например, с домашнего и рабочего компьютеров). Рассмотрим, как можно склонировать удалённый GitHub-репозиторий на компьютер, где этого проекта ещё не было.</a:t>
            </a:r>
          </a:p>
          <a:p>
            <a:pPr marL="0" indent="0">
              <a:buNone/>
            </a:pPr>
            <a:r>
              <a:rPr lang="ru-RU" sz="1200" u="sng" dirty="0"/>
              <a:t>Выйдем из каталога </a:t>
            </a:r>
            <a:r>
              <a:rPr lang="en-US" sz="1200" u="sng" dirty="0"/>
              <a:t>my</a:t>
            </a:r>
            <a:r>
              <a:rPr lang="ru-RU" sz="1200" u="sng" dirty="0"/>
              <a:t>-project на один уровень вверх и удалим весь этот каталог:</a:t>
            </a:r>
            <a:endParaRPr lang="en-US" sz="1200" u="sng" dirty="0"/>
          </a:p>
          <a:p>
            <a:pPr marL="0" indent="0">
              <a:buNone/>
            </a:pPr>
            <a:r>
              <a:rPr lang="en-US" sz="1200" b="1" dirty="0"/>
              <a:t>cd ../</a:t>
            </a:r>
          </a:p>
          <a:p>
            <a:pPr marL="0" indent="0">
              <a:buNone/>
            </a:pPr>
            <a:r>
              <a:rPr lang="en-US" sz="1200" b="1" dirty="0"/>
              <a:t>rm -rf my-project/ </a:t>
            </a:r>
            <a:r>
              <a:rPr lang="ru-RU" sz="1200" b="1" dirty="0"/>
              <a:t>	</a:t>
            </a:r>
            <a:r>
              <a:rPr lang="en-US" sz="1200" b="1" dirty="0">
                <a:solidFill>
                  <a:schemeClr val="bg1">
                    <a:lumMod val="50000"/>
                  </a:schemeClr>
                </a:solidFill>
              </a:rPr>
              <a:t># </a:t>
            </a:r>
            <a:r>
              <a:rPr lang="ru-RU" sz="1200" dirty="0">
                <a:solidFill>
                  <a:schemeClr val="bg1">
                    <a:lumMod val="50000"/>
                  </a:schemeClr>
                </a:solidFill>
              </a:rPr>
              <a:t>проверить что сработало, можно выполнив команду</a:t>
            </a:r>
            <a:r>
              <a:rPr lang="en-US" sz="1200" dirty="0">
                <a:solidFill>
                  <a:schemeClr val="bg1">
                    <a:lumMod val="50000"/>
                  </a:schemeClr>
                </a:solidFill>
              </a:rPr>
              <a:t> </a:t>
            </a:r>
            <a:r>
              <a:rPr lang="en-US" sz="1200" b="1" dirty="0">
                <a:solidFill>
                  <a:schemeClr val="bg1">
                    <a:lumMod val="50000"/>
                  </a:schemeClr>
                </a:solidFill>
              </a:rPr>
              <a:t>cd my-project</a:t>
            </a:r>
            <a:r>
              <a:rPr lang="en-US" sz="1200" dirty="0">
                <a:solidFill>
                  <a:schemeClr val="bg1">
                    <a:lumMod val="50000"/>
                  </a:schemeClr>
                </a:solidFill>
              </a:rPr>
              <a:t>; </a:t>
            </a:r>
            <a:r>
              <a:rPr lang="ru-RU" sz="1200" dirty="0">
                <a:solidFill>
                  <a:schemeClr val="bg1">
                    <a:lumMod val="50000"/>
                  </a:schemeClr>
                </a:solidFill>
              </a:rPr>
              <a:t>должно появится сообщение</a:t>
            </a:r>
            <a:r>
              <a:rPr lang="en-US" sz="1200" dirty="0">
                <a:solidFill>
                  <a:schemeClr val="bg1">
                    <a:lumMod val="50000"/>
                  </a:schemeClr>
                </a:solidFill>
              </a:rPr>
              <a:t>: no such file or directory</a:t>
            </a:r>
          </a:p>
          <a:p>
            <a:pPr marL="0" indent="0">
              <a:buNone/>
            </a:pPr>
            <a:r>
              <a:rPr lang="ru-RU" sz="1200" dirty="0"/>
              <a:t>Теперь на нашем компьютере проекта нет. Склонируем его из репозитория GitHub. Для этого зайдём в свой</a:t>
            </a:r>
            <a:r>
              <a:rPr lang="en-US" sz="1200" dirty="0"/>
              <a:t> </a:t>
            </a:r>
            <a:r>
              <a:rPr lang="ru-RU" sz="1200" dirty="0"/>
              <a:t>аккаунт на GitHub, откроем страницу нашего репозитория и нажмём кнопку </a:t>
            </a:r>
            <a:r>
              <a:rPr lang="en-US" sz="1200" dirty="0"/>
              <a:t>"Code</a:t>
            </a:r>
            <a:r>
              <a:rPr lang="ru-RU" sz="1200" dirty="0"/>
              <a:t>".</a:t>
            </a: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ru-RU" sz="1200" dirty="0"/>
              <a:t>Клонировать репозиторий можно по протоколу HTTPS или по протоколу SSH. Воспользуемся сначала</a:t>
            </a:r>
            <a:r>
              <a:rPr lang="en-US" sz="1200" dirty="0"/>
              <a:t> </a:t>
            </a:r>
            <a:r>
              <a:rPr lang="ru-RU" sz="1200" dirty="0"/>
              <a:t>протоколом HTTPS.</a:t>
            </a:r>
            <a:endParaRPr lang="en-US" sz="1200" dirty="0"/>
          </a:p>
          <a:p>
            <a:pPr marL="0" indent="0">
              <a:buNone/>
            </a:pPr>
            <a:endParaRPr lang="en-US" sz="1200" dirty="0"/>
          </a:p>
        </p:txBody>
      </p:sp>
      <p:pic>
        <p:nvPicPr>
          <p:cNvPr id="5" name="Picture 4">
            <a:extLst>
              <a:ext uri="{FF2B5EF4-FFF2-40B4-BE49-F238E27FC236}">
                <a16:creationId xmlns:a16="http://schemas.microsoft.com/office/drawing/2014/main" id="{876564CC-A07E-4F5F-9EC2-28428D8D4089}"/>
              </a:ext>
            </a:extLst>
          </p:cNvPr>
          <p:cNvPicPr>
            <a:picLocks noChangeAspect="1"/>
          </p:cNvPicPr>
          <p:nvPr/>
        </p:nvPicPr>
        <p:blipFill>
          <a:blip r:embed="rId2"/>
          <a:stretch>
            <a:fillRect/>
          </a:stretch>
        </p:blipFill>
        <p:spPr>
          <a:xfrm>
            <a:off x="765446" y="3044763"/>
            <a:ext cx="4056120" cy="2264084"/>
          </a:xfrm>
          <a:prstGeom prst="rect">
            <a:avLst/>
          </a:prstGeom>
        </p:spPr>
      </p:pic>
    </p:spTree>
    <p:extLst>
      <p:ext uri="{BB962C8B-B14F-4D97-AF65-F5344CB8AC3E}">
        <p14:creationId xmlns:p14="http://schemas.microsoft.com/office/powerpoint/2010/main" val="183157696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000" dirty="0"/>
              <a:t>Клонирование репозитория с </a:t>
            </a:r>
            <a:r>
              <a:rPr lang="en-US" sz="4000" dirty="0"/>
              <a:t>GH</a:t>
            </a:r>
            <a:r>
              <a:rPr lang="ru-RU" sz="4000" dirty="0"/>
              <a:t> на компьютер</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818920"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u="sng" dirty="0"/>
              <a:t>Скопируем ссылку на репозиторий и выполним в терминале команду:</a:t>
            </a:r>
            <a:r>
              <a:rPr lang="en-US" sz="1200" u="sng" dirty="0"/>
              <a:t> </a:t>
            </a:r>
            <a:r>
              <a:rPr lang="ru-RU" sz="1200" dirty="0"/>
              <a:t> </a:t>
            </a:r>
            <a:r>
              <a:rPr lang="en-US" sz="1200" dirty="0">
                <a:solidFill>
                  <a:schemeClr val="bg1">
                    <a:lumMod val="50000"/>
                  </a:schemeClr>
                </a:solidFill>
              </a:rPr>
              <a:t>#</a:t>
            </a:r>
            <a:r>
              <a:rPr lang="ru-RU" sz="1200" dirty="0">
                <a:solidFill>
                  <a:schemeClr val="bg1">
                    <a:lumMod val="50000"/>
                  </a:schemeClr>
                </a:solidFill>
              </a:rPr>
              <a:t> обратите внимание на пробел перед</a:t>
            </a:r>
            <a:r>
              <a:rPr lang="en-US" sz="1200" dirty="0">
                <a:solidFill>
                  <a:schemeClr val="bg1">
                    <a:lumMod val="50000"/>
                  </a:schemeClr>
                </a:solidFill>
              </a:rPr>
              <a:t> my-shop-project</a:t>
            </a:r>
            <a:endParaRPr lang="ru-RU" sz="1200" u="sng" dirty="0">
              <a:solidFill>
                <a:schemeClr val="bg1">
                  <a:lumMod val="50000"/>
                </a:schemeClr>
              </a:solidFill>
            </a:endParaRPr>
          </a:p>
          <a:p>
            <a:pPr marL="0" indent="0">
              <a:buNone/>
            </a:pPr>
            <a:r>
              <a:rPr lang="en-US" sz="1200" b="1" dirty="0"/>
              <a:t>git clone </a:t>
            </a:r>
            <a:r>
              <a:rPr lang="ru-RU" sz="1200" b="1" dirty="0"/>
              <a:t>ваша ссылка </a:t>
            </a:r>
            <a:r>
              <a:rPr lang="en-US" sz="1200" b="1" dirty="0"/>
              <a:t>my-shop-project</a:t>
            </a:r>
            <a:r>
              <a:rPr lang="ru-RU" sz="1200" b="1" dirty="0"/>
              <a:t> </a:t>
            </a:r>
            <a:r>
              <a:rPr lang="en-US" sz="1200" dirty="0">
                <a:solidFill>
                  <a:schemeClr val="bg1">
                    <a:lumMod val="50000"/>
                  </a:schemeClr>
                </a:solidFill>
              </a:rPr>
              <a:t>#</a:t>
            </a:r>
            <a:r>
              <a:rPr lang="ru-RU" sz="1200" dirty="0">
                <a:solidFill>
                  <a:schemeClr val="bg1">
                    <a:lumMod val="50000"/>
                  </a:schemeClr>
                </a:solidFill>
              </a:rPr>
              <a:t> например</a:t>
            </a:r>
            <a:r>
              <a:rPr lang="en-US" sz="1200" dirty="0">
                <a:solidFill>
                  <a:schemeClr val="bg1">
                    <a:lumMod val="50000"/>
                  </a:schemeClr>
                </a:solidFill>
              </a:rPr>
              <a:t>: git clone https://github.com/be-tester1/my-shop.git my-shop-project</a:t>
            </a:r>
            <a:endParaRPr lang="ru-RU" sz="1200" dirty="0"/>
          </a:p>
          <a:p>
            <a:pPr marL="0" indent="0">
              <a:buNone/>
            </a:pPr>
            <a:r>
              <a:rPr lang="ru-RU" sz="1200" dirty="0"/>
              <a:t>Последний параметр выполненной команды – имя каталога, в который будет склонирован удалённый репозиторий (</a:t>
            </a:r>
            <a:r>
              <a:rPr lang="en-US" sz="1200" dirty="0"/>
              <a:t>my</a:t>
            </a:r>
            <a:r>
              <a:rPr lang="ru-RU" sz="1200" dirty="0"/>
              <a:t>-shop-project). Если его не указать, то клонирование производится в папку, совпадающую с названием репозитория (в нашем случае </a:t>
            </a:r>
            <a:r>
              <a:rPr lang="en-US" sz="1200" dirty="0"/>
              <a:t>my</a:t>
            </a:r>
            <a:r>
              <a:rPr lang="ru-RU" sz="1200" dirty="0"/>
              <a:t>-shop).  </a:t>
            </a: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u="sng" dirty="0"/>
          </a:p>
          <a:p>
            <a:pPr marL="0" indent="0">
              <a:buNone/>
            </a:pPr>
            <a:endParaRPr lang="en-US" sz="1200" u="sng" dirty="0"/>
          </a:p>
          <a:p>
            <a:pPr marL="0" indent="0">
              <a:buNone/>
            </a:pPr>
            <a:r>
              <a:rPr lang="ru-RU" sz="1200" u="sng" dirty="0"/>
              <a:t>Зайдём в папку </a:t>
            </a:r>
            <a:r>
              <a:rPr lang="en-US" sz="1200" u="sng" dirty="0"/>
              <a:t>my</a:t>
            </a:r>
            <a:r>
              <a:rPr lang="ru-RU" sz="1200" u="sng" dirty="0"/>
              <a:t>-shop-project и убедимся, что все файлы проекта восстановлены: </a:t>
            </a:r>
            <a:endParaRPr lang="en-US" sz="1200" u="sng" dirty="0"/>
          </a:p>
          <a:p>
            <a:pPr marL="0" indent="0">
              <a:buNone/>
            </a:pPr>
            <a:r>
              <a:rPr lang="en-US" sz="1200" b="1" dirty="0"/>
              <a:t>cd my-shop-project</a:t>
            </a:r>
          </a:p>
          <a:p>
            <a:pPr marL="0" indent="0">
              <a:buNone/>
            </a:pPr>
            <a:r>
              <a:rPr lang="en-US" sz="1200" b="1" dirty="0"/>
              <a:t>ls -la</a:t>
            </a:r>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p:txBody>
      </p:sp>
      <p:pic>
        <p:nvPicPr>
          <p:cNvPr id="6" name="Picture 5">
            <a:extLst>
              <a:ext uri="{FF2B5EF4-FFF2-40B4-BE49-F238E27FC236}">
                <a16:creationId xmlns:a16="http://schemas.microsoft.com/office/drawing/2014/main" id="{C686B5FC-A8A9-4F8D-A655-5C0906AF6E79}"/>
              </a:ext>
            </a:extLst>
          </p:cNvPr>
          <p:cNvPicPr>
            <a:picLocks noChangeAspect="1"/>
          </p:cNvPicPr>
          <p:nvPr/>
        </p:nvPicPr>
        <p:blipFill>
          <a:blip r:embed="rId2"/>
          <a:stretch>
            <a:fillRect/>
          </a:stretch>
        </p:blipFill>
        <p:spPr>
          <a:xfrm>
            <a:off x="771988" y="2212481"/>
            <a:ext cx="5410200" cy="1314450"/>
          </a:xfrm>
          <a:prstGeom prst="rect">
            <a:avLst/>
          </a:prstGeom>
        </p:spPr>
      </p:pic>
      <p:pic>
        <p:nvPicPr>
          <p:cNvPr id="7" name="Picture 6">
            <a:extLst>
              <a:ext uri="{FF2B5EF4-FFF2-40B4-BE49-F238E27FC236}">
                <a16:creationId xmlns:a16="http://schemas.microsoft.com/office/drawing/2014/main" id="{FA3B9A94-9141-44F0-B6EE-F987AC94ED38}"/>
              </a:ext>
            </a:extLst>
          </p:cNvPr>
          <p:cNvPicPr>
            <a:picLocks noChangeAspect="1"/>
          </p:cNvPicPr>
          <p:nvPr/>
        </p:nvPicPr>
        <p:blipFill>
          <a:blip r:embed="rId3"/>
          <a:stretch>
            <a:fillRect/>
          </a:stretch>
        </p:blipFill>
        <p:spPr>
          <a:xfrm>
            <a:off x="771988" y="4604690"/>
            <a:ext cx="4743450" cy="1323975"/>
          </a:xfrm>
          <a:prstGeom prst="rect">
            <a:avLst/>
          </a:prstGeom>
        </p:spPr>
      </p:pic>
    </p:spTree>
    <p:extLst>
      <p:ext uri="{BB962C8B-B14F-4D97-AF65-F5344CB8AC3E}">
        <p14:creationId xmlns:p14="http://schemas.microsoft.com/office/powerpoint/2010/main" val="387232082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Доступ к GitHub с помощью SSH-ключа</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818920"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dirty="0"/>
              <a:t>Пока мы работали с удалённым репозиторием на GitHub по протоколу HTTPS. В этом случае приходится</a:t>
            </a:r>
            <a:r>
              <a:rPr lang="en-US" sz="1200" dirty="0"/>
              <a:t> </a:t>
            </a:r>
            <a:r>
              <a:rPr lang="ru-RU" sz="1200" dirty="0"/>
              <a:t>вводить имя пользователя и пароль при каждом новом сеансе, что не очень удобно.</a:t>
            </a:r>
          </a:p>
          <a:p>
            <a:pPr marL="0" indent="0">
              <a:buNone/>
            </a:pPr>
            <a:r>
              <a:rPr lang="ru-RU" sz="1200" dirty="0"/>
              <a:t>При постоянной работе с удалённым репозиторием можно настроить подключение к нему по протоколу</a:t>
            </a:r>
            <a:r>
              <a:rPr lang="en-US" sz="1200" dirty="0"/>
              <a:t> </a:t>
            </a:r>
            <a:r>
              <a:rPr lang="ru-RU" sz="1200" dirty="0"/>
              <a:t>HTTPS, после чего не нужно будет больше вводить учётные данные для подключения к репозиторию GitHub.</a:t>
            </a:r>
            <a:endParaRPr lang="en-US" sz="1200" dirty="0"/>
          </a:p>
          <a:p>
            <a:pPr marL="0" indent="0">
              <a:buNone/>
            </a:pPr>
            <a:r>
              <a:rPr lang="ru-RU" sz="1200" u="sng" dirty="0"/>
              <a:t>Для этого нужно сгенерировать SSH-ключ. Делается это с помощью команды:</a:t>
            </a:r>
            <a:r>
              <a:rPr lang="en-US" sz="1200" u="sng" dirty="0"/>
              <a:t> </a:t>
            </a:r>
            <a:r>
              <a:rPr lang="en-US" sz="1200" b="1" dirty="0"/>
              <a:t>ssh-keygen</a:t>
            </a:r>
            <a:endParaRPr lang="en-US" sz="1200" dirty="0"/>
          </a:p>
          <a:p>
            <a:pPr marL="0" indent="0">
              <a:buNone/>
            </a:pPr>
            <a:r>
              <a:rPr lang="ru-RU" sz="1200" b="1" dirty="0"/>
              <a:t>Будет предложено ввести название файла для сохранения и создать кодовую фразу, всё это можно пропустить, трижды нажав </a:t>
            </a:r>
            <a:r>
              <a:rPr lang="en-US" sz="1200" b="1" dirty="0"/>
              <a:t>enter</a:t>
            </a:r>
          </a:p>
          <a:p>
            <a:pPr marL="0" indent="0">
              <a:buNone/>
            </a:pPr>
            <a:endParaRPr lang="ru-RU" sz="1200" dirty="0"/>
          </a:p>
          <a:p>
            <a:pPr marL="0" indent="0">
              <a:buNone/>
            </a:pPr>
            <a:endParaRPr lang="ru-RU" sz="1200" dirty="0"/>
          </a:p>
          <a:p>
            <a:pPr marL="0" indent="0">
              <a:buNone/>
            </a:pPr>
            <a:endParaRPr lang="ru-RU" sz="1200" dirty="0"/>
          </a:p>
          <a:p>
            <a:pPr marL="0" indent="0">
              <a:buNone/>
            </a:pPr>
            <a:endParaRPr lang="ru-RU" sz="1200" dirty="0"/>
          </a:p>
          <a:p>
            <a:pPr marL="0" indent="0">
              <a:buNone/>
            </a:pPr>
            <a:endParaRPr lang="ru-RU" sz="1200" dirty="0"/>
          </a:p>
          <a:p>
            <a:pPr marL="0" indent="0">
              <a:buNone/>
            </a:pPr>
            <a:endParaRPr lang="ru-RU" sz="1200" dirty="0"/>
          </a:p>
          <a:p>
            <a:pPr marL="0" indent="0">
              <a:buNone/>
            </a:pPr>
            <a:endParaRPr lang="ru-RU" sz="1200" dirty="0"/>
          </a:p>
          <a:p>
            <a:pPr marL="0" indent="0">
              <a:buNone/>
            </a:pPr>
            <a:endParaRPr lang="ru-RU" sz="1200" dirty="0"/>
          </a:p>
          <a:p>
            <a:pPr marL="0" indent="0">
              <a:buNone/>
            </a:pPr>
            <a:r>
              <a:rPr lang="ru-RU" sz="1200" dirty="0"/>
              <a:t>Для дополнительной безопасности команда запрашивает кодовую фразу, которую можно оставить пустой. В результате сгенерируется пара ключей: приватный (секретный) и публичный (открытый), которые по умолчанию сохраняются в виде файлов </a:t>
            </a:r>
            <a:r>
              <a:rPr lang="ru-RU" sz="1200" b="1" dirty="0"/>
              <a:t>id_rsa</a:t>
            </a:r>
            <a:r>
              <a:rPr lang="ru-RU" sz="1200" dirty="0"/>
              <a:t> и </a:t>
            </a:r>
            <a:r>
              <a:rPr lang="ru-RU" sz="1200" b="1" dirty="0"/>
              <a:t>id_rsa.pub </a:t>
            </a:r>
            <a:r>
              <a:rPr lang="ru-RU" sz="1200" dirty="0"/>
              <a:t>в домашнем каталоге в папке </a:t>
            </a:r>
            <a:r>
              <a:rPr lang="ru-RU" sz="1200" b="1" dirty="0"/>
              <a:t>.ssh</a:t>
            </a:r>
            <a:r>
              <a:rPr lang="ru-RU" sz="1200" dirty="0"/>
              <a:t>. Публичный ключ размещается на сетевых ресурсах, к которым обращаются по SSH, и реализованные в этом протоколе алгоритмы шифрования позволяют предоставить доступ только тому пользователю, на компьютере которого имеется соответствующий приватный ключ.</a:t>
            </a:r>
            <a:endParaRPr lang="en-US" sz="1200" dirty="0"/>
          </a:p>
          <a:p>
            <a:pPr marL="0" indent="0">
              <a:buNone/>
            </a:pPr>
            <a:endParaRPr lang="en-US" sz="1200" u="sng" dirty="0"/>
          </a:p>
          <a:p>
            <a:pPr marL="0" indent="0">
              <a:buNone/>
            </a:pPr>
            <a:endParaRPr lang="en-US" sz="1200" u="sng"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p:txBody>
      </p:sp>
      <p:pic>
        <p:nvPicPr>
          <p:cNvPr id="5" name="Picture 4">
            <a:extLst>
              <a:ext uri="{FF2B5EF4-FFF2-40B4-BE49-F238E27FC236}">
                <a16:creationId xmlns:a16="http://schemas.microsoft.com/office/drawing/2014/main" id="{88364124-1170-4C00-8575-464D3B39622E}"/>
              </a:ext>
            </a:extLst>
          </p:cNvPr>
          <p:cNvPicPr>
            <a:picLocks noChangeAspect="1"/>
          </p:cNvPicPr>
          <p:nvPr/>
        </p:nvPicPr>
        <p:blipFill>
          <a:blip r:embed="rId2"/>
          <a:stretch>
            <a:fillRect/>
          </a:stretch>
        </p:blipFill>
        <p:spPr>
          <a:xfrm>
            <a:off x="686539" y="2774273"/>
            <a:ext cx="3908556" cy="2268244"/>
          </a:xfrm>
          <a:prstGeom prst="rect">
            <a:avLst/>
          </a:prstGeom>
        </p:spPr>
      </p:pic>
    </p:spTree>
    <p:extLst>
      <p:ext uri="{BB962C8B-B14F-4D97-AF65-F5344CB8AC3E}">
        <p14:creationId xmlns:p14="http://schemas.microsoft.com/office/powerpoint/2010/main" val="62389809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Доступ к GitHub с помощью SSH-ключа</a:t>
            </a:r>
          </a:p>
        </p:txBody>
      </p:sp>
      <p:sp>
        <p:nvSpPr>
          <p:cNvPr id="3" name="Content Placeholder 2">
            <a:extLst>
              <a:ext uri="{FF2B5EF4-FFF2-40B4-BE49-F238E27FC236}">
                <a16:creationId xmlns:a16="http://schemas.microsoft.com/office/drawing/2014/main" id="{1A8C034B-777E-4B90-B993-977E032F5C4A}"/>
              </a:ext>
            </a:extLst>
          </p:cNvPr>
          <p:cNvSpPr txBox="1">
            <a:spLocks/>
          </p:cNvSpPr>
          <p:nvPr/>
        </p:nvSpPr>
        <p:spPr>
          <a:xfrm>
            <a:off x="840419" y="1163815"/>
            <a:ext cx="10511161" cy="5112698"/>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marL="0" indent="0" defTabSz="914400" eaLnBrk="0" fontAlgn="base" hangingPunct="0">
              <a:spcBef>
                <a:spcPct val="0"/>
              </a:spcBef>
              <a:spcAft>
                <a:spcPct val="0"/>
              </a:spcAft>
              <a:buSzTx/>
              <a:buNone/>
            </a:pPr>
            <a:endParaRPr lang="ru-RU" altLang="ru-RU" sz="1800" dirty="0">
              <a:solidFill>
                <a:schemeClr val="tx1"/>
              </a:solidFill>
              <a:latin typeface="Garamond (Body)"/>
            </a:endParaRPr>
          </a:p>
          <a:p>
            <a:pPr defTabSz="914400" eaLnBrk="0" fontAlgn="base" hangingPunct="0">
              <a:spcBef>
                <a:spcPct val="0"/>
              </a:spcBef>
              <a:spcAft>
                <a:spcPct val="0"/>
              </a:spcAft>
              <a:buSzTx/>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u="sng"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400" dirty="0">
              <a:solidFill>
                <a:schemeClr val="tx1"/>
              </a:solidFill>
              <a:latin typeface="Garamond (Body)"/>
            </a:endParaRPr>
          </a:p>
          <a:p>
            <a:pPr marL="0" indent="0" defTabSz="914400" eaLnBrk="0" fontAlgn="base" hangingPunct="0">
              <a:spcBef>
                <a:spcPct val="0"/>
              </a:spcBef>
              <a:spcAft>
                <a:spcPct val="0"/>
              </a:spcAft>
              <a:buSzTx/>
              <a:buNone/>
            </a:pPr>
            <a:endParaRPr lang="en-US" altLang="ru-RU" sz="1800" dirty="0">
              <a:solidFill>
                <a:schemeClr val="tx1"/>
              </a:solidFill>
              <a:latin typeface="Garamond (Body)"/>
            </a:endParaRPr>
          </a:p>
          <a:p>
            <a:pPr marL="0" indent="0">
              <a:buFont typeface="Arial"/>
              <a:buNone/>
            </a:pPr>
            <a:endParaRPr lang="ru-RU" dirty="0"/>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818920"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u="sng" dirty="0"/>
              <a:t>Перейдем в папку с ключами и посмотрим ее содержимое:</a:t>
            </a:r>
          </a:p>
          <a:p>
            <a:pPr marL="0" indent="0">
              <a:buNone/>
            </a:pPr>
            <a:r>
              <a:rPr lang="en-US" sz="1200" b="1" dirty="0"/>
              <a:t>cd ~/.ssh </a:t>
            </a:r>
          </a:p>
          <a:p>
            <a:pPr marL="0" indent="0">
              <a:buNone/>
            </a:pPr>
            <a:r>
              <a:rPr lang="en-US" sz="1200" b="1" dirty="0"/>
              <a:t>ls -la </a:t>
            </a:r>
          </a:p>
          <a:p>
            <a:pPr marL="0" indent="0">
              <a:buNone/>
            </a:pPr>
            <a:endParaRPr lang="en-US" sz="1200" b="1" dirty="0"/>
          </a:p>
          <a:p>
            <a:pPr marL="0" indent="0">
              <a:buNone/>
            </a:pPr>
            <a:endParaRPr lang="en-US" sz="1200" b="1" dirty="0"/>
          </a:p>
          <a:p>
            <a:pPr marL="0" indent="0">
              <a:buNone/>
            </a:pPr>
            <a:endParaRPr lang="en-US" sz="1200" b="1" dirty="0"/>
          </a:p>
          <a:p>
            <a:pPr marL="0" indent="0">
              <a:buNone/>
            </a:pPr>
            <a:endParaRPr lang="en-US" sz="1200" b="1" dirty="0"/>
          </a:p>
          <a:p>
            <a:pPr marL="0" indent="0">
              <a:buNone/>
            </a:pPr>
            <a:endParaRPr lang="en-US" sz="1200" b="1" dirty="0"/>
          </a:p>
          <a:p>
            <a:pPr marL="0" indent="0">
              <a:buNone/>
            </a:pPr>
            <a:r>
              <a:rPr lang="ru-RU" sz="1200" u="sng" dirty="0"/>
              <a:t>Выведем содержимое публичного ключа: </a:t>
            </a:r>
          </a:p>
          <a:p>
            <a:pPr marL="0" indent="0">
              <a:buNone/>
            </a:pPr>
            <a:r>
              <a:rPr lang="en-US" sz="1200" b="1" dirty="0"/>
              <a:t>cat id_rsa.pub</a:t>
            </a:r>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ru-RU" sz="1200" u="sng" dirty="0"/>
              <a:t>Выгрузим содержимое ключа в отдельный файл на рабочем столе</a:t>
            </a:r>
            <a:r>
              <a:rPr lang="en-US" sz="1200" u="sng" dirty="0"/>
              <a:t>:</a:t>
            </a:r>
          </a:p>
          <a:p>
            <a:pPr marL="0" indent="0">
              <a:buNone/>
            </a:pPr>
            <a:r>
              <a:rPr lang="en-US" sz="1200" b="1" dirty="0"/>
              <a:t>cat id_rsa.pub &gt; ~/Desktop/public-key.txt</a:t>
            </a:r>
            <a:endParaRPr lang="ru-RU" sz="1200" b="1" dirty="0"/>
          </a:p>
          <a:p>
            <a:pPr marL="0" indent="0">
              <a:buNone/>
            </a:pPr>
            <a:endParaRPr lang="ru-RU" sz="1200" dirty="0"/>
          </a:p>
          <a:p>
            <a:pPr marL="0" indent="0">
              <a:buNone/>
            </a:pPr>
            <a:endParaRPr lang="ru-RU" sz="1200" dirty="0"/>
          </a:p>
          <a:p>
            <a:pPr marL="0" indent="0">
              <a:buNone/>
            </a:pPr>
            <a:endParaRPr lang="en-US" sz="1200" u="sng" dirty="0"/>
          </a:p>
          <a:p>
            <a:pPr marL="0" indent="0">
              <a:buNone/>
            </a:pPr>
            <a:endParaRPr lang="en-US" sz="1200" u="sng"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p:txBody>
      </p:sp>
      <p:pic>
        <p:nvPicPr>
          <p:cNvPr id="6" name="Picture 5">
            <a:extLst>
              <a:ext uri="{FF2B5EF4-FFF2-40B4-BE49-F238E27FC236}">
                <a16:creationId xmlns:a16="http://schemas.microsoft.com/office/drawing/2014/main" id="{6C3A643A-8840-435A-BE1B-441015D0B458}"/>
              </a:ext>
            </a:extLst>
          </p:cNvPr>
          <p:cNvPicPr>
            <a:picLocks noChangeAspect="1"/>
          </p:cNvPicPr>
          <p:nvPr/>
        </p:nvPicPr>
        <p:blipFill>
          <a:blip r:embed="rId2"/>
          <a:stretch>
            <a:fillRect/>
          </a:stretch>
        </p:blipFill>
        <p:spPr>
          <a:xfrm>
            <a:off x="757560" y="2026364"/>
            <a:ext cx="3539232" cy="1299676"/>
          </a:xfrm>
          <a:prstGeom prst="rect">
            <a:avLst/>
          </a:prstGeom>
        </p:spPr>
      </p:pic>
      <p:pic>
        <p:nvPicPr>
          <p:cNvPr id="7" name="Picture 6">
            <a:extLst>
              <a:ext uri="{FF2B5EF4-FFF2-40B4-BE49-F238E27FC236}">
                <a16:creationId xmlns:a16="http://schemas.microsoft.com/office/drawing/2014/main" id="{09C4139C-57DE-4C02-8880-8C818544BFB7}"/>
              </a:ext>
            </a:extLst>
          </p:cNvPr>
          <p:cNvPicPr>
            <a:picLocks noChangeAspect="1"/>
          </p:cNvPicPr>
          <p:nvPr/>
        </p:nvPicPr>
        <p:blipFill>
          <a:blip r:embed="rId3"/>
          <a:stretch>
            <a:fillRect/>
          </a:stretch>
        </p:blipFill>
        <p:spPr>
          <a:xfrm>
            <a:off x="757560" y="4146473"/>
            <a:ext cx="9182100" cy="962025"/>
          </a:xfrm>
          <a:prstGeom prst="rect">
            <a:avLst/>
          </a:prstGeom>
        </p:spPr>
      </p:pic>
    </p:spTree>
    <p:extLst>
      <p:ext uri="{BB962C8B-B14F-4D97-AF65-F5344CB8AC3E}">
        <p14:creationId xmlns:p14="http://schemas.microsoft.com/office/powerpoint/2010/main" val="356372771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Доступ к GitHub с помощью SSH-ключа</a:t>
            </a:r>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10656"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dirty="0"/>
              <a:t>Теперь нужно зарегистрировать полученный публичный ключ в аккаунте GitHub. Для этого скопируем в</a:t>
            </a:r>
            <a:r>
              <a:rPr lang="en-US" sz="1200" dirty="0"/>
              <a:t> </a:t>
            </a:r>
            <a:r>
              <a:rPr lang="ru-RU" sz="1200" dirty="0"/>
              <a:t>буфер содержимое файла id_rsa.pub(содержимое выгрузили на рабочий стол в файл</a:t>
            </a:r>
            <a:r>
              <a:rPr lang="en-US" sz="1200" dirty="0"/>
              <a:t> public-key.txt</a:t>
            </a:r>
            <a:r>
              <a:rPr lang="ru-RU" sz="1200" dirty="0"/>
              <a:t>), откроем в браузере страницу с настройками нашего аккаунта на GitHub</a:t>
            </a:r>
            <a:r>
              <a:rPr lang="en-US" sz="1200" dirty="0"/>
              <a:t> </a:t>
            </a:r>
            <a:r>
              <a:rPr lang="ru-RU" sz="1200" dirty="0"/>
              <a:t>и выберем пункт "</a:t>
            </a:r>
            <a:r>
              <a:rPr lang="ru-RU" sz="1200" b="1" dirty="0"/>
              <a:t>SSH and GPG keys</a:t>
            </a:r>
            <a:r>
              <a:rPr lang="en-US" sz="1200" dirty="0"/>
              <a:t>" -&gt; "</a:t>
            </a:r>
            <a:r>
              <a:rPr lang="en-US" sz="1200" b="1" dirty="0"/>
              <a:t>New SSH key</a:t>
            </a:r>
            <a:r>
              <a:rPr lang="en-US" sz="1200" dirty="0"/>
              <a:t>"</a:t>
            </a:r>
            <a:endParaRPr lang="ru-RU" sz="1200" dirty="0"/>
          </a:p>
          <a:p>
            <a:pPr marL="0" indent="0">
              <a:buNone/>
            </a:pPr>
            <a:endParaRPr lang="ru-RU" sz="1200" dirty="0"/>
          </a:p>
          <a:p>
            <a:pPr marL="0" indent="0">
              <a:buNone/>
            </a:pPr>
            <a:endParaRPr lang="ru-RU" sz="1200" dirty="0"/>
          </a:p>
          <a:p>
            <a:pPr marL="0" indent="0">
              <a:buNone/>
            </a:pPr>
            <a:endParaRPr lang="ru-RU" sz="1200" dirty="0"/>
          </a:p>
          <a:p>
            <a:pPr marL="0" indent="0">
              <a:buNone/>
            </a:pPr>
            <a:endParaRPr lang="ru-RU" sz="1200" dirty="0"/>
          </a:p>
          <a:p>
            <a:pPr marL="0" indent="0">
              <a:buNone/>
            </a:pPr>
            <a:endParaRPr lang="en-US" sz="1200" u="sng" dirty="0"/>
          </a:p>
          <a:p>
            <a:pPr marL="0" indent="0">
              <a:buNone/>
            </a:pPr>
            <a:endParaRPr lang="en-US" sz="1200" u="sng" dirty="0"/>
          </a:p>
          <a:p>
            <a:pPr marL="0" indent="0">
              <a:buNone/>
            </a:pPr>
            <a:endParaRPr lang="en-US" sz="1200" dirty="0"/>
          </a:p>
          <a:p>
            <a:pPr marL="0" indent="0">
              <a:buNone/>
            </a:pPr>
            <a:endParaRPr lang="en-US" sz="1200" dirty="0"/>
          </a:p>
          <a:p>
            <a:pPr marL="0" indent="0">
              <a:buNone/>
            </a:pPr>
            <a:endParaRPr lang="en-US" sz="1200" dirty="0"/>
          </a:p>
          <a:p>
            <a:pPr marL="0" indent="0">
              <a:buNone/>
            </a:pPr>
            <a:r>
              <a:rPr lang="ru-RU" sz="1200" u="sng" dirty="0"/>
              <a:t>Введём название local-machine для ключа в поле "Title" и скопируем из буфера сам ключ в поле "Key</a:t>
            </a:r>
            <a:r>
              <a:rPr lang="en-US" sz="1200" u="sng" dirty="0"/>
              <a:t>"</a:t>
            </a:r>
            <a:r>
              <a:rPr lang="en-US" sz="1200" dirty="0"/>
              <a:t>:</a:t>
            </a:r>
          </a:p>
          <a:p>
            <a:pPr marL="0" indent="0">
              <a:buNone/>
            </a:pPr>
            <a:r>
              <a:rPr lang="ru-RU" sz="1200" dirty="0"/>
              <a:t>							     </a:t>
            </a:r>
            <a:r>
              <a:rPr lang="en-US" sz="1200" dirty="0">
                <a:solidFill>
                  <a:schemeClr val="bg1">
                    <a:lumMod val="50000"/>
                  </a:schemeClr>
                </a:solidFill>
              </a:rPr>
              <a:t>#</a:t>
            </a:r>
            <a:r>
              <a:rPr lang="en-US" sz="1200" dirty="0"/>
              <a:t> </a:t>
            </a:r>
            <a:r>
              <a:rPr lang="ru-RU" sz="1200" dirty="0">
                <a:solidFill>
                  <a:schemeClr val="bg1">
                    <a:lumMod val="50000"/>
                  </a:schemeClr>
                </a:solidFill>
              </a:rPr>
              <a:t>После нажатия на кнопку "</a:t>
            </a:r>
            <a:r>
              <a:rPr lang="ru-RU" sz="1200" b="1" dirty="0">
                <a:solidFill>
                  <a:schemeClr val="bg1">
                    <a:lumMod val="50000"/>
                  </a:schemeClr>
                </a:solidFill>
              </a:rPr>
              <a:t>Add SSH key</a:t>
            </a:r>
            <a:r>
              <a:rPr lang="ru-RU" sz="1200" dirty="0">
                <a:solidFill>
                  <a:schemeClr val="bg1">
                    <a:lumMod val="50000"/>
                  </a:schemeClr>
                </a:solidFill>
              </a:rPr>
              <a:t>" ключ будет добавлен (при этом GitHub может запросить ввести пароль 							     </a:t>
            </a:r>
            <a:r>
              <a:rPr lang="en-US" sz="1200" dirty="0">
                <a:solidFill>
                  <a:schemeClr val="bg1">
                    <a:lumMod val="50000"/>
                  </a:schemeClr>
                </a:solidFill>
              </a:rPr>
              <a:t>    </a:t>
            </a:r>
            <a:r>
              <a:rPr lang="ru-RU" sz="1200" dirty="0">
                <a:solidFill>
                  <a:schemeClr val="bg1">
                    <a:lumMod val="50000"/>
                  </a:schemeClr>
                </a:solidFill>
              </a:rPr>
              <a:t>для вашего аккаунта).                                                      </a:t>
            </a:r>
            <a:endParaRPr lang="en-US" sz="1200" dirty="0">
              <a:solidFill>
                <a:schemeClr val="bg1">
                  <a:lumMod val="50000"/>
                </a:schemeClr>
              </a:solidFill>
            </a:endParaRPr>
          </a:p>
          <a:p>
            <a:pPr marL="0" indent="0">
              <a:buNone/>
            </a:pPr>
            <a:endParaRPr lang="en-US" sz="1200" dirty="0"/>
          </a:p>
          <a:p>
            <a:pPr marL="0" indent="0">
              <a:buNone/>
            </a:pPr>
            <a:endParaRPr lang="en-US" sz="1200" dirty="0"/>
          </a:p>
          <a:p>
            <a:pPr marL="0" indent="0">
              <a:buNone/>
            </a:pPr>
            <a:endParaRPr lang="en-US" sz="1200" dirty="0"/>
          </a:p>
        </p:txBody>
      </p:sp>
      <p:pic>
        <p:nvPicPr>
          <p:cNvPr id="5" name="Picture 4">
            <a:extLst>
              <a:ext uri="{FF2B5EF4-FFF2-40B4-BE49-F238E27FC236}">
                <a16:creationId xmlns:a16="http://schemas.microsoft.com/office/drawing/2014/main" id="{41438018-21A0-4B02-AF63-8E561757F2FA}"/>
              </a:ext>
            </a:extLst>
          </p:cNvPr>
          <p:cNvPicPr>
            <a:picLocks noChangeAspect="1"/>
          </p:cNvPicPr>
          <p:nvPr/>
        </p:nvPicPr>
        <p:blipFill>
          <a:blip r:embed="rId2"/>
          <a:stretch>
            <a:fillRect/>
          </a:stretch>
        </p:blipFill>
        <p:spPr>
          <a:xfrm>
            <a:off x="710213" y="1626577"/>
            <a:ext cx="5869500" cy="2575038"/>
          </a:xfrm>
          <a:prstGeom prst="rect">
            <a:avLst/>
          </a:prstGeom>
        </p:spPr>
      </p:pic>
      <p:pic>
        <p:nvPicPr>
          <p:cNvPr id="8" name="Picture 7">
            <a:extLst>
              <a:ext uri="{FF2B5EF4-FFF2-40B4-BE49-F238E27FC236}">
                <a16:creationId xmlns:a16="http://schemas.microsoft.com/office/drawing/2014/main" id="{D35A7CAC-6D77-40A5-81B9-5F7C333587C6}"/>
              </a:ext>
            </a:extLst>
          </p:cNvPr>
          <p:cNvPicPr>
            <a:picLocks noChangeAspect="1"/>
          </p:cNvPicPr>
          <p:nvPr/>
        </p:nvPicPr>
        <p:blipFill>
          <a:blip r:embed="rId3"/>
          <a:stretch>
            <a:fillRect/>
          </a:stretch>
        </p:blipFill>
        <p:spPr>
          <a:xfrm>
            <a:off x="710213" y="4514661"/>
            <a:ext cx="3376238" cy="1825472"/>
          </a:xfrm>
          <a:prstGeom prst="rect">
            <a:avLst/>
          </a:prstGeom>
        </p:spPr>
      </p:pic>
    </p:spTree>
    <p:extLst>
      <p:ext uri="{BB962C8B-B14F-4D97-AF65-F5344CB8AC3E}">
        <p14:creationId xmlns:p14="http://schemas.microsoft.com/office/powerpoint/2010/main" val="365573491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Доступ к GitHub с помощью SSH-ключа</a:t>
            </a:r>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10656"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u="sng" dirty="0"/>
              <a:t>Вернёмся теперь на страницу репозитория </a:t>
            </a:r>
            <a:r>
              <a:rPr lang="en-US" sz="1200" u="sng" dirty="0"/>
              <a:t>my</a:t>
            </a:r>
            <a:r>
              <a:rPr lang="ru-RU" sz="1200" u="sng" dirty="0"/>
              <a:t>-shop</a:t>
            </a:r>
            <a:r>
              <a:rPr lang="en-US" sz="1200" u="sng" dirty="0"/>
              <a:t>:</a:t>
            </a:r>
            <a:endParaRPr lang="ru-RU" sz="1200" u="sng" dirty="0"/>
          </a:p>
          <a:p>
            <a:pPr marL="0" indent="0">
              <a:buNone/>
            </a:pPr>
            <a:endParaRPr lang="ru-RU" sz="1200" u="sng" dirty="0"/>
          </a:p>
          <a:p>
            <a:pPr marL="0" indent="0">
              <a:buNone/>
            </a:pPr>
            <a:endParaRPr lang="ru-RU" sz="1200" dirty="0"/>
          </a:p>
          <a:p>
            <a:pPr marL="0" indent="0">
              <a:buNone/>
            </a:pPr>
            <a:endParaRPr lang="ru-RU" sz="1200" dirty="0"/>
          </a:p>
          <a:p>
            <a:pPr marL="0" indent="0">
              <a:buNone/>
            </a:pPr>
            <a:endParaRPr lang="ru-RU" sz="1200" dirty="0"/>
          </a:p>
          <a:p>
            <a:pPr marL="0" indent="0">
              <a:buNone/>
            </a:pPr>
            <a:endParaRPr lang="ru-RU" sz="1200" dirty="0"/>
          </a:p>
          <a:p>
            <a:pPr marL="0" indent="0">
              <a:buNone/>
            </a:pPr>
            <a:r>
              <a:rPr lang="ru-RU" sz="1200" u="sng" dirty="0"/>
              <a:t>Нажмем кнопку </a:t>
            </a:r>
            <a:r>
              <a:rPr lang="en-US" sz="1200" u="sng" dirty="0"/>
              <a:t>"</a:t>
            </a:r>
            <a:r>
              <a:rPr lang="en-US" sz="1200" b="1" u="sng" dirty="0"/>
              <a:t>Code</a:t>
            </a:r>
            <a:r>
              <a:rPr lang="ru-RU" sz="1200" u="sng" dirty="0"/>
              <a:t>" и выберем ссылку "Use SSH" – мы увидим адрес, по которому можно обращаться к репозиторию по протоколу SSH</a:t>
            </a:r>
          </a:p>
          <a:p>
            <a:pPr marL="0" indent="0">
              <a:buNone/>
            </a:pPr>
            <a:endParaRPr lang="ru-RU" sz="1200" dirty="0"/>
          </a:p>
          <a:p>
            <a:pPr marL="0" indent="0">
              <a:buNone/>
            </a:pPr>
            <a:endParaRPr lang="ru-RU" sz="1200" dirty="0"/>
          </a:p>
          <a:p>
            <a:pPr marL="0" indent="0">
              <a:buNone/>
            </a:pPr>
            <a:endParaRPr lang="ru-RU" sz="1200" dirty="0"/>
          </a:p>
          <a:p>
            <a:pPr marL="0" indent="0">
              <a:buNone/>
            </a:pPr>
            <a:endParaRPr lang="en-US" sz="1200" u="sng" dirty="0"/>
          </a:p>
          <a:p>
            <a:pPr marL="0" indent="0">
              <a:buNone/>
            </a:pPr>
            <a:endParaRPr lang="en-US" sz="1200" u="sng" dirty="0"/>
          </a:p>
          <a:p>
            <a:pPr marL="0" indent="0">
              <a:buNone/>
            </a:pPr>
            <a:endParaRPr lang="en-US" sz="1200" dirty="0"/>
          </a:p>
          <a:p>
            <a:pPr marL="0" indent="0">
              <a:buNone/>
            </a:pPr>
            <a:r>
              <a:rPr lang="ru-RU" sz="1200" u="sng" dirty="0"/>
              <a:t>Теперь перезапустим терминал и настроим работу с удалённым репозиторием по протоколу SSH.</a:t>
            </a:r>
          </a:p>
          <a:p>
            <a:pPr marL="0" indent="0">
              <a:buNone/>
            </a:pPr>
            <a:r>
              <a:rPr lang="en-US" sz="1200" b="1" dirty="0"/>
              <a:t>cd my-shop-project</a:t>
            </a:r>
            <a:endParaRPr lang="ru-RU" sz="1200" b="1" dirty="0"/>
          </a:p>
          <a:p>
            <a:pPr marL="0" indent="0">
              <a:buNone/>
            </a:pPr>
            <a:r>
              <a:rPr lang="ru-RU" sz="1200" u="sng" dirty="0"/>
              <a:t>Посмотрим сначала, какие удалённые репозитории зарегистрированы в нашей системе:</a:t>
            </a:r>
            <a:endParaRPr lang="en-US" sz="1200" u="sng" dirty="0"/>
          </a:p>
          <a:p>
            <a:pPr marL="0" indent="0">
              <a:buNone/>
            </a:pPr>
            <a:r>
              <a:rPr lang="en-US" sz="1200" b="1" dirty="0"/>
              <a:t>git remote show 	</a:t>
            </a:r>
            <a:r>
              <a:rPr lang="en-US" sz="1200" b="1" dirty="0">
                <a:solidFill>
                  <a:schemeClr val="bg1">
                    <a:lumMod val="50000"/>
                  </a:schemeClr>
                </a:solidFill>
              </a:rPr>
              <a:t># </a:t>
            </a:r>
            <a:r>
              <a:rPr lang="en-US" sz="1200" dirty="0">
                <a:solidFill>
                  <a:schemeClr val="bg1">
                    <a:lumMod val="50000"/>
                  </a:schemeClr>
                </a:solidFill>
              </a:rPr>
              <a:t>origin</a:t>
            </a:r>
          </a:p>
          <a:p>
            <a:pPr marL="0" indent="0">
              <a:buNone/>
            </a:pPr>
            <a:endParaRPr lang="en-US" sz="1200" dirty="0"/>
          </a:p>
          <a:p>
            <a:pPr marL="0" indent="0">
              <a:buNone/>
            </a:pPr>
            <a:endParaRPr lang="en-US" sz="1200" dirty="0"/>
          </a:p>
        </p:txBody>
      </p:sp>
      <p:pic>
        <p:nvPicPr>
          <p:cNvPr id="3" name="Picture 2">
            <a:extLst>
              <a:ext uri="{FF2B5EF4-FFF2-40B4-BE49-F238E27FC236}">
                <a16:creationId xmlns:a16="http://schemas.microsoft.com/office/drawing/2014/main" id="{E510A4DC-681A-4257-B92D-1182992005B5}"/>
              </a:ext>
            </a:extLst>
          </p:cNvPr>
          <p:cNvPicPr>
            <a:picLocks noChangeAspect="1"/>
          </p:cNvPicPr>
          <p:nvPr/>
        </p:nvPicPr>
        <p:blipFill>
          <a:blip r:embed="rId2"/>
          <a:stretch>
            <a:fillRect/>
          </a:stretch>
        </p:blipFill>
        <p:spPr>
          <a:xfrm>
            <a:off x="775318" y="1402005"/>
            <a:ext cx="2243090" cy="1448396"/>
          </a:xfrm>
          <a:prstGeom prst="rect">
            <a:avLst/>
          </a:prstGeom>
        </p:spPr>
      </p:pic>
      <p:pic>
        <p:nvPicPr>
          <p:cNvPr id="6" name="Picture 5">
            <a:extLst>
              <a:ext uri="{FF2B5EF4-FFF2-40B4-BE49-F238E27FC236}">
                <a16:creationId xmlns:a16="http://schemas.microsoft.com/office/drawing/2014/main" id="{AA40B009-EB2A-4358-A4C9-17B8663426C9}"/>
              </a:ext>
            </a:extLst>
          </p:cNvPr>
          <p:cNvPicPr>
            <a:picLocks noChangeAspect="1"/>
          </p:cNvPicPr>
          <p:nvPr/>
        </p:nvPicPr>
        <p:blipFill>
          <a:blip r:embed="rId3"/>
          <a:stretch>
            <a:fillRect/>
          </a:stretch>
        </p:blipFill>
        <p:spPr>
          <a:xfrm>
            <a:off x="775318" y="3194479"/>
            <a:ext cx="2881618" cy="1766658"/>
          </a:xfrm>
          <a:prstGeom prst="rect">
            <a:avLst/>
          </a:prstGeom>
        </p:spPr>
      </p:pic>
    </p:spTree>
    <p:extLst>
      <p:ext uri="{BB962C8B-B14F-4D97-AF65-F5344CB8AC3E}">
        <p14:creationId xmlns:p14="http://schemas.microsoft.com/office/powerpoint/2010/main" val="27799265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Доступ к GitHub с помощью SSH-ключа</a:t>
            </a:r>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10656"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u="sng" dirty="0"/>
              <a:t>Переключим репозиторий, доступный по ссылке origin, с протокола HTTPS на протокол SSH. </a:t>
            </a:r>
          </a:p>
          <a:p>
            <a:pPr marL="0" indent="0">
              <a:buNone/>
            </a:pPr>
            <a:r>
              <a:rPr lang="en-US" sz="1200" b="1" dirty="0"/>
              <a:t>git remote set-url origin </a:t>
            </a:r>
            <a:r>
              <a:rPr lang="ru-RU" sz="1200" b="1" dirty="0"/>
              <a:t>ваша </a:t>
            </a:r>
            <a:r>
              <a:rPr lang="en-US" sz="1200" b="1" dirty="0"/>
              <a:t>ssh</a:t>
            </a:r>
            <a:r>
              <a:rPr lang="ru-RU" sz="1200" b="1" dirty="0"/>
              <a:t>-ссылка</a:t>
            </a:r>
            <a:r>
              <a:rPr lang="en-US" sz="1200" b="1" dirty="0"/>
              <a:t> </a:t>
            </a:r>
            <a:r>
              <a:rPr lang="en-US" sz="1200" dirty="0">
                <a:solidFill>
                  <a:schemeClr val="bg1">
                    <a:lumMod val="50000"/>
                  </a:schemeClr>
                </a:solidFill>
              </a:rPr>
              <a:t># </a:t>
            </a:r>
            <a:r>
              <a:rPr lang="ru-RU" sz="1200" dirty="0">
                <a:solidFill>
                  <a:schemeClr val="bg1">
                    <a:lumMod val="50000"/>
                  </a:schemeClr>
                </a:solidFill>
              </a:rPr>
              <a:t>например</a:t>
            </a:r>
            <a:r>
              <a:rPr lang="en-US" sz="1200" dirty="0">
                <a:solidFill>
                  <a:schemeClr val="bg1">
                    <a:lumMod val="50000"/>
                  </a:schemeClr>
                </a:solidFill>
              </a:rPr>
              <a:t>:</a:t>
            </a:r>
            <a:r>
              <a:rPr lang="ru-RU" sz="1200" dirty="0">
                <a:solidFill>
                  <a:schemeClr val="bg1">
                    <a:lumMod val="50000"/>
                  </a:schemeClr>
                </a:solidFill>
              </a:rPr>
              <a:t> </a:t>
            </a:r>
            <a:r>
              <a:rPr lang="en-US" sz="1200" b="1" dirty="0">
                <a:solidFill>
                  <a:schemeClr val="bg1">
                    <a:lumMod val="50000"/>
                  </a:schemeClr>
                </a:solidFill>
              </a:rPr>
              <a:t>git remote set-url origin</a:t>
            </a:r>
            <a:r>
              <a:rPr lang="ru-RU" sz="1200" b="1" dirty="0">
                <a:solidFill>
                  <a:schemeClr val="bg1">
                    <a:lumMod val="50000"/>
                  </a:schemeClr>
                </a:solidFill>
              </a:rPr>
              <a:t> </a:t>
            </a:r>
            <a:r>
              <a:rPr lang="en-US" sz="1200" b="1" dirty="0">
                <a:solidFill>
                  <a:schemeClr val="bg1">
                    <a:lumMod val="50000"/>
                  </a:schemeClr>
                </a:solidFill>
              </a:rPr>
              <a:t>git@github.com:be-tester1</a:t>
            </a:r>
            <a:r>
              <a:rPr lang="ru-RU" sz="1200" b="1" dirty="0">
                <a:solidFill>
                  <a:schemeClr val="bg1">
                    <a:lumMod val="50000"/>
                  </a:schemeClr>
                </a:solidFill>
              </a:rPr>
              <a:t>23</a:t>
            </a:r>
            <a:r>
              <a:rPr lang="en-US" sz="1200" b="1" dirty="0">
                <a:solidFill>
                  <a:schemeClr val="bg1">
                    <a:lumMod val="50000"/>
                  </a:schemeClr>
                </a:solidFill>
              </a:rPr>
              <a:t>/book_store_testing_1.git</a:t>
            </a:r>
            <a:endParaRPr lang="ru-RU" sz="1200" b="1" dirty="0">
              <a:solidFill>
                <a:schemeClr val="bg1">
                  <a:lumMod val="50000"/>
                </a:schemeClr>
              </a:solidFill>
            </a:endParaRPr>
          </a:p>
          <a:p>
            <a:pPr marL="0" indent="0">
              <a:buNone/>
            </a:pPr>
            <a:r>
              <a:rPr lang="ru-RU" sz="1200" dirty="0"/>
              <a:t>После этого мы сможем "пушить" коммиты по протоколу SSH, без ввода имени и пароля. Для демонстрации</a:t>
            </a:r>
            <a:r>
              <a:rPr lang="en-US" sz="1200" dirty="0"/>
              <a:t> </a:t>
            </a:r>
            <a:r>
              <a:rPr lang="ru-RU" sz="1200" dirty="0"/>
              <a:t>этого изменим файл readme.md и зафиксируем изменения в удалённом репозитории.</a:t>
            </a:r>
            <a:endParaRPr lang="en-US" sz="1200" dirty="0"/>
          </a:p>
          <a:p>
            <a:pPr marL="0" indent="0">
              <a:buNone/>
            </a:pPr>
            <a:r>
              <a:rPr lang="ru-RU" sz="1200" dirty="0"/>
              <a:t>Как уже отмечалось ранее, файл readme.md должен содержать описание проекта, а текст в нем должен быть записан в формате Markdown. Markdown – это очень простой язык разметки, позволяющий выделять заголовки различных уровней, списки, ссылки, картинки. </a:t>
            </a:r>
            <a:r>
              <a:rPr lang="en-US" sz="1200" dirty="0">
                <a:hlinkClick r:id="rId2"/>
              </a:rPr>
              <a:t>https://github.com/adam-p/markdown-here/wiki/Markdown-Cheatsheet</a:t>
            </a:r>
            <a:r>
              <a:rPr lang="en-US" sz="1200" dirty="0"/>
              <a:t>  </a:t>
            </a:r>
          </a:p>
          <a:p>
            <a:pPr marL="0" indent="0">
              <a:buNone/>
            </a:pPr>
            <a:r>
              <a:rPr lang="ru-RU" sz="1200" u="sng" dirty="0"/>
              <a:t>Запишем в readme.md заголовок первого уровня, список из двух элементов и команду на языке bash</a:t>
            </a:r>
            <a:r>
              <a:rPr lang="en-US" sz="1200" u="sng" dirty="0"/>
              <a:t>,</a:t>
            </a:r>
            <a:r>
              <a:rPr lang="ru-RU" sz="1200" u="sng" dirty="0"/>
              <a:t> используя</a:t>
            </a:r>
            <a:r>
              <a:rPr lang="en-US" sz="1200" u="sng" dirty="0"/>
              <a:t> cheatsheet</a:t>
            </a:r>
            <a:r>
              <a:rPr lang="ru-RU" sz="1200" u="sng" dirty="0"/>
              <a:t> по ссылке выше: </a:t>
            </a:r>
          </a:p>
          <a:p>
            <a:pPr marL="0" indent="0">
              <a:buNone/>
            </a:pPr>
            <a:r>
              <a:rPr lang="en-US" sz="1200" b="1" dirty="0"/>
              <a:t>notepad readme.md </a:t>
            </a:r>
            <a:r>
              <a:rPr lang="ru-RU" sz="1200" dirty="0"/>
              <a:t> </a:t>
            </a:r>
          </a:p>
          <a:p>
            <a:pPr marL="0" indent="0">
              <a:buNone/>
            </a:pPr>
            <a:r>
              <a:rPr lang="ru-RU" sz="1200" u="sng" dirty="0"/>
              <a:t>Скопируем содержимое ниже в файл, сохраните и закройте файл</a:t>
            </a:r>
            <a:r>
              <a:rPr lang="en-US" sz="1200" dirty="0"/>
              <a:t>:</a:t>
            </a:r>
          </a:p>
          <a:p>
            <a:pPr marL="0" indent="0">
              <a:buNone/>
            </a:pPr>
            <a:r>
              <a:rPr lang="en-US" sz="1400" b="1" dirty="0">
                <a:solidFill>
                  <a:schemeClr val="bg1">
                    <a:lumMod val="50000"/>
                  </a:schemeClr>
                </a:solidFill>
              </a:rPr>
              <a:t>"</a:t>
            </a:r>
            <a:r>
              <a:rPr lang="ru-RU" sz="1200" dirty="0"/>
              <a:t># Это текстовый проект для школы тестировщиков be-tester</a:t>
            </a:r>
          </a:p>
          <a:p>
            <a:pPr marL="0" indent="0">
              <a:spcBef>
                <a:spcPts val="0"/>
              </a:spcBef>
              <a:spcAft>
                <a:spcPts val="0"/>
              </a:spcAft>
              <a:buNone/>
            </a:pPr>
            <a:endParaRPr lang="ru-RU" sz="1200" dirty="0"/>
          </a:p>
          <a:p>
            <a:pPr marL="0" indent="0">
              <a:buNone/>
            </a:pPr>
            <a:r>
              <a:rPr lang="ru-RU" sz="1200" dirty="0"/>
              <a:t>+ Показать как работает гит</a:t>
            </a:r>
          </a:p>
          <a:p>
            <a:pPr marL="0" indent="0">
              <a:buNone/>
            </a:pPr>
            <a:r>
              <a:rPr lang="ru-RU" sz="1200" dirty="0"/>
              <a:t>+ Познакомиться с основными командами</a:t>
            </a:r>
          </a:p>
          <a:p>
            <a:pPr marL="0" indent="0">
              <a:spcBef>
                <a:spcPts val="0"/>
              </a:spcBef>
              <a:spcAft>
                <a:spcPts val="0"/>
              </a:spcAft>
              <a:buNone/>
            </a:pPr>
            <a:endParaRPr lang="ru-RU" sz="1200" dirty="0"/>
          </a:p>
          <a:p>
            <a:pPr marL="0" indent="0">
              <a:buNone/>
            </a:pPr>
            <a:r>
              <a:rPr lang="ru-RU" sz="1200" dirty="0"/>
              <a:t>```bash</a:t>
            </a:r>
          </a:p>
          <a:p>
            <a:pPr marL="0" indent="0">
              <a:buNone/>
            </a:pPr>
            <a:r>
              <a:rPr lang="ru-RU" sz="1200" dirty="0"/>
              <a:t>$ git clone git@github...</a:t>
            </a:r>
            <a:r>
              <a:rPr lang="en-US" sz="1400" b="1" dirty="0">
                <a:solidFill>
                  <a:schemeClr val="bg1">
                    <a:lumMod val="50000"/>
                  </a:schemeClr>
                </a:solidFill>
              </a:rPr>
              <a:t>"</a:t>
            </a:r>
            <a:endParaRPr lang="ru-RU" sz="1400" b="1" dirty="0">
              <a:solidFill>
                <a:schemeClr val="bg1">
                  <a:lumMod val="50000"/>
                </a:schemeClr>
              </a:solidFill>
            </a:endParaRPr>
          </a:p>
          <a:p>
            <a:pPr marL="0" indent="0">
              <a:buNone/>
            </a:pPr>
            <a:endParaRPr lang="en-US" sz="1200" dirty="0"/>
          </a:p>
          <a:p>
            <a:pPr marL="0" indent="0">
              <a:buNone/>
            </a:pPr>
            <a:endParaRPr lang="en-US" sz="1200" dirty="0"/>
          </a:p>
          <a:p>
            <a:pPr marL="0" indent="0">
              <a:buNone/>
            </a:pPr>
            <a:endParaRPr lang="en-US" sz="1200" dirty="0"/>
          </a:p>
        </p:txBody>
      </p:sp>
    </p:spTree>
    <p:extLst>
      <p:ext uri="{BB962C8B-B14F-4D97-AF65-F5344CB8AC3E}">
        <p14:creationId xmlns:p14="http://schemas.microsoft.com/office/powerpoint/2010/main" val="377879892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4200" dirty="0"/>
              <a:t>Доступ к GitHub с помощью SSH-ключа</a:t>
            </a:r>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10656"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u="sng" dirty="0"/>
              <a:t>Запишем изменённые файлы в индекс и выполним новый коммит: </a:t>
            </a:r>
            <a:endParaRPr lang="en-US" sz="1200" u="sng" dirty="0"/>
          </a:p>
          <a:p>
            <a:pPr marL="0" indent="0">
              <a:buNone/>
            </a:pPr>
            <a:r>
              <a:rPr lang="en-US" sz="1200" b="1" dirty="0"/>
              <a:t>git add .</a:t>
            </a:r>
          </a:p>
          <a:p>
            <a:pPr marL="0" indent="0">
              <a:buNone/>
            </a:pPr>
            <a:r>
              <a:rPr lang="en-US" sz="1200" b="1" dirty="0"/>
              <a:t>git commit -m 'readme'</a:t>
            </a:r>
            <a:endParaRPr lang="ru-RU" sz="1200" dirty="0"/>
          </a:p>
          <a:p>
            <a:pPr marL="0" indent="0">
              <a:buNone/>
            </a:pPr>
            <a:r>
              <a:rPr lang="ru-RU" sz="1200" u="sng" dirty="0"/>
              <a:t>"Запушим" наш коммит в удалённый репозиторий (при первом обращении к GitHub по протоколу SSH система спросит, доверяем ли мы серверу, –</a:t>
            </a:r>
            <a:r>
              <a:rPr lang="en-US" sz="1200" u="sng" dirty="0"/>
              <a:t> </a:t>
            </a:r>
            <a:r>
              <a:rPr lang="ru-RU" sz="1200" u="sng" dirty="0"/>
              <a:t>напишем "yes"): </a:t>
            </a:r>
            <a:endParaRPr lang="en-US" sz="1200" u="sng" dirty="0"/>
          </a:p>
          <a:p>
            <a:pPr marL="0" indent="0">
              <a:buNone/>
            </a:pPr>
            <a:r>
              <a:rPr lang="en-US" sz="1200" b="1" dirty="0"/>
              <a:t>git push </a:t>
            </a:r>
          </a:p>
          <a:p>
            <a:pPr marL="0" indent="0">
              <a:buNone/>
            </a:pPr>
            <a:endParaRPr lang="en-US" sz="1200" dirty="0"/>
          </a:p>
          <a:p>
            <a:pPr marL="0" indent="0">
              <a:buNone/>
            </a:pPr>
            <a:endParaRPr lang="ru-RU" sz="1200" dirty="0"/>
          </a:p>
          <a:p>
            <a:pPr marL="0" indent="0">
              <a:buNone/>
            </a:pPr>
            <a:endParaRPr lang="ru-RU" sz="1200" dirty="0"/>
          </a:p>
          <a:p>
            <a:pPr marL="0" indent="0">
              <a:buNone/>
            </a:pPr>
            <a:r>
              <a:rPr lang="ru-RU" sz="1200" dirty="0"/>
              <a:t>Теперь форматированное содержимое файла readme.md будет отображаться на веб-странице нашего проекта на GitHub. </a:t>
            </a:r>
            <a:endParaRPr lang="en-US" sz="1200" dirty="0"/>
          </a:p>
          <a:p>
            <a:pPr marL="0" indent="0">
              <a:buNone/>
            </a:pPr>
            <a:endParaRPr lang="en-US" sz="1200" dirty="0"/>
          </a:p>
        </p:txBody>
      </p:sp>
      <p:pic>
        <p:nvPicPr>
          <p:cNvPr id="3" name="Picture 2">
            <a:extLst>
              <a:ext uri="{FF2B5EF4-FFF2-40B4-BE49-F238E27FC236}">
                <a16:creationId xmlns:a16="http://schemas.microsoft.com/office/drawing/2014/main" id="{41736AE0-F979-4B10-9E7D-C00E5D24F576}"/>
              </a:ext>
            </a:extLst>
          </p:cNvPr>
          <p:cNvPicPr>
            <a:picLocks noChangeAspect="1"/>
          </p:cNvPicPr>
          <p:nvPr/>
        </p:nvPicPr>
        <p:blipFill>
          <a:blip r:embed="rId2"/>
          <a:stretch>
            <a:fillRect/>
          </a:stretch>
        </p:blipFill>
        <p:spPr>
          <a:xfrm>
            <a:off x="748685" y="2604973"/>
            <a:ext cx="2923862" cy="963850"/>
          </a:xfrm>
          <a:prstGeom prst="rect">
            <a:avLst/>
          </a:prstGeom>
        </p:spPr>
      </p:pic>
      <p:pic>
        <p:nvPicPr>
          <p:cNvPr id="5" name="Picture 4">
            <a:extLst>
              <a:ext uri="{FF2B5EF4-FFF2-40B4-BE49-F238E27FC236}">
                <a16:creationId xmlns:a16="http://schemas.microsoft.com/office/drawing/2014/main" id="{7A3DF613-B7E2-480E-A1DC-F8361E0AD6F8}"/>
              </a:ext>
            </a:extLst>
          </p:cNvPr>
          <p:cNvPicPr>
            <a:picLocks noChangeAspect="1"/>
          </p:cNvPicPr>
          <p:nvPr/>
        </p:nvPicPr>
        <p:blipFill>
          <a:blip r:embed="rId3"/>
          <a:stretch>
            <a:fillRect/>
          </a:stretch>
        </p:blipFill>
        <p:spPr>
          <a:xfrm>
            <a:off x="748685" y="3751974"/>
            <a:ext cx="3609912" cy="2595232"/>
          </a:xfrm>
          <a:prstGeom prst="rect">
            <a:avLst/>
          </a:prstGeom>
        </p:spPr>
      </p:pic>
      <p:sp>
        <p:nvSpPr>
          <p:cNvPr id="6" name="TextBox 5">
            <a:extLst>
              <a:ext uri="{FF2B5EF4-FFF2-40B4-BE49-F238E27FC236}">
                <a16:creationId xmlns:a16="http://schemas.microsoft.com/office/drawing/2014/main" id="{4206F675-F0A8-4AAE-98DD-34ECDA276516}"/>
              </a:ext>
            </a:extLst>
          </p:cNvPr>
          <p:cNvSpPr txBox="1"/>
          <p:nvPr/>
        </p:nvSpPr>
        <p:spPr>
          <a:xfrm>
            <a:off x="4690710" y="4545367"/>
            <a:ext cx="3142695" cy="707886"/>
          </a:xfrm>
          <a:prstGeom prst="rect">
            <a:avLst/>
          </a:prstGeom>
          <a:noFill/>
        </p:spPr>
        <p:txBody>
          <a:bodyPr wrap="square" rtlCol="0">
            <a:spAutoFit/>
          </a:bodyPr>
          <a:lstStyle/>
          <a:p>
            <a:r>
              <a:rPr lang="ru-RU" sz="1000" dirty="0">
                <a:solidFill>
                  <a:schemeClr val="bg1">
                    <a:lumMod val="50000"/>
                  </a:schemeClr>
                </a:solidFill>
              </a:rPr>
              <a:t>Файл readme.md обязательно должен быть в проекте, размещённом на GitHub. В нем можно писать документацию к проекту, приводить примеры кода, вставлять ссылки. </a:t>
            </a:r>
          </a:p>
        </p:txBody>
      </p:sp>
    </p:spTree>
    <p:extLst>
      <p:ext uri="{BB962C8B-B14F-4D97-AF65-F5344CB8AC3E}">
        <p14:creationId xmlns:p14="http://schemas.microsoft.com/office/powerpoint/2010/main" val="336227486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3800" dirty="0"/>
              <a:t>Использование </a:t>
            </a:r>
            <a:r>
              <a:rPr lang="en-US" sz="3800" dirty="0"/>
              <a:t>GitHub Pages</a:t>
            </a:r>
            <a:r>
              <a:rPr lang="ru-RU" sz="3800" dirty="0"/>
              <a:t> для хостинга проектов</a:t>
            </a:r>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10656"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dirty="0"/>
              <a:t>GitHub можно использовать для бесплатного статического хостинга своих проектов, не требующих серверной части. Другими словами, если ваш проект содержит только фронтенд (работает в браузере), то вы можете опубликовать его на GitHub и он будет доступен всему миру как веб-страница.</a:t>
            </a:r>
          </a:p>
          <a:p>
            <a:pPr marL="0" indent="0">
              <a:buNone/>
            </a:pPr>
            <a:r>
              <a:rPr lang="ru-RU" sz="1200" dirty="0"/>
              <a:t>Для публикации нашего проекта создадим новый публичный репозиторий со специальным именем формата </a:t>
            </a:r>
            <a:r>
              <a:rPr lang="ru-RU" sz="1200" b="1" dirty="0"/>
              <a:t>имя_пользователя.github.io</a:t>
            </a:r>
            <a:r>
              <a:rPr lang="ru-RU" sz="1200" dirty="0"/>
              <a:t>, то есть начинаться оно должно с имени аккаунта, а заканчиваться на </a:t>
            </a:r>
            <a:r>
              <a:rPr lang="en-US" sz="1200" dirty="0"/>
              <a:t>"</a:t>
            </a:r>
            <a:r>
              <a:rPr lang="ru-RU" sz="1200" b="1" dirty="0"/>
              <a:t>github.io</a:t>
            </a:r>
            <a:r>
              <a:rPr lang="en-US" sz="1200" b="1" dirty="0"/>
              <a:t>"</a:t>
            </a:r>
            <a:r>
              <a:rPr lang="ru-RU" sz="1200" dirty="0"/>
              <a:t> (</a:t>
            </a:r>
            <a:r>
              <a:rPr lang="ru-RU" sz="1200" b="1" dirty="0"/>
              <a:t>username.github.io</a:t>
            </a:r>
            <a:r>
              <a:rPr lang="ru-RU" sz="1200" dirty="0"/>
              <a:t>).</a:t>
            </a:r>
          </a:p>
          <a:p>
            <a:pPr marL="0" indent="0">
              <a:buNone/>
            </a:pPr>
            <a:endParaRPr lang="ru-RU" sz="1200" dirty="0"/>
          </a:p>
          <a:p>
            <a:pPr marL="0" indent="0">
              <a:buNone/>
            </a:pPr>
            <a:endParaRPr lang="ru-RU" sz="1200" dirty="0"/>
          </a:p>
          <a:p>
            <a:pPr marL="0" indent="0">
              <a:buNone/>
            </a:pPr>
            <a:endParaRPr lang="ru-RU" sz="1200" dirty="0"/>
          </a:p>
          <a:p>
            <a:pPr marL="0" indent="0">
              <a:buNone/>
            </a:pPr>
            <a:endParaRPr lang="ru-RU" sz="1200" dirty="0"/>
          </a:p>
          <a:p>
            <a:pPr marL="0" indent="0">
              <a:buNone/>
            </a:pPr>
            <a:endParaRPr lang="ru-RU" sz="1200" dirty="0"/>
          </a:p>
          <a:p>
            <a:pPr marL="0" indent="0">
              <a:buNone/>
            </a:pPr>
            <a:endParaRPr lang="ru-RU"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ru-RU" sz="1200" dirty="0"/>
              <a:t>Репозитории с подобными именами считываются сервисом GitHub Pages, позволяющим посмотреть их содержимое по прямой ссылке непосредственно в браузере (не нужно предварительно клонировать репозиторий и собирать проект).</a:t>
            </a:r>
          </a:p>
          <a:p>
            <a:pPr marL="0" indent="0">
              <a:buNone/>
            </a:pPr>
            <a:endParaRPr lang="en-US" sz="1200" dirty="0"/>
          </a:p>
          <a:p>
            <a:pPr marL="0" indent="0">
              <a:buNone/>
            </a:pPr>
            <a:endParaRPr lang="ru-RU" sz="1200" dirty="0"/>
          </a:p>
          <a:p>
            <a:pPr marL="0" indent="0">
              <a:buNone/>
            </a:pPr>
            <a:endParaRPr lang="ru-RU" sz="1200" dirty="0"/>
          </a:p>
          <a:p>
            <a:pPr marL="0" indent="0">
              <a:buNone/>
            </a:pPr>
            <a:endParaRPr lang="en-US" sz="1200" dirty="0"/>
          </a:p>
        </p:txBody>
      </p:sp>
      <p:pic>
        <p:nvPicPr>
          <p:cNvPr id="9" name="Picture 8">
            <a:extLst>
              <a:ext uri="{FF2B5EF4-FFF2-40B4-BE49-F238E27FC236}">
                <a16:creationId xmlns:a16="http://schemas.microsoft.com/office/drawing/2014/main" id="{27A22CE8-FF11-403F-8103-19FA179B332B}"/>
              </a:ext>
            </a:extLst>
          </p:cNvPr>
          <p:cNvPicPr>
            <a:picLocks noChangeAspect="1"/>
          </p:cNvPicPr>
          <p:nvPr/>
        </p:nvPicPr>
        <p:blipFill>
          <a:blip r:embed="rId2"/>
          <a:stretch>
            <a:fillRect/>
          </a:stretch>
        </p:blipFill>
        <p:spPr>
          <a:xfrm>
            <a:off x="757561" y="2126975"/>
            <a:ext cx="3628008" cy="2915542"/>
          </a:xfrm>
          <a:prstGeom prst="rect">
            <a:avLst/>
          </a:prstGeom>
        </p:spPr>
      </p:pic>
    </p:spTree>
    <p:extLst>
      <p:ext uri="{BB962C8B-B14F-4D97-AF65-F5344CB8AC3E}">
        <p14:creationId xmlns:p14="http://schemas.microsoft.com/office/powerpoint/2010/main" val="38943252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3800" dirty="0"/>
              <a:t>Использование </a:t>
            </a:r>
            <a:r>
              <a:rPr lang="en-US" sz="3800" dirty="0"/>
              <a:t>GitHub Pages</a:t>
            </a:r>
            <a:r>
              <a:rPr lang="ru-RU" sz="3800" dirty="0"/>
              <a:t> для хостинга проектов</a:t>
            </a:r>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10656"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u="sng" dirty="0"/>
              <a:t>После создания репозитория скопируем в буфер его </a:t>
            </a:r>
            <a:r>
              <a:rPr lang="en-US" sz="1200" b="1" u="sng" dirty="0"/>
              <a:t>SSH</a:t>
            </a:r>
            <a:r>
              <a:rPr lang="en-US" sz="1200" u="sng" dirty="0"/>
              <a:t> </a:t>
            </a:r>
            <a:r>
              <a:rPr lang="ru-RU" sz="1200" u="sng" dirty="0"/>
              <a:t>адрес</a:t>
            </a:r>
            <a:r>
              <a:rPr lang="en-US" sz="1200" dirty="0"/>
              <a:t>:</a:t>
            </a:r>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ru-RU" sz="1200" u="sng" dirty="0"/>
              <a:t>Запустим терминал, перейдём в папку </a:t>
            </a:r>
            <a:r>
              <a:rPr lang="en-US" sz="1200" b="1" u="sng" dirty="0"/>
              <a:t>my</a:t>
            </a:r>
            <a:r>
              <a:rPr lang="ru-RU" sz="1200" b="1" u="sng" dirty="0"/>
              <a:t>-shop-project </a:t>
            </a:r>
            <a:r>
              <a:rPr lang="ru-RU" sz="1200" u="sng" dirty="0"/>
              <a:t>с нашим проектом и проверим её содержимое</a:t>
            </a:r>
            <a:r>
              <a:rPr lang="ru-RU" sz="1200" dirty="0"/>
              <a:t>: </a:t>
            </a:r>
            <a:r>
              <a:rPr lang="en-US" sz="1200" dirty="0"/>
              <a:t> </a:t>
            </a:r>
            <a:r>
              <a:rPr lang="en-US" sz="1200" b="1" dirty="0"/>
              <a:t>ls –la</a:t>
            </a:r>
          </a:p>
          <a:p>
            <a:pPr marL="0" indent="0">
              <a:buNone/>
            </a:pPr>
            <a:endParaRPr lang="en-US" sz="1200" b="1" dirty="0"/>
          </a:p>
          <a:p>
            <a:pPr marL="0" indent="0">
              <a:buNone/>
            </a:pPr>
            <a:endParaRPr lang="en-US" sz="1200" b="1" dirty="0"/>
          </a:p>
          <a:p>
            <a:pPr marL="0" indent="0">
              <a:buNone/>
            </a:pPr>
            <a:endParaRPr lang="en-US" sz="1200" b="1" dirty="0"/>
          </a:p>
          <a:p>
            <a:pPr marL="0" indent="0">
              <a:buNone/>
            </a:pPr>
            <a:endParaRPr lang="en-US" sz="1200" b="1" dirty="0"/>
          </a:p>
          <a:p>
            <a:pPr marL="0" indent="0">
              <a:buNone/>
            </a:pPr>
            <a:r>
              <a:rPr lang="ru-RU" sz="1200" u="sng" dirty="0"/>
              <a:t>Откроем в текстовом редакторе файл index.html и заменим его содержимое на строку </a:t>
            </a:r>
            <a:r>
              <a:rPr lang="en-US" sz="1200" u="sng" dirty="0"/>
              <a:t>"</a:t>
            </a:r>
            <a:r>
              <a:rPr lang="ru-RU" sz="1200" u="sng" dirty="0"/>
              <a:t>&lt;h1&gt;Hello from GitHubPages&lt;/h1&gt;</a:t>
            </a:r>
            <a:r>
              <a:rPr lang="en-US" sz="1200" u="sng" dirty="0"/>
              <a:t>"</a:t>
            </a:r>
            <a:r>
              <a:rPr lang="en-US" sz="1200" dirty="0"/>
              <a:t>:</a:t>
            </a:r>
            <a:endParaRPr lang="ru-RU" sz="1200" dirty="0"/>
          </a:p>
          <a:p>
            <a:pPr marL="0" indent="0">
              <a:buNone/>
            </a:pPr>
            <a:r>
              <a:rPr lang="ru-RU" sz="1200" u="sng" dirty="0"/>
              <a:t>Добавим еще один удалённый репозиторий с псевдонимом pages, который будет ссылаться на созданный</a:t>
            </a:r>
            <a:r>
              <a:rPr lang="en-US" sz="1200" u="sng" dirty="0"/>
              <a:t> </a:t>
            </a:r>
            <a:r>
              <a:rPr lang="ru-RU" sz="1200" u="sng" dirty="0"/>
              <a:t>нами репозиторий с именем </a:t>
            </a:r>
            <a:r>
              <a:rPr lang="ru-RU" sz="1200" b="1" u="sng" dirty="0"/>
              <a:t>ваш </a:t>
            </a:r>
            <a:r>
              <a:rPr lang="en-US" sz="1200" b="1" u="sng" dirty="0"/>
              <a:t>username</a:t>
            </a:r>
            <a:r>
              <a:rPr lang="ru-RU" sz="1200" b="1" u="sng" dirty="0"/>
              <a:t>.github.io </a:t>
            </a:r>
            <a:r>
              <a:rPr lang="ru-RU" sz="1200" u="sng" dirty="0"/>
              <a:t>(адрес этого репозитория мы скопировали в буфер с сервера GitHub):</a:t>
            </a:r>
            <a:endParaRPr lang="en-US" sz="1200" u="sng" dirty="0"/>
          </a:p>
          <a:p>
            <a:pPr marL="0" indent="0">
              <a:buNone/>
            </a:pPr>
            <a:r>
              <a:rPr lang="fr-FR" sz="1200" b="1" dirty="0"/>
              <a:t>git remote add pages git@github.com:</a:t>
            </a:r>
            <a:r>
              <a:rPr lang="fr-FR" sz="1200" b="1" u="sng" dirty="0"/>
              <a:t>username</a:t>
            </a:r>
            <a:r>
              <a:rPr lang="fr-FR" sz="1200" b="1" dirty="0"/>
              <a:t>/</a:t>
            </a:r>
            <a:r>
              <a:rPr lang="fr-FR" sz="1200" b="1" u="sng" dirty="0"/>
              <a:t>username</a:t>
            </a:r>
            <a:r>
              <a:rPr lang="fr-FR" sz="1200" b="1" dirty="0"/>
              <a:t>.github.io.git  </a:t>
            </a:r>
            <a:r>
              <a:rPr lang="fr-FR" sz="1200" dirty="0"/>
              <a:t>	</a:t>
            </a:r>
            <a:r>
              <a:rPr lang="fr-FR" sz="1200" dirty="0">
                <a:solidFill>
                  <a:schemeClr val="bg1">
                    <a:lumMod val="50000"/>
                  </a:schemeClr>
                </a:solidFill>
              </a:rPr>
              <a:t>#</a:t>
            </a:r>
            <a:r>
              <a:rPr lang="ru-RU" sz="1200" dirty="0">
                <a:solidFill>
                  <a:schemeClr val="bg1">
                    <a:lumMod val="50000"/>
                  </a:schemeClr>
                </a:solidFill>
              </a:rPr>
              <a:t> можно скопировать </a:t>
            </a:r>
            <a:r>
              <a:rPr lang="en-US" sz="1200" dirty="0">
                <a:solidFill>
                  <a:schemeClr val="bg1">
                    <a:lumMod val="50000"/>
                  </a:schemeClr>
                </a:solidFill>
              </a:rPr>
              <a:t>ssh </a:t>
            </a:r>
            <a:r>
              <a:rPr lang="ru-RU" sz="1200" dirty="0">
                <a:solidFill>
                  <a:schemeClr val="bg1">
                    <a:lumMod val="50000"/>
                  </a:schemeClr>
                </a:solidFill>
              </a:rPr>
              <a:t>адрес с страницы </a:t>
            </a:r>
            <a:r>
              <a:rPr lang="en-US" sz="1200" dirty="0">
                <a:solidFill>
                  <a:schemeClr val="bg1">
                    <a:lumMod val="50000"/>
                  </a:schemeClr>
                </a:solidFill>
              </a:rPr>
              <a:t>GitHub (1-</a:t>
            </a:r>
            <a:r>
              <a:rPr lang="ru-RU" sz="1200" dirty="0">
                <a:solidFill>
                  <a:schemeClr val="bg1">
                    <a:lumMod val="50000"/>
                  </a:schemeClr>
                </a:solidFill>
              </a:rPr>
              <a:t>й шаг этого слайда)</a:t>
            </a:r>
          </a:p>
          <a:p>
            <a:pPr marL="0" indent="0">
              <a:buNone/>
            </a:pPr>
            <a:endParaRPr lang="ru-RU" sz="1200" dirty="0"/>
          </a:p>
          <a:p>
            <a:pPr marL="0" indent="0">
              <a:buNone/>
            </a:pPr>
            <a:endParaRPr lang="en-US" sz="1200" dirty="0"/>
          </a:p>
        </p:txBody>
      </p:sp>
      <p:pic>
        <p:nvPicPr>
          <p:cNvPr id="5" name="Picture 4">
            <a:extLst>
              <a:ext uri="{FF2B5EF4-FFF2-40B4-BE49-F238E27FC236}">
                <a16:creationId xmlns:a16="http://schemas.microsoft.com/office/drawing/2014/main" id="{CC9B58F5-DA84-4FB5-9BB2-17DE73944509}"/>
              </a:ext>
            </a:extLst>
          </p:cNvPr>
          <p:cNvPicPr>
            <a:picLocks noChangeAspect="1"/>
          </p:cNvPicPr>
          <p:nvPr/>
        </p:nvPicPr>
        <p:blipFill>
          <a:blip r:embed="rId2"/>
          <a:stretch>
            <a:fillRect/>
          </a:stretch>
        </p:blipFill>
        <p:spPr>
          <a:xfrm>
            <a:off x="797706" y="3521913"/>
            <a:ext cx="3574742" cy="1106824"/>
          </a:xfrm>
          <a:prstGeom prst="rect">
            <a:avLst/>
          </a:prstGeom>
        </p:spPr>
      </p:pic>
      <p:pic>
        <p:nvPicPr>
          <p:cNvPr id="8" name="Picture 7">
            <a:extLst>
              <a:ext uri="{FF2B5EF4-FFF2-40B4-BE49-F238E27FC236}">
                <a16:creationId xmlns:a16="http://schemas.microsoft.com/office/drawing/2014/main" id="{89E36D31-864C-4112-9ACD-CCE6CFE9FBB6}"/>
              </a:ext>
            </a:extLst>
          </p:cNvPr>
          <p:cNvPicPr>
            <a:picLocks noChangeAspect="1"/>
          </p:cNvPicPr>
          <p:nvPr/>
        </p:nvPicPr>
        <p:blipFill>
          <a:blip r:embed="rId3"/>
          <a:stretch>
            <a:fillRect/>
          </a:stretch>
        </p:blipFill>
        <p:spPr>
          <a:xfrm>
            <a:off x="797706" y="1461115"/>
            <a:ext cx="6217836" cy="1744462"/>
          </a:xfrm>
          <a:prstGeom prst="rect">
            <a:avLst/>
          </a:prstGeom>
        </p:spPr>
      </p:pic>
    </p:spTree>
    <p:extLst>
      <p:ext uri="{BB962C8B-B14F-4D97-AF65-F5344CB8AC3E}">
        <p14:creationId xmlns:p14="http://schemas.microsoft.com/office/powerpoint/2010/main" val="407247503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3800" dirty="0"/>
              <a:t>Использование </a:t>
            </a:r>
            <a:r>
              <a:rPr lang="en-US" sz="3800" dirty="0"/>
              <a:t>GitHub Pages</a:t>
            </a:r>
            <a:r>
              <a:rPr lang="ru-RU" sz="3800" dirty="0"/>
              <a:t> для хостинга проектов</a:t>
            </a:r>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10656"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u="sng" dirty="0"/>
              <a:t>Проверим статус файлов в проекте</a:t>
            </a:r>
            <a:r>
              <a:rPr lang="en-US" sz="1200" dirty="0"/>
              <a:t>: </a:t>
            </a:r>
            <a:r>
              <a:rPr lang="en-US" sz="1200" b="1" dirty="0"/>
              <a:t>git status</a:t>
            </a:r>
            <a:endParaRPr lang="ru-RU" sz="1200" b="1" dirty="0"/>
          </a:p>
          <a:p>
            <a:pPr marL="0" indent="0">
              <a:buNone/>
            </a:pPr>
            <a:endParaRPr lang="ru-RU" sz="1200" b="1" dirty="0"/>
          </a:p>
          <a:p>
            <a:pPr marL="0" indent="0">
              <a:buNone/>
            </a:pPr>
            <a:endParaRPr lang="ru-RU" sz="1200" b="1" dirty="0"/>
          </a:p>
          <a:p>
            <a:pPr marL="0" indent="0">
              <a:buNone/>
            </a:pPr>
            <a:endParaRPr lang="en-US" sz="1200" b="1" dirty="0"/>
          </a:p>
          <a:p>
            <a:pPr marL="0" indent="0">
              <a:buNone/>
            </a:pPr>
            <a:endParaRPr lang="ru-RU" sz="1200" u="sng" dirty="0"/>
          </a:p>
          <a:p>
            <a:pPr marL="0" indent="0">
              <a:buNone/>
            </a:pPr>
            <a:r>
              <a:rPr lang="ru-RU" sz="1200" u="sng" dirty="0"/>
              <a:t>Добавим изменённые файлы в индекс и выполним коммит</a:t>
            </a:r>
            <a:r>
              <a:rPr lang="ru-RU" sz="1200" dirty="0"/>
              <a:t>:</a:t>
            </a:r>
            <a:endParaRPr lang="en-US" sz="1200" dirty="0"/>
          </a:p>
          <a:p>
            <a:pPr marL="0" indent="0">
              <a:buNone/>
            </a:pPr>
            <a:r>
              <a:rPr lang="en-US" sz="1200" b="1" dirty="0"/>
              <a:t>git add .</a:t>
            </a:r>
          </a:p>
          <a:p>
            <a:pPr marL="0" indent="0">
              <a:buNone/>
            </a:pPr>
            <a:r>
              <a:rPr lang="en-US" sz="1200" b="1" dirty="0"/>
              <a:t>git commit -m 'commit for pages'</a:t>
            </a:r>
            <a:endParaRPr lang="en-US" sz="1200" dirty="0"/>
          </a:p>
          <a:p>
            <a:pPr marL="0" indent="0">
              <a:buNone/>
            </a:pPr>
            <a:r>
              <a:rPr lang="ru-RU" sz="1200" u="sng" dirty="0"/>
              <a:t>Отправим коммит в удалённый репозиторий pages (нужно указать флаг </a:t>
            </a:r>
            <a:r>
              <a:rPr lang="ru-RU" sz="1200" b="1" u="sng" dirty="0"/>
              <a:t>-u </a:t>
            </a:r>
            <a:r>
              <a:rPr lang="ru-RU" sz="1200" u="sng" dirty="0"/>
              <a:t>(upstream), так как в удалённом репозитории ещё нет ветки master):</a:t>
            </a:r>
            <a:endParaRPr lang="en-US" sz="1200" u="sng" dirty="0"/>
          </a:p>
          <a:p>
            <a:pPr marL="0" indent="0">
              <a:buNone/>
            </a:pPr>
            <a:r>
              <a:rPr lang="en-US" sz="1200" b="1" dirty="0"/>
              <a:t>git push pages master -u</a:t>
            </a:r>
          </a:p>
          <a:p>
            <a:pPr marL="0" indent="0">
              <a:buNone/>
            </a:pPr>
            <a:endParaRPr lang="ru-RU" sz="1200" dirty="0"/>
          </a:p>
          <a:p>
            <a:pPr marL="0" indent="0">
              <a:buNone/>
            </a:pPr>
            <a:r>
              <a:rPr lang="ru-RU" sz="1200" dirty="0"/>
              <a:t>Теперь репозиторий </a:t>
            </a:r>
            <a:r>
              <a:rPr lang="ru-RU" sz="1200" b="1" dirty="0"/>
              <a:t>ваш</a:t>
            </a:r>
            <a:r>
              <a:rPr lang="en-US" sz="1200" b="1" dirty="0"/>
              <a:t> username</a:t>
            </a:r>
            <a:r>
              <a:rPr lang="ru-RU" sz="1200" b="1" dirty="0"/>
              <a:t>.github.io </a:t>
            </a:r>
            <a:r>
              <a:rPr lang="ru-RU" sz="1200" dirty="0"/>
              <a:t>содержит файлы нашего проекта.</a:t>
            </a:r>
            <a:r>
              <a:rPr lang="en-US" sz="1200" dirty="0"/>
              <a:t> </a:t>
            </a:r>
            <a:r>
              <a:rPr lang="ru-RU" sz="1200" dirty="0"/>
              <a:t>	</a:t>
            </a:r>
            <a:r>
              <a:rPr lang="en-US" sz="1200" dirty="0">
                <a:solidFill>
                  <a:schemeClr val="bg1">
                    <a:lumMod val="50000"/>
                  </a:schemeClr>
                </a:solidFill>
              </a:rPr>
              <a:t>#</a:t>
            </a:r>
            <a:r>
              <a:rPr lang="ru-RU" sz="1200" dirty="0">
                <a:solidFill>
                  <a:schemeClr val="bg1">
                    <a:lumMod val="50000"/>
                  </a:schemeClr>
                </a:solidFill>
              </a:rPr>
              <a:t> можно найти его в списке репозиториев</a:t>
            </a:r>
            <a:endParaRPr lang="en-US" sz="1200" b="1" dirty="0">
              <a:solidFill>
                <a:schemeClr val="bg1">
                  <a:lumMod val="50000"/>
                </a:schemeClr>
              </a:solidFill>
            </a:endParaRPr>
          </a:p>
          <a:p>
            <a:pPr marL="0" indent="0">
              <a:buNone/>
            </a:pPr>
            <a:endParaRPr lang="ru-RU" sz="1200" dirty="0"/>
          </a:p>
          <a:p>
            <a:pPr marL="0" indent="0">
              <a:buNone/>
            </a:pPr>
            <a:endParaRPr lang="ru-RU" sz="1200" dirty="0"/>
          </a:p>
          <a:p>
            <a:pPr marL="0" indent="0">
              <a:buNone/>
            </a:pPr>
            <a:endParaRPr lang="ru-RU" sz="1200" dirty="0"/>
          </a:p>
          <a:p>
            <a:pPr marL="0" indent="0">
              <a:buNone/>
            </a:pPr>
            <a:endParaRPr lang="ru-RU" sz="1200" dirty="0"/>
          </a:p>
          <a:p>
            <a:pPr marL="0" indent="0">
              <a:buNone/>
            </a:pPr>
            <a:endParaRPr lang="en-US" sz="1200" b="1" dirty="0"/>
          </a:p>
          <a:p>
            <a:pPr marL="0" indent="0">
              <a:buNone/>
            </a:pPr>
            <a:endParaRPr lang="ru-RU" sz="1200" dirty="0"/>
          </a:p>
          <a:p>
            <a:pPr marL="0" indent="0">
              <a:buNone/>
            </a:pPr>
            <a:endParaRPr lang="en-US" sz="1200" dirty="0"/>
          </a:p>
        </p:txBody>
      </p:sp>
      <p:pic>
        <p:nvPicPr>
          <p:cNvPr id="7" name="Picture 6">
            <a:extLst>
              <a:ext uri="{FF2B5EF4-FFF2-40B4-BE49-F238E27FC236}">
                <a16:creationId xmlns:a16="http://schemas.microsoft.com/office/drawing/2014/main" id="{1AE637E6-7C24-4246-8F00-A0601B2CA6D3}"/>
              </a:ext>
            </a:extLst>
          </p:cNvPr>
          <p:cNvPicPr>
            <a:picLocks noChangeAspect="1"/>
          </p:cNvPicPr>
          <p:nvPr/>
        </p:nvPicPr>
        <p:blipFill>
          <a:blip r:embed="rId2"/>
          <a:stretch>
            <a:fillRect/>
          </a:stretch>
        </p:blipFill>
        <p:spPr>
          <a:xfrm>
            <a:off x="784193" y="1473445"/>
            <a:ext cx="4302712" cy="1105766"/>
          </a:xfrm>
          <a:prstGeom prst="rect">
            <a:avLst/>
          </a:prstGeom>
        </p:spPr>
      </p:pic>
      <p:pic>
        <p:nvPicPr>
          <p:cNvPr id="9" name="Picture 8">
            <a:extLst>
              <a:ext uri="{FF2B5EF4-FFF2-40B4-BE49-F238E27FC236}">
                <a16:creationId xmlns:a16="http://schemas.microsoft.com/office/drawing/2014/main" id="{8007108D-9237-4692-AFA9-860211A0F684}"/>
              </a:ext>
            </a:extLst>
          </p:cNvPr>
          <p:cNvPicPr>
            <a:picLocks noChangeAspect="1"/>
          </p:cNvPicPr>
          <p:nvPr/>
        </p:nvPicPr>
        <p:blipFill>
          <a:blip r:embed="rId3"/>
          <a:stretch>
            <a:fillRect/>
          </a:stretch>
        </p:blipFill>
        <p:spPr>
          <a:xfrm>
            <a:off x="784193" y="4639687"/>
            <a:ext cx="5560042" cy="1700446"/>
          </a:xfrm>
          <a:prstGeom prst="rect">
            <a:avLst/>
          </a:prstGeom>
        </p:spPr>
      </p:pic>
    </p:spTree>
    <p:extLst>
      <p:ext uri="{BB962C8B-B14F-4D97-AF65-F5344CB8AC3E}">
        <p14:creationId xmlns:p14="http://schemas.microsoft.com/office/powerpoint/2010/main" val="4723070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3800" dirty="0"/>
              <a:t>Использование </a:t>
            </a:r>
            <a:r>
              <a:rPr lang="en-US" sz="3800" dirty="0"/>
              <a:t>GitHub Pages</a:t>
            </a:r>
            <a:r>
              <a:rPr lang="ru-RU" sz="3800" dirty="0"/>
              <a:t> для хостинга проектов</a:t>
            </a:r>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10656"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u="sng" dirty="0"/>
              <a:t>Теперь откроем в браузере адрес https://</a:t>
            </a:r>
            <a:r>
              <a:rPr lang="ru-RU" sz="1200" b="1" u="sng" dirty="0"/>
              <a:t>ваш</a:t>
            </a:r>
            <a:r>
              <a:rPr lang="en-US" sz="1200" b="1" u="sng" dirty="0"/>
              <a:t> username</a:t>
            </a:r>
            <a:r>
              <a:rPr lang="ru-RU" sz="1200" u="sng" dirty="0"/>
              <a:t>.github.io/ и увидим контент из index.html.</a:t>
            </a:r>
            <a:endParaRPr lang="en-US" sz="1200" u="sng" dirty="0"/>
          </a:p>
          <a:p>
            <a:pPr marL="0" indent="0">
              <a:buNone/>
            </a:pPr>
            <a:endParaRPr lang="en-US" sz="1200" b="1" u="sng" dirty="0"/>
          </a:p>
          <a:p>
            <a:pPr marL="0" indent="0">
              <a:buNone/>
            </a:pPr>
            <a:endParaRPr lang="en-US" sz="1200" b="1" u="sng" dirty="0"/>
          </a:p>
          <a:p>
            <a:pPr marL="0" indent="0">
              <a:buNone/>
            </a:pPr>
            <a:endParaRPr lang="en-US" sz="1200" b="1" u="sng" dirty="0"/>
          </a:p>
          <a:p>
            <a:pPr marL="0" indent="0">
              <a:buNone/>
            </a:pPr>
            <a:endParaRPr lang="en-US" sz="1200" b="1" u="sng" dirty="0"/>
          </a:p>
          <a:p>
            <a:pPr marL="0" indent="0">
              <a:buNone/>
            </a:pPr>
            <a:r>
              <a:rPr lang="ru-RU" sz="1200" dirty="0"/>
              <a:t>Репозитории на GitHub Pages публикуются не моментально, появление страницы может занять несколько</a:t>
            </a:r>
            <a:r>
              <a:rPr lang="en-US" sz="1200" dirty="0"/>
              <a:t> </a:t>
            </a:r>
            <a:r>
              <a:rPr lang="ru-RU" sz="1200" dirty="0"/>
              <a:t>минут.</a:t>
            </a:r>
          </a:p>
          <a:p>
            <a:pPr marL="0" indent="0">
              <a:buNone/>
            </a:pPr>
            <a:r>
              <a:rPr lang="ru-RU" sz="1200" u="sng" dirty="0"/>
              <a:t>Давайте проверим, будут ли изменения в проекте влиять на опубликованную страницу. Изменим содержимое</a:t>
            </a:r>
            <a:r>
              <a:rPr lang="en-US" sz="1200" u="sng" dirty="0"/>
              <a:t> </a:t>
            </a:r>
            <a:r>
              <a:rPr lang="ru-RU" sz="1200" u="sng" dirty="0"/>
              <a:t>файла index.html на</a:t>
            </a:r>
            <a:r>
              <a:rPr lang="en-US" sz="1200" u="sng" dirty="0"/>
              <a:t>:</a:t>
            </a:r>
            <a:r>
              <a:rPr lang="ru-RU" sz="1200" u="sng" dirty="0"/>
              <a:t> </a:t>
            </a:r>
          </a:p>
          <a:p>
            <a:pPr marL="0" indent="0">
              <a:buNone/>
            </a:pPr>
            <a:r>
              <a:rPr lang="en-US" sz="1200" dirty="0"/>
              <a:t>&lt;h1&gt;Hello from GitHub Pages again&lt;/h1&gt; </a:t>
            </a:r>
            <a:endParaRPr lang="en-US" sz="1200" u="sng" dirty="0"/>
          </a:p>
          <a:p>
            <a:pPr marL="0" indent="0">
              <a:buNone/>
            </a:pPr>
            <a:r>
              <a:rPr lang="ru-RU" sz="1200" u="sng" dirty="0"/>
              <a:t>Создадим новый коммит и отправим на </a:t>
            </a:r>
            <a:r>
              <a:rPr lang="en-US" sz="1200" u="sng" dirty="0"/>
              <a:t>GitHub</a:t>
            </a:r>
            <a:r>
              <a:rPr lang="ru-RU" sz="1200" u="sng" dirty="0"/>
              <a:t>: </a:t>
            </a:r>
            <a:endParaRPr lang="en-US" sz="1200" u="sng" dirty="0"/>
          </a:p>
          <a:p>
            <a:pPr marL="0" indent="0">
              <a:buNone/>
            </a:pPr>
            <a:r>
              <a:rPr lang="en-US" sz="1200" b="1" dirty="0"/>
              <a:t>git add .</a:t>
            </a:r>
          </a:p>
          <a:p>
            <a:pPr marL="0" indent="0">
              <a:buNone/>
            </a:pPr>
            <a:r>
              <a:rPr lang="en-US" sz="1200" b="1" dirty="0"/>
              <a:t>git commit -m 'another commit </a:t>
            </a:r>
            <a:endParaRPr lang="en-US" sz="1200" b="1" u="sng" dirty="0"/>
          </a:p>
          <a:p>
            <a:pPr marL="0" indent="0">
              <a:buNone/>
            </a:pPr>
            <a:r>
              <a:rPr lang="en-US" sz="1200" b="1" dirty="0"/>
              <a:t>git push pages master</a:t>
            </a:r>
            <a:endParaRPr lang="ru-RU" sz="1200" b="1" dirty="0"/>
          </a:p>
          <a:p>
            <a:pPr marL="0" indent="0">
              <a:buNone/>
            </a:pPr>
            <a:r>
              <a:rPr lang="ru-RU" sz="1200" u="sng" dirty="0"/>
              <a:t>Обновив в браузере страницу https://</a:t>
            </a:r>
            <a:r>
              <a:rPr lang="ru-RU" sz="1200" b="1" u="sng" dirty="0"/>
              <a:t>ваш</a:t>
            </a:r>
            <a:r>
              <a:rPr lang="en-US" sz="1200" b="1" u="sng" dirty="0"/>
              <a:t> username</a:t>
            </a:r>
            <a:r>
              <a:rPr lang="ru-RU" sz="1200" u="sng" dirty="0"/>
              <a:t>.github.io/, мы увидим новое содержимое</a:t>
            </a:r>
            <a:r>
              <a:rPr lang="en-US" sz="1200" u="sng" dirty="0"/>
              <a:t>:</a:t>
            </a:r>
            <a:r>
              <a:rPr lang="ru-RU" sz="1200" u="sng" dirty="0"/>
              <a:t>  </a:t>
            </a:r>
            <a:r>
              <a:rPr lang="ru-RU" sz="1200" dirty="0"/>
              <a:t> </a:t>
            </a:r>
            <a:r>
              <a:rPr lang="en-US" sz="1200" dirty="0">
                <a:solidFill>
                  <a:schemeClr val="bg1">
                    <a:lumMod val="50000"/>
                  </a:schemeClr>
                </a:solidFill>
              </a:rPr>
              <a:t>#</a:t>
            </a:r>
            <a:r>
              <a:rPr lang="ru-RU" sz="1200" dirty="0">
                <a:solidFill>
                  <a:schemeClr val="bg1">
                    <a:lumMod val="50000"/>
                  </a:schemeClr>
                </a:solidFill>
              </a:rPr>
              <a:t>  обновление может занять несколько минут</a:t>
            </a:r>
            <a:endParaRPr lang="en-US" sz="1200" u="sng" dirty="0">
              <a:solidFill>
                <a:schemeClr val="bg1">
                  <a:lumMod val="50000"/>
                </a:schemeClr>
              </a:solidFill>
            </a:endParaRPr>
          </a:p>
        </p:txBody>
      </p:sp>
      <p:pic>
        <p:nvPicPr>
          <p:cNvPr id="3" name="Picture 2">
            <a:extLst>
              <a:ext uri="{FF2B5EF4-FFF2-40B4-BE49-F238E27FC236}">
                <a16:creationId xmlns:a16="http://schemas.microsoft.com/office/drawing/2014/main" id="{A9F13593-757B-42CA-A9A5-EBBD81D5AD04}"/>
              </a:ext>
            </a:extLst>
          </p:cNvPr>
          <p:cNvPicPr>
            <a:picLocks noChangeAspect="1"/>
          </p:cNvPicPr>
          <p:nvPr/>
        </p:nvPicPr>
        <p:blipFill>
          <a:blip r:embed="rId2"/>
          <a:stretch>
            <a:fillRect/>
          </a:stretch>
        </p:blipFill>
        <p:spPr>
          <a:xfrm>
            <a:off x="766023" y="1419402"/>
            <a:ext cx="2487057" cy="1181755"/>
          </a:xfrm>
          <a:prstGeom prst="rect">
            <a:avLst/>
          </a:prstGeom>
        </p:spPr>
      </p:pic>
      <p:pic>
        <p:nvPicPr>
          <p:cNvPr id="8" name="Picture 7">
            <a:extLst>
              <a:ext uri="{FF2B5EF4-FFF2-40B4-BE49-F238E27FC236}">
                <a16:creationId xmlns:a16="http://schemas.microsoft.com/office/drawing/2014/main" id="{031AF205-C33A-42D0-BFA2-2FDAD867EF25}"/>
              </a:ext>
            </a:extLst>
          </p:cNvPr>
          <p:cNvPicPr>
            <a:picLocks noChangeAspect="1"/>
          </p:cNvPicPr>
          <p:nvPr/>
        </p:nvPicPr>
        <p:blipFill>
          <a:blip r:embed="rId3"/>
          <a:stretch>
            <a:fillRect/>
          </a:stretch>
        </p:blipFill>
        <p:spPr>
          <a:xfrm>
            <a:off x="766023" y="5012470"/>
            <a:ext cx="4015979" cy="1327663"/>
          </a:xfrm>
          <a:prstGeom prst="rect">
            <a:avLst/>
          </a:prstGeom>
        </p:spPr>
      </p:pic>
    </p:spTree>
    <p:extLst>
      <p:ext uri="{BB962C8B-B14F-4D97-AF65-F5344CB8AC3E}">
        <p14:creationId xmlns:p14="http://schemas.microsoft.com/office/powerpoint/2010/main" val="289715575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040F1-13F4-4E36-AF20-9C94EF7A52C6}"/>
              </a:ext>
            </a:extLst>
          </p:cNvPr>
          <p:cNvSpPr>
            <a:spLocks noGrp="1"/>
          </p:cNvSpPr>
          <p:nvPr>
            <p:ph type="ctrTitle"/>
          </p:nvPr>
        </p:nvSpPr>
        <p:spPr/>
        <p:txBody>
          <a:bodyPr/>
          <a:lstStyle/>
          <a:p>
            <a:r>
              <a:rPr lang="ru-RU" dirty="0"/>
              <a:t>Автоматизация</a:t>
            </a:r>
          </a:p>
        </p:txBody>
      </p:sp>
      <p:sp>
        <p:nvSpPr>
          <p:cNvPr id="3" name="Subtitle 2">
            <a:extLst>
              <a:ext uri="{FF2B5EF4-FFF2-40B4-BE49-F238E27FC236}">
                <a16:creationId xmlns:a16="http://schemas.microsoft.com/office/drawing/2014/main" id="{159BFCAB-5BA6-477C-866E-3CA3B78221A4}"/>
              </a:ext>
            </a:extLst>
          </p:cNvPr>
          <p:cNvSpPr>
            <a:spLocks noGrp="1"/>
          </p:cNvSpPr>
          <p:nvPr>
            <p:ph type="subTitle" idx="1"/>
          </p:nvPr>
        </p:nvSpPr>
        <p:spPr/>
        <p:txBody>
          <a:bodyPr>
            <a:normAutofit/>
          </a:bodyPr>
          <a:lstStyle/>
          <a:p>
            <a:r>
              <a:rPr lang="ru-RU" dirty="0"/>
              <a:t>Интернет-магазина по тест-кейсам</a:t>
            </a:r>
          </a:p>
          <a:p>
            <a:endParaRPr lang="ru-RU" sz="2400" dirty="0"/>
          </a:p>
          <a:p>
            <a:endParaRPr lang="ru-RU" dirty="0"/>
          </a:p>
        </p:txBody>
      </p:sp>
    </p:spTree>
    <p:extLst>
      <p:ext uri="{BB962C8B-B14F-4D97-AF65-F5344CB8AC3E}">
        <p14:creationId xmlns:p14="http://schemas.microsoft.com/office/powerpoint/2010/main" val="120132957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3800" dirty="0"/>
              <a:t>Практика по тест-кейсам</a:t>
            </a:r>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10656"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600" dirty="0"/>
              <a:t>Для применения полученных знаний по </a:t>
            </a:r>
            <a:r>
              <a:rPr lang="en-US" sz="1600" dirty="0"/>
              <a:t>Git</a:t>
            </a:r>
            <a:r>
              <a:rPr lang="ru-RU" sz="1600" dirty="0"/>
              <a:t>, переключимся на автоматизацию по тест-кейсам и в конце создадим новый репозиторий с авто-тестами. </a:t>
            </a:r>
          </a:p>
          <a:p>
            <a:pPr marL="0" indent="0">
              <a:buNone/>
            </a:pPr>
            <a:r>
              <a:rPr lang="ru-RU" sz="1600" dirty="0"/>
              <a:t>Каждая категория тестов будет разделена по страницам</a:t>
            </a:r>
            <a:r>
              <a:rPr lang="en-US" sz="1600" dirty="0"/>
              <a:t>: home, registration_login, shop</a:t>
            </a:r>
          </a:p>
          <a:p>
            <a:pPr marL="342900" indent="-342900">
              <a:buFont typeface="+mj-lt"/>
              <a:buAutoNum type="arabicPeriod"/>
            </a:pPr>
            <a:r>
              <a:rPr lang="ru-RU" sz="1400" dirty="0"/>
              <a:t>В </a:t>
            </a:r>
            <a:r>
              <a:rPr lang="en-US" sz="1400" dirty="0"/>
              <a:t>PyCharm,</a:t>
            </a:r>
            <a:r>
              <a:rPr lang="ru-RU" sz="1400" dirty="0"/>
              <a:t> в списке всех файлов слева, нажмите правой кнопкой мыши на пустом пространстве, выберите </a:t>
            </a:r>
            <a:r>
              <a:rPr lang="en-US" sz="1400" dirty="0"/>
              <a:t>"New" - &gt; "Directory"</a:t>
            </a:r>
            <a:endParaRPr lang="ru-RU" sz="1400" dirty="0"/>
          </a:p>
          <a:p>
            <a:pPr marL="342900" indent="-342900">
              <a:buFont typeface="+mj-lt"/>
              <a:buAutoNum type="arabicPeriod"/>
            </a:pPr>
            <a:r>
              <a:rPr lang="ru-RU" sz="1400" dirty="0"/>
              <a:t>Введите название </a:t>
            </a:r>
            <a:r>
              <a:rPr lang="en-US" sz="1400" dirty="0"/>
              <a:t>"book_store_testing"</a:t>
            </a:r>
            <a:r>
              <a:rPr lang="ru-RU" sz="1400" dirty="0"/>
              <a:t> </a:t>
            </a:r>
          </a:p>
          <a:p>
            <a:pPr marL="342900" indent="-342900">
              <a:buFont typeface="+mj-lt"/>
              <a:buAutoNum type="arabicPeriod"/>
            </a:pPr>
            <a:r>
              <a:rPr lang="ru-RU" sz="1400" dirty="0"/>
              <a:t>Нажмите правой копки мыши на названии директории </a:t>
            </a:r>
            <a:r>
              <a:rPr lang="en-US" sz="1400" dirty="0"/>
              <a:t>"book_store_testing"</a:t>
            </a:r>
            <a:r>
              <a:rPr lang="ru-RU" sz="1400" dirty="0"/>
              <a:t>, выберите </a:t>
            </a:r>
            <a:r>
              <a:rPr lang="en-US" sz="1400" dirty="0"/>
              <a:t>"New" -&gt; "Python File"</a:t>
            </a:r>
            <a:endParaRPr lang="ru-RU" sz="1400" dirty="0"/>
          </a:p>
          <a:p>
            <a:pPr marL="342900" indent="-342900">
              <a:buFont typeface="+mj-lt"/>
              <a:buAutoNum type="arabicPeriod"/>
            </a:pPr>
            <a:endParaRPr lang="ru-RU" sz="1400" dirty="0"/>
          </a:p>
          <a:p>
            <a:pPr marL="342900" indent="-342900">
              <a:buFont typeface="+mj-lt"/>
              <a:buAutoNum type="arabicPeriod"/>
            </a:pPr>
            <a:endParaRPr lang="ru-RU" sz="1400" dirty="0"/>
          </a:p>
          <a:p>
            <a:pPr marL="342900" indent="-342900">
              <a:buFont typeface="+mj-lt"/>
              <a:buAutoNum type="arabicPeriod"/>
            </a:pPr>
            <a:endParaRPr lang="ru-RU" sz="1400" dirty="0"/>
          </a:p>
          <a:p>
            <a:pPr marL="0" indent="0">
              <a:buNone/>
            </a:pPr>
            <a:endParaRPr lang="ru-RU" sz="1400" dirty="0"/>
          </a:p>
          <a:p>
            <a:pPr marL="342900" indent="-342900">
              <a:buFont typeface="+mj-lt"/>
              <a:buAutoNum type="arabicPeriod" startAt="4"/>
            </a:pPr>
            <a:r>
              <a:rPr lang="ru-RU" sz="1400" dirty="0"/>
              <a:t>Создайте внутри директории </a:t>
            </a:r>
            <a:r>
              <a:rPr lang="en-US" sz="1400" dirty="0"/>
              <a:t>"book_store_testing"</a:t>
            </a:r>
            <a:r>
              <a:rPr lang="ru-RU" sz="1400" dirty="0"/>
              <a:t> три </a:t>
            </a:r>
            <a:r>
              <a:rPr lang="en-US" sz="1400" dirty="0"/>
              <a:t>python </a:t>
            </a:r>
            <a:r>
              <a:rPr lang="ru-RU" sz="1400" dirty="0"/>
              <a:t>файла, с названиями</a:t>
            </a:r>
            <a:r>
              <a:rPr lang="en-US" sz="1400" dirty="0"/>
              <a:t>:</a:t>
            </a:r>
            <a:r>
              <a:rPr lang="ru-RU" sz="1400" dirty="0"/>
              <a:t> </a:t>
            </a:r>
            <a:r>
              <a:rPr lang="en-US" sz="1400" dirty="0"/>
              <a:t>home, login_registration, shop</a:t>
            </a:r>
            <a:endParaRPr lang="ru-RU" sz="1400" dirty="0"/>
          </a:p>
          <a:p>
            <a:pPr marL="342900" indent="-342900">
              <a:buFont typeface="+mj-lt"/>
              <a:buAutoNum type="arabicPeriod" startAt="4"/>
            </a:pPr>
            <a:r>
              <a:rPr lang="ru-RU" sz="1400" dirty="0"/>
              <a:t>В дальнейших заданиях, добавляйте тесты в соответствующий файл (можно ориентироваться на заголовок слайда)</a:t>
            </a:r>
          </a:p>
          <a:p>
            <a:pPr marL="0" indent="0">
              <a:buNone/>
            </a:pPr>
            <a:endParaRPr lang="ru-RU" sz="1600" dirty="0"/>
          </a:p>
          <a:p>
            <a:r>
              <a:rPr lang="ru-RU" sz="1400" dirty="0"/>
              <a:t>В некоторых сценариях иногда возможно случайное нажатие на другой элемент, в этом случае, просто подкорректируйте тайминги</a:t>
            </a:r>
          </a:p>
          <a:p>
            <a:pPr marL="0" indent="0">
              <a:buNone/>
            </a:pPr>
            <a:endParaRPr lang="ru-RU" sz="1600" dirty="0"/>
          </a:p>
          <a:p>
            <a:pPr marL="0" indent="0">
              <a:buNone/>
            </a:pPr>
            <a:r>
              <a:rPr lang="ru-RU" sz="1600" dirty="0"/>
              <a:t>  </a:t>
            </a:r>
            <a:endParaRPr lang="en-US" sz="1200" dirty="0"/>
          </a:p>
        </p:txBody>
      </p:sp>
      <p:pic>
        <p:nvPicPr>
          <p:cNvPr id="3" name="Picture 2">
            <a:extLst>
              <a:ext uri="{FF2B5EF4-FFF2-40B4-BE49-F238E27FC236}">
                <a16:creationId xmlns:a16="http://schemas.microsoft.com/office/drawing/2014/main" id="{14ECDA28-9256-4A71-842F-9973E3BAC105}"/>
              </a:ext>
            </a:extLst>
          </p:cNvPr>
          <p:cNvPicPr>
            <a:picLocks noChangeAspect="1"/>
          </p:cNvPicPr>
          <p:nvPr/>
        </p:nvPicPr>
        <p:blipFill>
          <a:blip r:embed="rId2"/>
          <a:stretch>
            <a:fillRect/>
          </a:stretch>
        </p:blipFill>
        <p:spPr>
          <a:xfrm>
            <a:off x="810827" y="3059470"/>
            <a:ext cx="4808738" cy="1396384"/>
          </a:xfrm>
          <a:prstGeom prst="rect">
            <a:avLst/>
          </a:prstGeom>
        </p:spPr>
      </p:pic>
    </p:spTree>
    <p:extLst>
      <p:ext uri="{BB962C8B-B14F-4D97-AF65-F5344CB8AC3E}">
        <p14:creationId xmlns:p14="http://schemas.microsoft.com/office/powerpoint/2010/main" val="238751088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800" dirty="0"/>
              <a:t>Home:</a:t>
            </a:r>
            <a:r>
              <a:rPr lang="ru-RU" sz="3800" dirty="0"/>
              <a:t> добавление комментария</a:t>
            </a:r>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10656"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342900" indent="-342900">
              <a:buFont typeface="+mj-lt"/>
              <a:buAutoNum type="arabicPeriod"/>
            </a:pPr>
            <a:r>
              <a:rPr lang="ru-RU" sz="1600" dirty="0"/>
              <a:t>Откройте </a:t>
            </a:r>
            <a:r>
              <a:rPr lang="en-US" sz="1600" dirty="0">
                <a:hlinkClick r:id="rId2"/>
              </a:rPr>
              <a:t>http://practice.automationtesting.in/</a:t>
            </a:r>
            <a:endParaRPr lang="en-US" sz="1600" dirty="0"/>
          </a:p>
          <a:p>
            <a:pPr marL="342900" indent="-342900">
              <a:buFont typeface="+mj-lt"/>
              <a:buAutoNum type="arabicPeriod"/>
            </a:pPr>
            <a:r>
              <a:rPr lang="ru-RU" sz="1600" dirty="0">
                <a:solidFill>
                  <a:schemeClr val="tx1"/>
                </a:solidFill>
              </a:rPr>
              <a:t>Проскролльте страницу вниз на </a:t>
            </a:r>
            <a:r>
              <a:rPr lang="en-US" sz="1600" dirty="0">
                <a:solidFill>
                  <a:schemeClr val="tx1"/>
                </a:solidFill>
              </a:rPr>
              <a:t>6</a:t>
            </a:r>
            <a:r>
              <a:rPr lang="ru-RU" sz="1600" dirty="0">
                <a:solidFill>
                  <a:schemeClr val="tx1"/>
                </a:solidFill>
              </a:rPr>
              <a:t>00 пикселей</a:t>
            </a:r>
          </a:p>
          <a:p>
            <a:pPr marL="342900" indent="-342900">
              <a:buFont typeface="+mj-lt"/>
              <a:buAutoNum type="arabicPeriod"/>
            </a:pPr>
            <a:r>
              <a:rPr lang="ru-RU" sz="1600" dirty="0"/>
              <a:t>Нажмите на название книги</a:t>
            </a:r>
            <a:r>
              <a:rPr lang="en-US" sz="1600" dirty="0"/>
              <a:t> "Selenium Ruby" </a:t>
            </a:r>
            <a:r>
              <a:rPr lang="ru-RU" sz="1600" dirty="0"/>
              <a:t>или на кнопку</a:t>
            </a:r>
            <a:r>
              <a:rPr lang="en-US" sz="1600" dirty="0"/>
              <a:t> "READ MORE"</a:t>
            </a:r>
          </a:p>
          <a:p>
            <a:pPr marL="342900" indent="-342900">
              <a:buFont typeface="+mj-lt"/>
              <a:buAutoNum type="arabicPeriod"/>
            </a:pPr>
            <a:r>
              <a:rPr lang="ru-RU" sz="1600" dirty="0"/>
              <a:t>Нажмите на вкладку</a:t>
            </a:r>
            <a:r>
              <a:rPr lang="en-US" sz="1600" dirty="0"/>
              <a:t> "REVIEWS"</a:t>
            </a:r>
            <a:endParaRPr lang="ru-RU" sz="1600" dirty="0"/>
          </a:p>
          <a:p>
            <a:pPr marL="342900" indent="-342900">
              <a:buFont typeface="+mj-lt"/>
              <a:buAutoNum type="arabicPeriod"/>
            </a:pPr>
            <a:r>
              <a:rPr lang="ru-RU" sz="1600" dirty="0"/>
              <a:t>Поставьте 5 звёзд</a:t>
            </a:r>
          </a:p>
          <a:p>
            <a:pPr marL="342900" indent="-342900">
              <a:buFont typeface="+mj-lt"/>
              <a:buAutoNum type="arabicPeriod"/>
            </a:pPr>
            <a:r>
              <a:rPr lang="ru-RU" sz="1600" dirty="0"/>
              <a:t>Заполните поле </a:t>
            </a:r>
            <a:r>
              <a:rPr lang="en-US" sz="1600" dirty="0"/>
              <a:t>"Review"</a:t>
            </a:r>
            <a:r>
              <a:rPr lang="ru-RU" sz="1600" dirty="0"/>
              <a:t> сообщением</a:t>
            </a:r>
            <a:r>
              <a:rPr lang="en-US" sz="1600" dirty="0"/>
              <a:t>: "Nice book!" </a:t>
            </a:r>
          </a:p>
          <a:p>
            <a:pPr marL="342900" indent="-342900">
              <a:buFont typeface="+mj-lt"/>
              <a:buAutoNum type="arabicPeriod"/>
            </a:pPr>
            <a:r>
              <a:rPr lang="ru-RU" sz="1600" dirty="0"/>
              <a:t>Заполните поле</a:t>
            </a:r>
            <a:r>
              <a:rPr lang="en-US" sz="1600" dirty="0"/>
              <a:t> "Name"</a:t>
            </a:r>
          </a:p>
          <a:p>
            <a:pPr marL="342900" indent="-342900">
              <a:buFont typeface="+mj-lt"/>
              <a:buAutoNum type="arabicPeriod"/>
            </a:pPr>
            <a:r>
              <a:rPr lang="ru-RU" sz="1600" dirty="0"/>
              <a:t>Заполните </a:t>
            </a:r>
            <a:r>
              <a:rPr lang="en-US" sz="1600" dirty="0"/>
              <a:t>"Email"</a:t>
            </a:r>
            <a:endParaRPr lang="ru-RU" sz="1600" dirty="0"/>
          </a:p>
          <a:p>
            <a:pPr marL="342900" indent="-342900">
              <a:buFont typeface="+mj-lt"/>
              <a:buAutoNum type="arabicPeriod"/>
            </a:pPr>
            <a:r>
              <a:rPr lang="ru-RU" sz="1600" dirty="0"/>
              <a:t>Нажмите на кнопку</a:t>
            </a:r>
            <a:r>
              <a:rPr lang="en-US" sz="1600" dirty="0"/>
              <a:t> "SUBMIT"</a:t>
            </a:r>
            <a:endParaRPr lang="ru-RU" sz="1600" dirty="0"/>
          </a:p>
          <a:p>
            <a:pPr marL="342900" indent="-342900">
              <a:buFont typeface="+mj-lt"/>
              <a:buAutoNum type="arabicPeriod"/>
            </a:pPr>
            <a:endParaRPr lang="ru-RU" sz="1600" dirty="0"/>
          </a:p>
          <a:p>
            <a:pPr marL="0" indent="0">
              <a:buNone/>
            </a:pPr>
            <a:endParaRPr lang="en-US" sz="1200" dirty="0"/>
          </a:p>
        </p:txBody>
      </p:sp>
    </p:spTree>
    <p:extLst>
      <p:ext uri="{BB962C8B-B14F-4D97-AF65-F5344CB8AC3E}">
        <p14:creationId xmlns:p14="http://schemas.microsoft.com/office/powerpoint/2010/main" val="196775071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800" dirty="0"/>
              <a:t>Registration_login:</a:t>
            </a:r>
            <a:r>
              <a:rPr lang="ru-RU" sz="3800" dirty="0"/>
              <a:t> регистрация аккаунта</a:t>
            </a:r>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10656"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342900" indent="-342900">
              <a:buFont typeface="+mj-lt"/>
              <a:buAutoNum type="arabicPeriod"/>
            </a:pPr>
            <a:r>
              <a:rPr lang="ru-RU" sz="1600" dirty="0"/>
              <a:t>Откройте </a:t>
            </a:r>
            <a:r>
              <a:rPr lang="en-US" sz="1600" dirty="0">
                <a:hlinkClick r:id="rId2"/>
              </a:rPr>
              <a:t>http://practice.automationtesting.in/</a:t>
            </a:r>
            <a:endParaRPr lang="en-US" sz="1600" dirty="0"/>
          </a:p>
          <a:p>
            <a:pPr marL="342900" indent="-342900">
              <a:buFont typeface="+mj-lt"/>
              <a:buAutoNum type="arabicPeriod"/>
            </a:pPr>
            <a:r>
              <a:rPr lang="ru-RU" sz="1600" dirty="0"/>
              <a:t>Нажмите на вкладку </a:t>
            </a:r>
            <a:r>
              <a:rPr lang="en-US" sz="1600" dirty="0"/>
              <a:t>"My Account Menu"</a:t>
            </a:r>
          </a:p>
          <a:p>
            <a:pPr marL="342900" indent="-342900">
              <a:buFont typeface="+mj-lt"/>
              <a:buAutoNum type="arabicPeriod"/>
            </a:pPr>
            <a:r>
              <a:rPr lang="ru-RU" sz="1600" dirty="0"/>
              <a:t>В разделе </a:t>
            </a:r>
            <a:r>
              <a:rPr lang="en-US" sz="1600" dirty="0"/>
              <a:t>"Register"</a:t>
            </a:r>
            <a:r>
              <a:rPr lang="ru-RU" sz="1600" dirty="0"/>
              <a:t>, введите </a:t>
            </a:r>
            <a:r>
              <a:rPr lang="en-US" sz="1600" dirty="0"/>
              <a:t>email</a:t>
            </a:r>
            <a:r>
              <a:rPr lang="ru-RU" sz="1600" dirty="0"/>
              <a:t> для регистрации</a:t>
            </a:r>
            <a:endParaRPr lang="en-US" sz="1600" dirty="0"/>
          </a:p>
          <a:p>
            <a:pPr marL="342900" indent="-342900">
              <a:buFont typeface="+mj-lt"/>
              <a:buAutoNum type="arabicPeriod"/>
            </a:pPr>
            <a:r>
              <a:rPr lang="ru-RU" sz="1600" dirty="0"/>
              <a:t>В разделе </a:t>
            </a:r>
            <a:r>
              <a:rPr lang="en-US" sz="1600" dirty="0"/>
              <a:t>"Register"</a:t>
            </a:r>
            <a:r>
              <a:rPr lang="ru-RU" sz="1600" dirty="0"/>
              <a:t>, введите пароль для регистрации</a:t>
            </a:r>
          </a:p>
          <a:p>
            <a:pPr lvl="1"/>
            <a:r>
              <a:rPr lang="ru-RU" sz="1200" dirty="0"/>
              <a:t>составьте такой пароль, чтобы отобразилось</a:t>
            </a:r>
            <a:r>
              <a:rPr lang="en-US" sz="1200" dirty="0"/>
              <a:t> "Medium"</a:t>
            </a:r>
            <a:r>
              <a:rPr lang="ru-RU" sz="1200" dirty="0"/>
              <a:t> или</a:t>
            </a:r>
            <a:r>
              <a:rPr lang="en-US" sz="1200" dirty="0"/>
              <a:t> "Strong",</a:t>
            </a:r>
            <a:r>
              <a:rPr lang="ru-RU" sz="1200" dirty="0"/>
              <a:t> иначе регистрация не выполнится</a:t>
            </a:r>
          </a:p>
          <a:p>
            <a:pPr lvl="1"/>
            <a:r>
              <a:rPr lang="ru-RU" sz="1200" dirty="0"/>
              <a:t>почту и пароль сохраните, потребуюутся в дальнейшем</a:t>
            </a:r>
            <a:endParaRPr lang="en-US" sz="1200" dirty="0"/>
          </a:p>
          <a:p>
            <a:pPr marL="342900" indent="-342900">
              <a:buFont typeface="+mj-lt"/>
              <a:buAutoNum type="arabicPeriod"/>
            </a:pPr>
            <a:r>
              <a:rPr lang="ru-RU" sz="1600" dirty="0"/>
              <a:t>Нажмите на кнопку </a:t>
            </a:r>
            <a:r>
              <a:rPr lang="en-US" sz="1600" dirty="0"/>
              <a:t>"Register"</a:t>
            </a:r>
          </a:p>
          <a:p>
            <a:pPr marL="342900" indent="-342900">
              <a:buFont typeface="+mj-lt"/>
              <a:buAutoNum type="arabicPeriod"/>
            </a:pPr>
            <a:endParaRPr lang="ru-RU" sz="1600" dirty="0"/>
          </a:p>
          <a:p>
            <a:pPr marL="0" indent="0">
              <a:buNone/>
            </a:pPr>
            <a:endParaRPr lang="en-US" sz="1200" dirty="0"/>
          </a:p>
        </p:txBody>
      </p:sp>
    </p:spTree>
    <p:extLst>
      <p:ext uri="{BB962C8B-B14F-4D97-AF65-F5344CB8AC3E}">
        <p14:creationId xmlns:p14="http://schemas.microsoft.com/office/powerpoint/2010/main" val="298921987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800" dirty="0"/>
              <a:t>Registration_login:</a:t>
            </a:r>
            <a:r>
              <a:rPr lang="ru-RU" sz="3800" dirty="0"/>
              <a:t> логин в систему</a:t>
            </a:r>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10656"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342900" indent="-342900">
              <a:buFont typeface="+mj-lt"/>
              <a:buAutoNum type="arabicPeriod"/>
            </a:pPr>
            <a:r>
              <a:rPr lang="ru-RU" sz="1600" dirty="0"/>
              <a:t>Откройте </a:t>
            </a:r>
            <a:r>
              <a:rPr lang="en-US" sz="1600" dirty="0">
                <a:hlinkClick r:id="rId2"/>
              </a:rPr>
              <a:t>http://practice.automationtesting.in/</a:t>
            </a:r>
            <a:endParaRPr lang="en-US" sz="1600" dirty="0"/>
          </a:p>
          <a:p>
            <a:pPr marL="342900" indent="-342900">
              <a:buFont typeface="+mj-lt"/>
              <a:buAutoNum type="arabicPeriod"/>
            </a:pPr>
            <a:r>
              <a:rPr lang="ru-RU" sz="1600" dirty="0"/>
              <a:t>Нажмите на вкладку </a:t>
            </a:r>
            <a:r>
              <a:rPr lang="en-US" sz="1600" dirty="0"/>
              <a:t>"My Account Menu"</a:t>
            </a:r>
          </a:p>
          <a:p>
            <a:pPr marL="342900" indent="-342900">
              <a:buFont typeface="+mj-lt"/>
              <a:buAutoNum type="arabicPeriod"/>
            </a:pPr>
            <a:r>
              <a:rPr lang="ru-RU" sz="1600" dirty="0"/>
              <a:t>В разделе </a:t>
            </a:r>
            <a:r>
              <a:rPr lang="en-US" sz="1600" dirty="0"/>
              <a:t>"Login"</a:t>
            </a:r>
            <a:r>
              <a:rPr lang="ru-RU" sz="1600" dirty="0"/>
              <a:t>, введите </a:t>
            </a:r>
            <a:r>
              <a:rPr lang="en-US" sz="1600" dirty="0"/>
              <a:t>email</a:t>
            </a:r>
            <a:r>
              <a:rPr lang="ru-RU" sz="1600" dirty="0"/>
              <a:t> для логина 		</a:t>
            </a:r>
            <a:r>
              <a:rPr lang="en-US" sz="1600" dirty="0">
                <a:solidFill>
                  <a:schemeClr val="bg1">
                    <a:lumMod val="50000"/>
                  </a:schemeClr>
                </a:solidFill>
              </a:rPr>
              <a:t># </a:t>
            </a:r>
            <a:r>
              <a:rPr lang="ru-RU" sz="1600" dirty="0">
                <a:solidFill>
                  <a:schemeClr val="bg1">
                    <a:lumMod val="50000"/>
                  </a:schemeClr>
                </a:solidFill>
              </a:rPr>
              <a:t>данные можно взять из предыдущего теста</a:t>
            </a:r>
            <a:endParaRPr lang="en-US" sz="1600" dirty="0">
              <a:solidFill>
                <a:schemeClr val="bg1">
                  <a:lumMod val="50000"/>
                </a:schemeClr>
              </a:solidFill>
            </a:endParaRPr>
          </a:p>
          <a:p>
            <a:pPr marL="342900" indent="-342900">
              <a:buFont typeface="+mj-lt"/>
              <a:buAutoNum type="arabicPeriod"/>
            </a:pPr>
            <a:r>
              <a:rPr lang="ru-RU" sz="1600" dirty="0"/>
              <a:t>В разделе </a:t>
            </a:r>
            <a:r>
              <a:rPr lang="en-US" sz="1600" dirty="0"/>
              <a:t>"Login"</a:t>
            </a:r>
            <a:r>
              <a:rPr lang="ru-RU" sz="1600" dirty="0"/>
              <a:t>, введите пароль для логина 	</a:t>
            </a:r>
            <a:r>
              <a:rPr lang="en-US" sz="1600" dirty="0">
                <a:solidFill>
                  <a:schemeClr val="bg1">
                    <a:lumMod val="50000"/>
                  </a:schemeClr>
                </a:solidFill>
              </a:rPr>
              <a:t># </a:t>
            </a:r>
            <a:r>
              <a:rPr lang="ru-RU" sz="1600" dirty="0">
                <a:solidFill>
                  <a:schemeClr val="bg1">
                    <a:lumMod val="50000"/>
                  </a:schemeClr>
                </a:solidFill>
              </a:rPr>
              <a:t>данные можно взять из предыдущего теста</a:t>
            </a:r>
            <a:endParaRPr lang="ru-RU" sz="1600" dirty="0"/>
          </a:p>
          <a:p>
            <a:pPr marL="342900" indent="-342900">
              <a:buFont typeface="+mj-lt"/>
              <a:buAutoNum type="arabicPeriod"/>
            </a:pPr>
            <a:r>
              <a:rPr lang="ru-RU" sz="1600" dirty="0"/>
              <a:t>Нажмите на кнопку </a:t>
            </a:r>
            <a:r>
              <a:rPr lang="en-US" sz="1600" dirty="0"/>
              <a:t>"Login"</a:t>
            </a:r>
            <a:endParaRPr lang="ru-RU" sz="1600" dirty="0"/>
          </a:p>
          <a:p>
            <a:pPr marL="342900" indent="-342900">
              <a:buFont typeface="+mj-lt"/>
              <a:buAutoNum type="arabicPeriod"/>
            </a:pPr>
            <a:r>
              <a:rPr lang="ru-RU" sz="1600" dirty="0"/>
              <a:t>Добавьте проверку, что на странице есть элемент</a:t>
            </a:r>
            <a:r>
              <a:rPr lang="en-US" sz="1600" dirty="0"/>
              <a:t> "Logout"</a:t>
            </a:r>
          </a:p>
          <a:p>
            <a:pPr marL="0" indent="0">
              <a:buNone/>
            </a:pPr>
            <a:endParaRPr lang="en-US" sz="1200" dirty="0"/>
          </a:p>
        </p:txBody>
      </p:sp>
    </p:spTree>
    <p:extLst>
      <p:ext uri="{BB962C8B-B14F-4D97-AF65-F5344CB8AC3E}">
        <p14:creationId xmlns:p14="http://schemas.microsoft.com/office/powerpoint/2010/main" val="272586673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800" dirty="0"/>
              <a:t>Shop:</a:t>
            </a:r>
            <a:r>
              <a:rPr lang="ru-RU" sz="3800" dirty="0"/>
              <a:t> отображение страницы товара</a:t>
            </a:r>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10656"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342900" indent="-342900">
              <a:buFont typeface="+mj-lt"/>
              <a:buAutoNum type="arabicPeriod"/>
            </a:pPr>
            <a:r>
              <a:rPr lang="ru-RU" sz="1600" dirty="0"/>
              <a:t>Откройте </a:t>
            </a:r>
            <a:r>
              <a:rPr lang="en-US" sz="1600" dirty="0">
                <a:hlinkClick r:id="rId2"/>
              </a:rPr>
              <a:t>http://practice.automationtesting.in/</a:t>
            </a:r>
            <a:endParaRPr lang="ru-RU" sz="1600" dirty="0"/>
          </a:p>
          <a:p>
            <a:pPr marL="342900" indent="-342900">
              <a:buFont typeface="+mj-lt"/>
              <a:buAutoNum type="arabicPeriod"/>
            </a:pPr>
            <a:r>
              <a:rPr lang="ru-RU" sz="1600" dirty="0"/>
              <a:t>Залогиньтесь</a:t>
            </a:r>
          </a:p>
          <a:p>
            <a:pPr marL="342900" indent="-342900">
              <a:buFont typeface="+mj-lt"/>
              <a:buAutoNum type="arabicPeriod"/>
            </a:pPr>
            <a:r>
              <a:rPr lang="ru-RU" sz="1600" dirty="0"/>
              <a:t>Нажмите на вкладку</a:t>
            </a:r>
            <a:r>
              <a:rPr lang="en-US" sz="1600" dirty="0"/>
              <a:t> "Shop"</a:t>
            </a:r>
          </a:p>
          <a:p>
            <a:pPr marL="342900" indent="-342900">
              <a:buFont typeface="+mj-lt"/>
              <a:buAutoNum type="arabicPeriod"/>
            </a:pPr>
            <a:r>
              <a:rPr lang="ru-RU" sz="1600" dirty="0"/>
              <a:t>Откройте книгу</a:t>
            </a:r>
            <a:r>
              <a:rPr lang="en-US" sz="1600" dirty="0"/>
              <a:t> "HTML 5 Forms"</a:t>
            </a:r>
          </a:p>
          <a:p>
            <a:pPr marL="342900" indent="-342900">
              <a:buFont typeface="+mj-lt"/>
              <a:buAutoNum type="arabicPeriod"/>
            </a:pPr>
            <a:r>
              <a:rPr lang="ru-RU" sz="1600" dirty="0"/>
              <a:t>Добавьте тест, что заголовок книги назвается</a:t>
            </a:r>
            <a:r>
              <a:rPr lang="en-US" sz="1600" dirty="0"/>
              <a:t>:</a:t>
            </a:r>
            <a:r>
              <a:rPr lang="ru-RU" sz="1600" dirty="0"/>
              <a:t> </a:t>
            </a:r>
            <a:r>
              <a:rPr lang="en-US" sz="1600" dirty="0"/>
              <a:t>"HTML5 Forms"</a:t>
            </a:r>
          </a:p>
          <a:p>
            <a:pPr marL="0" indent="0">
              <a:buNone/>
            </a:pPr>
            <a:endParaRPr lang="en-US" sz="1200" dirty="0"/>
          </a:p>
        </p:txBody>
      </p:sp>
    </p:spTree>
    <p:extLst>
      <p:ext uri="{BB962C8B-B14F-4D97-AF65-F5344CB8AC3E}">
        <p14:creationId xmlns:p14="http://schemas.microsoft.com/office/powerpoint/2010/main" val="318304183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800" dirty="0"/>
              <a:t>Shop:</a:t>
            </a:r>
            <a:r>
              <a:rPr lang="ru-RU" sz="3800" dirty="0"/>
              <a:t> количество товаров в категории</a:t>
            </a:r>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10656"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342900" indent="-342900">
              <a:buFont typeface="+mj-lt"/>
              <a:buAutoNum type="arabicPeriod"/>
            </a:pPr>
            <a:r>
              <a:rPr lang="ru-RU" sz="1600" dirty="0"/>
              <a:t>Откройте </a:t>
            </a:r>
            <a:r>
              <a:rPr lang="en-US" sz="1600" dirty="0">
                <a:hlinkClick r:id="rId2"/>
              </a:rPr>
              <a:t>http://practice.automationtesting.in/</a:t>
            </a:r>
            <a:endParaRPr lang="ru-RU" sz="1600" dirty="0"/>
          </a:p>
          <a:p>
            <a:pPr marL="342900" indent="-342900">
              <a:buFont typeface="+mj-lt"/>
              <a:buAutoNum type="arabicPeriod"/>
            </a:pPr>
            <a:r>
              <a:rPr lang="ru-RU" sz="1600" dirty="0"/>
              <a:t>Залогиньтесь</a:t>
            </a:r>
          </a:p>
          <a:p>
            <a:pPr marL="342900" indent="-342900">
              <a:buFont typeface="+mj-lt"/>
              <a:buAutoNum type="arabicPeriod"/>
            </a:pPr>
            <a:r>
              <a:rPr lang="ru-RU" sz="1600" dirty="0"/>
              <a:t>Нажмите на вкладку</a:t>
            </a:r>
            <a:r>
              <a:rPr lang="en-US" sz="1600" dirty="0"/>
              <a:t> "Shop"</a:t>
            </a:r>
          </a:p>
          <a:p>
            <a:pPr marL="342900" indent="-342900">
              <a:buFont typeface="+mj-lt"/>
              <a:buAutoNum type="arabicPeriod"/>
            </a:pPr>
            <a:r>
              <a:rPr lang="ru-RU" sz="1600" dirty="0"/>
              <a:t>Откройте категорию</a:t>
            </a:r>
            <a:r>
              <a:rPr lang="en-US" sz="1600" dirty="0"/>
              <a:t> "HTML"</a:t>
            </a:r>
          </a:p>
          <a:p>
            <a:pPr marL="342900" indent="-342900">
              <a:buFont typeface="+mj-lt"/>
              <a:buAutoNum type="arabicPeriod"/>
            </a:pPr>
            <a:r>
              <a:rPr lang="ru-RU" sz="1600" dirty="0"/>
              <a:t>Добавьте тест, что отображается три товара</a:t>
            </a:r>
            <a:endParaRPr lang="en-US" sz="1600" dirty="0"/>
          </a:p>
          <a:p>
            <a:pPr marL="342900" indent="-342900">
              <a:buFont typeface="+mj-lt"/>
              <a:buAutoNum type="arabicPeriod"/>
            </a:pPr>
            <a:endParaRPr lang="ru-RU" sz="1600" dirty="0"/>
          </a:p>
          <a:p>
            <a:pPr marL="342900" indent="-342900">
              <a:buFont typeface="+mj-lt"/>
              <a:buAutoNum type="arabicPeriod"/>
            </a:pPr>
            <a:endParaRPr lang="en-US" sz="1600" dirty="0"/>
          </a:p>
          <a:p>
            <a:pPr marL="342900" indent="-342900">
              <a:buFont typeface="+mj-lt"/>
              <a:buAutoNum type="arabicPeriod"/>
            </a:pPr>
            <a:endParaRPr lang="ru-RU" sz="1600" dirty="0"/>
          </a:p>
          <a:p>
            <a:pPr marL="0" indent="0">
              <a:buNone/>
            </a:pPr>
            <a:endParaRPr lang="en-US" sz="1200" dirty="0"/>
          </a:p>
        </p:txBody>
      </p:sp>
    </p:spTree>
    <p:extLst>
      <p:ext uri="{BB962C8B-B14F-4D97-AF65-F5344CB8AC3E}">
        <p14:creationId xmlns:p14="http://schemas.microsoft.com/office/powerpoint/2010/main" val="356217579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800" dirty="0"/>
              <a:t>Shop:</a:t>
            </a:r>
            <a:r>
              <a:rPr lang="ru-RU" sz="3800" dirty="0"/>
              <a:t> сортировка товаров</a:t>
            </a:r>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10656"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342900" indent="-342900">
              <a:buFont typeface="+mj-lt"/>
              <a:buAutoNum type="arabicPeriod"/>
            </a:pPr>
            <a:r>
              <a:rPr lang="ru-RU" sz="1600" dirty="0"/>
              <a:t>Откройте </a:t>
            </a:r>
            <a:r>
              <a:rPr lang="en-US" sz="1600" dirty="0">
                <a:hlinkClick r:id="rId2"/>
              </a:rPr>
              <a:t>http://practice.automationtesting.in/</a:t>
            </a:r>
            <a:endParaRPr lang="ru-RU" sz="1600" dirty="0"/>
          </a:p>
          <a:p>
            <a:pPr marL="342900" indent="-342900">
              <a:buFont typeface="+mj-lt"/>
              <a:buAutoNum type="arabicPeriod"/>
            </a:pPr>
            <a:r>
              <a:rPr lang="ru-RU" sz="1600" dirty="0"/>
              <a:t>Залогиньтесь</a:t>
            </a:r>
          </a:p>
          <a:p>
            <a:pPr marL="342900" indent="-342900">
              <a:buFont typeface="+mj-lt"/>
              <a:buAutoNum type="arabicPeriod"/>
            </a:pPr>
            <a:r>
              <a:rPr lang="ru-RU" sz="1600" dirty="0"/>
              <a:t>Нажмите на вкладку</a:t>
            </a:r>
            <a:r>
              <a:rPr lang="en-US" sz="1600" dirty="0"/>
              <a:t> "Shop"</a:t>
            </a:r>
            <a:endParaRPr lang="ru-RU" sz="1600" dirty="0"/>
          </a:p>
          <a:p>
            <a:pPr marL="342900" indent="-342900">
              <a:buFont typeface="+mj-lt"/>
              <a:buAutoNum type="arabicPeriod"/>
            </a:pPr>
            <a:r>
              <a:rPr lang="ru-RU" sz="1600" dirty="0"/>
              <a:t>Добавьте тест, что в селекторе выбран вариант сортировки по умолчанию</a:t>
            </a:r>
            <a:endParaRPr lang="ru-RU" sz="1600" dirty="0">
              <a:solidFill>
                <a:schemeClr val="bg1">
                  <a:lumMod val="50000"/>
                </a:schemeClr>
              </a:solidFill>
            </a:endParaRPr>
          </a:p>
          <a:p>
            <a:pPr lvl="1"/>
            <a:r>
              <a:rPr lang="ru-RU" sz="1400" dirty="0">
                <a:solidFill>
                  <a:schemeClr val="tx1">
                    <a:lumMod val="95000"/>
                    <a:lumOff val="5000"/>
                  </a:schemeClr>
                </a:solidFill>
              </a:rPr>
              <a:t>Используйте проверку по</a:t>
            </a:r>
            <a:r>
              <a:rPr lang="en-US" sz="1400" dirty="0">
                <a:solidFill>
                  <a:schemeClr val="tx1">
                    <a:lumMod val="95000"/>
                    <a:lumOff val="5000"/>
                  </a:schemeClr>
                </a:solidFill>
              </a:rPr>
              <a:t> value</a:t>
            </a:r>
            <a:endParaRPr lang="en-US" sz="1600" dirty="0"/>
          </a:p>
          <a:p>
            <a:pPr marL="342900" indent="-342900">
              <a:buFont typeface="+mj-lt"/>
              <a:buAutoNum type="arabicPeriod"/>
            </a:pPr>
            <a:r>
              <a:rPr lang="ru-RU" sz="1600" dirty="0"/>
              <a:t>Отсортируйте</a:t>
            </a:r>
            <a:r>
              <a:rPr lang="ru-RU" sz="1600" dirty="0">
                <a:solidFill>
                  <a:schemeClr val="tx1"/>
                </a:solidFill>
              </a:rPr>
              <a:t> товары </a:t>
            </a:r>
            <a:r>
              <a:rPr lang="ru-RU" sz="1600" dirty="0"/>
              <a:t>от большего к меньшему</a:t>
            </a:r>
            <a:r>
              <a:rPr lang="en-US" sz="1600" dirty="0"/>
              <a:t> </a:t>
            </a:r>
            <a:endParaRPr lang="ru-RU" sz="1600" dirty="0"/>
          </a:p>
          <a:p>
            <a:pPr lvl="1"/>
            <a:r>
              <a:rPr lang="ru-RU" sz="1400" dirty="0">
                <a:solidFill>
                  <a:schemeClr val="tx1">
                    <a:lumMod val="95000"/>
                    <a:lumOff val="5000"/>
                  </a:schemeClr>
                </a:solidFill>
              </a:rPr>
              <a:t>в селекторах используйте класс </a:t>
            </a:r>
            <a:r>
              <a:rPr lang="en-US" sz="1400" dirty="0">
                <a:solidFill>
                  <a:schemeClr val="tx1">
                    <a:lumMod val="95000"/>
                    <a:lumOff val="5000"/>
                  </a:schemeClr>
                </a:solidFill>
              </a:rPr>
              <a:t>Select</a:t>
            </a:r>
            <a:endParaRPr lang="ru-RU" sz="1400" dirty="0">
              <a:solidFill>
                <a:schemeClr val="tx1">
                  <a:lumMod val="95000"/>
                  <a:lumOff val="5000"/>
                </a:schemeClr>
              </a:solidFill>
            </a:endParaRPr>
          </a:p>
          <a:p>
            <a:pPr marL="342900" indent="-342900">
              <a:buFont typeface="+mj-lt"/>
              <a:buAutoNum type="arabicPeriod"/>
            </a:pPr>
            <a:r>
              <a:rPr lang="ru-RU" sz="1600" dirty="0">
                <a:solidFill>
                  <a:schemeClr val="tx1"/>
                </a:solidFill>
              </a:rPr>
              <a:t>Снова объявите переменную с локатором основного селектора сортировки </a:t>
            </a:r>
            <a:r>
              <a:rPr lang="en-US" sz="1600" dirty="0">
                <a:solidFill>
                  <a:schemeClr val="bg1">
                    <a:lumMod val="50000"/>
                  </a:schemeClr>
                </a:solidFill>
              </a:rPr>
              <a:t># </a:t>
            </a:r>
            <a:r>
              <a:rPr lang="ru-RU" sz="1600" dirty="0">
                <a:solidFill>
                  <a:schemeClr val="bg1">
                    <a:lumMod val="50000"/>
                  </a:schemeClr>
                </a:solidFill>
              </a:rPr>
              <a:t>т.к после сортировки страница обновится</a:t>
            </a:r>
          </a:p>
          <a:p>
            <a:pPr marL="342900" indent="-342900">
              <a:buFont typeface="+mj-lt"/>
              <a:buAutoNum type="arabicPeriod"/>
            </a:pPr>
            <a:r>
              <a:rPr lang="ru-RU" sz="1600" dirty="0"/>
              <a:t>Добавьте тест, что в селекторе выбран вариант сортировки от большего к меньшему</a:t>
            </a:r>
            <a:endParaRPr lang="ru-RU" sz="1600" dirty="0">
              <a:solidFill>
                <a:schemeClr val="bg1">
                  <a:lumMod val="50000"/>
                </a:schemeClr>
              </a:solidFill>
            </a:endParaRPr>
          </a:p>
          <a:p>
            <a:pPr lvl="1"/>
            <a:r>
              <a:rPr lang="ru-RU" sz="1400" dirty="0">
                <a:solidFill>
                  <a:schemeClr val="tx1">
                    <a:lumMod val="95000"/>
                    <a:lumOff val="5000"/>
                  </a:schemeClr>
                </a:solidFill>
              </a:rPr>
              <a:t>Используйте проверку по</a:t>
            </a:r>
            <a:r>
              <a:rPr lang="en-US" sz="1400" dirty="0">
                <a:solidFill>
                  <a:schemeClr val="tx1">
                    <a:lumMod val="95000"/>
                    <a:lumOff val="5000"/>
                  </a:schemeClr>
                </a:solidFill>
              </a:rPr>
              <a:t> value</a:t>
            </a:r>
          </a:p>
        </p:txBody>
      </p:sp>
    </p:spTree>
    <p:extLst>
      <p:ext uri="{BB962C8B-B14F-4D97-AF65-F5344CB8AC3E}">
        <p14:creationId xmlns:p14="http://schemas.microsoft.com/office/powerpoint/2010/main" val="406765795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800" dirty="0"/>
              <a:t>Shop:</a:t>
            </a:r>
            <a:r>
              <a:rPr lang="ru-RU" sz="3800" dirty="0"/>
              <a:t> отображение, скидка товара</a:t>
            </a:r>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10656"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342900" indent="-342900">
              <a:buFont typeface="+mj-lt"/>
              <a:buAutoNum type="arabicPeriod"/>
            </a:pPr>
            <a:r>
              <a:rPr lang="ru-RU" sz="1600" dirty="0"/>
              <a:t>Откройте </a:t>
            </a:r>
            <a:r>
              <a:rPr lang="en-US" sz="1600" dirty="0">
                <a:hlinkClick r:id="rId2"/>
              </a:rPr>
              <a:t>http://practice.automationtesting.in/</a:t>
            </a:r>
            <a:endParaRPr lang="ru-RU" sz="1600" dirty="0"/>
          </a:p>
          <a:p>
            <a:pPr marL="342900" indent="-342900">
              <a:buFont typeface="+mj-lt"/>
              <a:buAutoNum type="arabicPeriod"/>
            </a:pPr>
            <a:r>
              <a:rPr lang="ru-RU" sz="1600" dirty="0"/>
              <a:t>Залогиньтесь</a:t>
            </a:r>
          </a:p>
          <a:p>
            <a:pPr marL="342900" indent="-342900">
              <a:buFont typeface="+mj-lt"/>
              <a:buAutoNum type="arabicPeriod"/>
            </a:pPr>
            <a:r>
              <a:rPr lang="ru-RU" sz="1600" dirty="0"/>
              <a:t>Нажмите на вкладку</a:t>
            </a:r>
            <a:r>
              <a:rPr lang="en-US" sz="1600" dirty="0"/>
              <a:t> "Shop"</a:t>
            </a:r>
          </a:p>
          <a:p>
            <a:pPr marL="342900" indent="-342900">
              <a:buFont typeface="+mj-lt"/>
              <a:buAutoNum type="arabicPeriod"/>
            </a:pPr>
            <a:r>
              <a:rPr lang="ru-RU" sz="1600" dirty="0"/>
              <a:t>Откройте книгу</a:t>
            </a:r>
            <a:r>
              <a:rPr lang="en-US" sz="1600" dirty="0"/>
              <a:t> "Android Quick Start Guide"</a:t>
            </a:r>
          </a:p>
          <a:p>
            <a:pPr marL="342900" indent="-342900">
              <a:buFont typeface="+mj-lt"/>
              <a:buAutoNum type="arabicPeriod"/>
            </a:pPr>
            <a:r>
              <a:rPr lang="ru-RU" sz="1600" dirty="0"/>
              <a:t>Добавьте тест, что содержимое старой цены = </a:t>
            </a:r>
            <a:r>
              <a:rPr lang="en-US" sz="1600" dirty="0"/>
              <a:t>"</a:t>
            </a:r>
            <a:r>
              <a:rPr lang="ru-RU" sz="1600" dirty="0"/>
              <a:t>₹600.00</a:t>
            </a:r>
            <a:r>
              <a:rPr lang="en-US" sz="1600" dirty="0"/>
              <a:t>"	</a:t>
            </a:r>
            <a:r>
              <a:rPr lang="en-US" sz="1600" dirty="0">
                <a:solidFill>
                  <a:schemeClr val="bg1">
                    <a:lumMod val="50000"/>
                  </a:schemeClr>
                </a:solidFill>
              </a:rPr>
              <a:t>#</a:t>
            </a:r>
            <a:r>
              <a:rPr lang="ru-RU" sz="1600" dirty="0">
                <a:solidFill>
                  <a:schemeClr val="bg1">
                    <a:lumMod val="50000"/>
                  </a:schemeClr>
                </a:solidFill>
              </a:rPr>
              <a:t> используйте</a:t>
            </a:r>
            <a:r>
              <a:rPr lang="en-US" sz="1600" dirty="0">
                <a:solidFill>
                  <a:schemeClr val="bg1">
                    <a:lumMod val="50000"/>
                  </a:schemeClr>
                </a:solidFill>
              </a:rPr>
              <a:t> assert</a:t>
            </a:r>
            <a:r>
              <a:rPr lang="en-US" sz="1600" dirty="0"/>
              <a:t>	</a:t>
            </a:r>
          </a:p>
          <a:p>
            <a:pPr marL="342900" indent="-342900">
              <a:buFont typeface="+mj-lt"/>
              <a:buAutoNum type="arabicPeriod"/>
            </a:pPr>
            <a:r>
              <a:rPr lang="ru-RU" sz="1600" dirty="0"/>
              <a:t>Добавьте тест, что содержимое новой цены = </a:t>
            </a:r>
            <a:r>
              <a:rPr lang="en-US" sz="1600" dirty="0"/>
              <a:t>"</a:t>
            </a:r>
            <a:r>
              <a:rPr lang="ru-RU" sz="1600" dirty="0"/>
              <a:t>₹</a:t>
            </a:r>
            <a:r>
              <a:rPr lang="en-US" sz="1600" dirty="0"/>
              <a:t>450</a:t>
            </a:r>
            <a:r>
              <a:rPr lang="ru-RU" sz="1600" dirty="0"/>
              <a:t>.00</a:t>
            </a:r>
            <a:r>
              <a:rPr lang="en-US" sz="1600" dirty="0"/>
              <a:t>"</a:t>
            </a:r>
            <a:r>
              <a:rPr lang="ru-RU" sz="1600" dirty="0"/>
              <a:t>	</a:t>
            </a:r>
            <a:r>
              <a:rPr lang="en-US" sz="1600" dirty="0"/>
              <a:t>	</a:t>
            </a:r>
            <a:r>
              <a:rPr lang="en-US" sz="1600" dirty="0">
                <a:solidFill>
                  <a:schemeClr val="bg1">
                    <a:lumMod val="50000"/>
                  </a:schemeClr>
                </a:solidFill>
              </a:rPr>
              <a:t>#</a:t>
            </a:r>
            <a:r>
              <a:rPr lang="ru-RU" sz="1600" dirty="0">
                <a:solidFill>
                  <a:schemeClr val="bg1">
                    <a:lumMod val="50000"/>
                  </a:schemeClr>
                </a:solidFill>
              </a:rPr>
              <a:t> используйте</a:t>
            </a:r>
            <a:r>
              <a:rPr lang="en-US" sz="1600" dirty="0">
                <a:solidFill>
                  <a:schemeClr val="bg1">
                    <a:lumMod val="50000"/>
                  </a:schemeClr>
                </a:solidFill>
              </a:rPr>
              <a:t> assert</a:t>
            </a:r>
            <a:r>
              <a:rPr lang="en-US" sz="1600" dirty="0"/>
              <a:t>	</a:t>
            </a:r>
          </a:p>
          <a:p>
            <a:pPr marL="342900" indent="-342900">
              <a:buFont typeface="+mj-lt"/>
              <a:buAutoNum type="arabicPeriod"/>
            </a:pPr>
            <a:r>
              <a:rPr lang="ru-RU" sz="1600" dirty="0"/>
              <a:t>Добавьте явное ожидание и нажмите на обложку книги</a:t>
            </a:r>
          </a:p>
          <a:p>
            <a:pPr lvl="1"/>
            <a:r>
              <a:rPr lang="ru-RU" sz="1200" dirty="0"/>
              <a:t>Подберите такой селектор и тайминги, чтобы открылось окно предпросмотра картинки (не вся картинка на всю страницу)</a:t>
            </a:r>
          </a:p>
          <a:p>
            <a:pPr marL="342900" indent="-342900">
              <a:buFont typeface="+mj-lt"/>
              <a:buAutoNum type="arabicPeriod"/>
            </a:pPr>
            <a:r>
              <a:rPr lang="ru-RU" sz="1600" dirty="0"/>
              <a:t>Добавьте явное ожидание и закройте предпросмотр нажав на крестик (кнопка вверху справа)</a:t>
            </a:r>
          </a:p>
          <a:p>
            <a:pPr marL="342900" indent="-342900">
              <a:buFont typeface="+mj-lt"/>
              <a:buAutoNum type="arabicPeriod"/>
            </a:pPr>
            <a:endParaRPr lang="ru-RU" sz="1600" dirty="0"/>
          </a:p>
          <a:p>
            <a:pPr marL="342900" indent="-342900">
              <a:buFont typeface="+mj-lt"/>
              <a:buAutoNum type="arabicPeriod"/>
            </a:pPr>
            <a:endParaRPr lang="en-US" sz="1600" dirty="0"/>
          </a:p>
          <a:p>
            <a:pPr marL="342900" indent="-342900">
              <a:buFont typeface="+mj-lt"/>
              <a:buAutoNum type="arabicPeriod"/>
            </a:pPr>
            <a:endParaRPr lang="ru-RU" sz="1600" dirty="0"/>
          </a:p>
          <a:p>
            <a:pPr marL="0" indent="0">
              <a:buNone/>
            </a:pPr>
            <a:endParaRPr lang="en-US" sz="1200" dirty="0"/>
          </a:p>
        </p:txBody>
      </p:sp>
    </p:spTree>
    <p:extLst>
      <p:ext uri="{BB962C8B-B14F-4D97-AF65-F5344CB8AC3E}">
        <p14:creationId xmlns:p14="http://schemas.microsoft.com/office/powerpoint/2010/main" val="294135608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800" dirty="0"/>
              <a:t>Shop:</a:t>
            </a:r>
            <a:r>
              <a:rPr lang="ru-RU" sz="3800" dirty="0"/>
              <a:t> проверка цены в корзине</a:t>
            </a:r>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10656"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342900" indent="-342900">
              <a:buFont typeface="+mj-lt"/>
              <a:buAutoNum type="arabicPeriod"/>
            </a:pPr>
            <a:r>
              <a:rPr lang="ru-RU" sz="1600" dirty="0"/>
              <a:t>Откройте </a:t>
            </a:r>
            <a:r>
              <a:rPr lang="en-US" sz="1600" dirty="0">
                <a:hlinkClick r:id="rId2"/>
              </a:rPr>
              <a:t>http://practice.automationtesting.in/</a:t>
            </a:r>
            <a:r>
              <a:rPr lang="en-US" sz="1600" dirty="0"/>
              <a:t>	</a:t>
            </a:r>
            <a:r>
              <a:rPr lang="en-US" sz="1600" dirty="0">
                <a:solidFill>
                  <a:schemeClr val="bg1">
                    <a:lumMod val="50000"/>
                  </a:schemeClr>
                </a:solidFill>
              </a:rPr>
              <a:t>#</a:t>
            </a:r>
            <a:r>
              <a:rPr lang="ru-RU" sz="1600" dirty="0">
                <a:solidFill>
                  <a:schemeClr val="bg1">
                    <a:lumMod val="50000"/>
                  </a:schemeClr>
                </a:solidFill>
              </a:rPr>
              <a:t> в этом тесте логиниться не нужно</a:t>
            </a:r>
          </a:p>
          <a:p>
            <a:pPr marL="342900" indent="-342900">
              <a:buFont typeface="+mj-lt"/>
              <a:buAutoNum type="arabicPeriod"/>
            </a:pPr>
            <a:r>
              <a:rPr lang="ru-RU" sz="1600" dirty="0"/>
              <a:t>Нажмите на вкладку</a:t>
            </a:r>
            <a:r>
              <a:rPr lang="en-US" sz="1600" dirty="0"/>
              <a:t> "Shop"</a:t>
            </a:r>
          </a:p>
          <a:p>
            <a:pPr marL="342900" indent="-342900">
              <a:buFont typeface="+mj-lt"/>
              <a:buAutoNum type="arabicPeriod"/>
            </a:pPr>
            <a:r>
              <a:rPr lang="ru-RU" sz="1600" dirty="0"/>
              <a:t>Добавьте в корзину книгу </a:t>
            </a:r>
            <a:r>
              <a:rPr lang="en-US" sz="1600" dirty="0"/>
              <a:t>"HTML5 WebApp Development"</a:t>
            </a:r>
          </a:p>
          <a:p>
            <a:pPr marL="342900" indent="-342900">
              <a:buFont typeface="+mj-lt"/>
              <a:buAutoNum type="arabicPeriod"/>
            </a:pPr>
            <a:r>
              <a:rPr lang="ru-RU" sz="1600" dirty="0"/>
              <a:t>Добавьте тест, что в возле коризны(вверху справа) количество товаров = </a:t>
            </a:r>
            <a:r>
              <a:rPr lang="en-US" sz="1600" dirty="0"/>
              <a:t>"</a:t>
            </a:r>
            <a:r>
              <a:rPr lang="ru-RU" sz="1600" dirty="0"/>
              <a:t>1</a:t>
            </a:r>
            <a:r>
              <a:rPr lang="en-US" sz="1600" dirty="0"/>
              <a:t> Item"</a:t>
            </a:r>
            <a:r>
              <a:rPr lang="ru-RU" sz="1600" dirty="0"/>
              <a:t>, а стоимость = </a:t>
            </a:r>
            <a:r>
              <a:rPr lang="en-US" sz="1600" dirty="0"/>
              <a:t>"</a:t>
            </a:r>
            <a:r>
              <a:rPr lang="ru-RU" sz="1600" dirty="0"/>
              <a:t>₹180.00</a:t>
            </a:r>
            <a:r>
              <a:rPr lang="en-US" sz="1600" dirty="0"/>
              <a:t>" </a:t>
            </a:r>
            <a:endParaRPr lang="ru-RU" sz="1600" dirty="0"/>
          </a:p>
          <a:p>
            <a:pPr lvl="1"/>
            <a:r>
              <a:rPr lang="ru-RU" sz="1200" dirty="0"/>
              <a:t>Используйте для проверки</a:t>
            </a:r>
            <a:r>
              <a:rPr lang="en-US" sz="1200" dirty="0"/>
              <a:t> assert</a:t>
            </a:r>
            <a:endParaRPr lang="ru-RU" sz="1200" dirty="0"/>
          </a:p>
          <a:p>
            <a:pPr marL="342900" indent="-342900">
              <a:buFont typeface="+mj-lt"/>
              <a:buAutoNum type="arabicPeriod"/>
            </a:pPr>
            <a:r>
              <a:rPr lang="ru-RU" sz="1600" dirty="0"/>
              <a:t>Перейдите в корзину</a:t>
            </a:r>
          </a:p>
          <a:p>
            <a:pPr marL="342900" indent="-342900">
              <a:buFont typeface="+mj-lt"/>
              <a:buAutoNum type="arabicPeriod"/>
            </a:pPr>
            <a:r>
              <a:rPr lang="ru-RU" sz="1600" dirty="0"/>
              <a:t>Используя явное ожидание, проверьте что в </a:t>
            </a:r>
            <a:r>
              <a:rPr lang="en-US" sz="1600" dirty="0"/>
              <a:t>Subtotal</a:t>
            </a:r>
            <a:r>
              <a:rPr lang="ru-RU" sz="1600" dirty="0"/>
              <a:t> отобразилась стоимость</a:t>
            </a:r>
          </a:p>
          <a:p>
            <a:pPr marL="342900" indent="-342900">
              <a:buFont typeface="+mj-lt"/>
              <a:buAutoNum type="arabicPeriod"/>
            </a:pPr>
            <a:r>
              <a:rPr lang="ru-RU" sz="1600" dirty="0"/>
              <a:t>Используя явное ожидание, проверьте что в </a:t>
            </a:r>
            <a:r>
              <a:rPr lang="en-US" sz="1600" dirty="0"/>
              <a:t>Total</a:t>
            </a:r>
            <a:r>
              <a:rPr lang="ru-RU" sz="1600" dirty="0"/>
              <a:t> отобразилась стоимость</a:t>
            </a:r>
            <a:endParaRPr lang="en-US" sz="1600" dirty="0"/>
          </a:p>
          <a:p>
            <a:pPr marL="342900" indent="-342900">
              <a:buFont typeface="+mj-lt"/>
              <a:buAutoNum type="arabicPeriod"/>
            </a:pPr>
            <a:endParaRPr lang="en-US" sz="1600" dirty="0"/>
          </a:p>
          <a:p>
            <a:pPr marL="342900" indent="-342900">
              <a:buFont typeface="+mj-lt"/>
              <a:buAutoNum type="arabicPeriod"/>
            </a:pPr>
            <a:endParaRPr lang="en-US" sz="1600" dirty="0"/>
          </a:p>
          <a:p>
            <a:pPr marL="342900" indent="-342900">
              <a:buFont typeface="+mj-lt"/>
              <a:buAutoNum type="arabicPeriod"/>
            </a:pPr>
            <a:endParaRPr lang="en-US" sz="1600" dirty="0"/>
          </a:p>
          <a:p>
            <a:pPr marL="342900" indent="-342900">
              <a:buFont typeface="+mj-lt"/>
              <a:buAutoNum type="arabicPeriod"/>
            </a:pPr>
            <a:endParaRPr lang="en-US" sz="1600" dirty="0"/>
          </a:p>
          <a:p>
            <a:pPr marL="342900" indent="-342900">
              <a:buFont typeface="+mj-lt"/>
              <a:buAutoNum type="arabicPeriod"/>
            </a:pPr>
            <a:endParaRPr lang="en-US" sz="1600" dirty="0"/>
          </a:p>
          <a:p>
            <a:pPr marL="0" indent="0">
              <a:buNone/>
            </a:pPr>
            <a:r>
              <a:rPr lang="en-US" sz="1400" dirty="0">
                <a:solidFill>
                  <a:schemeClr val="bg1">
                    <a:lumMod val="50000"/>
                  </a:schemeClr>
                </a:solidFill>
              </a:rPr>
              <a:t>#</a:t>
            </a:r>
            <a:r>
              <a:rPr lang="ru-RU" sz="1400" dirty="0">
                <a:solidFill>
                  <a:schemeClr val="bg1">
                    <a:lumMod val="50000"/>
                  </a:schemeClr>
                </a:solidFill>
              </a:rPr>
              <a:t> если эта книга будет </a:t>
            </a:r>
            <a:r>
              <a:rPr lang="en-US" sz="1400" dirty="0">
                <a:solidFill>
                  <a:schemeClr val="bg1">
                    <a:lumMod val="50000"/>
                  </a:schemeClr>
                </a:solidFill>
              </a:rPr>
              <a:t>out of stock - </a:t>
            </a:r>
            <a:r>
              <a:rPr lang="ru-RU" sz="1400" dirty="0">
                <a:solidFill>
                  <a:schemeClr val="bg1">
                    <a:lumMod val="50000"/>
                  </a:schemeClr>
                </a:solidFill>
              </a:rPr>
              <a:t>тогда вместо неё добавьте книгу </a:t>
            </a:r>
            <a:r>
              <a:rPr lang="en-US" sz="1400" dirty="0">
                <a:solidFill>
                  <a:schemeClr val="bg1">
                    <a:lumMod val="50000"/>
                  </a:schemeClr>
                </a:solidFill>
              </a:rPr>
              <a:t>HTML5 Forms</a:t>
            </a:r>
            <a:r>
              <a:rPr lang="ru-RU" sz="1400" dirty="0">
                <a:solidFill>
                  <a:schemeClr val="bg1">
                    <a:lumMod val="50000"/>
                  </a:schemeClr>
                </a:solidFill>
              </a:rPr>
              <a:t> и выполните тесты по аналогии</a:t>
            </a:r>
            <a:endParaRPr lang="en-US" sz="1400" dirty="0">
              <a:solidFill>
                <a:schemeClr val="bg1">
                  <a:lumMod val="50000"/>
                </a:schemeClr>
              </a:solidFill>
            </a:endParaRPr>
          </a:p>
          <a:p>
            <a:pPr marL="342900" indent="-342900">
              <a:buFont typeface="+mj-lt"/>
              <a:buAutoNum type="arabicPeriod"/>
            </a:pPr>
            <a:endParaRPr lang="ru-RU" sz="1600" dirty="0"/>
          </a:p>
          <a:p>
            <a:pPr marL="0" indent="0">
              <a:buNone/>
            </a:pPr>
            <a:endParaRPr lang="en-US" sz="1200" dirty="0"/>
          </a:p>
        </p:txBody>
      </p:sp>
    </p:spTree>
    <p:extLst>
      <p:ext uri="{BB962C8B-B14F-4D97-AF65-F5344CB8AC3E}">
        <p14:creationId xmlns:p14="http://schemas.microsoft.com/office/powerpoint/2010/main" val="30825120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800" dirty="0"/>
              <a:t>Shop:</a:t>
            </a:r>
            <a:r>
              <a:rPr lang="ru-RU" sz="3800" dirty="0"/>
              <a:t> работа в корзине</a:t>
            </a:r>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10656"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ru-RU" sz="1200" dirty="0"/>
              <a:t>Иногда, даже явные ожидания не помогают избежать ошибки при нахождении элемента, этот сценарий один из таких, используйте</a:t>
            </a:r>
            <a:r>
              <a:rPr lang="en-US" sz="1200" dirty="0"/>
              <a:t> time.sleep()</a:t>
            </a:r>
          </a:p>
          <a:p>
            <a:pPr marL="342900" indent="-342900">
              <a:buFont typeface="+mj-lt"/>
              <a:buAutoNum type="arabicPeriod"/>
            </a:pPr>
            <a:r>
              <a:rPr lang="ru-RU" sz="1200" dirty="0"/>
              <a:t>Откройте </a:t>
            </a:r>
            <a:r>
              <a:rPr lang="en-US" sz="1200" dirty="0">
                <a:hlinkClick r:id="rId2"/>
              </a:rPr>
              <a:t>http://practice.automationtesting.in/</a:t>
            </a:r>
            <a:r>
              <a:rPr lang="en-US" sz="1200" dirty="0"/>
              <a:t> 	</a:t>
            </a:r>
            <a:r>
              <a:rPr lang="en-US" sz="1200" dirty="0">
                <a:solidFill>
                  <a:schemeClr val="bg1">
                    <a:lumMod val="50000"/>
                  </a:schemeClr>
                </a:solidFill>
              </a:rPr>
              <a:t>#</a:t>
            </a:r>
            <a:r>
              <a:rPr lang="ru-RU" sz="1200" dirty="0">
                <a:solidFill>
                  <a:schemeClr val="bg1">
                    <a:lumMod val="50000"/>
                  </a:schemeClr>
                </a:solidFill>
              </a:rPr>
              <a:t> в этом тесте логиниться не нужно</a:t>
            </a:r>
            <a:endParaRPr lang="ru-RU" sz="1200" dirty="0"/>
          </a:p>
          <a:p>
            <a:pPr marL="342900" indent="-342900">
              <a:buFont typeface="+mj-lt"/>
              <a:buAutoNum type="arabicPeriod"/>
            </a:pPr>
            <a:r>
              <a:rPr lang="ru-RU" sz="1200" dirty="0"/>
              <a:t>Нажмите на вкладку</a:t>
            </a:r>
            <a:r>
              <a:rPr lang="en-US" sz="1200" dirty="0"/>
              <a:t> "Shop"</a:t>
            </a:r>
          </a:p>
          <a:p>
            <a:pPr marL="342900" indent="-342900">
              <a:buFont typeface="+mj-lt"/>
              <a:buAutoNum type="arabicPeriod"/>
            </a:pPr>
            <a:r>
              <a:rPr lang="ru-RU" sz="1200" dirty="0"/>
              <a:t>Добавьте в корзину книги </a:t>
            </a:r>
            <a:r>
              <a:rPr lang="en-US" sz="1200" dirty="0"/>
              <a:t>"HTML5 WebApp Development"</a:t>
            </a:r>
            <a:r>
              <a:rPr lang="ru-RU" sz="1200" dirty="0"/>
              <a:t> и </a:t>
            </a:r>
            <a:r>
              <a:rPr lang="en-US" sz="1200" dirty="0"/>
              <a:t>"JS Data Structures and Algorithm"</a:t>
            </a:r>
            <a:r>
              <a:rPr lang="ru-RU" sz="1200" dirty="0"/>
              <a:t> </a:t>
            </a:r>
          </a:p>
          <a:p>
            <a:pPr lvl="1"/>
            <a:r>
              <a:rPr lang="ru-RU" sz="1000" dirty="0"/>
              <a:t>Перед добавлением первой книги, проскролльте вниз на 300 пикселей</a:t>
            </a:r>
          </a:p>
          <a:p>
            <a:pPr lvl="1"/>
            <a:r>
              <a:rPr lang="ru-RU" sz="1000" dirty="0"/>
              <a:t>После добавления 1-й книги добавьте </a:t>
            </a:r>
            <a:r>
              <a:rPr lang="en-US" sz="1000" dirty="0"/>
              <a:t>sleep</a:t>
            </a:r>
            <a:endParaRPr lang="ru-RU" sz="1000" dirty="0"/>
          </a:p>
          <a:p>
            <a:pPr marL="342900" indent="-342900">
              <a:buFont typeface="+mj-lt"/>
              <a:buAutoNum type="arabicPeriod"/>
            </a:pPr>
            <a:r>
              <a:rPr lang="ru-RU" sz="1200" dirty="0"/>
              <a:t>Перейдите в корзину</a:t>
            </a:r>
          </a:p>
          <a:p>
            <a:pPr marL="342900" indent="-342900">
              <a:buFont typeface="+mj-lt"/>
              <a:buAutoNum type="arabicPeriod"/>
            </a:pPr>
            <a:r>
              <a:rPr lang="ru-RU" sz="1200" dirty="0"/>
              <a:t>Удалите первую книгу</a:t>
            </a:r>
          </a:p>
          <a:p>
            <a:pPr lvl="1"/>
            <a:r>
              <a:rPr lang="ru-RU" sz="1000" dirty="0"/>
              <a:t>Перед удалением добавьте </a:t>
            </a:r>
            <a:r>
              <a:rPr lang="en-US" sz="1000" dirty="0"/>
              <a:t>sleep</a:t>
            </a:r>
            <a:endParaRPr lang="ru-RU" sz="1000" dirty="0"/>
          </a:p>
          <a:p>
            <a:pPr marL="342900" indent="-342900">
              <a:buFont typeface="+mj-lt"/>
              <a:buAutoNum type="arabicPeriod"/>
            </a:pPr>
            <a:r>
              <a:rPr lang="ru-RU" sz="1200" dirty="0"/>
              <a:t>Нажмите на </a:t>
            </a:r>
            <a:r>
              <a:rPr lang="en-US" sz="1200" dirty="0"/>
              <a:t>Undo</a:t>
            </a:r>
            <a:r>
              <a:rPr lang="ru-RU" sz="1200" dirty="0"/>
              <a:t> (отмена удаления)</a:t>
            </a:r>
          </a:p>
          <a:p>
            <a:pPr marL="342900" indent="-342900">
              <a:buFont typeface="+mj-lt"/>
              <a:buAutoNum type="arabicPeriod"/>
            </a:pPr>
            <a:r>
              <a:rPr lang="ru-RU" sz="1200" dirty="0"/>
              <a:t>В </a:t>
            </a:r>
            <a:r>
              <a:rPr lang="en-US" sz="1200" dirty="0"/>
              <a:t>Quantity </a:t>
            </a:r>
            <a:r>
              <a:rPr lang="ru-RU" sz="1200" dirty="0"/>
              <a:t>увеличьте количесто товара до 3 шт для </a:t>
            </a:r>
            <a:r>
              <a:rPr lang="en-US" sz="1200" dirty="0"/>
              <a:t>"JS Data Structures and Algorithm“</a:t>
            </a:r>
          </a:p>
          <a:p>
            <a:pPr lvl="1"/>
            <a:r>
              <a:rPr lang="ru-RU" sz="1000" dirty="0"/>
              <a:t>Предварительно очистите поле с помощью</a:t>
            </a:r>
            <a:r>
              <a:rPr lang="en-US" sz="1000" dirty="0"/>
              <a:t> </a:t>
            </a:r>
            <a:r>
              <a:rPr lang="ru-RU" sz="1000" dirty="0"/>
              <a:t>локатор_поля</a:t>
            </a:r>
            <a:r>
              <a:rPr lang="en-US" sz="1000" dirty="0"/>
              <a:t>.clear()</a:t>
            </a:r>
          </a:p>
          <a:p>
            <a:pPr marL="342900" indent="-342900">
              <a:buFont typeface="+mj-lt"/>
              <a:buAutoNum type="arabicPeriod"/>
            </a:pPr>
            <a:r>
              <a:rPr lang="ru-RU" sz="1200" dirty="0"/>
              <a:t>Нажмите на кнопку</a:t>
            </a:r>
            <a:r>
              <a:rPr lang="en-US" sz="1200" dirty="0"/>
              <a:t> "UPDATE BASKET" </a:t>
            </a:r>
          </a:p>
          <a:p>
            <a:pPr marL="342900" indent="-342900">
              <a:buFont typeface="+mj-lt"/>
              <a:buAutoNum type="arabicPeriod"/>
            </a:pPr>
            <a:r>
              <a:rPr lang="ru-RU" sz="1200" dirty="0"/>
              <a:t>Добавьте тест, что </a:t>
            </a:r>
            <a:r>
              <a:rPr lang="en-US" sz="1200" dirty="0"/>
              <a:t>value</a:t>
            </a:r>
            <a:r>
              <a:rPr lang="ru-RU" sz="1200" dirty="0"/>
              <a:t> элемента </a:t>
            </a:r>
            <a:r>
              <a:rPr lang="en-US" sz="1200" dirty="0"/>
              <a:t>quantity </a:t>
            </a:r>
            <a:r>
              <a:rPr lang="ru-RU" sz="1200" dirty="0"/>
              <a:t>для </a:t>
            </a:r>
            <a:r>
              <a:rPr lang="en-US" sz="1200" dirty="0"/>
              <a:t>"JS Data Structures and Algorithm"</a:t>
            </a:r>
            <a:r>
              <a:rPr lang="ru-RU" sz="1200" dirty="0"/>
              <a:t> равно 3</a:t>
            </a:r>
            <a:r>
              <a:rPr lang="en-US" sz="1200" dirty="0"/>
              <a:t>		</a:t>
            </a:r>
            <a:r>
              <a:rPr lang="en-US" sz="1200" dirty="0">
                <a:solidFill>
                  <a:schemeClr val="bg1">
                    <a:lumMod val="50000"/>
                  </a:schemeClr>
                </a:solidFill>
              </a:rPr>
              <a:t>#</a:t>
            </a:r>
            <a:r>
              <a:rPr lang="ru-RU" sz="1200" dirty="0">
                <a:solidFill>
                  <a:schemeClr val="bg1">
                    <a:lumMod val="50000"/>
                  </a:schemeClr>
                </a:solidFill>
              </a:rPr>
              <a:t> используйте</a:t>
            </a:r>
            <a:r>
              <a:rPr lang="en-US" sz="1200" dirty="0">
                <a:solidFill>
                  <a:schemeClr val="bg1">
                    <a:lumMod val="50000"/>
                  </a:schemeClr>
                </a:solidFill>
              </a:rPr>
              <a:t> assert</a:t>
            </a:r>
          </a:p>
          <a:p>
            <a:pPr marL="342900" indent="-342900">
              <a:buFont typeface="+mj-lt"/>
              <a:buAutoNum type="arabicPeriod"/>
            </a:pPr>
            <a:r>
              <a:rPr lang="ru-RU" sz="1200" dirty="0"/>
              <a:t>Нажмите</a:t>
            </a:r>
            <a:r>
              <a:rPr lang="en-US" sz="1200" dirty="0"/>
              <a:t> </a:t>
            </a:r>
            <a:r>
              <a:rPr lang="ru-RU" sz="1200" dirty="0"/>
              <a:t>на кнопку</a:t>
            </a:r>
            <a:r>
              <a:rPr lang="en-US" sz="1200" dirty="0"/>
              <a:t> "APPLY COUPON"</a:t>
            </a:r>
          </a:p>
          <a:p>
            <a:pPr lvl="1"/>
            <a:r>
              <a:rPr lang="ru-RU" sz="1000" dirty="0"/>
              <a:t>Перед нажатимем добавьте </a:t>
            </a:r>
            <a:r>
              <a:rPr lang="en-US" sz="1000" dirty="0"/>
              <a:t>sleep</a:t>
            </a:r>
            <a:endParaRPr lang="ru-RU" sz="1000" dirty="0"/>
          </a:p>
          <a:p>
            <a:pPr marL="342900" indent="-342900">
              <a:buFont typeface="+mj-lt"/>
              <a:buAutoNum type="arabicPeriod"/>
            </a:pPr>
            <a:r>
              <a:rPr lang="ru-RU" sz="1200" dirty="0"/>
              <a:t>Добавьте тест, что возникло сообщение</a:t>
            </a:r>
            <a:r>
              <a:rPr lang="en-US" sz="1200" dirty="0"/>
              <a:t>: "Please enter a coupon code."</a:t>
            </a:r>
          </a:p>
          <a:p>
            <a:pPr marL="0" indent="0">
              <a:buNone/>
            </a:pPr>
            <a:r>
              <a:rPr lang="en-US" sz="1200" dirty="0">
                <a:solidFill>
                  <a:schemeClr val="bg1">
                    <a:lumMod val="50000"/>
                  </a:schemeClr>
                </a:solidFill>
              </a:rPr>
              <a:t>#</a:t>
            </a:r>
            <a:r>
              <a:rPr lang="ru-RU" sz="1200" dirty="0">
                <a:solidFill>
                  <a:schemeClr val="bg1">
                    <a:lumMod val="50000"/>
                  </a:schemeClr>
                </a:solidFill>
              </a:rPr>
              <a:t> если эти книги будут </a:t>
            </a:r>
            <a:r>
              <a:rPr lang="en-US" sz="1200" dirty="0">
                <a:solidFill>
                  <a:schemeClr val="bg1">
                    <a:lumMod val="50000"/>
                  </a:schemeClr>
                </a:solidFill>
              </a:rPr>
              <a:t>out of stock - </a:t>
            </a:r>
            <a:r>
              <a:rPr lang="ru-RU" sz="1200" dirty="0">
                <a:solidFill>
                  <a:schemeClr val="bg1">
                    <a:lumMod val="50000"/>
                  </a:schemeClr>
                </a:solidFill>
              </a:rPr>
              <a:t>тогда вместо них добавьте книгу </a:t>
            </a:r>
            <a:r>
              <a:rPr lang="en-US" sz="1200" dirty="0">
                <a:solidFill>
                  <a:schemeClr val="bg1">
                    <a:lumMod val="50000"/>
                  </a:schemeClr>
                </a:solidFill>
              </a:rPr>
              <a:t>HTML5 Forms</a:t>
            </a:r>
            <a:r>
              <a:rPr lang="ru-RU" sz="1200" dirty="0">
                <a:solidFill>
                  <a:schemeClr val="bg1">
                    <a:lumMod val="50000"/>
                  </a:schemeClr>
                </a:solidFill>
              </a:rPr>
              <a:t> и любую доступную книгу по </a:t>
            </a:r>
            <a:r>
              <a:rPr lang="en-US" sz="1200" dirty="0">
                <a:solidFill>
                  <a:schemeClr val="bg1">
                    <a:lumMod val="50000"/>
                  </a:schemeClr>
                </a:solidFill>
              </a:rPr>
              <a:t>JS</a:t>
            </a:r>
            <a:r>
              <a:rPr lang="ru-RU" sz="1200" dirty="0">
                <a:solidFill>
                  <a:schemeClr val="bg1">
                    <a:lumMod val="50000"/>
                  </a:schemeClr>
                </a:solidFill>
              </a:rPr>
              <a:t> и выполните тесты по аналогии</a:t>
            </a:r>
            <a:endParaRPr lang="en-US" sz="1200" dirty="0">
              <a:solidFill>
                <a:schemeClr val="bg1">
                  <a:lumMod val="50000"/>
                </a:schemeClr>
              </a:solidFill>
            </a:endParaRPr>
          </a:p>
          <a:p>
            <a:pPr marL="0" indent="0">
              <a:buNone/>
            </a:pPr>
            <a:endParaRPr lang="ru-RU" sz="1200" dirty="0"/>
          </a:p>
          <a:p>
            <a:pPr marL="0" indent="0">
              <a:buNone/>
            </a:pPr>
            <a:endParaRPr lang="en-US" sz="1200" dirty="0"/>
          </a:p>
        </p:txBody>
      </p:sp>
    </p:spTree>
    <p:extLst>
      <p:ext uri="{BB962C8B-B14F-4D97-AF65-F5344CB8AC3E}">
        <p14:creationId xmlns:p14="http://schemas.microsoft.com/office/powerpoint/2010/main" val="273823335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800" dirty="0"/>
              <a:t>Shop:</a:t>
            </a:r>
            <a:r>
              <a:rPr lang="ru-RU" sz="3800" dirty="0"/>
              <a:t> покупка товара</a:t>
            </a:r>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40" y="1163815"/>
            <a:ext cx="10910656"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342900" indent="-342900">
              <a:buFont typeface="+mj-lt"/>
              <a:buAutoNum type="arabicPeriod"/>
            </a:pPr>
            <a:r>
              <a:rPr lang="ru-RU" sz="1600" dirty="0"/>
              <a:t>Откройте </a:t>
            </a:r>
            <a:r>
              <a:rPr lang="en-US" sz="1600" dirty="0">
                <a:hlinkClick r:id="rId2"/>
              </a:rPr>
              <a:t>http://practice.automationtesting.in/</a:t>
            </a:r>
            <a:r>
              <a:rPr lang="ru-RU" sz="1600" dirty="0"/>
              <a:t>	</a:t>
            </a:r>
            <a:r>
              <a:rPr lang="en-US" sz="1600" dirty="0">
                <a:solidFill>
                  <a:schemeClr val="bg1">
                    <a:lumMod val="50000"/>
                  </a:schemeClr>
                </a:solidFill>
              </a:rPr>
              <a:t>#</a:t>
            </a:r>
            <a:r>
              <a:rPr lang="ru-RU" sz="1600" dirty="0">
                <a:solidFill>
                  <a:schemeClr val="bg1">
                    <a:lumMod val="50000"/>
                  </a:schemeClr>
                </a:solidFill>
              </a:rPr>
              <a:t> в этом тесте логиниться не нужно</a:t>
            </a:r>
            <a:endParaRPr lang="ru-RU" sz="1600" dirty="0"/>
          </a:p>
          <a:p>
            <a:pPr marL="342900" indent="-342900">
              <a:buFont typeface="+mj-lt"/>
              <a:buAutoNum type="arabicPeriod"/>
            </a:pPr>
            <a:r>
              <a:rPr lang="ru-RU" sz="1600" dirty="0"/>
              <a:t>Нажмите на вкладку</a:t>
            </a:r>
            <a:r>
              <a:rPr lang="en-US" sz="1600" dirty="0"/>
              <a:t> "Shop"</a:t>
            </a:r>
            <a:r>
              <a:rPr lang="ru-RU" sz="1600" dirty="0"/>
              <a:t> и проскролльте на 300 пикселей вниз</a:t>
            </a:r>
            <a:endParaRPr lang="en-US" sz="1600" dirty="0"/>
          </a:p>
          <a:p>
            <a:pPr marL="342900" indent="-342900">
              <a:buFont typeface="+mj-lt"/>
              <a:buAutoNum type="arabicPeriod"/>
            </a:pPr>
            <a:r>
              <a:rPr lang="ru-RU" sz="1600" dirty="0"/>
              <a:t>Добавьте в корзину книгу </a:t>
            </a:r>
            <a:r>
              <a:rPr lang="en-US" sz="1600" dirty="0"/>
              <a:t>"HTML5 WebApp Development"</a:t>
            </a:r>
          </a:p>
          <a:p>
            <a:pPr marL="342900" indent="-342900">
              <a:buFont typeface="+mj-lt"/>
              <a:buAutoNum type="arabicPeriod"/>
            </a:pPr>
            <a:r>
              <a:rPr lang="ru-RU" sz="1600" dirty="0"/>
              <a:t>Перейдите в корзину</a:t>
            </a:r>
          </a:p>
          <a:p>
            <a:pPr marL="342900" indent="-342900">
              <a:buFont typeface="+mj-lt"/>
              <a:buAutoNum type="arabicPeriod"/>
            </a:pPr>
            <a:r>
              <a:rPr lang="ru-RU" sz="1600" dirty="0"/>
              <a:t>Нажмите </a:t>
            </a:r>
            <a:r>
              <a:rPr lang="en-US" sz="1600" dirty="0"/>
              <a:t>"PROCEED TO CHECKOUT"</a:t>
            </a:r>
          </a:p>
          <a:p>
            <a:pPr lvl="1"/>
            <a:r>
              <a:rPr lang="ru-RU" sz="1200" dirty="0"/>
              <a:t>Перед нажатием, добавьте явное ожидание</a:t>
            </a:r>
            <a:endParaRPr lang="en-US" sz="1200" dirty="0"/>
          </a:p>
          <a:p>
            <a:pPr marL="342900" indent="-342900">
              <a:buFont typeface="+mj-lt"/>
              <a:buAutoNum type="arabicPeriod"/>
            </a:pPr>
            <a:r>
              <a:rPr lang="ru-RU" sz="1600" dirty="0"/>
              <a:t>Заполните все обязательные поля</a:t>
            </a:r>
            <a:endParaRPr lang="en-US" sz="1600" dirty="0"/>
          </a:p>
          <a:p>
            <a:pPr lvl="1"/>
            <a:r>
              <a:rPr lang="ru-RU" sz="1200" dirty="0"/>
              <a:t>Перед заполнением </a:t>
            </a:r>
            <a:r>
              <a:rPr lang="en-US" sz="1200" dirty="0"/>
              <a:t>first name</a:t>
            </a:r>
            <a:r>
              <a:rPr lang="ru-RU" sz="1200" dirty="0"/>
              <a:t>, добавьте явное ожидание</a:t>
            </a:r>
            <a:endParaRPr lang="en-US" sz="1200" dirty="0"/>
          </a:p>
          <a:p>
            <a:pPr lvl="1"/>
            <a:r>
              <a:rPr lang="ru-RU" sz="1200" dirty="0"/>
              <a:t>Для заполнения </a:t>
            </a:r>
            <a:r>
              <a:rPr lang="en-US" sz="1200" dirty="0"/>
              <a:t>country</a:t>
            </a:r>
            <a:r>
              <a:rPr lang="ru-RU" sz="1200" dirty="0"/>
              <a:t> нужно</a:t>
            </a:r>
            <a:r>
              <a:rPr lang="en-US" sz="1200" dirty="0"/>
              <a:t>:</a:t>
            </a:r>
            <a:r>
              <a:rPr lang="ru-RU" sz="1200" dirty="0"/>
              <a:t> нажать на селектор</a:t>
            </a:r>
            <a:r>
              <a:rPr lang="en-US" sz="1200" dirty="0"/>
              <a:t> - &gt;</a:t>
            </a:r>
            <a:r>
              <a:rPr lang="ru-RU" sz="1200" dirty="0"/>
              <a:t> ввести название в поле ввода</a:t>
            </a:r>
            <a:r>
              <a:rPr lang="en-US" sz="1200" dirty="0"/>
              <a:t> - &gt; </a:t>
            </a:r>
            <a:r>
              <a:rPr lang="ru-RU" sz="1200" dirty="0"/>
              <a:t>нажать на вариант который отобразится ниже ввода</a:t>
            </a:r>
          </a:p>
          <a:p>
            <a:pPr lvl="1"/>
            <a:r>
              <a:rPr lang="ru-RU" sz="1200" dirty="0"/>
              <a:t>Чтобы выбрать селектор нижний вариант после ввода, используйте кнопку			        нажмите на неё, затем на вариант в списке ниже</a:t>
            </a:r>
          </a:p>
          <a:p>
            <a:pPr marL="342900" indent="-342900">
              <a:buFont typeface="+mj-lt"/>
              <a:buAutoNum type="arabicPeriod"/>
            </a:pPr>
            <a:r>
              <a:rPr lang="ru-RU" sz="1600" dirty="0"/>
              <a:t>Выберите способ оплаты</a:t>
            </a:r>
            <a:r>
              <a:rPr lang="en-US" sz="1600" dirty="0"/>
              <a:t> "Check Payments"</a:t>
            </a:r>
            <a:endParaRPr lang="ru-RU" sz="1600" dirty="0"/>
          </a:p>
          <a:p>
            <a:pPr lvl="1"/>
            <a:r>
              <a:rPr lang="ru-RU" sz="1200" dirty="0"/>
              <a:t>Перед выбором, проскролльте на 600 пикселей вниз и добавьте </a:t>
            </a:r>
            <a:r>
              <a:rPr lang="en-US" sz="1200" dirty="0"/>
              <a:t>sleep</a:t>
            </a:r>
            <a:endParaRPr lang="ru-RU" sz="1200" dirty="0"/>
          </a:p>
          <a:p>
            <a:pPr marL="342900" indent="-342900">
              <a:buFont typeface="+mj-lt"/>
              <a:buAutoNum type="arabicPeriod"/>
            </a:pPr>
            <a:r>
              <a:rPr lang="ru-RU" sz="1600" dirty="0"/>
              <a:t>Нажмите </a:t>
            </a:r>
            <a:r>
              <a:rPr lang="en-US" sz="1600" dirty="0"/>
              <a:t>PLACE ORDER</a:t>
            </a:r>
          </a:p>
          <a:p>
            <a:pPr marL="342900" indent="-342900">
              <a:buFont typeface="+mj-lt"/>
              <a:buAutoNum type="arabicPeriod"/>
            </a:pPr>
            <a:r>
              <a:rPr lang="ru-RU" sz="1600" dirty="0"/>
              <a:t>Используя явное ожидание, проверьте что отображается надпись</a:t>
            </a:r>
            <a:r>
              <a:rPr lang="en-US" sz="1600" dirty="0"/>
              <a:t> "Thank you. Your order has been received."</a:t>
            </a:r>
          </a:p>
          <a:p>
            <a:pPr marL="342900" indent="-342900">
              <a:buFont typeface="+mj-lt"/>
              <a:buAutoNum type="arabicPeriod"/>
            </a:pPr>
            <a:r>
              <a:rPr lang="ru-RU" sz="1600" dirty="0"/>
              <a:t>Используя явное ожидание, проверьте что в </a:t>
            </a:r>
            <a:r>
              <a:rPr lang="en-US" sz="1600" dirty="0"/>
              <a:t>Payment Method</a:t>
            </a:r>
            <a:r>
              <a:rPr lang="ru-RU" sz="1600" dirty="0"/>
              <a:t> отображается текст </a:t>
            </a:r>
            <a:r>
              <a:rPr lang="en-US" sz="1600" dirty="0"/>
              <a:t>"Check Payments"</a:t>
            </a:r>
            <a:endParaRPr lang="ru-RU" sz="1600" dirty="0"/>
          </a:p>
          <a:p>
            <a:pPr marL="342900" indent="-342900">
              <a:buFont typeface="+mj-lt"/>
              <a:buAutoNum type="arabicPeriod"/>
            </a:pPr>
            <a:endParaRPr lang="ru-RU" sz="1600" dirty="0"/>
          </a:p>
          <a:p>
            <a:pPr marL="0" indent="0">
              <a:buNone/>
            </a:pPr>
            <a:endParaRPr lang="en-US" sz="1200" dirty="0"/>
          </a:p>
        </p:txBody>
      </p:sp>
      <p:pic>
        <p:nvPicPr>
          <p:cNvPr id="5" name="Picture 4">
            <a:extLst>
              <a:ext uri="{FF2B5EF4-FFF2-40B4-BE49-F238E27FC236}">
                <a16:creationId xmlns:a16="http://schemas.microsoft.com/office/drawing/2014/main" id="{4F321E7E-C57D-4BE1-8E3F-7503E7653A5E}"/>
              </a:ext>
            </a:extLst>
          </p:cNvPr>
          <p:cNvPicPr>
            <a:picLocks noChangeAspect="1"/>
          </p:cNvPicPr>
          <p:nvPr/>
        </p:nvPicPr>
        <p:blipFill>
          <a:blip r:embed="rId3"/>
          <a:stretch>
            <a:fillRect/>
          </a:stretch>
        </p:blipFill>
        <p:spPr>
          <a:xfrm>
            <a:off x="6314980" y="4279579"/>
            <a:ext cx="1071240" cy="223176"/>
          </a:xfrm>
          <a:prstGeom prst="rect">
            <a:avLst/>
          </a:prstGeom>
        </p:spPr>
      </p:pic>
    </p:spTree>
    <p:extLst>
      <p:ext uri="{BB962C8B-B14F-4D97-AF65-F5344CB8AC3E}">
        <p14:creationId xmlns:p14="http://schemas.microsoft.com/office/powerpoint/2010/main" val="313483715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CCFB-F3FA-4D9A-AA32-64E4C3601DA1}"/>
              </a:ext>
            </a:extLst>
          </p:cNvPr>
          <p:cNvSpPr txBox="1">
            <a:spLocks/>
          </p:cNvSpPr>
          <p:nvPr/>
        </p:nvSpPr>
        <p:spPr>
          <a:xfrm>
            <a:off x="594804" y="512147"/>
            <a:ext cx="10910656" cy="130333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sz="3800" dirty="0"/>
              <a:t>Создание своего репозитория</a:t>
            </a:r>
          </a:p>
        </p:txBody>
      </p:sp>
      <p:sp>
        <p:nvSpPr>
          <p:cNvPr id="4" name="Content Placeholder 2">
            <a:extLst>
              <a:ext uri="{FF2B5EF4-FFF2-40B4-BE49-F238E27FC236}">
                <a16:creationId xmlns:a16="http://schemas.microsoft.com/office/drawing/2014/main" id="{D702A7A4-8201-48F8-82FE-B3A769E92ECE}"/>
              </a:ext>
            </a:extLst>
          </p:cNvPr>
          <p:cNvSpPr txBox="1">
            <a:spLocks/>
          </p:cNvSpPr>
          <p:nvPr/>
        </p:nvSpPr>
        <p:spPr>
          <a:xfrm>
            <a:off x="686539" y="1163815"/>
            <a:ext cx="11120762" cy="517631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342900" indent="-342900">
              <a:buFont typeface="+mj-lt"/>
              <a:buAutoNum type="arabicPeriod"/>
            </a:pPr>
            <a:r>
              <a:rPr lang="ru-RU" sz="1600" dirty="0"/>
              <a:t>Создайте репозиторий на </a:t>
            </a:r>
            <a:r>
              <a:rPr lang="en-US" sz="1600" dirty="0"/>
              <a:t>GitHub</a:t>
            </a:r>
            <a:endParaRPr lang="ru-RU" sz="1600" dirty="0"/>
          </a:p>
          <a:p>
            <a:pPr marL="342900" indent="-342900">
              <a:buFont typeface="+mj-lt"/>
              <a:buAutoNum type="arabicPeriod"/>
            </a:pPr>
            <a:r>
              <a:rPr lang="ru-RU" sz="1600" dirty="0"/>
              <a:t>Откройте консоль</a:t>
            </a:r>
            <a:r>
              <a:rPr lang="en-US" sz="1600" dirty="0"/>
              <a:t> GitBash</a:t>
            </a:r>
            <a:endParaRPr lang="ru-RU" sz="1600" dirty="0"/>
          </a:p>
          <a:p>
            <a:pPr marL="342900" indent="-342900">
              <a:buFont typeface="+mj-lt"/>
              <a:buAutoNum type="arabicPeriod"/>
            </a:pPr>
            <a:r>
              <a:rPr lang="ru-RU" sz="1600" dirty="0"/>
              <a:t>Перейдите в директорию папки </a:t>
            </a:r>
            <a:r>
              <a:rPr lang="en-US" sz="1600" dirty="0"/>
              <a:t>book_store_testing</a:t>
            </a:r>
            <a:endParaRPr lang="ru-RU" sz="1600" dirty="0"/>
          </a:p>
          <a:p>
            <a:pPr lvl="1"/>
            <a:r>
              <a:rPr lang="ru-RU" sz="1200" dirty="0"/>
              <a:t>Можно нажать ПКМ на папке в</a:t>
            </a:r>
            <a:r>
              <a:rPr lang="en-US" sz="1200" dirty="0"/>
              <a:t> PyCharm - &gt; Show in Explorer -&gt;</a:t>
            </a:r>
            <a:r>
              <a:rPr lang="ru-RU" sz="1200" dirty="0"/>
              <a:t> перейти в папку</a:t>
            </a:r>
            <a:r>
              <a:rPr lang="en-US" sz="1200" dirty="0"/>
              <a:t> -&gt; </a:t>
            </a:r>
            <a:r>
              <a:rPr lang="ru-RU" sz="1200" dirty="0"/>
              <a:t>скопировать её адрес </a:t>
            </a:r>
          </a:p>
          <a:p>
            <a:pPr lvl="1"/>
            <a:r>
              <a:rPr lang="ru-RU" sz="1200" dirty="0"/>
              <a:t>Нужно заменить слеши в обратную сторону</a:t>
            </a:r>
            <a:r>
              <a:rPr lang="en-US" sz="1200" dirty="0"/>
              <a:t>, </a:t>
            </a:r>
            <a:r>
              <a:rPr lang="ru-RU" sz="1200" dirty="0"/>
              <a:t>например</a:t>
            </a:r>
            <a:r>
              <a:rPr lang="en-US" sz="1200" dirty="0"/>
              <a:t>: C:</a:t>
            </a:r>
            <a:r>
              <a:rPr lang="en-US" sz="1200" b="1" dirty="0"/>
              <a:t>/</a:t>
            </a:r>
            <a:r>
              <a:rPr lang="ru-RU" sz="1200" dirty="0"/>
              <a:t>ваш адрес</a:t>
            </a:r>
            <a:r>
              <a:rPr lang="en-US" sz="1200" b="1" dirty="0"/>
              <a:t>/</a:t>
            </a:r>
            <a:r>
              <a:rPr lang="en-US" sz="1200" dirty="0"/>
              <a:t>book_store_testing</a:t>
            </a:r>
            <a:endParaRPr lang="ru-RU" sz="1600" dirty="0"/>
          </a:p>
          <a:p>
            <a:pPr marL="342900" indent="-342900">
              <a:buFont typeface="+mj-lt"/>
              <a:buAutoNum type="arabicPeriod"/>
            </a:pPr>
            <a:r>
              <a:rPr lang="ru-RU" sz="1600" dirty="0"/>
              <a:t>Проверьте в консоли что вы точно в той папке, узнав её содержимое</a:t>
            </a:r>
          </a:p>
          <a:p>
            <a:pPr marL="342900" indent="-342900">
              <a:buFont typeface="+mj-lt"/>
              <a:buAutoNum type="arabicPeriod"/>
            </a:pPr>
            <a:r>
              <a:rPr lang="ru-RU" sz="1600" dirty="0"/>
              <a:t>Создайте в этой директории локальный репозиторий</a:t>
            </a:r>
          </a:p>
          <a:p>
            <a:pPr marL="342900" indent="-342900">
              <a:buFont typeface="+mj-lt"/>
              <a:buAutoNum type="arabicPeriod"/>
            </a:pPr>
            <a:r>
              <a:rPr lang="ru-RU" sz="1600" dirty="0"/>
              <a:t>Добавьте в индекс все файлы этой директории</a:t>
            </a:r>
          </a:p>
          <a:p>
            <a:pPr marL="342900" indent="-342900">
              <a:buFont typeface="+mj-lt"/>
              <a:buAutoNum type="arabicPeriod"/>
            </a:pPr>
            <a:r>
              <a:rPr lang="ru-RU" sz="1600" dirty="0"/>
              <a:t>Создайте коммит с комментарием</a:t>
            </a:r>
          </a:p>
          <a:p>
            <a:pPr marL="342900" indent="-342900">
              <a:buFont typeface="+mj-lt"/>
              <a:buAutoNum type="arabicPeriod"/>
            </a:pPr>
            <a:r>
              <a:rPr lang="ru-RU" sz="1600" dirty="0"/>
              <a:t>Добавьте в систему удалённый репозиторий через git remote</a:t>
            </a:r>
          </a:p>
          <a:p>
            <a:pPr marL="342900" indent="-342900">
              <a:buFont typeface="+mj-lt"/>
              <a:buAutoNum type="arabicPeriod"/>
            </a:pPr>
            <a:r>
              <a:rPr lang="ru-RU" sz="1600" dirty="0"/>
              <a:t>Отправьте локальный репозиторий на удаленный сервер</a:t>
            </a:r>
          </a:p>
          <a:p>
            <a:pPr marL="342900" indent="-342900">
              <a:buFont typeface="+mj-lt"/>
              <a:buAutoNum type="arabicPeriod"/>
            </a:pPr>
            <a:r>
              <a:rPr lang="ru-RU" sz="1600" dirty="0"/>
              <a:t>Проверьте что файлы успешно отправились на Ваш</a:t>
            </a:r>
            <a:r>
              <a:rPr lang="en-US" sz="1600" dirty="0"/>
              <a:t> GitHub</a:t>
            </a:r>
            <a:r>
              <a:rPr lang="ru-RU" sz="1600" dirty="0"/>
              <a:t> репозиторий</a:t>
            </a:r>
          </a:p>
          <a:p>
            <a:endParaRPr lang="ru-RU" sz="1600" dirty="0"/>
          </a:p>
          <a:p>
            <a:r>
              <a:rPr lang="ru-RU" sz="1400" dirty="0"/>
              <a:t>При дальнейшем изменении этих файлов в </a:t>
            </a:r>
            <a:r>
              <a:rPr lang="en-US" sz="1400" dirty="0"/>
              <a:t>PyCharm</a:t>
            </a:r>
            <a:r>
              <a:rPr lang="ru-RU" sz="1400" dirty="0"/>
              <a:t> – их название будет отображаться синим цветом(так как </a:t>
            </a:r>
            <a:r>
              <a:rPr lang="en-US" sz="1400" dirty="0"/>
              <a:t>Git</a:t>
            </a:r>
            <a:r>
              <a:rPr lang="ru-RU" sz="1400" dirty="0"/>
              <a:t> их теперь отслеживает)</a:t>
            </a:r>
          </a:p>
          <a:p>
            <a:pPr marL="0" indent="0">
              <a:buNone/>
            </a:pPr>
            <a:endParaRPr lang="ru-RU" sz="1600" dirty="0"/>
          </a:p>
          <a:p>
            <a:pPr marL="342900" indent="-342900">
              <a:buFont typeface="+mj-lt"/>
              <a:buAutoNum type="arabicPeriod"/>
            </a:pPr>
            <a:endParaRPr lang="ru-RU" sz="1600" dirty="0"/>
          </a:p>
          <a:p>
            <a:pPr marL="342900" indent="-342900">
              <a:buFont typeface="+mj-lt"/>
              <a:buAutoNum type="arabicPeriod"/>
            </a:pPr>
            <a:endParaRPr lang="en-US" sz="1600" dirty="0"/>
          </a:p>
          <a:p>
            <a:pPr marL="0" indent="0">
              <a:buNone/>
            </a:pPr>
            <a:endParaRPr lang="en-US" sz="1200" dirty="0"/>
          </a:p>
        </p:txBody>
      </p:sp>
      <p:pic>
        <p:nvPicPr>
          <p:cNvPr id="3" name="Picture 2">
            <a:extLst>
              <a:ext uri="{FF2B5EF4-FFF2-40B4-BE49-F238E27FC236}">
                <a16:creationId xmlns:a16="http://schemas.microsoft.com/office/drawing/2014/main" id="{F3B0DCF9-0B18-4090-BFA0-AB09CA149E9C}"/>
              </a:ext>
            </a:extLst>
          </p:cNvPr>
          <p:cNvPicPr>
            <a:picLocks noChangeAspect="1"/>
          </p:cNvPicPr>
          <p:nvPr/>
        </p:nvPicPr>
        <p:blipFill>
          <a:blip r:embed="rId2"/>
          <a:stretch>
            <a:fillRect/>
          </a:stretch>
        </p:blipFill>
        <p:spPr>
          <a:xfrm>
            <a:off x="8242543" y="2226711"/>
            <a:ext cx="2215349" cy="284831"/>
          </a:xfrm>
          <a:prstGeom prst="rect">
            <a:avLst/>
          </a:prstGeom>
        </p:spPr>
      </p:pic>
    </p:spTree>
    <p:extLst>
      <p:ext uri="{BB962C8B-B14F-4D97-AF65-F5344CB8AC3E}">
        <p14:creationId xmlns:p14="http://schemas.microsoft.com/office/powerpoint/2010/main" val="165727211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1822E-BCEF-4B79-B90A-FA0F28D203C5}"/>
              </a:ext>
            </a:extLst>
          </p:cNvPr>
          <p:cNvSpPr>
            <a:spLocks noGrp="1"/>
          </p:cNvSpPr>
          <p:nvPr>
            <p:ph type="title"/>
          </p:nvPr>
        </p:nvSpPr>
        <p:spPr/>
        <p:txBody>
          <a:bodyPr/>
          <a:lstStyle/>
          <a:p>
            <a:r>
              <a:rPr lang="ru-RU" dirty="0"/>
              <a:t>Домашнее задание</a:t>
            </a:r>
          </a:p>
        </p:txBody>
      </p:sp>
      <p:sp>
        <p:nvSpPr>
          <p:cNvPr id="3" name="Content Placeholder 2">
            <a:extLst>
              <a:ext uri="{FF2B5EF4-FFF2-40B4-BE49-F238E27FC236}">
                <a16:creationId xmlns:a16="http://schemas.microsoft.com/office/drawing/2014/main" id="{9E96CA6F-A50E-453D-88DA-765F2E16EB98}"/>
              </a:ext>
            </a:extLst>
          </p:cNvPr>
          <p:cNvSpPr>
            <a:spLocks noGrp="1"/>
          </p:cNvSpPr>
          <p:nvPr>
            <p:ph idx="1"/>
          </p:nvPr>
        </p:nvSpPr>
        <p:spPr>
          <a:xfrm>
            <a:off x="1020932" y="2556932"/>
            <a:ext cx="10271464" cy="3318936"/>
          </a:xfrm>
        </p:spPr>
        <p:txBody>
          <a:bodyPr>
            <a:normAutofit/>
          </a:bodyPr>
          <a:lstStyle/>
          <a:p>
            <a:pPr marL="457200" indent="-457200">
              <a:buFont typeface="+mj-lt"/>
              <a:buAutoNum type="arabicPeriod"/>
            </a:pPr>
            <a:r>
              <a:rPr lang="ru-RU" sz="1800" dirty="0"/>
              <a:t>Попробуйте решить как можно больше задач из всего урока. Код нужно отправить по ссылке</a:t>
            </a:r>
            <a:r>
              <a:rPr lang="en-US" sz="1800" dirty="0"/>
              <a:t>:</a:t>
            </a:r>
            <a:r>
              <a:rPr lang="ru-RU" sz="1800" dirty="0"/>
              <a:t> </a:t>
            </a:r>
            <a:r>
              <a:rPr lang="en-US" sz="1800" dirty="0">
                <a:hlinkClick r:id="rId2"/>
              </a:rPr>
              <a:t>https://forms.gle/2CwcJGEiJLxfRJRp7 </a:t>
            </a:r>
            <a:endParaRPr lang="ru-RU" sz="1800" dirty="0"/>
          </a:p>
          <a:p>
            <a:pPr marL="457200" indent="-457200">
              <a:buFont typeface="+mj-lt"/>
              <a:buAutoNum type="arabicPeriod"/>
            </a:pPr>
            <a:r>
              <a:rPr lang="ru-RU" sz="1800" dirty="0"/>
              <a:t>Заполните анкету обратной связи по ссылке</a:t>
            </a:r>
            <a:r>
              <a:rPr lang="en-US" sz="1800" dirty="0"/>
              <a:t>:</a:t>
            </a:r>
            <a:r>
              <a:rPr lang="ru-RU" sz="1800" dirty="0"/>
              <a:t> </a:t>
            </a:r>
            <a:r>
              <a:rPr lang="en-US" sz="1800" dirty="0">
                <a:hlinkClick r:id="rId3"/>
              </a:rPr>
              <a:t>https://forms.gle/qnb6sKioC9BfGtp16</a:t>
            </a:r>
            <a:endParaRPr lang="ru-RU" sz="1800" dirty="0"/>
          </a:p>
        </p:txBody>
      </p:sp>
      <p:pic>
        <p:nvPicPr>
          <p:cNvPr id="4" name="Рисунок 2">
            <a:extLst>
              <a:ext uri="{FF2B5EF4-FFF2-40B4-BE49-F238E27FC236}">
                <a16:creationId xmlns:a16="http://schemas.microsoft.com/office/drawing/2014/main" id="{F5D6472E-89E0-4EE8-AF7B-D552875042A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79707" y="5024088"/>
            <a:ext cx="1568497" cy="1122713"/>
          </a:xfrm>
          <a:prstGeom prst="rect">
            <a:avLst/>
          </a:prstGeom>
        </p:spPr>
      </p:pic>
    </p:spTree>
    <p:extLst>
      <p:ext uri="{BB962C8B-B14F-4D97-AF65-F5344CB8AC3E}">
        <p14:creationId xmlns:p14="http://schemas.microsoft.com/office/powerpoint/2010/main" val="242941564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6581</TotalTime>
  <Words>10331</Words>
  <Application>Microsoft Office PowerPoint</Application>
  <PresentationFormat>Widescreen</PresentationFormat>
  <Paragraphs>2378</Paragraphs>
  <Slides>105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105</vt:i4>
      </vt:variant>
    </vt:vector>
  </HeadingPairs>
  <TitlesOfParts>
    <vt:vector size="110" baseType="lpstr">
      <vt:lpstr>Arial</vt:lpstr>
      <vt:lpstr>Calibri</vt:lpstr>
      <vt:lpstr>Garamond</vt:lpstr>
      <vt:lpstr>Garamond (Body)</vt:lpstr>
      <vt:lpstr>Organic</vt:lpstr>
      <vt:lpstr>Урок 4</vt:lpstr>
      <vt:lpstr>Структура 4-го занятия</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Удалённые репозитории</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Автоматизация</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Домашнее задание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Урок 4</dc:title>
  <dc:creator>Vladimir Vladimir</dc:creator>
  <cp:lastModifiedBy>Vladimir Vladimir</cp:lastModifiedBy>
  <cp:revision>775</cp:revision>
  <dcterms:created xsi:type="dcterms:W3CDTF">2020-08-03T07:45:01Z</dcterms:created>
  <dcterms:modified xsi:type="dcterms:W3CDTF">2021-01-31T08:44:33Z</dcterms:modified>
</cp:coreProperties>
</file>